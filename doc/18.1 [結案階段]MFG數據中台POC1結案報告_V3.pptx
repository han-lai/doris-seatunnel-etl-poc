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7.xml" ContentType="application/vnd.openxmlformats-officedocument.presentationml.slide+xml"/>
  <Override PartName="/ppt/slideLayouts/slideLayout50.xml" ContentType="application/vnd.openxmlformats-officedocument.presentationml.slideLayout+xml"/>
  <Override PartName="/ppt/charts/chart10.xml" ContentType="application/vnd.openxmlformats-officedocument.drawingml.chart+xml"/>
  <Override PartName="/ppt/slideMasters/slideMaster10.xml" ContentType="application/vnd.openxmlformats-officedocument.presentationml.slideMaster+xml"/>
  <Override PartName="/ppt/charts/colors10.xml" ContentType="application/vnd.ms-office.chartcolorstyle+xml"/>
  <Override PartName="/ppt/charts/style10.xml" ContentType="application/vnd.ms-office.chartstyle+xml"/>
  <Override PartName="/ppt/slideLayouts/slideLayout80.xml" ContentType="application/vnd.openxmlformats-officedocument.presentationml.slideLayout+xml"/>
  <Override PartName="/ppt/slideLayouts/slideLayout130.xml" ContentType="application/vnd.openxmlformats-officedocument.presentationml.slideLayout+xml"/>
  <Override PartName="/ppt/slideLayouts/slideLayout31.xml" ContentType="application/vnd.openxmlformats-officedocument.presentationml.slideLayout+xml"/>
  <Override PartName="/ppt/slideLayouts/slideLayout70.xml" ContentType="application/vnd.openxmlformats-officedocument.presentationml.slideLayout+xml"/>
  <Override PartName="/ppt/slideLayouts/slideLayout120.xml" ContentType="application/vnd.openxmlformats-officedocument.presentationml.slideLayout+xml"/>
  <Override PartName="/ppt/slideLayouts/slideLayout210.xml" ContentType="application/vnd.openxmlformats-officedocument.presentationml.slideLayout+xml"/>
  <Override PartName="/ppt/slideLayouts/slideLayout110.xml" ContentType="application/vnd.openxmlformats-officedocument.presentationml.slideLayout+xml"/>
  <Override PartName="/ppt/slideLayouts/slideLayout60.xml" ContentType="application/vnd.openxmlformats-officedocument.presentationml.slideLayout+xml"/>
  <Override PartName="/ppt/slideLayouts/slideLayout111.xml" ContentType="application/vnd.openxmlformats-officedocument.presentationml.slideLayout+xml"/>
  <Override PartName="/ppt/slideLayouts/slideLayout100.xml" ContentType="application/vnd.openxmlformats-officedocument.presentationml.slideLayout+xml"/>
  <Override PartName="/ppt/slideLayouts/slideLayout40.xml" ContentType="application/vnd.openxmlformats-officedocument.presentationml.slideLayout+xml"/>
  <Override PartName="/ppt/slideLayouts/slideLayout90.xml" ContentType="application/vnd.openxmlformats-officedocument.presentationml.slideLayout+xml"/>
  <Override PartName="/ppt/theme/theme10.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 id="2147483682" r:id="rId6"/>
  </p:sldMasterIdLst>
  <p:notesMasterIdLst>
    <p:notesMasterId r:id="rId32"/>
  </p:notesMasterIdLst>
  <p:sldIdLst>
    <p:sldId id="302" r:id="rId7"/>
    <p:sldId id="2147478315" r:id="rId8"/>
    <p:sldId id="2147478329" r:id="rId9"/>
    <p:sldId id="2147471708" r:id="rId10"/>
    <p:sldId id="2147481233" r:id="rId11"/>
    <p:sldId id="2147478318" r:id="rId12"/>
    <p:sldId id="2147481229" r:id="rId13"/>
    <p:sldId id="2147481247" r:id="rId14"/>
    <p:sldId id="2147481237" r:id="rId15"/>
    <p:sldId id="2147478322" r:id="rId16"/>
    <p:sldId id="2147481228" r:id="rId17"/>
    <p:sldId id="2147481239" r:id="rId18"/>
    <p:sldId id="2147481240" r:id="rId19"/>
    <p:sldId id="2147481241" r:id="rId20"/>
    <p:sldId id="2147481242" r:id="rId21"/>
    <p:sldId id="2147478338" r:id="rId22"/>
    <p:sldId id="2147481231" r:id="rId23"/>
    <p:sldId id="2147478314" r:id="rId24"/>
    <p:sldId id="2147481234" r:id="rId25"/>
    <p:sldId id="2147478317" r:id="rId26"/>
    <p:sldId id="2147481235" r:id="rId27"/>
    <p:sldId id="2147478321" r:id="rId28"/>
    <p:sldId id="2147481244" r:id="rId29"/>
    <p:sldId id="2147481245" r:id="rId30"/>
    <p:sldId id="2147481246" r:id="rId3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D5B6A3A5-89E0-455E-B7BE-9194C76D62F6}">
          <p14:sldIdLst>
            <p14:sldId id="302"/>
            <p14:sldId id="2147478315"/>
            <p14:sldId id="2147478329"/>
            <p14:sldId id="2147471708"/>
            <p14:sldId id="2147481233"/>
            <p14:sldId id="2147478318"/>
            <p14:sldId id="2147481229"/>
            <p14:sldId id="2147481247"/>
            <p14:sldId id="2147481237"/>
            <p14:sldId id="2147478322"/>
            <p14:sldId id="2147481228"/>
            <p14:sldId id="2147481239"/>
            <p14:sldId id="2147481240"/>
            <p14:sldId id="2147481241"/>
            <p14:sldId id="2147481242"/>
            <p14:sldId id="2147478338"/>
            <p14:sldId id="2147481231"/>
            <p14:sldId id="2147478314"/>
            <p14:sldId id="2147481234"/>
            <p14:sldId id="2147478317"/>
            <p14:sldId id="2147481235"/>
            <p14:sldId id="2147478321"/>
            <p14:sldId id="2147481244"/>
            <p14:sldId id="2147481245"/>
            <p14:sldId id="214748124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C5E9FF"/>
    <a:srgbClr val="51BCFF"/>
    <a:srgbClr val="0087DC"/>
    <a:srgbClr val="7F7F7F"/>
    <a:srgbClr val="48D48D"/>
    <a:srgbClr val="FF8183"/>
    <a:srgbClr val="B90100"/>
    <a:srgbClr val="144ACE"/>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46" autoAdjust="0"/>
    <p:restoredTop sz="76978" autoAdjust="0"/>
  </p:normalViewPr>
  <p:slideViewPr>
    <p:cSldViewPr snapToGrid="0">
      <p:cViewPr varScale="1">
        <p:scale>
          <a:sx n="66" d="100"/>
          <a:sy n="66" d="100"/>
        </p:scale>
        <p:origin x="1282" y="43"/>
      </p:cViewPr>
      <p:guideLst/>
    </p:cSldViewPr>
  </p:slideViewPr>
  <p:notesTextViewPr>
    <p:cViewPr>
      <p:scale>
        <a:sx n="1" d="1"/>
        <a:sy n="1" d="1"/>
      </p:scale>
      <p:origin x="0" y="0"/>
    </p:cViewPr>
  </p:notesTextViewPr>
  <p:sorterViewPr>
    <p:cViewPr>
      <p:scale>
        <a:sx n="100" d="100"/>
        <a:sy n="100" d="100"/>
      </p:scale>
      <p:origin x="0" y="-17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_7FFFEB2B_680274A0.xlsx"/><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工作表1!$B$1</c:f>
              <c:strCache>
                <c:ptCount val="1"/>
                <c:pt idx="0">
                  <c:v>專案數</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23CF-490F-9295-E5395B221EB3}"/>
              </c:ext>
            </c:extLst>
          </c:dPt>
          <c:dPt>
            <c:idx val="1"/>
            <c:bubble3D val="0"/>
            <c:spPr>
              <a:solidFill>
                <a:schemeClr val="bg1">
                  <a:lumMod val="75000"/>
                </a:schemeClr>
              </a:solidFill>
              <a:ln w="19050">
                <a:solidFill>
                  <a:schemeClr val="lt1"/>
                </a:solidFill>
              </a:ln>
              <a:effectLst/>
            </c:spPr>
            <c:extLst>
              <c:ext xmlns:c16="http://schemas.microsoft.com/office/drawing/2014/chart" uri="{C3380CC4-5D6E-409C-BE32-E72D297353CC}">
                <c16:uniqueId val="{00000003-23CF-490F-9295-E5395B221EB3}"/>
              </c:ext>
            </c:extLst>
          </c:dPt>
          <c:dLbls>
            <c:dLbl>
              <c:idx val="0"/>
              <c:tx>
                <c:rich>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fld id="{52F5B6EC-AEBB-453F-AE32-678AB165B573}" type="PERCENTAGE">
                      <a:rPr lang="en-US" altLang="zh-TW" sz="1100" smtClean="0"/>
                      <a:pPr>
                        <a:defRPr sz="1100" b="1">
                          <a:solidFill>
                            <a:schemeClr val="bg1"/>
                          </a:solidFill>
                        </a:defRPr>
                      </a:pPr>
                      <a:t>[百分比]</a:t>
                    </a:fld>
                    <a:endParaRPr lang="zh-TW" altLang="en-US"/>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zh-TW" altLang="en-US"/>
                </a:p>
              </c:txP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3CF-490F-9295-E5395B221EB3}"/>
                </c:ext>
              </c:extLst>
            </c:dLbl>
            <c:dLbl>
              <c:idx val="1"/>
              <c:delete val="1"/>
              <c:extLst>
                <c:ext xmlns:c15="http://schemas.microsoft.com/office/drawing/2012/chart" uri="{CE6537A1-D6FC-4f65-9D91-7224C49458BB}"/>
                <c:ext xmlns:c16="http://schemas.microsoft.com/office/drawing/2014/chart" uri="{C3380CC4-5D6E-409C-BE32-E72D297353CC}">
                  <c16:uniqueId val="{00000003-23CF-490F-9295-E5395B221EB3}"/>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工作表1!$A$2:$A$3</c:f>
              <c:strCache>
                <c:ptCount val="2"/>
                <c:pt idx="0">
                  <c:v>已完成</c:v>
                </c:pt>
                <c:pt idx="1">
                  <c:v>進行中</c:v>
                </c:pt>
              </c:strCache>
            </c:strRef>
          </c:cat>
          <c:val>
            <c:numRef>
              <c:f>工作表1!$B$2:$B$3</c:f>
              <c:numCache>
                <c:formatCode>General</c:formatCode>
                <c:ptCount val="2"/>
                <c:pt idx="0">
                  <c:v>750</c:v>
                </c:pt>
                <c:pt idx="1">
                  <c:v>179</c:v>
                </c:pt>
              </c:numCache>
            </c:numRef>
          </c:val>
          <c:extLst>
            <c:ext xmlns:c16="http://schemas.microsoft.com/office/drawing/2014/chart" uri="{C3380CC4-5D6E-409C-BE32-E72D297353CC}">
              <c16:uniqueId val="{00000004-23CF-490F-9295-E5395B221EB3}"/>
            </c:ext>
          </c:extLst>
        </c:ser>
        <c:dLbls>
          <c:showLegendKey val="0"/>
          <c:showVal val="0"/>
          <c:showCatName val="0"/>
          <c:showSerName val="0"/>
          <c:showPercent val="0"/>
          <c:showBubbleSize val="0"/>
          <c:showLeaderLines val="1"/>
        </c:dLbls>
        <c:firstSliceAng val="0"/>
        <c:holeSize val="49"/>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工作表1!$B$1</c:f>
              <c:strCache>
                <c:ptCount val="1"/>
                <c:pt idx="0">
                  <c:v>專案數</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23CF-490F-9295-E5395B221EB3}"/>
              </c:ext>
            </c:extLst>
          </c:dPt>
          <c:dPt>
            <c:idx val="1"/>
            <c:bubble3D val="0"/>
            <c:spPr>
              <a:solidFill>
                <a:schemeClr val="bg1">
                  <a:lumMod val="75000"/>
                </a:schemeClr>
              </a:solidFill>
              <a:ln w="19050">
                <a:solidFill>
                  <a:schemeClr val="lt1"/>
                </a:solidFill>
              </a:ln>
              <a:effectLst/>
            </c:spPr>
            <c:extLst>
              <c:ext xmlns:c16="http://schemas.microsoft.com/office/drawing/2014/chart" uri="{C3380CC4-5D6E-409C-BE32-E72D297353CC}">
                <c16:uniqueId val="{00000003-23CF-490F-9295-E5395B221EB3}"/>
              </c:ext>
            </c:extLst>
          </c:dPt>
          <c:dLbls>
            <c:dLbl>
              <c:idx val="0"/>
              <c:tx>
                <c:rich>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fld id="{52F5B6EC-AEBB-453F-AE32-678AB165B573}" type="PERCENTAGE">
                      <a:rPr lang="en-US" altLang="zh-TW" sz="1100" smtClean="0"/>
                      <a:pPr>
                        <a:defRPr sz="1100" b="1">
                          <a:solidFill>
                            <a:schemeClr val="bg1"/>
                          </a:solidFill>
                        </a:defRPr>
                      </a:pPr>
                      <a:t>[PERCENTAGE]</a:t>
                    </a:fld>
                    <a:endParaRPr lang="en-US"/>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ltLang="en-US"/>
                </a:p>
              </c:txP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3CF-490F-9295-E5395B221EB3}"/>
                </c:ext>
              </c:extLst>
            </c:dLbl>
            <c:dLbl>
              <c:idx val="1"/>
              <c:delete val="1"/>
              <c:extLst>
                <c:ext xmlns:c15="http://schemas.microsoft.com/office/drawing/2012/chart" uri="{CE6537A1-D6FC-4f65-9D91-7224C49458BB}"/>
                <c:ext xmlns:c16="http://schemas.microsoft.com/office/drawing/2014/chart" uri="{C3380CC4-5D6E-409C-BE32-E72D297353CC}">
                  <c16:uniqueId val="{00000003-23CF-490F-9295-E5395B221EB3}"/>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zh-TW"/>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工作表1!$A$2:$A$3</c:f>
              <c:strCache>
                <c:ptCount val="2"/>
                <c:pt idx="0">
                  <c:v>已完成</c:v>
                </c:pt>
                <c:pt idx="1">
                  <c:v>進行中</c:v>
                </c:pt>
              </c:strCache>
            </c:strRef>
          </c:cat>
          <c:val>
            <c:numRef>
              <c:f>工作表1!$B$2:$B$3</c:f>
              <c:numCache>
                <c:formatCode>General</c:formatCode>
                <c:ptCount val="2"/>
                <c:pt idx="0">
                  <c:v>22</c:v>
                </c:pt>
                <c:pt idx="1">
                  <c:v>179</c:v>
                </c:pt>
              </c:numCache>
            </c:numRef>
          </c:val>
          <c:extLst>
            <c:ext xmlns:c16="http://schemas.microsoft.com/office/drawing/2014/chart" uri="{C3380CC4-5D6E-409C-BE32-E72D297353CC}">
              <c16:uniqueId val="{00000004-23CF-490F-9295-E5395B221EB3}"/>
            </c:ext>
          </c:extLst>
        </c:ser>
        <c:dLbls>
          <c:showLegendKey val="0"/>
          <c:showVal val="0"/>
          <c:showCatName val="0"/>
          <c:showSerName val="0"/>
          <c:showPercent val="0"/>
          <c:showBubbleSize val="0"/>
          <c:showLeaderLines val="1"/>
        </c:dLbls>
        <c:firstSliceAng val="0"/>
        <c:holeSize val="49"/>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DE84E0-E85A-4839-837B-CB451792619A}" type="datetimeFigureOut">
              <a:rPr lang="zh-TW" altLang="en-US" smtClean="0"/>
              <a:t>2026/9/1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EF6F20-807F-4969-A0BC-341774F21210}" type="slidenum">
              <a:rPr lang="zh-TW" altLang="en-US" smtClean="0"/>
              <a:t>‹#›</a:t>
            </a:fld>
            <a:endParaRPr lang="zh-TW" altLang="en-US"/>
          </a:p>
        </p:txBody>
      </p:sp>
    </p:spTree>
    <p:extLst>
      <p:ext uri="{BB962C8B-B14F-4D97-AF65-F5344CB8AC3E}">
        <p14:creationId xmlns:p14="http://schemas.microsoft.com/office/powerpoint/2010/main" val="3672702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在 </a:t>
            </a:r>
            <a:r>
              <a:rPr lang="en-US" altLang="zh-CN" sz="1200" dirty="0">
                <a:solidFill>
                  <a:srgbClr val="404040"/>
                </a:solidFill>
                <a:latin typeface="Arial" panose="020B0604020202020204" pitchFamily="34" charset="0"/>
                <a:ea typeface="微軟正黑體" panose="020B0604030504040204" pitchFamily="34" charset="-120"/>
              </a:rPr>
              <a:t>Cover Page</a:t>
            </a:r>
            <a:r>
              <a:rPr lang="zh-TW" altLang="en-US" sz="1200" dirty="0">
                <a:solidFill>
                  <a:srgbClr val="404040"/>
                </a:solidFill>
                <a:latin typeface="Arial" panose="020B0604020202020204" pitchFamily="34" charset="0"/>
                <a:ea typeface="微軟正黑體" panose="020B0604030504040204" pitchFamily="34" charset="-120"/>
              </a:rPr>
              <a:t>部分，內容大多是引用 </a:t>
            </a:r>
            <a:r>
              <a:rPr lang="en-US" altLang="zh-TW" sz="1200" dirty="0">
                <a:solidFill>
                  <a:srgbClr val="404040"/>
                </a:solidFill>
                <a:latin typeface="Arial" panose="020B0604020202020204" pitchFamily="34" charset="0"/>
                <a:ea typeface="微軟正黑體" panose="020B0604030504040204" pitchFamily="34" charset="-120"/>
              </a:rPr>
              <a:t>Kickoff </a:t>
            </a:r>
            <a:r>
              <a:rPr lang="zh-TW" altLang="en-US" sz="1200" dirty="0">
                <a:solidFill>
                  <a:srgbClr val="404040"/>
                </a:solidFill>
                <a:latin typeface="Arial" panose="020B0604020202020204" pitchFamily="34" charset="0"/>
                <a:ea typeface="微軟正黑體" panose="020B0604030504040204" pitchFamily="34" charset="-120"/>
              </a:rPr>
              <a:t>時提供的資訊，最終目的是</a:t>
            </a:r>
            <a:r>
              <a:rPr lang="zh-TW" altLang="en-US" sz="1200" dirty="0">
                <a:solidFill>
                  <a:srgbClr val="3399FF"/>
                </a:solidFill>
                <a:latin typeface="Arial" panose="020B0604020202020204" pitchFamily="34" charset="0"/>
                <a:ea typeface="微軟正黑體" panose="020B0604030504040204" pitchFamily="34" charset="-120"/>
              </a:rPr>
              <a:t>建置數據中台來做為公司數據的統一入口 </a:t>
            </a:r>
            <a:r>
              <a:rPr lang="en-US" altLang="zh-TW" sz="1200" dirty="0">
                <a:solidFill>
                  <a:srgbClr val="3399FF"/>
                </a:solidFill>
                <a:latin typeface="Arial" panose="020B0604020202020204" pitchFamily="34" charset="0"/>
                <a:ea typeface="微軟正黑體" panose="020B0604030504040204" pitchFamily="34" charset="-120"/>
              </a:rPr>
              <a:t>, </a:t>
            </a:r>
            <a:r>
              <a:rPr lang="zh-TW" altLang="en-US" sz="1200" dirty="0">
                <a:solidFill>
                  <a:srgbClr val="3399FF"/>
                </a:solidFill>
                <a:latin typeface="Arial" panose="020B0604020202020204" pitchFamily="34" charset="0"/>
                <a:ea typeface="微軟正黑體" panose="020B0604030504040204" pitchFamily="34" charset="-120"/>
              </a:rPr>
              <a:t>並落實數據治理 </a:t>
            </a:r>
            <a:r>
              <a:rPr lang="en-US" altLang="zh-TW" sz="1200" dirty="0">
                <a:solidFill>
                  <a:srgbClr val="3399FF"/>
                </a:solidFill>
                <a:latin typeface="Arial" panose="020B0604020202020204" pitchFamily="34" charset="0"/>
                <a:ea typeface="微軟正黑體" panose="020B0604030504040204" pitchFamily="34" charset="-120"/>
              </a:rPr>
              <a:t>,  </a:t>
            </a:r>
            <a:r>
              <a:rPr lang="zh-TW" altLang="en-US" sz="1200" dirty="0">
                <a:solidFill>
                  <a:srgbClr val="3399FF"/>
                </a:solidFill>
                <a:latin typeface="Arial" panose="020B0604020202020204" pitchFamily="34" charset="0"/>
                <a:ea typeface="微軟正黑體" panose="020B0604030504040204" pitchFamily="34" charset="-120"/>
              </a:rPr>
              <a:t>確保數據的品質。</a:t>
            </a:r>
            <a:endParaRPr lang="en-US" altLang="zh-TW" sz="1200" dirty="0">
              <a:solidFill>
                <a:srgbClr val="3399FF"/>
              </a:solidFill>
              <a:latin typeface="Arial" panose="020B0604020202020204" pitchFamily="34" charset="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rgbClr val="3399FF"/>
                </a:solidFill>
                <a:latin typeface="Arial" panose="020B0604020202020204" pitchFamily="34" charset="0"/>
                <a:ea typeface="微軟正黑體" panose="020B0604030504040204" pitchFamily="34" charset="-120"/>
              </a:rPr>
              <a:t>那在本次的</a:t>
            </a:r>
            <a:r>
              <a:rPr lang="en-US" altLang="zh-TW" sz="1200" dirty="0">
                <a:solidFill>
                  <a:srgbClr val="3399FF"/>
                </a:solidFill>
                <a:latin typeface="Arial" panose="020B0604020202020204" pitchFamily="34" charset="0"/>
                <a:ea typeface="微軟正黑體" panose="020B0604030504040204" pitchFamily="34" charset="-120"/>
              </a:rPr>
              <a:t>POC</a:t>
            </a:r>
            <a:r>
              <a:rPr lang="zh-TW" altLang="en-US" sz="1200" dirty="0">
                <a:solidFill>
                  <a:srgbClr val="3399FF"/>
                </a:solidFill>
                <a:latin typeface="Arial" panose="020B0604020202020204" pitchFamily="34" charset="0"/>
                <a:ea typeface="微軟正黑體" panose="020B0604030504040204" pitchFamily="34" charset="-120"/>
              </a:rPr>
              <a:t> 專案目標在完成每個功能模組的工具選型 </a:t>
            </a:r>
            <a:r>
              <a:rPr lang="en-US" altLang="zh-TW" sz="1200" dirty="0">
                <a:solidFill>
                  <a:srgbClr val="3399FF"/>
                </a:solidFill>
                <a:latin typeface="Arial" panose="020B0604020202020204" pitchFamily="34" charset="0"/>
                <a:ea typeface="微軟正黑體" panose="020B0604030504040204" pitchFamily="34" charset="-120"/>
              </a:rPr>
              <a:t>, </a:t>
            </a:r>
            <a:r>
              <a:rPr lang="zh-TW" altLang="en-US" sz="1200" dirty="0">
                <a:solidFill>
                  <a:srgbClr val="3399FF"/>
                </a:solidFill>
                <a:latin typeface="Arial" panose="020B0604020202020204" pitchFamily="34" charset="0"/>
                <a:ea typeface="微軟正黑體" panose="020B0604030504040204" pitchFamily="34" charset="-120"/>
              </a:rPr>
              <a:t>並串聯實際的製造場域數據源 </a:t>
            </a:r>
            <a:r>
              <a:rPr lang="en-US" altLang="zh-TW" sz="1200" dirty="0">
                <a:solidFill>
                  <a:srgbClr val="3399FF"/>
                </a:solidFill>
                <a:latin typeface="Arial" panose="020B0604020202020204" pitchFamily="34" charset="0"/>
                <a:ea typeface="微軟正黑體" panose="020B0604030504040204" pitchFamily="34" charset="-120"/>
              </a:rPr>
              <a:t>,</a:t>
            </a:r>
            <a:r>
              <a:rPr lang="zh-TW" altLang="en-US" sz="1200" dirty="0">
                <a:solidFill>
                  <a:srgbClr val="3399FF"/>
                </a:solidFill>
                <a:latin typeface="Arial" panose="020B0604020202020204" pitchFamily="34" charset="0"/>
                <a:ea typeface="微軟正黑體" panose="020B0604030504040204" pitchFamily="34" charset="-120"/>
              </a:rPr>
              <a:t> 確保使用者情境是可以被滿足的 </a:t>
            </a:r>
            <a:r>
              <a:rPr lang="en-US" altLang="zh-TW" sz="1200" dirty="0">
                <a:solidFill>
                  <a:srgbClr val="3399FF"/>
                </a:solidFill>
                <a:latin typeface="Arial" panose="020B0604020202020204" pitchFamily="34" charset="0"/>
                <a:ea typeface="微軟正黑體" panose="020B0604030504040204" pitchFamily="34" charset="-12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rgbClr val="404040"/>
                </a:solidFill>
                <a:latin typeface="Arial" panose="020B0604020202020204" pitchFamily="34" charset="0"/>
                <a:ea typeface="微軟正黑體" panose="020B0604030504040204" pitchFamily="34" charset="-120"/>
              </a:rPr>
              <a:t>那後面會繼續說明一下各個功能模型的選型結論和本次</a:t>
            </a:r>
            <a:r>
              <a:rPr lang="en-US" altLang="zh-TW" sz="1200" dirty="0">
                <a:solidFill>
                  <a:srgbClr val="404040"/>
                </a:solidFill>
                <a:latin typeface="Arial" panose="020B0604020202020204" pitchFamily="34" charset="0"/>
                <a:ea typeface="微軟正黑體" panose="020B0604030504040204" pitchFamily="34" charset="-120"/>
              </a:rPr>
              <a:t>POC </a:t>
            </a:r>
            <a:r>
              <a:rPr lang="zh-TW" altLang="en-US" sz="1200" dirty="0">
                <a:solidFill>
                  <a:srgbClr val="404040"/>
                </a:solidFill>
                <a:latin typeface="Arial" panose="020B0604020202020204" pitchFamily="34" charset="0"/>
                <a:ea typeface="微軟正黑體" panose="020B0604030504040204" pitchFamily="34" charset="-120"/>
              </a:rPr>
              <a:t>串聯真實資料時的示意結果</a:t>
            </a:r>
            <a:r>
              <a:rPr lang="en-US" altLang="zh-TW" sz="1200" dirty="0">
                <a:solidFill>
                  <a:srgbClr val="404040"/>
                </a:solidFill>
                <a:latin typeface="Arial" panose="020B0604020202020204" pitchFamily="34" charset="0"/>
                <a:ea typeface="微軟正黑體" panose="020B0604030504040204" pitchFamily="34" charset="-120"/>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solidFill>
                <a:srgbClr val="404040"/>
              </a:solidFill>
              <a:latin typeface="Arial" panose="020B0604020202020204" pitchFamily="34" charset="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solidFill>
                  <a:srgbClr val="404040"/>
                </a:solidFill>
                <a:latin typeface="Arial" panose="020B0604020202020204" pitchFamily="34" charset="0"/>
                <a:ea typeface="微軟正黑體" panose="020B0604030504040204" pitchFamily="34" charset="-120"/>
              </a:rPr>
              <a:t>其中調整的部分在這邊說明</a:t>
            </a:r>
            <a:endParaRPr lang="en-US" altLang="zh-TW" sz="1200" dirty="0">
              <a:solidFill>
                <a:srgbClr val="404040"/>
              </a:solidFill>
              <a:latin typeface="Arial" panose="020B0604020202020204" pitchFamily="34" charset="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solidFill>
                  <a:srgbClr val="404040"/>
                </a:solidFill>
                <a:latin typeface="Arial" panose="020B0604020202020204" pitchFamily="34" charset="0"/>
                <a:ea typeface="微軟正黑體" panose="020B0604030504040204" pitchFamily="34" charset="-120"/>
              </a:rPr>
              <a:t>1.</a:t>
            </a:r>
            <a:r>
              <a:rPr lang="zh-TW" altLang="en-US" sz="1200" dirty="0">
                <a:solidFill>
                  <a:srgbClr val="404040"/>
                </a:solidFill>
                <a:latin typeface="Arial" panose="020B0604020202020204" pitchFamily="34" charset="0"/>
                <a:ea typeface="微軟正黑體" panose="020B0604030504040204" pitchFamily="34" charset="-120"/>
              </a:rPr>
              <a:t>那在未來的推廣這邊 </a:t>
            </a:r>
            <a:r>
              <a:rPr lang="en-US" altLang="zh-TW" sz="1200" dirty="0">
                <a:solidFill>
                  <a:srgbClr val="404040"/>
                </a:solidFill>
                <a:latin typeface="Arial" panose="020B0604020202020204" pitchFamily="34" charset="0"/>
                <a:ea typeface="微軟正黑體" panose="020B0604030504040204" pitchFamily="34" charset="-120"/>
              </a:rPr>
              <a:t>, </a:t>
            </a:r>
            <a:r>
              <a:rPr lang="zh-TW" altLang="en-US" sz="1200" dirty="0">
                <a:solidFill>
                  <a:srgbClr val="404040"/>
                </a:solidFill>
                <a:latin typeface="Arial" panose="020B0604020202020204" pitchFamily="34" charset="0"/>
                <a:ea typeface="微軟正黑體" panose="020B0604030504040204" pitchFamily="34" charset="-120"/>
              </a:rPr>
              <a:t>會搭配 </a:t>
            </a:r>
            <a:r>
              <a:rPr lang="en-US" altLang="zh-TW" sz="1200" dirty="0">
                <a:solidFill>
                  <a:srgbClr val="404040"/>
                </a:solidFill>
                <a:latin typeface="Arial" panose="020B0604020202020204" pitchFamily="34" charset="0"/>
                <a:ea typeface="微軟正黑體" panose="020B0604030504040204" pitchFamily="34" charset="-120"/>
              </a:rPr>
              <a:t>DMP </a:t>
            </a:r>
            <a:r>
              <a:rPr lang="zh-TW" altLang="en-US" sz="1200" dirty="0">
                <a:solidFill>
                  <a:srgbClr val="404040"/>
                </a:solidFill>
                <a:latin typeface="Arial" panose="020B0604020202020204" pitchFamily="34" charset="0"/>
                <a:ea typeface="微軟正黑體" panose="020B0604030504040204" pitchFamily="34" charset="-120"/>
              </a:rPr>
              <a:t>的整體架構 </a:t>
            </a:r>
            <a:r>
              <a:rPr lang="en-US" altLang="zh-TW" sz="1200" dirty="0">
                <a:solidFill>
                  <a:srgbClr val="404040"/>
                </a:solidFill>
                <a:latin typeface="Arial" panose="020B0604020202020204" pitchFamily="34" charset="0"/>
                <a:ea typeface="微軟正黑體" panose="020B0604030504040204" pitchFamily="34" charset="-120"/>
              </a:rPr>
              <a:t>, </a:t>
            </a:r>
            <a:r>
              <a:rPr lang="zh-TW" altLang="en-US" sz="1200" dirty="0">
                <a:solidFill>
                  <a:srgbClr val="404040"/>
                </a:solidFill>
                <a:latin typeface="Arial" panose="020B0604020202020204" pitchFamily="34" charset="0"/>
                <a:ea typeface="微軟正黑體" panose="020B0604030504040204" pitchFamily="34" charset="-120"/>
              </a:rPr>
              <a:t>蒐集彙整製造端的需求來進行規劃開發</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2</a:t>
            </a:fld>
            <a:endParaRPr lang="zh-TW" altLang="en-US"/>
          </a:p>
        </p:txBody>
      </p:sp>
    </p:spTree>
    <p:extLst>
      <p:ext uri="{BB962C8B-B14F-4D97-AF65-F5344CB8AC3E}">
        <p14:creationId xmlns:p14="http://schemas.microsoft.com/office/powerpoint/2010/main" val="1701332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zh-TW" altLang="en-US" b="1" i="0" dirty="0">
                <a:solidFill>
                  <a:srgbClr val="242424"/>
                </a:solidFill>
                <a:effectLst/>
                <a:latin typeface="Segoe UI" panose="020B0502040204020203" pitchFamily="34" charset="0"/>
              </a:rPr>
              <a:t>需求背景</a:t>
            </a:r>
            <a:r>
              <a:rPr lang="en-US" altLang="zh-TW" b="1" i="0" dirty="0">
                <a:solidFill>
                  <a:srgbClr val="242424"/>
                </a:solidFill>
                <a:effectLst/>
                <a:latin typeface="Segoe UI" panose="020B0502040204020203" pitchFamily="34" charset="0"/>
              </a:rPr>
              <a:t>/</a:t>
            </a:r>
            <a:r>
              <a:rPr lang="zh-TW" altLang="en-US" b="1" i="0" dirty="0">
                <a:solidFill>
                  <a:srgbClr val="242424"/>
                </a:solidFill>
                <a:effectLst/>
                <a:latin typeface="Segoe UI" panose="020B0502040204020203" pitchFamily="34" charset="0"/>
              </a:rPr>
              <a:t>痛點</a:t>
            </a:r>
            <a:r>
              <a:rPr lang="zh-TW" altLang="en-US" b="0" i="0" dirty="0">
                <a:solidFill>
                  <a:srgbClr val="242424"/>
                </a:solidFill>
                <a:effectLst/>
                <a:latin typeface="Segoe UI" panose="020B0502040204020203" pitchFamily="34" charset="0"/>
              </a:rPr>
              <a:t>：</a:t>
            </a:r>
          </a:p>
          <a:p>
            <a:pPr algn="l">
              <a:buFont typeface="Arial" panose="020B0604020202020204" pitchFamily="34" charset="0"/>
              <a:buChar char="•"/>
            </a:pPr>
            <a:r>
              <a:rPr lang="zh-TW" altLang="en-US" b="0" i="0" dirty="0">
                <a:solidFill>
                  <a:srgbClr val="242424"/>
                </a:solidFill>
                <a:effectLst/>
                <a:latin typeface="Segoe UI" panose="020B0502040204020203" pitchFamily="34" charset="0"/>
              </a:rPr>
              <a:t>台達製造域系統之間存在數據孤島，缺乏統一的數據管理和共享機制。</a:t>
            </a:r>
          </a:p>
          <a:p>
            <a:pPr algn="l">
              <a:buFont typeface="Arial" panose="020B0604020202020204" pitchFamily="34" charset="0"/>
              <a:buChar char="•"/>
            </a:pPr>
            <a:r>
              <a:rPr lang="zh-TW" altLang="en-US" b="0" i="0" dirty="0">
                <a:solidFill>
                  <a:srgbClr val="242424"/>
                </a:solidFill>
                <a:effectLst/>
                <a:latin typeface="Segoe UI" panose="020B0502040204020203" pitchFamily="34" charset="0"/>
              </a:rPr>
              <a:t>數據重覆且缺乏重用性，影響數據供應鏈效率。</a:t>
            </a:r>
          </a:p>
          <a:p>
            <a:pPr algn="l"/>
            <a:r>
              <a:rPr lang="zh-TW" altLang="en-US" b="1" i="0" dirty="0">
                <a:solidFill>
                  <a:srgbClr val="242424"/>
                </a:solidFill>
                <a:effectLst/>
                <a:latin typeface="Segoe UI" panose="020B0502040204020203" pitchFamily="34" charset="0"/>
              </a:rPr>
              <a:t>實現後的效果</a:t>
            </a:r>
            <a:r>
              <a:rPr lang="zh-TW" altLang="en-US" b="0" i="0" dirty="0">
                <a:solidFill>
                  <a:srgbClr val="242424"/>
                </a:solidFill>
                <a:effectLst/>
                <a:latin typeface="Segoe UI" panose="020B0502040204020203" pitchFamily="34" charset="0"/>
              </a:rPr>
              <a:t>：</a:t>
            </a:r>
          </a:p>
          <a:p>
            <a:pPr algn="l">
              <a:buFont typeface="Arial" panose="020B0604020202020204" pitchFamily="34" charset="0"/>
              <a:buChar char="•"/>
            </a:pPr>
            <a:r>
              <a:rPr lang="zh-TW" altLang="en-US" b="0" i="0" dirty="0">
                <a:solidFill>
                  <a:srgbClr val="242424"/>
                </a:solidFill>
                <a:effectLst/>
                <a:latin typeface="Segoe UI" panose="020B0502040204020203" pitchFamily="34" charset="0"/>
              </a:rPr>
              <a:t>統一數據入口點，簡化數據訪問，提高數據可用性和一致性。</a:t>
            </a:r>
          </a:p>
          <a:p>
            <a:pPr algn="l">
              <a:buFont typeface="Arial" panose="020B0604020202020204" pitchFamily="34" charset="0"/>
              <a:buChar char="•"/>
            </a:pPr>
            <a:r>
              <a:rPr lang="zh-TW" altLang="en-US" b="0" i="0" dirty="0">
                <a:solidFill>
                  <a:srgbClr val="242424"/>
                </a:solidFill>
                <a:effectLst/>
                <a:latin typeface="Segoe UI" panose="020B0502040204020203" pitchFamily="34" charset="0"/>
              </a:rPr>
              <a:t>提升整體數據供應鏈效率。</a:t>
            </a:r>
          </a:p>
          <a:p>
            <a:pPr algn="l"/>
            <a:r>
              <a:rPr lang="zh-TW" altLang="en-US" b="1" i="0" dirty="0">
                <a:solidFill>
                  <a:srgbClr val="242424"/>
                </a:solidFill>
                <a:effectLst/>
                <a:latin typeface="Segoe UI" panose="020B0502040204020203" pitchFamily="34" charset="0"/>
              </a:rPr>
              <a:t>建議的解決方案</a:t>
            </a:r>
            <a:r>
              <a:rPr lang="zh-TW" altLang="en-US" b="0" i="0" dirty="0">
                <a:solidFill>
                  <a:srgbClr val="242424"/>
                </a:solidFill>
                <a:effectLst/>
                <a:latin typeface="Segoe UI" panose="020B0502040204020203" pitchFamily="34" charset="0"/>
              </a:rPr>
              <a:t>：</a:t>
            </a:r>
          </a:p>
          <a:p>
            <a:pPr algn="l">
              <a:buFont typeface="Arial" panose="020B0604020202020204" pitchFamily="34" charset="0"/>
              <a:buChar char="•"/>
            </a:pPr>
            <a:r>
              <a:rPr lang="zh-TW" altLang="en-US" b="0" i="0" dirty="0">
                <a:solidFill>
                  <a:srgbClr val="242424"/>
                </a:solidFill>
                <a:effectLst/>
                <a:latin typeface="Segoe UI" panose="020B0502040204020203" pitchFamily="34" charset="0"/>
              </a:rPr>
              <a:t>建置製造域數據中台，整合多來源數據，標準化處理。</a:t>
            </a:r>
          </a:p>
          <a:p>
            <a:pPr algn="l">
              <a:buFont typeface="Arial" panose="020B0604020202020204" pitchFamily="34" charset="0"/>
              <a:buChar char="•"/>
            </a:pPr>
            <a:r>
              <a:rPr lang="zh-TW" altLang="en-US" b="0" i="0" dirty="0">
                <a:solidFill>
                  <a:srgbClr val="242424"/>
                </a:solidFill>
                <a:effectLst/>
                <a:latin typeface="Segoe UI" panose="020B0502040204020203" pitchFamily="34" charset="0"/>
              </a:rPr>
              <a:t>提供多種數據接口（</a:t>
            </a:r>
            <a:r>
              <a:rPr lang="en-US" altLang="zh-TW" b="0" i="0" dirty="0">
                <a:solidFill>
                  <a:srgbClr val="242424"/>
                </a:solidFill>
                <a:effectLst/>
                <a:latin typeface="Segoe UI" panose="020B0502040204020203" pitchFamily="34" charset="0"/>
              </a:rPr>
              <a:t>API</a:t>
            </a:r>
            <a:r>
              <a:rPr lang="zh-TW" altLang="en-US" b="0" i="0" dirty="0">
                <a:solidFill>
                  <a:srgbClr val="242424"/>
                </a:solidFill>
                <a:effectLst/>
                <a:latin typeface="Segoe UI" panose="020B0502040204020203" pitchFamily="34" charset="0"/>
              </a:rPr>
              <a:t>、數據庫連接、文件匯入匯出），滿足不同業務需求，確保數據靈活使用。</a:t>
            </a:r>
          </a:p>
          <a:p>
            <a:endParaRPr lang="zh-TW" altLang="en-US" dirty="0"/>
          </a:p>
        </p:txBody>
      </p:sp>
      <p:sp>
        <p:nvSpPr>
          <p:cNvPr id="4" name="投影片編號版面配置區 3"/>
          <p:cNvSpPr>
            <a:spLocks noGrp="1"/>
          </p:cNvSpPr>
          <p:nvPr>
            <p:ph type="sldNum" sz="quarter" idx="5"/>
          </p:nvPr>
        </p:nvSpPr>
        <p:spPr/>
        <p:txBody>
          <a:bodyPr/>
          <a:lstStyle/>
          <a:p>
            <a:fld id="{BFF380C3-7D2B-43B9-A2FF-0551F6D200CF}" type="slidenum">
              <a:rPr lang="en-US" smtClean="0"/>
              <a:t>3</a:t>
            </a:fld>
            <a:endParaRPr lang="en-US" dirty="0"/>
          </a:p>
        </p:txBody>
      </p:sp>
    </p:spTree>
    <p:extLst>
      <p:ext uri="{BB962C8B-B14F-4D97-AF65-F5344CB8AC3E}">
        <p14:creationId xmlns:p14="http://schemas.microsoft.com/office/powerpoint/2010/main" val="3092338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數據中台做為一個整合和管理數據的平台 </a:t>
            </a:r>
            <a:r>
              <a:rPr lang="en-US" altLang="zh-TW" dirty="0"/>
              <a:t>, </a:t>
            </a:r>
            <a:r>
              <a:rPr lang="zh-TW" altLang="en-US" dirty="0"/>
              <a:t>未來會著重在製造域的數據</a:t>
            </a:r>
            <a:r>
              <a:rPr lang="en-US" altLang="zh-TW" dirty="0"/>
              <a:t>, </a:t>
            </a:r>
            <a:r>
              <a:rPr lang="zh-TW" altLang="en-US" dirty="0"/>
              <a:t>並遵循 </a:t>
            </a:r>
            <a:r>
              <a:rPr lang="en-US" altLang="zh-TW" dirty="0"/>
              <a:t>Corp IT </a:t>
            </a:r>
            <a:r>
              <a:rPr lang="zh-TW" altLang="en-US" dirty="0"/>
              <a:t>的 </a:t>
            </a:r>
            <a:r>
              <a:rPr lang="en-US" altLang="zh-TW" dirty="0"/>
              <a:t>Data Platform </a:t>
            </a:r>
            <a:r>
              <a:rPr lang="zh-TW" altLang="en-US" dirty="0"/>
              <a:t>架構 </a:t>
            </a:r>
            <a:r>
              <a:rPr lang="en-US" altLang="zh-TW" dirty="0"/>
              <a:t>, </a:t>
            </a:r>
            <a:r>
              <a:rPr lang="zh-TW" altLang="en-US" dirty="0"/>
              <a:t>收集來自製造域的數據源 </a:t>
            </a:r>
            <a:r>
              <a:rPr lang="en-US" altLang="zh-TW" dirty="0"/>
              <a:t>(</a:t>
            </a:r>
            <a:r>
              <a:rPr lang="zh-TW" altLang="en-US" dirty="0"/>
              <a:t> </a:t>
            </a:r>
            <a:r>
              <a:rPr lang="en-US" altLang="zh-TW" dirty="0"/>
              <a:t>e.g.  WJ3 : C02/C03 ; WJ2 : C11</a:t>
            </a:r>
            <a:r>
              <a:rPr lang="zh-TW" altLang="en-US" dirty="0"/>
              <a:t> </a:t>
            </a:r>
            <a:r>
              <a:rPr lang="en-US" altLang="zh-TW" dirty="0"/>
              <a:t>) , </a:t>
            </a:r>
            <a:r>
              <a:rPr lang="zh-TW" altLang="en-US" dirty="0"/>
              <a:t>並透過中台的四個功能模組 </a:t>
            </a:r>
            <a:r>
              <a:rPr lang="en-US" altLang="zh-TW"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如數據匯流模組 </a:t>
            </a:r>
            <a:r>
              <a:rPr lang="en-US" altLang="zh-TW" dirty="0"/>
              <a:t>:</a:t>
            </a:r>
            <a:r>
              <a:rPr lang="zh-TW" altLang="en-US" dirty="0"/>
              <a:t> 會負責和收集資料接進來後  </a:t>
            </a:r>
            <a:r>
              <a:rPr lang="en-US" altLang="zh-TW" dirty="0"/>
              <a:t>, </a:t>
            </a:r>
            <a:r>
              <a:rPr lang="zh-TW" altLang="en-US" dirty="0"/>
              <a:t>並根據公司規範進行數據質量控管後將數據上架到數據中台 </a:t>
            </a:r>
            <a:r>
              <a:rPr lang="en-US" altLang="zh-TW" dirty="0"/>
              <a:t>, </a:t>
            </a:r>
            <a:r>
              <a:rPr lang="zh-TW" altLang="en-US" dirty="0"/>
              <a:t>並依照業務需求提供給不同的使用者</a:t>
            </a:r>
            <a:r>
              <a:rPr lang="en-US" altLang="zh-TW"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數據使用者統一透過數據中台接口取得數據後 </a:t>
            </a:r>
            <a:r>
              <a:rPr lang="en-US" altLang="zh-TW" dirty="0"/>
              <a:t>, </a:t>
            </a:r>
            <a:r>
              <a:rPr lang="zh-TW" altLang="en-US" dirty="0"/>
              <a:t>就可以彙整這些數據到 </a:t>
            </a:r>
            <a:r>
              <a:rPr lang="en-US" altLang="zh-TW" dirty="0"/>
              <a:t>BI </a:t>
            </a:r>
            <a:r>
              <a:rPr lang="zh-TW" altLang="en-US" dirty="0"/>
              <a:t>工具進行分析</a:t>
            </a:r>
            <a:r>
              <a:rPr lang="en-US" altLang="zh-TW" dirty="0"/>
              <a:t>.  </a:t>
            </a:r>
            <a:r>
              <a:rPr lang="zh-TW" altLang="en-US" dirty="0"/>
              <a:t>將這些數據變成有意義的圖表或指標方便相關單位解讀和決策</a:t>
            </a:r>
            <a:r>
              <a:rPr lang="en-US" altLang="zh-TW" dirty="0"/>
              <a:t>. </a:t>
            </a:r>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4</a:t>
            </a:fld>
            <a:endParaRPr lang="zh-TW" altLang="en-US"/>
          </a:p>
        </p:txBody>
      </p:sp>
    </p:spTree>
    <p:extLst>
      <p:ext uri="{BB962C8B-B14F-4D97-AF65-F5344CB8AC3E}">
        <p14:creationId xmlns:p14="http://schemas.microsoft.com/office/powerpoint/2010/main" val="1782341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以下是數據中台建置過程中各階段的說明  </a:t>
            </a:r>
            <a:endParaRPr lang="en-US" altLang="zh-TW" dirty="0"/>
          </a:p>
          <a:p>
            <a:r>
              <a:rPr lang="en-US" altLang="zh-TW" dirty="0"/>
              <a:t>(POC1)</a:t>
            </a:r>
            <a:r>
              <a:rPr lang="zh-TW" altLang="en-US" dirty="0"/>
              <a:t> 在今年</a:t>
            </a:r>
            <a:r>
              <a:rPr lang="en-US" altLang="zh-TW" dirty="0"/>
              <a:t>12</a:t>
            </a:r>
            <a:r>
              <a:rPr lang="zh-TW" altLang="en-US" dirty="0"/>
              <a:t>月前我們完成了第一階段的</a:t>
            </a:r>
            <a:r>
              <a:rPr lang="en-US" altLang="zh-TW" dirty="0"/>
              <a:t>POC </a:t>
            </a:r>
            <a:r>
              <a:rPr lang="zh-TW" altLang="en-US" dirty="0"/>
              <a:t>的架構設計</a:t>
            </a:r>
            <a:r>
              <a:rPr lang="en-US" altLang="zh-TW" dirty="0"/>
              <a:t>…</a:t>
            </a:r>
            <a:r>
              <a:rPr lang="zh-TW" altLang="en-US" dirty="0"/>
              <a:t>並針對需要的功能進行選型</a:t>
            </a:r>
            <a:r>
              <a:rPr lang="en-US" altLang="zh-TW" dirty="0"/>
              <a:t>.  </a:t>
            </a:r>
          </a:p>
          <a:p>
            <a:r>
              <a:rPr lang="en-US" altLang="zh-TW" dirty="0"/>
              <a:t>(</a:t>
            </a:r>
            <a:r>
              <a:rPr lang="zh-TW" altLang="en-US" dirty="0"/>
              <a:t>選型結論會在後面說明 </a:t>
            </a:r>
            <a:r>
              <a:rPr lang="en-US" altLang="zh-TW" dirty="0"/>
              <a:t>)</a:t>
            </a:r>
            <a:r>
              <a:rPr lang="zh-TW" altLang="en-US" dirty="0"/>
              <a:t> </a:t>
            </a:r>
            <a:endParaRPr lang="en-US" altLang="zh-TW" dirty="0"/>
          </a:p>
          <a:p>
            <a:endParaRPr lang="en-US" altLang="zh-TW" dirty="0"/>
          </a:p>
          <a:p>
            <a:endParaRPr lang="en-US" altLang="zh-TW" dirty="0"/>
          </a:p>
          <a:p>
            <a:endParaRPr lang="en-US" altLang="zh-TW" dirty="0"/>
          </a:p>
          <a:p>
            <a:r>
              <a:rPr lang="en-US" altLang="zh-TW" dirty="0"/>
              <a:t>(Timeline</a:t>
            </a:r>
            <a:r>
              <a:rPr lang="zh-TW" altLang="en-US" dirty="0"/>
              <a:t> </a:t>
            </a:r>
            <a:r>
              <a:rPr lang="en-US" altLang="zh-TW" dirty="0"/>
              <a:t>follow DMP </a:t>
            </a:r>
            <a:r>
              <a:rPr lang="zh-TW" altLang="en-US" dirty="0"/>
              <a:t>的時間軸</a:t>
            </a:r>
            <a:r>
              <a:rPr lang="en-US" altLang="zh-TW" dirty="0"/>
              <a:t>) </a:t>
            </a:r>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5</a:t>
            </a:fld>
            <a:endParaRPr lang="zh-TW" altLang="en-US"/>
          </a:p>
        </p:txBody>
      </p:sp>
    </p:spTree>
    <p:extLst>
      <p:ext uri="{BB962C8B-B14F-4D97-AF65-F5344CB8AC3E}">
        <p14:creationId xmlns:p14="http://schemas.microsoft.com/office/powerpoint/2010/main" val="4824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為達到 </a:t>
            </a:r>
            <a:r>
              <a:rPr lang="en-US" altLang="zh-TW" dirty="0"/>
              <a:t>POC</a:t>
            </a:r>
            <a:r>
              <a:rPr lang="zh-TW" altLang="en-US" dirty="0"/>
              <a:t> 中情境 </a:t>
            </a:r>
            <a:r>
              <a:rPr lang="en-US" altLang="zh-TW" dirty="0"/>
              <a:t>, </a:t>
            </a:r>
            <a:r>
              <a:rPr lang="zh-TW" altLang="en-US" dirty="0"/>
              <a:t>數據中台將使用以下功能模組以及所使用的工具來達到目標</a:t>
            </a:r>
            <a:endParaRPr lang="en-US" altLang="zh-TW" dirty="0"/>
          </a:p>
          <a:p>
            <a:r>
              <a:rPr lang="zh-TW" altLang="en-US" dirty="0"/>
              <a:t>我們收集了</a:t>
            </a:r>
            <a:r>
              <a:rPr lang="en-US" altLang="zh-TW" dirty="0"/>
              <a:t>MES</a:t>
            </a:r>
            <a:r>
              <a:rPr lang="zh-TW" altLang="en-US" dirty="0"/>
              <a:t> 系統和機聯來的數據，並彙整其他來自 </a:t>
            </a:r>
            <a:r>
              <a:rPr lang="en-US" altLang="zh-TW" dirty="0"/>
              <a:t>PLM </a:t>
            </a:r>
            <a:r>
              <a:rPr lang="zh-TW" altLang="en-US" dirty="0"/>
              <a:t> 產品的的資料 </a:t>
            </a:r>
            <a:r>
              <a:rPr lang="en-US" altLang="zh-TW" dirty="0"/>
              <a:t>, </a:t>
            </a:r>
          </a:p>
          <a:p>
            <a:endParaRPr lang="en-US" altLang="zh-TW" dirty="0"/>
          </a:p>
          <a:p>
            <a:r>
              <a:rPr lang="zh-TW" altLang="en-US" dirty="0"/>
              <a:t>再把落選的工具放上去  </a:t>
            </a:r>
            <a:r>
              <a:rPr lang="en-US" altLang="zh-TW" dirty="0"/>
              <a:t>(Matrix </a:t>
            </a:r>
            <a:r>
              <a:rPr lang="zh-TW" altLang="en-US" dirty="0"/>
              <a:t>放在附錄</a:t>
            </a:r>
            <a:r>
              <a:rPr lang="en-US" altLang="zh-TW" dirty="0"/>
              <a:t>)</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7</a:t>
            </a:fld>
            <a:endParaRPr lang="zh-TW" altLang="en-US"/>
          </a:p>
        </p:txBody>
      </p:sp>
    </p:spTree>
    <p:extLst>
      <p:ext uri="{BB962C8B-B14F-4D97-AF65-F5344CB8AC3E}">
        <p14:creationId xmlns:p14="http://schemas.microsoft.com/office/powerpoint/2010/main" val="477248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609523">
              <a:lnSpc>
                <a:spcPct val="100000"/>
              </a:lnSpc>
            </a:pPr>
            <a:r>
              <a:rPr lang="zh-TW" altLang="en-US" sz="1200" dirty="0">
                <a:solidFill>
                  <a:prstClr val="black"/>
                </a:solidFill>
                <a:latin typeface="Arial"/>
              </a:rPr>
              <a:t>數據中台因整併多樣系統資料來源，因此可以從廠級層級深入到線級的資料，深究目前線別上可能發生的問題，並可探討線別上各工單，以及可能出問題的設備，進而提早去排除設備問題恢復生產效率。可從線別資訊獲得以下重要資訊：</a:t>
            </a:r>
            <a:endParaRPr lang="en-US" altLang="zh-TW" sz="1200" dirty="0">
              <a:solidFill>
                <a:prstClr val="black"/>
              </a:solidFill>
              <a:latin typeface="Arial"/>
            </a:endParaRPr>
          </a:p>
          <a:p>
            <a:pPr defTabSz="609523">
              <a:lnSpc>
                <a:spcPct val="100000"/>
              </a:lnSpc>
            </a:pPr>
            <a:r>
              <a:rPr lang="zh-TW" altLang="en-US" sz="1200" dirty="0">
                <a:solidFill>
                  <a:prstClr val="black"/>
                </a:solidFill>
                <a:latin typeface="Arial"/>
              </a:rPr>
              <a:t>這條線目前狀態 </a:t>
            </a:r>
            <a:r>
              <a:rPr lang="en-US" altLang="zh-TW" sz="1200" dirty="0">
                <a:solidFill>
                  <a:prstClr val="black"/>
                </a:solidFill>
                <a:latin typeface="Arial"/>
              </a:rPr>
              <a:t>:</a:t>
            </a:r>
            <a:r>
              <a:rPr lang="zh-TW" altLang="en-US" sz="1200" dirty="0">
                <a:solidFill>
                  <a:prstClr val="black"/>
                </a:solidFill>
                <a:latin typeface="Arial"/>
              </a:rPr>
              <a:t> 工單號碼</a:t>
            </a:r>
            <a:r>
              <a:rPr lang="en-US" altLang="zh-TW" sz="1200" dirty="0">
                <a:solidFill>
                  <a:prstClr val="black"/>
                </a:solidFill>
                <a:latin typeface="Arial"/>
              </a:rPr>
              <a:t>,  </a:t>
            </a:r>
            <a:r>
              <a:rPr lang="zh-TW" altLang="en-US" sz="1200" dirty="0">
                <a:solidFill>
                  <a:prstClr val="black"/>
                </a:solidFill>
                <a:latin typeface="Arial"/>
              </a:rPr>
              <a:t>列出歷史工單號碼 </a:t>
            </a:r>
            <a:r>
              <a:rPr lang="en-US" altLang="zh-TW" sz="1200" dirty="0">
                <a:solidFill>
                  <a:prstClr val="black"/>
                </a:solidFill>
                <a:latin typeface="Arial"/>
              </a:rPr>
              <a:t>&amp;</a:t>
            </a:r>
            <a:r>
              <a:rPr lang="zh-TW" altLang="en-US" sz="1200" dirty="0">
                <a:solidFill>
                  <a:prstClr val="black"/>
                </a:solidFill>
                <a:latin typeface="Arial"/>
              </a:rPr>
              <a:t> </a:t>
            </a:r>
            <a:r>
              <a:rPr lang="en-US" altLang="zh-TW" sz="1200" dirty="0">
                <a:solidFill>
                  <a:prstClr val="black"/>
                </a:solidFill>
                <a:latin typeface="Arial"/>
              </a:rPr>
              <a:t>UPH</a:t>
            </a:r>
          </a:p>
          <a:p>
            <a:pPr defTabSz="609523">
              <a:lnSpc>
                <a:spcPct val="100000"/>
              </a:lnSpc>
            </a:pPr>
            <a:r>
              <a:rPr lang="zh-TW" altLang="en-US" sz="1200" dirty="0">
                <a:solidFill>
                  <a:prstClr val="black"/>
                </a:solidFill>
                <a:latin typeface="Arial"/>
              </a:rPr>
              <a:t>下面是歷史時間</a:t>
            </a:r>
            <a:r>
              <a:rPr lang="en-US" altLang="zh-TW" sz="1200" dirty="0">
                <a:solidFill>
                  <a:prstClr val="black"/>
                </a:solidFill>
                <a:latin typeface="Arial"/>
              </a:rPr>
              <a:t>, </a:t>
            </a:r>
            <a:r>
              <a:rPr lang="zh-TW" altLang="en-US" sz="1200" dirty="0">
                <a:solidFill>
                  <a:prstClr val="black"/>
                </a:solidFill>
                <a:latin typeface="Arial"/>
              </a:rPr>
              <a:t> 在這個產品廠有多張工單</a:t>
            </a:r>
            <a:r>
              <a:rPr lang="en-US" altLang="zh-TW" sz="1200" dirty="0">
                <a:solidFill>
                  <a:prstClr val="black"/>
                </a:solidFill>
                <a:latin typeface="Arial"/>
              </a:rPr>
              <a:t>, </a:t>
            </a:r>
            <a:r>
              <a:rPr lang="zh-TW" altLang="en-US" sz="1200" dirty="0">
                <a:solidFill>
                  <a:prstClr val="black"/>
                </a:solidFill>
                <a:latin typeface="Arial"/>
              </a:rPr>
              <a:t>可以跳到 </a:t>
            </a:r>
            <a:r>
              <a:rPr lang="en-US" altLang="zh-TW" sz="1200" dirty="0">
                <a:solidFill>
                  <a:prstClr val="black"/>
                </a:solidFill>
                <a:latin typeface="Arial"/>
              </a:rPr>
              <a:t>line manger </a:t>
            </a:r>
            <a:r>
              <a:rPr lang="zh-TW" altLang="en-US" sz="1200" dirty="0">
                <a:solidFill>
                  <a:prstClr val="black"/>
                </a:solidFill>
                <a:latin typeface="Arial"/>
              </a:rPr>
              <a:t>的地方去看機台參數和機況  </a:t>
            </a: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solidFill>
                  <a:prstClr val="black"/>
                </a:solidFill>
                <a:latin typeface="Arial"/>
              </a:rPr>
              <a:t>工單 </a:t>
            </a:r>
            <a:r>
              <a:rPr lang="en-US" altLang="zh-TW" sz="1200" dirty="0">
                <a:solidFill>
                  <a:prstClr val="black"/>
                </a:solidFill>
                <a:latin typeface="Arial"/>
              </a:rPr>
              <a:t>UPH </a:t>
            </a:r>
            <a:r>
              <a:rPr lang="zh-TW" altLang="en-US" sz="1200" dirty="0">
                <a:solidFill>
                  <a:prstClr val="black"/>
                </a:solidFill>
                <a:latin typeface="Arial"/>
              </a:rPr>
              <a:t>值的趨勢</a:t>
            </a: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solidFill>
                  <a:prstClr val="black"/>
                </a:solidFill>
                <a:latin typeface="Arial"/>
              </a:rPr>
              <a:t>工單生產進度</a:t>
            </a: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solidFill>
                  <a:prstClr val="black"/>
                </a:solidFill>
                <a:latin typeface="Arial"/>
              </a:rPr>
              <a:t>線別上設備狀態</a:t>
            </a:r>
            <a:endParaRPr lang="en-US" altLang="zh-TW" sz="1200" dirty="0">
              <a:solidFill>
                <a:prstClr val="black"/>
              </a:solidFill>
              <a:latin typeface="Arial"/>
            </a:endParaRPr>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8</a:t>
            </a:fld>
            <a:endParaRPr lang="zh-TW" altLang="en-US"/>
          </a:p>
        </p:txBody>
      </p:sp>
    </p:spTree>
    <p:extLst>
      <p:ext uri="{BB962C8B-B14F-4D97-AF65-F5344CB8AC3E}">
        <p14:creationId xmlns:p14="http://schemas.microsoft.com/office/powerpoint/2010/main" val="1623136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若根據以上架構 </a:t>
            </a:r>
            <a:r>
              <a:rPr lang="en-US" altLang="zh-TW" dirty="0"/>
              <a:t>, </a:t>
            </a:r>
            <a:r>
              <a:rPr lang="zh-TW" altLang="en-US" dirty="0"/>
              <a:t>數據中台得以收集到來自不同系統的數據來源，並可以彙整這些資料進行多維度的分析 </a:t>
            </a:r>
            <a:r>
              <a:rPr lang="en-US" altLang="zh-TW"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本次 </a:t>
            </a:r>
            <a:r>
              <a:rPr lang="en-US" altLang="zh-TW" dirty="0"/>
              <a:t>POC </a:t>
            </a:r>
            <a:r>
              <a:rPr lang="zh-TW" altLang="en-US" dirty="0"/>
              <a:t>針對以下的使用者情境來示意數據中台可將數據做什麼應用做個示意圖 </a:t>
            </a:r>
            <a:r>
              <a:rPr lang="en-US" altLang="zh-TW"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當數據中台彙整了 </a:t>
            </a:r>
            <a:r>
              <a:rPr lang="en-US" altLang="zh-TW" dirty="0"/>
              <a:t>PLM</a:t>
            </a:r>
            <a:r>
              <a:rPr lang="zh-TW" altLang="en-US" dirty="0"/>
              <a:t> 、機聯和 </a:t>
            </a:r>
            <a:r>
              <a:rPr lang="en-US" altLang="zh-TW" dirty="0"/>
              <a:t>MES</a:t>
            </a:r>
            <a:r>
              <a:rPr lang="zh-TW" altLang="en-US" dirty="0"/>
              <a:t> 系統後 </a:t>
            </a:r>
            <a:r>
              <a:rPr lang="en-US" altLang="zh-TW" dirty="0"/>
              <a:t>, </a:t>
            </a:r>
            <a:r>
              <a:rPr lang="zh-TW" altLang="en-US" dirty="0"/>
              <a:t>可以廠長層級針對產品廠進行篩選 </a:t>
            </a:r>
            <a:r>
              <a:rPr lang="en-US" altLang="zh-TW" dirty="0"/>
              <a:t>, </a:t>
            </a:r>
            <a:r>
              <a:rPr lang="zh-TW" altLang="en-US" dirty="0"/>
              <a:t> 系統可優先列出目前運行效率較差的產品廠。</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如圖，可以收集到機聯過來的產品產出量來算出產品廠的 </a:t>
            </a:r>
            <a:r>
              <a:rPr lang="en-US" altLang="zh-TW" dirty="0"/>
              <a:t>MTD</a:t>
            </a:r>
            <a:r>
              <a:rPr lang="zh-TW" altLang="en-US" dirty="0"/>
              <a:t> 等資料 </a:t>
            </a:r>
            <a:r>
              <a:rPr lang="en-US" altLang="zh-TW" dirty="0"/>
              <a:t>, </a:t>
            </a:r>
            <a:r>
              <a:rPr lang="zh-TW" altLang="en-US" dirty="0"/>
              <a:t>並從線級資料找出</a:t>
            </a:r>
            <a:r>
              <a:rPr lang="en-US" altLang="zh-TW" dirty="0"/>
              <a:t>UPH</a:t>
            </a:r>
            <a:r>
              <a:rPr lang="zh-TW" altLang="en-US" dirty="0"/>
              <a:t> 目前較低的資料 </a:t>
            </a:r>
            <a:r>
              <a:rPr lang="en-US" altLang="zh-TW" dirty="0"/>
              <a:t>, </a:t>
            </a:r>
            <a:r>
              <a:rPr lang="zh-TW" altLang="en-US" dirty="0"/>
              <a:t>呈現給廠長進行第一步的追蹤。</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(SMT WJ3 </a:t>
            </a:r>
            <a:r>
              <a:rPr lang="zh-TW" altLang="en-US" dirty="0"/>
              <a:t>廠因 </a:t>
            </a:r>
            <a:r>
              <a:rPr lang="en-US" altLang="zh-TW" dirty="0"/>
              <a:t>Line D-HI-L03A </a:t>
            </a:r>
            <a:r>
              <a:rPr lang="zh-TW" altLang="en-US" dirty="0"/>
              <a:t> </a:t>
            </a:r>
            <a:r>
              <a:rPr lang="en-US" altLang="zh-TW" dirty="0"/>
              <a:t>UPH</a:t>
            </a:r>
            <a:r>
              <a:rPr lang="zh-TW" altLang="en-US" dirty="0"/>
              <a:t> 低於規劃值， 導致</a:t>
            </a:r>
            <a:r>
              <a:rPr lang="en-US" altLang="zh-TW" dirty="0"/>
              <a:t>MTD</a:t>
            </a:r>
            <a:r>
              <a:rPr lang="zh-TW" altLang="en-US" dirty="0"/>
              <a:t> 達成率太低</a:t>
            </a:r>
            <a:r>
              <a:rPr lang="en-US" altLang="zh-TW" dirty="0"/>
              <a:t>, </a:t>
            </a:r>
            <a:r>
              <a:rPr lang="zh-TW" altLang="en-US" dirty="0"/>
              <a:t>因此在儀表板上提示該監控該線別是否有其他問題</a:t>
            </a:r>
            <a:r>
              <a:rPr lang="en-US" altLang="zh-TW" dirty="0"/>
              <a:t>)</a:t>
            </a:r>
            <a:r>
              <a:rPr lang="zh-TW" altLang="en-US" dirty="0"/>
              <a:t>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另外也因為整併了機聯和</a:t>
            </a:r>
            <a:r>
              <a:rPr lang="en-US" altLang="zh-TW" dirty="0"/>
              <a:t>MES </a:t>
            </a:r>
            <a:r>
              <a:rPr lang="zh-TW" altLang="en-US" dirty="0"/>
              <a:t>工單產出的數字，因此可以分析</a:t>
            </a:r>
            <a:r>
              <a:rPr lang="en-US" altLang="zh-TW" dirty="0"/>
              <a:t>MTD </a:t>
            </a:r>
            <a:r>
              <a:rPr lang="zh-TW" altLang="en-US" dirty="0"/>
              <a:t>的趨勢，來判斷發生問題的時間點並切入到更細的維度進行分析</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示意圖上來看  </a:t>
            </a:r>
            <a:r>
              <a:rPr lang="en-US" altLang="zh-TW" dirty="0"/>
              <a:t>SMT </a:t>
            </a:r>
            <a:r>
              <a:rPr lang="zh-TW" altLang="en-US" dirty="0"/>
              <a:t>廠在</a:t>
            </a:r>
            <a:r>
              <a:rPr lang="en-US" altLang="zh-TW" dirty="0"/>
              <a:t>MTD </a:t>
            </a:r>
            <a:r>
              <a:rPr lang="zh-TW" altLang="en-US" dirty="0"/>
              <a:t>每日的生產量分析</a:t>
            </a:r>
            <a:r>
              <a:rPr lang="en-US" altLang="zh-TW" dirty="0"/>
              <a:t>SMT</a:t>
            </a:r>
            <a:r>
              <a:rPr lang="zh-TW" altLang="en-US" dirty="0"/>
              <a:t> 正在逐日下降</a:t>
            </a:r>
            <a:r>
              <a:rPr lang="en-US" altLang="zh-TW" dirty="0"/>
              <a:t>, </a:t>
            </a:r>
            <a:r>
              <a:rPr lang="zh-TW" altLang="en-US" dirty="0"/>
              <a:t>且</a:t>
            </a:r>
            <a:r>
              <a:rPr lang="en-US" altLang="zh-TW" dirty="0"/>
              <a:t>12</a:t>
            </a:r>
            <a:r>
              <a:rPr lang="zh-TW" altLang="en-US" dirty="0"/>
              <a:t>月的產量明顯低於預期 </a:t>
            </a:r>
            <a:r>
              <a:rPr lang="en-US" altLang="zh-TW" dirty="0"/>
              <a:t>, </a:t>
            </a:r>
            <a:r>
              <a:rPr lang="zh-TW" altLang="en-US" dirty="0"/>
              <a:t>所以廠長可以再切到更細一個維度開始分析  </a:t>
            </a:r>
            <a:r>
              <a:rPr lang="en-US" altLang="zh-TW" dirty="0"/>
              <a:t>(</a:t>
            </a:r>
            <a:r>
              <a:rPr lang="zh-TW" altLang="en-US" dirty="0"/>
              <a:t>見下張</a:t>
            </a:r>
            <a:r>
              <a:rPr lang="en-US" altLang="zh-TW" dirty="0"/>
              <a:t>ppt)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圖表</a:t>
            </a:r>
            <a:r>
              <a:rPr lang="en-US" altLang="zh-TW" dirty="0"/>
              <a:t>1 : </a:t>
            </a:r>
            <a:r>
              <a:rPr lang="zh-TW" altLang="en-US" dirty="0"/>
              <a:t>趨勢 </a:t>
            </a:r>
            <a:r>
              <a:rPr lang="en-US" altLang="zh-TW" dirty="0"/>
              <a:t>80%~100%  (95%)</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上面生產中  講到下面是歷史分析</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r>
              <a:rPr lang="zh-TW" altLang="en-US" dirty="0"/>
              <a:t>分析每一天的</a:t>
            </a:r>
            <a:r>
              <a:rPr lang="en-US" altLang="zh-TW" dirty="0"/>
              <a:t>MTD</a:t>
            </a:r>
            <a:r>
              <a:rPr lang="zh-TW" altLang="en-US" dirty="0"/>
              <a:t>（</a:t>
            </a:r>
            <a:r>
              <a:rPr lang="en-US" altLang="zh-TW" dirty="0"/>
              <a:t>Month-To-Date</a:t>
            </a:r>
            <a:r>
              <a:rPr lang="zh-TW" altLang="en-US" dirty="0"/>
              <a:t>）數據，可以更詳細地發現和診斷生產運營中的問題，具體來說，包括以下幾個方面：</a:t>
            </a:r>
          </a:p>
          <a:p>
            <a:pPr>
              <a:buFont typeface="+mj-lt"/>
              <a:buAutoNum type="arabicPeriod"/>
            </a:pPr>
            <a:r>
              <a:rPr lang="zh-TW" altLang="en-US" b="1" dirty="0"/>
              <a:t>日常波動和趨勢</a:t>
            </a:r>
            <a:r>
              <a:rPr lang="zh-TW" altLang="en-US" dirty="0"/>
              <a:t>：觀察每天的生產量與規劃量的差異，可以發現生產過程中的波動和趨勢，這有助於識別生產穩定性和一致性問題。</a:t>
            </a:r>
            <a:endParaRPr lang="en-US" altLang="zh-TW" dirty="0"/>
          </a:p>
          <a:p>
            <a:pPr>
              <a:buFont typeface="+mj-lt"/>
              <a:buNone/>
            </a:pPr>
            <a:r>
              <a:rPr lang="zh-TW" altLang="en-US" dirty="0"/>
              <a:t>每天的生產數據可以顯示物料供應的連續性和穩定性。如果某些天生產量低，可能是因為物料供應不足或延遲</a:t>
            </a:r>
            <a:r>
              <a:rPr lang="en-US" altLang="zh-TW" dirty="0"/>
              <a:t>/</a:t>
            </a:r>
            <a:r>
              <a:rPr lang="zh-TW" altLang="en-US" dirty="0"/>
              <a:t>設備效能</a:t>
            </a:r>
            <a:r>
              <a:rPr lang="en-US" altLang="zh-TW" dirty="0"/>
              <a:t>&amp;</a:t>
            </a:r>
            <a:r>
              <a:rPr lang="zh-TW" altLang="en-US" dirty="0"/>
              <a:t>故障率。</a:t>
            </a:r>
            <a:endParaRPr lang="en-US" altLang="zh-TW" dirty="0"/>
          </a:p>
          <a:p>
            <a:pPr>
              <a:buFont typeface="+mj-lt"/>
              <a:buNone/>
            </a:pP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defTabSz="609523">
              <a:lnSpc>
                <a:spcPct val="100000"/>
              </a:lnSpc>
            </a:pPr>
            <a:r>
              <a:rPr lang="zh-TW" altLang="en-US" sz="1200" dirty="0">
                <a:solidFill>
                  <a:prstClr val="black"/>
                </a:solidFill>
                <a:latin typeface="Arial"/>
                <a:ea typeface=""/>
                <a:cs typeface=""/>
              </a:rPr>
              <a:t>數據中台做為公司內部統一的數據來源，若統合機聯、</a:t>
            </a:r>
            <a:r>
              <a:rPr lang="en-US" altLang="zh-TW" sz="1200" dirty="0">
                <a:solidFill>
                  <a:prstClr val="black"/>
                </a:solidFill>
                <a:latin typeface="Arial"/>
                <a:ea typeface=""/>
                <a:cs typeface=""/>
              </a:rPr>
              <a:t>PLM</a:t>
            </a:r>
            <a:r>
              <a:rPr lang="zh-TW" altLang="en-US" sz="1200" dirty="0">
                <a:solidFill>
                  <a:prstClr val="black"/>
                </a:solidFill>
                <a:latin typeface="Arial"/>
                <a:ea typeface=""/>
                <a:cs typeface=""/>
              </a:rPr>
              <a:t>產品資訊、</a:t>
            </a:r>
            <a:r>
              <a:rPr lang="en-US" altLang="zh-TW" sz="1200" dirty="0">
                <a:solidFill>
                  <a:prstClr val="black"/>
                </a:solidFill>
                <a:latin typeface="Arial"/>
                <a:ea typeface=""/>
                <a:cs typeface=""/>
              </a:rPr>
              <a:t>MES</a:t>
            </a:r>
            <a:r>
              <a:rPr lang="zh-TW" altLang="en-US" sz="1200" dirty="0">
                <a:solidFill>
                  <a:prstClr val="black"/>
                </a:solidFill>
                <a:latin typeface="Arial"/>
                <a:ea typeface=""/>
                <a:cs typeface=""/>
              </a:rPr>
              <a:t> 工單和 </a:t>
            </a:r>
            <a:r>
              <a:rPr lang="en-US" altLang="zh-TW" sz="1200" dirty="0">
                <a:solidFill>
                  <a:prstClr val="black"/>
                </a:solidFill>
                <a:latin typeface="Arial"/>
                <a:ea typeface=""/>
                <a:cs typeface=""/>
              </a:rPr>
              <a:t>SAP</a:t>
            </a:r>
            <a:r>
              <a:rPr lang="zh-TW" altLang="en-US" sz="1200" dirty="0">
                <a:solidFill>
                  <a:prstClr val="black"/>
                </a:solidFill>
                <a:latin typeface="Arial"/>
                <a:ea typeface=""/>
                <a:cs typeface=""/>
              </a:rPr>
              <a:t> 的規劃生產量，則可以達到廠級層級的產品示警儀表板，以提醒目前量產上會有問題的產品。</a:t>
            </a:r>
            <a:endParaRPr lang="en-US" altLang="zh-TW" sz="1200" dirty="0">
              <a:solidFill>
                <a:prstClr val="black"/>
              </a:solidFill>
              <a:latin typeface="Arial"/>
              <a:ea typeface=""/>
              <a:cs typeface=""/>
            </a:endParaRPr>
          </a:p>
          <a:p>
            <a:pPr marL="171450" indent="-171450">
              <a:buFont typeface="Arial" panose="020B0604020202020204" pitchFamily="34" charset="0"/>
              <a:buChar char="•"/>
            </a:pPr>
            <a:r>
              <a:rPr lang="en-US" altLang="zh-TW" sz="1200" dirty="0"/>
              <a:t>PLM</a:t>
            </a:r>
            <a:r>
              <a:rPr lang="zh-TW" altLang="en-US" sz="1200" dirty="0"/>
              <a:t>：產品主檔資訊</a:t>
            </a:r>
            <a:endParaRPr lang="en-US" altLang="zh-TW" sz="1200" dirty="0"/>
          </a:p>
          <a:p>
            <a:pPr marL="171450" indent="-171450">
              <a:buFont typeface="Arial" panose="020B0604020202020204" pitchFamily="34" charset="0"/>
              <a:buChar char="•"/>
            </a:pPr>
            <a:r>
              <a:rPr lang="zh-TW" altLang="en-US" sz="1200" dirty="0"/>
              <a:t>機聯：設備產出檔以取得機況、產出數等資訊</a:t>
            </a:r>
            <a:endParaRPr lang="en-US" altLang="zh-TW" sz="1200" dirty="0"/>
          </a:p>
          <a:p>
            <a:pPr marL="171450" indent="-171450">
              <a:buFont typeface="Arial" panose="020B0604020202020204" pitchFamily="34" charset="0"/>
              <a:buChar char="•"/>
            </a:pPr>
            <a:r>
              <a:rPr lang="en-US" altLang="zh-TW" sz="1200" dirty="0"/>
              <a:t>MES</a:t>
            </a:r>
            <a:r>
              <a:rPr lang="zh-TW" altLang="en-US" sz="1200" dirty="0"/>
              <a:t> </a:t>
            </a:r>
            <a:r>
              <a:rPr lang="en-US" altLang="zh-TW" sz="1200" dirty="0"/>
              <a:t>:</a:t>
            </a:r>
            <a:r>
              <a:rPr lang="zh-TW" altLang="en-US" sz="1200" dirty="0"/>
              <a:t> 由</a:t>
            </a:r>
            <a:r>
              <a:rPr lang="en-US" altLang="zh-TW" sz="1200" dirty="0"/>
              <a:t>MES </a:t>
            </a:r>
            <a:r>
              <a:rPr lang="zh-TW" altLang="en-US" sz="1200" dirty="0"/>
              <a:t>資訊取得線別主檔和工單資訊</a:t>
            </a:r>
            <a:endParaRPr lang="en-US" altLang="zh-TW" sz="1200" dirty="0"/>
          </a:p>
          <a:p>
            <a:pPr marL="171450" indent="-171450">
              <a:buFont typeface="Arial" panose="020B0604020202020204" pitchFamily="34" charset="0"/>
              <a:buChar char="•"/>
            </a:pPr>
            <a:endParaRPr lang="en-US" altLang="zh-TW" sz="1200" dirty="0"/>
          </a:p>
          <a:p>
            <a:pPr marL="171450" indent="-171450">
              <a:buFont typeface="Arial" panose="020B0604020202020204" pitchFamily="34" charset="0"/>
              <a:buChar char="•"/>
            </a:pPr>
            <a:endParaRPr lang="en-US" altLang="zh-TW" sz="1200" dirty="0"/>
          </a:p>
          <a:p>
            <a:pPr defTabSz="609523">
              <a:lnSpc>
                <a:spcPct val="100000"/>
              </a:lnSpc>
            </a:pPr>
            <a:r>
              <a:rPr lang="zh-TW" altLang="en-US" sz="1200" dirty="0">
                <a:solidFill>
                  <a:prstClr val="black"/>
                </a:solidFill>
                <a:latin typeface="Arial"/>
              </a:rPr>
              <a:t>廠長可在儀表板上查詢各產品廠截至今日的生產資訊，可將線別的資料彙整成廠級資料，廠長可從中獲得以下重要訊息：</a:t>
            </a: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solidFill>
                  <a:prstClr val="black"/>
                </a:solidFill>
                <a:latin typeface="Arial"/>
              </a:rPr>
              <a:t>生產進度監控</a:t>
            </a: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solidFill>
                  <a:prstClr val="black"/>
                </a:solidFill>
                <a:latin typeface="Arial"/>
              </a:rPr>
              <a:t>生產效率分析改進</a:t>
            </a: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t>產品廠資源分配優化</a:t>
            </a:r>
            <a:endParaRPr lang="en-US" altLang="zh-TW" sz="1200" dirty="0"/>
          </a:p>
          <a:p>
            <a:pPr marL="171450" indent="-171450" defTabSz="609523">
              <a:lnSpc>
                <a:spcPct val="100000"/>
              </a:lnSpc>
              <a:buFont typeface="Arial" panose="020B0604020202020204" pitchFamily="34" charset="0"/>
              <a:buChar char="•"/>
            </a:pPr>
            <a:r>
              <a:rPr lang="zh-TW" altLang="en-US" sz="1200" dirty="0"/>
              <a:t>生產問題識別</a:t>
            </a:r>
          </a:p>
          <a:p>
            <a:pPr marL="171450" indent="-171450">
              <a:buFont typeface="Arial" panose="020B0604020202020204" pitchFamily="34" charset="0"/>
              <a:buChar char="•"/>
            </a:pPr>
            <a:endParaRPr lang="zh-TW" alt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endParaRPr lang="en-US" altLang="zh-TW" dirty="0"/>
          </a:p>
          <a:p>
            <a:endParaRPr lang="en-US" altLang="zh-TW" dirty="0"/>
          </a:p>
          <a:p>
            <a:r>
              <a:rPr lang="zh-TW" altLang="en-US" dirty="0"/>
              <a:t>每個小圖 的說明  </a:t>
            </a:r>
            <a:r>
              <a:rPr lang="en-US" altLang="zh-TW" dirty="0"/>
              <a:t>:</a:t>
            </a:r>
            <a:r>
              <a:rPr lang="zh-TW" altLang="en-US" dirty="0"/>
              <a:t> 目的和 左邊的</a:t>
            </a:r>
            <a:r>
              <a:rPr lang="en-US" altLang="zh-TW" dirty="0"/>
              <a:t>title </a:t>
            </a:r>
          </a:p>
          <a:p>
            <a:endParaRPr lang="en-US" altLang="zh-TW" dirty="0"/>
          </a:p>
          <a:p>
            <a:r>
              <a:rPr lang="en-US" altLang="zh-TW" dirty="0"/>
              <a:t>(Dashboard Title</a:t>
            </a:r>
            <a:r>
              <a:rPr lang="zh-TW" altLang="en-US" dirty="0"/>
              <a:t> 改掉</a:t>
            </a:r>
            <a:r>
              <a:rPr lang="en-US" altLang="zh-TW" dirty="0"/>
              <a:t>)  </a:t>
            </a:r>
            <a:r>
              <a:rPr lang="zh-TW" altLang="en-US" dirty="0"/>
              <a:t>廠長會叫這頁什麼 </a:t>
            </a:r>
            <a:r>
              <a:rPr lang="en-US" altLang="zh-TW" dirty="0"/>
              <a:t>?</a:t>
            </a:r>
            <a:r>
              <a:rPr lang="zh-TW" altLang="en-US" dirty="0"/>
              <a:t> </a:t>
            </a:r>
            <a:r>
              <a:rPr lang="en-US" altLang="zh-TW" dirty="0"/>
              <a:t>(e.g. </a:t>
            </a:r>
            <a:r>
              <a:rPr lang="zh-TW" altLang="en-US" dirty="0"/>
              <a:t>生產進度監控</a:t>
            </a:r>
            <a:r>
              <a:rPr lang="en-US" altLang="zh-TW" dirty="0"/>
              <a:t>?)</a:t>
            </a:r>
          </a:p>
          <a:p>
            <a:endParaRPr lang="en-US" altLang="zh-TW" dirty="0"/>
          </a:p>
          <a:p>
            <a:r>
              <a:rPr lang="zh-TW" altLang="en-US" dirty="0"/>
              <a:t>把故事寫出來</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9</a:t>
            </a:fld>
            <a:endParaRPr lang="zh-TW" altLang="en-US"/>
          </a:p>
        </p:txBody>
      </p:sp>
    </p:spTree>
    <p:extLst>
      <p:ext uri="{BB962C8B-B14F-4D97-AF65-F5344CB8AC3E}">
        <p14:creationId xmlns:p14="http://schemas.microsoft.com/office/powerpoint/2010/main" val="4194129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609523">
              <a:lnSpc>
                <a:spcPct val="100000"/>
              </a:lnSpc>
            </a:pPr>
            <a:r>
              <a:rPr lang="zh-TW" altLang="en-US" sz="1200" dirty="0">
                <a:solidFill>
                  <a:prstClr val="black"/>
                </a:solidFill>
                <a:latin typeface="Arial"/>
              </a:rPr>
              <a:t>數據中台因整併多樣系統資料來源，因此可以從廠級層級深入到線級的資料，深究目前線別上可能發生的問題，並可探討線別上各工單，以及可能出問題的設備，進而提早去排除設備問題恢復生產效率。可從線別資訊獲得以下重要資訊：</a:t>
            </a:r>
            <a:endParaRPr lang="en-US" altLang="zh-TW" sz="1200" dirty="0">
              <a:solidFill>
                <a:prstClr val="black"/>
              </a:solidFill>
              <a:latin typeface="Arial"/>
            </a:endParaRPr>
          </a:p>
          <a:p>
            <a:pPr defTabSz="609523">
              <a:lnSpc>
                <a:spcPct val="100000"/>
              </a:lnSpc>
            </a:pPr>
            <a:endParaRPr lang="en-US" altLang="zh-TW" sz="1200" dirty="0">
              <a:solidFill>
                <a:prstClr val="black"/>
              </a:solidFill>
              <a:latin typeface="Arial"/>
            </a:endParaRPr>
          </a:p>
          <a:p>
            <a:pPr defTabSz="609523">
              <a:lnSpc>
                <a:spcPct val="100000"/>
              </a:lnSpc>
            </a:pPr>
            <a:r>
              <a:rPr lang="zh-TW" altLang="en-US" sz="1200" dirty="0">
                <a:solidFill>
                  <a:prstClr val="black"/>
                </a:solidFill>
                <a:latin typeface="Arial"/>
              </a:rPr>
              <a:t>這條線目前狀態 </a:t>
            </a:r>
            <a:r>
              <a:rPr lang="en-US" altLang="zh-TW" sz="1200" dirty="0">
                <a:solidFill>
                  <a:prstClr val="black"/>
                </a:solidFill>
                <a:latin typeface="Arial"/>
              </a:rPr>
              <a:t>:</a:t>
            </a:r>
            <a:r>
              <a:rPr lang="zh-TW" altLang="en-US" sz="1200" dirty="0">
                <a:solidFill>
                  <a:prstClr val="black"/>
                </a:solidFill>
                <a:latin typeface="Arial"/>
              </a:rPr>
              <a:t> 工單號碼</a:t>
            </a:r>
            <a:r>
              <a:rPr lang="en-US" altLang="zh-TW" sz="1200" dirty="0">
                <a:solidFill>
                  <a:prstClr val="black"/>
                </a:solidFill>
                <a:latin typeface="Arial"/>
              </a:rPr>
              <a:t>,  </a:t>
            </a:r>
            <a:r>
              <a:rPr lang="zh-TW" altLang="en-US" sz="1200" dirty="0">
                <a:solidFill>
                  <a:prstClr val="black"/>
                </a:solidFill>
                <a:latin typeface="Arial"/>
              </a:rPr>
              <a:t>列出歷史工單號碼 </a:t>
            </a:r>
            <a:r>
              <a:rPr lang="en-US" altLang="zh-TW" sz="1200" dirty="0">
                <a:solidFill>
                  <a:prstClr val="black"/>
                </a:solidFill>
                <a:latin typeface="Arial"/>
              </a:rPr>
              <a:t>&amp;</a:t>
            </a:r>
            <a:r>
              <a:rPr lang="zh-TW" altLang="en-US" sz="1200" dirty="0">
                <a:solidFill>
                  <a:prstClr val="black"/>
                </a:solidFill>
                <a:latin typeface="Arial"/>
              </a:rPr>
              <a:t> </a:t>
            </a:r>
            <a:r>
              <a:rPr lang="en-US" altLang="zh-TW" sz="1200" dirty="0">
                <a:solidFill>
                  <a:prstClr val="black"/>
                </a:solidFill>
                <a:latin typeface="Arial"/>
              </a:rPr>
              <a:t>UPH</a:t>
            </a:r>
          </a:p>
          <a:p>
            <a:pPr defTabSz="609523">
              <a:lnSpc>
                <a:spcPct val="100000"/>
              </a:lnSpc>
            </a:pPr>
            <a:endParaRPr lang="en-US" altLang="zh-TW" sz="1200" dirty="0">
              <a:solidFill>
                <a:prstClr val="black"/>
              </a:solidFill>
              <a:latin typeface="Arial"/>
            </a:endParaRPr>
          </a:p>
          <a:p>
            <a:pPr defTabSz="609523">
              <a:lnSpc>
                <a:spcPct val="100000"/>
              </a:lnSpc>
            </a:pPr>
            <a:r>
              <a:rPr lang="zh-TW" altLang="en-US" sz="1200" dirty="0">
                <a:solidFill>
                  <a:prstClr val="black"/>
                </a:solidFill>
                <a:latin typeface="Arial"/>
              </a:rPr>
              <a:t>下面是歷史時間</a:t>
            </a:r>
            <a:r>
              <a:rPr lang="en-US" altLang="zh-TW" sz="1200" dirty="0">
                <a:solidFill>
                  <a:prstClr val="black"/>
                </a:solidFill>
                <a:latin typeface="Arial"/>
              </a:rPr>
              <a:t>, </a:t>
            </a:r>
            <a:r>
              <a:rPr lang="zh-TW" altLang="en-US" sz="1200" dirty="0">
                <a:solidFill>
                  <a:prstClr val="black"/>
                </a:solidFill>
                <a:latin typeface="Arial"/>
              </a:rPr>
              <a:t> 在這個產品廠有多張工單</a:t>
            </a:r>
            <a:r>
              <a:rPr lang="en-US" altLang="zh-TW" sz="1200" dirty="0">
                <a:solidFill>
                  <a:prstClr val="black"/>
                </a:solidFill>
                <a:latin typeface="Arial"/>
              </a:rPr>
              <a:t>, </a:t>
            </a:r>
            <a:r>
              <a:rPr lang="zh-TW" altLang="en-US" sz="1200" dirty="0">
                <a:solidFill>
                  <a:prstClr val="black"/>
                </a:solidFill>
                <a:latin typeface="Arial"/>
              </a:rPr>
              <a:t>可以跳到 </a:t>
            </a:r>
            <a:r>
              <a:rPr lang="en-US" altLang="zh-TW" sz="1200" dirty="0">
                <a:solidFill>
                  <a:prstClr val="black"/>
                </a:solidFill>
                <a:latin typeface="Arial"/>
              </a:rPr>
              <a:t>line manger </a:t>
            </a:r>
            <a:r>
              <a:rPr lang="zh-TW" altLang="en-US" sz="1200" dirty="0">
                <a:solidFill>
                  <a:prstClr val="black"/>
                </a:solidFill>
                <a:latin typeface="Arial"/>
              </a:rPr>
              <a:t>的地方去看機台參數和機況  </a:t>
            </a:r>
            <a:endParaRPr lang="en-US" altLang="zh-TW" sz="1200" dirty="0">
              <a:solidFill>
                <a:prstClr val="black"/>
              </a:solidFill>
              <a:latin typeface="Arial"/>
            </a:endParaRPr>
          </a:p>
          <a:p>
            <a:pPr defTabSz="609523">
              <a:lnSpc>
                <a:spcPct val="100000"/>
              </a:lnSpc>
            </a:pP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solidFill>
                  <a:prstClr val="black"/>
                </a:solidFill>
                <a:latin typeface="Arial"/>
              </a:rPr>
              <a:t>工單 </a:t>
            </a:r>
            <a:r>
              <a:rPr lang="en-US" altLang="zh-TW" sz="1200" dirty="0">
                <a:solidFill>
                  <a:prstClr val="black"/>
                </a:solidFill>
                <a:latin typeface="Arial"/>
              </a:rPr>
              <a:t>UPH </a:t>
            </a:r>
            <a:r>
              <a:rPr lang="zh-TW" altLang="en-US" sz="1200" dirty="0">
                <a:solidFill>
                  <a:prstClr val="black"/>
                </a:solidFill>
                <a:latin typeface="Arial"/>
              </a:rPr>
              <a:t>值的趨勢</a:t>
            </a: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solidFill>
                  <a:prstClr val="black"/>
                </a:solidFill>
                <a:latin typeface="Arial"/>
              </a:rPr>
              <a:t>工單生產進度</a:t>
            </a:r>
            <a:endParaRPr lang="en-US" altLang="zh-TW" sz="12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200" dirty="0">
                <a:solidFill>
                  <a:prstClr val="black"/>
                </a:solidFill>
                <a:latin typeface="Arial"/>
              </a:rPr>
              <a:t>線別上設備狀態</a:t>
            </a:r>
            <a:endParaRPr lang="en-US" altLang="zh-TW" sz="1200" dirty="0">
              <a:solidFill>
                <a:prstClr val="black"/>
              </a:solidFill>
              <a:latin typeface="Arial"/>
            </a:endParaRPr>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10</a:t>
            </a:fld>
            <a:endParaRPr lang="zh-TW" altLang="en-US"/>
          </a:p>
        </p:txBody>
      </p:sp>
    </p:spTree>
    <p:extLst>
      <p:ext uri="{BB962C8B-B14F-4D97-AF65-F5344CB8AC3E}">
        <p14:creationId xmlns:p14="http://schemas.microsoft.com/office/powerpoint/2010/main" val="1747619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12</a:t>
            </a:fld>
            <a:endParaRPr lang="zh-TW" altLang="en-US"/>
          </a:p>
        </p:txBody>
      </p:sp>
    </p:spTree>
    <p:extLst>
      <p:ext uri="{BB962C8B-B14F-4D97-AF65-F5344CB8AC3E}">
        <p14:creationId xmlns:p14="http://schemas.microsoft.com/office/powerpoint/2010/main" val="1702036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1. </a:t>
            </a:r>
            <a:r>
              <a:rPr lang="zh-TW" altLang="en-US" b="1" dirty="0"/>
              <a:t>工具選型報告書</a:t>
            </a:r>
          </a:p>
          <a:p>
            <a:r>
              <a:rPr lang="zh-TW" altLang="en-US" b="1" dirty="0"/>
              <a:t>目的</a:t>
            </a:r>
            <a:r>
              <a:rPr lang="zh-TW" altLang="en-US" dirty="0"/>
              <a:t>：分析和評估各種工具和技術，選擇最適合專案需求的解決方案</a:t>
            </a:r>
          </a:p>
          <a:p>
            <a:pPr>
              <a:buFont typeface="Arial" panose="020B0604020202020204" pitchFamily="34" charset="0"/>
              <a:buChar char="•"/>
            </a:pPr>
            <a:r>
              <a:rPr lang="zh-TW" altLang="en-US" dirty="0"/>
              <a:t> 提供詳細的工具比較，確保選擇的工具能夠提高開發效率和系統性能 </a:t>
            </a:r>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13</a:t>
            </a:fld>
            <a:endParaRPr lang="zh-TW" altLang="en-US"/>
          </a:p>
        </p:txBody>
      </p:sp>
    </p:spTree>
    <p:extLst>
      <p:ext uri="{BB962C8B-B14F-4D97-AF65-F5344CB8AC3E}">
        <p14:creationId xmlns:p14="http://schemas.microsoft.com/office/powerpoint/2010/main" val="3891873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1. </a:t>
            </a:r>
            <a:r>
              <a:rPr lang="zh-TW" altLang="en-US" b="1" dirty="0"/>
              <a:t>工具選型報告書</a:t>
            </a:r>
          </a:p>
          <a:p>
            <a:r>
              <a:rPr lang="zh-TW" altLang="en-US" b="1" dirty="0"/>
              <a:t>目的</a:t>
            </a:r>
            <a:r>
              <a:rPr lang="zh-TW" altLang="en-US" dirty="0"/>
              <a:t>：分析和評估各種工具和技術，選擇最適合專案需求的解決方案</a:t>
            </a:r>
          </a:p>
          <a:p>
            <a:pPr>
              <a:buFont typeface="Arial" panose="020B0604020202020204" pitchFamily="34" charset="0"/>
              <a:buChar char="•"/>
            </a:pPr>
            <a:r>
              <a:rPr lang="zh-TW" altLang="en-US" dirty="0"/>
              <a:t> 提供詳細的工具比較，確保選擇的工具能夠提高開發效率和系統性能 </a:t>
            </a:r>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14</a:t>
            </a:fld>
            <a:endParaRPr lang="zh-TW" altLang="en-US"/>
          </a:p>
        </p:txBody>
      </p:sp>
    </p:spTree>
    <p:extLst>
      <p:ext uri="{BB962C8B-B14F-4D97-AF65-F5344CB8AC3E}">
        <p14:creationId xmlns:p14="http://schemas.microsoft.com/office/powerpoint/2010/main" val="91304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1" dirty="0"/>
              <a:t>1. </a:t>
            </a:r>
            <a:r>
              <a:rPr lang="zh-TW" altLang="en-US" b="1" dirty="0"/>
              <a:t>工具選型報告書</a:t>
            </a:r>
          </a:p>
          <a:p>
            <a:r>
              <a:rPr lang="zh-TW" altLang="en-US" b="1" dirty="0"/>
              <a:t>目的</a:t>
            </a:r>
            <a:r>
              <a:rPr lang="zh-TW" altLang="en-US" dirty="0"/>
              <a:t>：分析和評估各種工具和技術，選擇最適合專案需求的解決方案</a:t>
            </a:r>
          </a:p>
          <a:p>
            <a:pPr>
              <a:buFont typeface="Arial" panose="020B0604020202020204" pitchFamily="34" charset="0"/>
              <a:buChar char="•"/>
            </a:pPr>
            <a:r>
              <a:rPr lang="zh-TW" altLang="en-US" dirty="0"/>
              <a:t> 提供詳細的工具比較，確保選擇的工具能夠提高開發效率和系統性能 </a:t>
            </a:r>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15</a:t>
            </a:fld>
            <a:endParaRPr lang="zh-TW" altLang="en-US"/>
          </a:p>
        </p:txBody>
      </p:sp>
    </p:spTree>
    <p:extLst>
      <p:ext uri="{BB962C8B-B14F-4D97-AF65-F5344CB8AC3E}">
        <p14:creationId xmlns:p14="http://schemas.microsoft.com/office/powerpoint/2010/main" val="2786134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FF380C3-7D2B-43B9-A2FF-0551F6D200C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75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228589" lvl="1">
              <a:lnSpc>
                <a:spcPct val="150000"/>
              </a:lnSpc>
              <a:spcBef>
                <a:spcPts val="1000"/>
              </a:spcBef>
            </a:pPr>
            <a:r>
              <a:rPr lang="en-US" altLang="zh-TW" sz="1400" b="1" dirty="0">
                <a:solidFill>
                  <a:srgbClr val="404040"/>
                </a:solidFill>
              </a:rPr>
              <a:t>MFG</a:t>
            </a:r>
            <a:r>
              <a:rPr lang="zh-TW" altLang="en-US" sz="1400" b="1" dirty="0">
                <a:solidFill>
                  <a:srgbClr val="404040"/>
                </a:solidFill>
              </a:rPr>
              <a:t> 數據中台建置</a:t>
            </a:r>
            <a:endParaRPr lang="en-US" altLang="zh-TW" sz="1400" b="1" dirty="0">
              <a:solidFill>
                <a:srgbClr val="404040"/>
              </a:solidFill>
            </a:endParaRPr>
          </a:p>
          <a:p>
            <a:pPr lvl="1">
              <a:lnSpc>
                <a:spcPct val="150000"/>
              </a:lnSpc>
              <a:buFont typeface="Wingdings" panose="05000000000000000000" pitchFamily="2" charset="2"/>
              <a:buChar char="Ø"/>
            </a:pPr>
            <a:r>
              <a:rPr lang="zh-TW" altLang="en-US" sz="1200" dirty="0">
                <a:solidFill>
                  <a:srgbClr val="404040"/>
                </a:solidFill>
                <a:latin typeface="Arial" panose="020B0604020202020204" pitchFamily="34" charset="0"/>
                <a:ea typeface="微軟正黑體" panose="020B0604030504040204" pitchFamily="34" charset="-120"/>
              </a:rPr>
              <a:t>配合</a:t>
            </a:r>
            <a:r>
              <a:rPr lang="en-US" altLang="zh-TW" sz="1200" dirty="0">
                <a:solidFill>
                  <a:srgbClr val="404040"/>
                </a:solidFill>
                <a:latin typeface="Arial" panose="020B0604020202020204" pitchFamily="34" charset="0"/>
                <a:ea typeface="微軟正黑體" panose="020B0604030504040204" pitchFamily="34" charset="-120"/>
              </a:rPr>
              <a:t>DMP </a:t>
            </a:r>
            <a:r>
              <a:rPr lang="zh-TW" altLang="en-US" sz="1200" dirty="0">
                <a:solidFill>
                  <a:srgbClr val="404040"/>
                </a:solidFill>
                <a:latin typeface="Arial" panose="020B0604020202020204" pitchFamily="34" charset="0"/>
                <a:ea typeface="微軟正黑體" panose="020B0604030504040204" pitchFamily="34" charset="-120"/>
              </a:rPr>
              <a:t>架構，將依照</a:t>
            </a:r>
            <a:r>
              <a:rPr lang="en-US" altLang="zh-TW" sz="1200" dirty="0">
                <a:solidFill>
                  <a:srgbClr val="404040"/>
                </a:solidFill>
                <a:latin typeface="Arial" panose="020B0604020202020204" pitchFamily="34" charset="0"/>
                <a:ea typeface="微軟正黑體" panose="020B0604030504040204" pitchFamily="34" charset="-120"/>
              </a:rPr>
              <a:t>POC</a:t>
            </a:r>
            <a:r>
              <a:rPr lang="zh-TW" altLang="en-US" sz="1200" dirty="0">
                <a:solidFill>
                  <a:srgbClr val="404040"/>
                </a:solidFill>
                <a:latin typeface="Arial" panose="020B0604020202020204" pitchFamily="34" charset="0"/>
                <a:ea typeface="微軟正黑體" panose="020B0604030504040204" pitchFamily="34" charset="-120"/>
              </a:rPr>
              <a:t>的工具選型結果搭建</a:t>
            </a:r>
            <a:r>
              <a:rPr lang="en-US" altLang="zh-TW" sz="1200" dirty="0">
                <a:solidFill>
                  <a:srgbClr val="404040"/>
                </a:solidFill>
                <a:latin typeface="Arial" panose="020B0604020202020204" pitchFamily="34" charset="0"/>
                <a:ea typeface="微軟正黑體" panose="020B0604030504040204" pitchFamily="34" charset="-120"/>
              </a:rPr>
              <a:t>MFG</a:t>
            </a:r>
            <a:r>
              <a:rPr lang="zh-TW" altLang="en-US" sz="1200" dirty="0">
                <a:solidFill>
                  <a:srgbClr val="404040"/>
                </a:solidFill>
                <a:latin typeface="Arial" panose="020B0604020202020204" pitchFamily="34" charset="0"/>
                <a:ea typeface="微軟正黑體" panose="020B0604030504040204" pitchFamily="34" charset="-120"/>
              </a:rPr>
              <a:t> 數據中台</a:t>
            </a:r>
            <a:endParaRPr lang="en-US" altLang="zh-TW" sz="1400" b="1" dirty="0">
              <a:solidFill>
                <a:srgbClr val="404040"/>
              </a:solidFill>
            </a:endParaRPr>
          </a:p>
          <a:p>
            <a:pPr marL="228589" lvl="1">
              <a:lnSpc>
                <a:spcPct val="150000"/>
              </a:lnSpc>
              <a:spcBef>
                <a:spcPts val="1000"/>
              </a:spcBef>
            </a:pPr>
            <a:r>
              <a:rPr lang="zh-TW" altLang="en-US" sz="1400" b="1" dirty="0">
                <a:solidFill>
                  <a:srgbClr val="404040"/>
                </a:solidFill>
              </a:rPr>
              <a:t>導入的製造場域確認</a:t>
            </a:r>
            <a:endParaRPr lang="en-US" altLang="zh-TW" sz="1400" b="1" dirty="0">
              <a:solidFill>
                <a:srgbClr val="404040"/>
              </a:solidFill>
            </a:endParaRPr>
          </a:p>
          <a:p>
            <a:pPr lvl="1">
              <a:lnSpc>
                <a:spcPct val="150000"/>
              </a:lnSpc>
              <a:buFont typeface="Wingdings" panose="05000000000000000000" pitchFamily="2" charset="2"/>
              <a:buChar char="Ø"/>
            </a:pPr>
            <a:r>
              <a:rPr lang="zh-TW" altLang="en-US" sz="1200" dirty="0">
                <a:solidFill>
                  <a:srgbClr val="404040"/>
                </a:solidFill>
                <a:latin typeface="Arial" panose="020B0604020202020204" pitchFamily="34" charset="0"/>
                <a:ea typeface="微軟正黑體" panose="020B0604030504040204" pitchFamily="34" charset="-120"/>
              </a:rPr>
              <a:t>將根據製造端場域和數據源，彙整該場域數據源並依照製造端需求來輔導使用數據中台功能</a:t>
            </a:r>
            <a:endParaRPr lang="en-US" altLang="zh-TW" sz="12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r>
              <a:rPr lang="zh-TW" altLang="en-US" sz="1200" dirty="0">
                <a:solidFill>
                  <a:srgbClr val="404040"/>
                </a:solidFill>
                <a:latin typeface="Arial" panose="020B0604020202020204" pitchFamily="34" charset="0"/>
                <a:ea typeface="微軟正黑體" panose="020B0604030504040204" pitchFamily="34" charset="-120"/>
              </a:rPr>
              <a:t>提供數據治理的原則，針對製造場域端的數據進行基本的數據清洗</a:t>
            </a:r>
            <a:endParaRPr lang="en-US" altLang="zh-TW" sz="1200" dirty="0">
              <a:solidFill>
                <a:srgbClr val="404040"/>
              </a:solidFill>
              <a:latin typeface="Arial" panose="020B0604020202020204" pitchFamily="34" charset="0"/>
              <a:ea typeface="微軟正黑體" panose="020B0604030504040204" pitchFamily="34" charset="-120"/>
            </a:endParaRPr>
          </a:p>
          <a:p>
            <a:pPr marL="228589" lvl="1">
              <a:lnSpc>
                <a:spcPct val="150000"/>
              </a:lnSpc>
              <a:spcBef>
                <a:spcPts val="1000"/>
              </a:spcBef>
            </a:pPr>
            <a:r>
              <a:rPr lang="zh-TW" altLang="en-US" sz="1400" b="1" dirty="0">
                <a:solidFill>
                  <a:srgbClr val="404040"/>
                </a:solidFill>
              </a:rPr>
              <a:t>使用者輔導使用數據中台</a:t>
            </a:r>
            <a:r>
              <a:rPr lang="en-US" altLang="zh-TW" sz="1400" b="1" dirty="0">
                <a:solidFill>
                  <a:srgbClr val="404040"/>
                </a:solidFill>
              </a:rPr>
              <a:t>(Corp +</a:t>
            </a:r>
            <a:r>
              <a:rPr lang="zh-TW" altLang="en-US" sz="1400" b="1" dirty="0">
                <a:solidFill>
                  <a:srgbClr val="404040"/>
                </a:solidFill>
              </a:rPr>
              <a:t> </a:t>
            </a:r>
            <a:r>
              <a:rPr lang="en-US" altLang="zh-TW" sz="1400" b="1" dirty="0">
                <a:solidFill>
                  <a:srgbClr val="404040"/>
                </a:solidFill>
              </a:rPr>
              <a:t>MFG</a:t>
            </a:r>
            <a:r>
              <a:rPr lang="zh-TW" altLang="en-US" sz="1400" b="1" dirty="0">
                <a:solidFill>
                  <a:srgbClr val="404040"/>
                </a:solidFill>
              </a:rPr>
              <a:t> 數據中台</a:t>
            </a:r>
            <a:r>
              <a:rPr lang="en-US" altLang="zh-TW" sz="1400" b="1" dirty="0">
                <a:solidFill>
                  <a:srgbClr val="404040"/>
                </a:solidFill>
              </a:rPr>
              <a:t>)</a:t>
            </a:r>
            <a:r>
              <a:rPr lang="zh-TW" altLang="en-US" sz="1400" b="1" dirty="0">
                <a:solidFill>
                  <a:srgbClr val="404040"/>
                </a:solidFill>
              </a:rPr>
              <a:t> </a:t>
            </a:r>
            <a:endParaRPr lang="en-US" altLang="zh-TW" sz="1400" b="1" dirty="0">
              <a:solidFill>
                <a:srgbClr val="404040"/>
              </a:solidFill>
            </a:endParaRPr>
          </a:p>
          <a:p>
            <a:pPr lvl="1">
              <a:lnSpc>
                <a:spcPct val="150000"/>
              </a:lnSpc>
              <a:spcAft>
                <a:spcPts val="600"/>
              </a:spcAft>
              <a:buFont typeface="Wingdings" panose="05000000000000000000" pitchFamily="2" charset="2"/>
              <a:buChar char="Ø"/>
            </a:pPr>
            <a:r>
              <a:rPr lang="zh-TW" altLang="en-US" sz="1200" dirty="0">
                <a:solidFill>
                  <a:srgbClr val="404040"/>
                </a:solidFill>
                <a:latin typeface="Arial" panose="020B0604020202020204" pitchFamily="34" charset="0"/>
                <a:ea typeface="微軟正黑體" panose="020B0604030504040204" pitchFamily="34" charset="-120"/>
              </a:rPr>
              <a:t>搭配</a:t>
            </a:r>
            <a:r>
              <a:rPr lang="en-US" altLang="zh-TW" sz="1200" dirty="0">
                <a:solidFill>
                  <a:srgbClr val="404040"/>
                </a:solidFill>
                <a:latin typeface="Arial" panose="020B0604020202020204" pitchFamily="34" charset="0"/>
                <a:ea typeface="微軟正黑體" panose="020B0604030504040204" pitchFamily="34" charset="-120"/>
              </a:rPr>
              <a:t>DPM</a:t>
            </a:r>
            <a:r>
              <a:rPr lang="zh-TW" altLang="en-US" sz="1200" dirty="0">
                <a:solidFill>
                  <a:srgbClr val="404040"/>
                </a:solidFill>
                <a:latin typeface="Arial" panose="020B0604020202020204" pitchFamily="34" charset="0"/>
                <a:ea typeface="微軟正黑體" panose="020B0604030504040204" pitchFamily="34" charset="-120"/>
              </a:rPr>
              <a:t>專案</a:t>
            </a:r>
            <a:r>
              <a:rPr lang="en-US" altLang="zh-TW" sz="1200" dirty="0">
                <a:solidFill>
                  <a:srgbClr val="404040"/>
                </a:solidFill>
                <a:latin typeface="Arial" panose="020B0604020202020204" pitchFamily="34" charset="0"/>
                <a:ea typeface="微軟正黑體" panose="020B0604030504040204" pitchFamily="34" charset="-120"/>
              </a:rPr>
              <a:t>Rollout</a:t>
            </a:r>
            <a:r>
              <a:rPr lang="zh-TW" altLang="en-US" sz="1200" dirty="0">
                <a:solidFill>
                  <a:srgbClr val="404040"/>
                </a:solidFill>
                <a:latin typeface="Arial" panose="020B0604020202020204" pitchFamily="34" charset="0"/>
                <a:ea typeface="微軟正黑體" panose="020B0604030504040204" pitchFamily="34" charset="-120"/>
              </a:rPr>
              <a:t>，共同支援</a:t>
            </a:r>
            <a:r>
              <a:rPr lang="en-US" altLang="zh-TW" sz="1200" dirty="0">
                <a:solidFill>
                  <a:srgbClr val="404040"/>
                </a:solidFill>
                <a:latin typeface="Arial" panose="020B0604020202020204" pitchFamily="34" charset="0"/>
                <a:ea typeface="微軟正黑體" panose="020B0604030504040204" pitchFamily="34" charset="-120"/>
              </a:rPr>
              <a:t>Pilot </a:t>
            </a:r>
            <a:r>
              <a:rPr lang="zh-TW" altLang="en-US" sz="1200" dirty="0">
                <a:solidFill>
                  <a:srgbClr val="404040"/>
                </a:solidFill>
                <a:latin typeface="Arial" panose="020B0604020202020204" pitchFamily="34" charset="0"/>
                <a:ea typeface="微軟正黑體" panose="020B0604030504040204" pitchFamily="34" charset="-120"/>
              </a:rPr>
              <a:t>專案的進行，彙整</a:t>
            </a:r>
            <a:r>
              <a:rPr lang="en-US" altLang="zh-TW" sz="1200" dirty="0">
                <a:solidFill>
                  <a:srgbClr val="404040"/>
                </a:solidFill>
                <a:latin typeface="Arial" panose="020B0604020202020204" pitchFamily="34" charset="0"/>
                <a:ea typeface="微軟正黑體" panose="020B0604030504040204" pitchFamily="34" charset="-120"/>
              </a:rPr>
              <a:t>Corp </a:t>
            </a:r>
            <a:r>
              <a:rPr lang="zh-TW" altLang="en-US" sz="1200" dirty="0">
                <a:solidFill>
                  <a:srgbClr val="404040"/>
                </a:solidFill>
                <a:latin typeface="Arial" panose="020B0604020202020204" pitchFamily="34" charset="0"/>
                <a:ea typeface="微軟正黑體" panose="020B0604030504040204" pitchFamily="34" charset="-120"/>
              </a:rPr>
              <a:t>數據和</a:t>
            </a:r>
            <a:r>
              <a:rPr lang="en-US" altLang="zh-TW" sz="1200" dirty="0">
                <a:solidFill>
                  <a:srgbClr val="404040"/>
                </a:solidFill>
                <a:latin typeface="Arial" panose="020B0604020202020204" pitchFamily="34" charset="0"/>
                <a:ea typeface="微軟正黑體" panose="020B0604030504040204" pitchFamily="34" charset="-120"/>
              </a:rPr>
              <a:t>MFG </a:t>
            </a:r>
            <a:r>
              <a:rPr lang="zh-TW" altLang="en-US" sz="1200" dirty="0">
                <a:solidFill>
                  <a:srgbClr val="404040"/>
                </a:solidFill>
                <a:latin typeface="Arial" panose="020B0604020202020204" pitchFamily="34" charset="0"/>
                <a:ea typeface="微軟正黑體" panose="020B0604030504040204" pitchFamily="34" charset="-120"/>
              </a:rPr>
              <a:t>數據供數據使用者進行分析</a:t>
            </a:r>
            <a:endParaRPr lang="en-US" altLang="zh-TW" sz="1200" dirty="0">
              <a:solidFill>
                <a:srgbClr val="404040"/>
              </a:solidFill>
              <a:latin typeface="Arial" panose="020B0604020202020204" pitchFamily="34" charset="0"/>
              <a:ea typeface="微軟正黑體" panose="020B0604030504040204" pitchFamily="34" charset="-120"/>
            </a:endParaRPr>
          </a:p>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17</a:t>
            </a:fld>
            <a:endParaRPr lang="zh-TW" altLang="en-US"/>
          </a:p>
        </p:txBody>
      </p:sp>
    </p:spTree>
    <p:extLst>
      <p:ext uri="{BB962C8B-B14F-4D97-AF65-F5344CB8AC3E}">
        <p14:creationId xmlns:p14="http://schemas.microsoft.com/office/powerpoint/2010/main" val="1789084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18</a:t>
            </a:fld>
            <a:endParaRPr lang="zh-TW" altLang="en-US"/>
          </a:p>
        </p:txBody>
      </p:sp>
    </p:spTree>
    <p:extLst>
      <p:ext uri="{BB962C8B-B14F-4D97-AF65-F5344CB8AC3E}">
        <p14:creationId xmlns:p14="http://schemas.microsoft.com/office/powerpoint/2010/main" val="6119292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點出</a:t>
            </a:r>
            <a:r>
              <a:rPr lang="en-US" altLang="zh-TW" dirty="0"/>
              <a:t>POC1 </a:t>
            </a:r>
            <a:r>
              <a:rPr lang="zh-TW" altLang="en-US" dirty="0"/>
              <a:t>做玩了</a:t>
            </a:r>
            <a:endParaRPr lang="en-US" altLang="zh-TW" dirty="0"/>
          </a:p>
          <a:p>
            <a:r>
              <a:rPr lang="zh-TW" altLang="en-US" dirty="0"/>
              <a:t>強調每一個</a:t>
            </a:r>
            <a:r>
              <a:rPr lang="en-US" altLang="zh-TW" dirty="0"/>
              <a:t>POC1 </a:t>
            </a:r>
            <a:r>
              <a:rPr lang="zh-TW" altLang="en-US" dirty="0"/>
              <a:t>結果達到的目標是什麼  </a:t>
            </a:r>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20</a:t>
            </a:fld>
            <a:endParaRPr lang="zh-TW" altLang="en-US"/>
          </a:p>
        </p:txBody>
      </p:sp>
    </p:spTree>
    <p:extLst>
      <p:ext uri="{BB962C8B-B14F-4D97-AF65-F5344CB8AC3E}">
        <p14:creationId xmlns:p14="http://schemas.microsoft.com/office/powerpoint/2010/main" val="1177431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簡化  挑比較重要的指標 </a:t>
            </a:r>
            <a:r>
              <a:rPr lang="en-US" altLang="zh-TW" dirty="0"/>
              <a:t>(3/25)  ,  </a:t>
            </a:r>
            <a:r>
              <a:rPr lang="zh-TW" altLang="en-US" dirty="0"/>
              <a:t>標出出處</a:t>
            </a:r>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22</a:t>
            </a:fld>
            <a:endParaRPr lang="zh-TW" altLang="en-US"/>
          </a:p>
        </p:txBody>
      </p:sp>
    </p:spTree>
    <p:extLst>
      <p:ext uri="{BB962C8B-B14F-4D97-AF65-F5344CB8AC3E}">
        <p14:creationId xmlns:p14="http://schemas.microsoft.com/office/powerpoint/2010/main" val="2704889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簡化  挑比較重要的指標 </a:t>
            </a:r>
            <a:r>
              <a:rPr lang="en-US" altLang="zh-TW" dirty="0"/>
              <a:t>(3/25)  ,  </a:t>
            </a:r>
            <a:r>
              <a:rPr lang="zh-TW" altLang="en-US" dirty="0"/>
              <a:t>標出出處</a:t>
            </a:r>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23</a:t>
            </a:fld>
            <a:endParaRPr lang="zh-TW" altLang="en-US"/>
          </a:p>
        </p:txBody>
      </p:sp>
    </p:spTree>
    <p:extLst>
      <p:ext uri="{BB962C8B-B14F-4D97-AF65-F5344CB8AC3E}">
        <p14:creationId xmlns:p14="http://schemas.microsoft.com/office/powerpoint/2010/main" val="32280143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簡化  挑比較重要的指標 </a:t>
            </a:r>
            <a:r>
              <a:rPr lang="en-US" altLang="zh-TW" dirty="0"/>
              <a:t>(3/25)  ,  </a:t>
            </a:r>
            <a:r>
              <a:rPr lang="zh-TW" altLang="en-US" dirty="0"/>
              <a:t>標出出處</a:t>
            </a:r>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24</a:t>
            </a:fld>
            <a:endParaRPr lang="zh-TW" altLang="en-US"/>
          </a:p>
        </p:txBody>
      </p:sp>
    </p:spTree>
    <p:extLst>
      <p:ext uri="{BB962C8B-B14F-4D97-AF65-F5344CB8AC3E}">
        <p14:creationId xmlns:p14="http://schemas.microsoft.com/office/powerpoint/2010/main" val="4200901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簡化  挑比較重要的指標 </a:t>
            </a:r>
            <a:r>
              <a:rPr lang="en-US" altLang="zh-TW" dirty="0"/>
              <a:t>(3/25)  ,  </a:t>
            </a:r>
            <a:r>
              <a:rPr lang="zh-TW" altLang="en-US" dirty="0"/>
              <a:t>標出出處</a:t>
            </a:r>
          </a:p>
        </p:txBody>
      </p:sp>
      <p:sp>
        <p:nvSpPr>
          <p:cNvPr id="4" name="投影片編號版面配置區 3"/>
          <p:cNvSpPr>
            <a:spLocks noGrp="1"/>
          </p:cNvSpPr>
          <p:nvPr>
            <p:ph type="sldNum" sz="quarter" idx="5"/>
          </p:nvPr>
        </p:nvSpPr>
        <p:spPr/>
        <p:txBody>
          <a:bodyPr/>
          <a:lstStyle/>
          <a:p>
            <a:fld id="{B9EF6F20-807F-4969-A0BC-341774F21210}" type="slidenum">
              <a:rPr lang="zh-TW" altLang="en-US" smtClean="0"/>
              <a:t>25</a:t>
            </a:fld>
            <a:endParaRPr lang="zh-TW" altLang="en-US"/>
          </a:p>
        </p:txBody>
      </p:sp>
    </p:spTree>
    <p:extLst>
      <p:ext uri="{BB962C8B-B14F-4D97-AF65-F5344CB8AC3E}">
        <p14:creationId xmlns:p14="http://schemas.microsoft.com/office/powerpoint/2010/main" val="34028447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0.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文字版面配置區 4">
            <a:extLst>
              <a:ext uri="{FF2B5EF4-FFF2-40B4-BE49-F238E27FC236}">
                <a16:creationId xmlns:a16="http://schemas.microsoft.com/office/drawing/2014/main" id="{C5F15596-5511-4524-8143-5414A6D0A46F}"/>
              </a:ext>
            </a:extLst>
          </p:cNvPr>
          <p:cNvSpPr>
            <a:spLocks noGrp="1"/>
          </p:cNvSpPr>
          <p:nvPr>
            <p:ph type="body" sz="quarter" idx="12" hasCustomPrompt="1"/>
          </p:nvPr>
        </p:nvSpPr>
        <p:spPr>
          <a:xfrm>
            <a:off x="934219" y="738192"/>
            <a:ext cx="2133447" cy="380427"/>
          </a:xfrm>
        </p:spPr>
        <p:txBody>
          <a:bodyPr>
            <a:normAutofit/>
          </a:bodyPr>
          <a:lstStyle>
            <a:lvl1pPr marL="0" indent="0">
              <a:buNone/>
              <a:defRPr sz="1800">
                <a:solidFill>
                  <a:srgbClr val="0070C0"/>
                </a:solidFill>
              </a:defRPr>
            </a:lvl1pPr>
          </a:lstStyle>
          <a:p>
            <a:pPr lvl="0"/>
            <a:r>
              <a:rPr lang="en-US" altLang="zh-TW" dirty="0"/>
              <a:t>Cover </a:t>
            </a:r>
            <a:r>
              <a:rPr lang="en-US" altLang="zh-TW" dirty="0" err="1"/>
              <a:t>Page_White</a:t>
            </a:r>
            <a:endParaRPr lang="zh-TW" altLang="en-US" dirty="0"/>
          </a:p>
        </p:txBody>
      </p:sp>
      <p:sp>
        <p:nvSpPr>
          <p:cNvPr id="4" name="矩形 3">
            <a:extLst>
              <a:ext uri="{FF2B5EF4-FFF2-40B4-BE49-F238E27FC236}">
                <a16:creationId xmlns:a16="http://schemas.microsoft.com/office/drawing/2014/main" id="{2309B049-2004-4273-97C4-9B172C2B172A}"/>
              </a:ext>
            </a:extLst>
          </p:cNvPr>
          <p:cNvSpPr/>
          <p:nvPr userDrawn="1"/>
        </p:nvSpPr>
        <p:spPr>
          <a:xfrm>
            <a:off x="818613" y="3398486"/>
            <a:ext cx="6096000" cy="2721322"/>
          </a:xfrm>
          <a:prstGeom prst="rect">
            <a:avLst/>
          </a:prstGeom>
        </p:spPr>
        <p:txBody>
          <a:bodyPr>
            <a:spAutoFit/>
          </a:bodyPr>
          <a:lstStyle/>
          <a:p>
            <a:pPr>
              <a:lnSpc>
                <a:spcPct val="120000"/>
              </a:lnSpc>
            </a:pPr>
            <a:r>
              <a:rPr lang="zh-CN" altLang="en-US" sz="2000" b="1" dirty="0">
                <a:solidFill>
                  <a:schemeClr val="tx1"/>
                </a:solidFill>
              </a:rPr>
              <a:t>專 案 類 型： </a:t>
            </a:r>
            <a:endParaRPr lang="en-US" altLang="zh-CN" sz="2000" b="1" dirty="0">
              <a:solidFill>
                <a:schemeClr val="tx1"/>
              </a:solidFill>
            </a:endParaRPr>
          </a:p>
          <a:p>
            <a:pPr>
              <a:lnSpc>
                <a:spcPct val="120000"/>
              </a:lnSpc>
            </a:pPr>
            <a:r>
              <a:rPr lang="zh-TW" altLang="en-US" sz="1800" b="1" dirty="0">
                <a:solidFill>
                  <a:schemeClr val="tx1"/>
                </a:solidFill>
              </a:rPr>
              <a:t>版             本</a:t>
            </a:r>
            <a:r>
              <a:rPr lang="en-US" altLang="zh-TW" sz="1800" b="1" dirty="0">
                <a:solidFill>
                  <a:schemeClr val="tx1"/>
                </a:solidFill>
              </a:rPr>
              <a:t>:   </a:t>
            </a:r>
            <a:endParaRPr lang="en-US" altLang="zh-TW" sz="1800" b="1" dirty="0">
              <a:solidFill>
                <a:schemeClr val="bg1">
                  <a:lumMod val="50000"/>
                </a:schemeClr>
              </a:solidFill>
            </a:endParaRPr>
          </a:p>
          <a:p>
            <a:pPr>
              <a:lnSpc>
                <a:spcPct val="120000"/>
              </a:lnSpc>
            </a:pPr>
            <a:r>
              <a:rPr lang="zh-CN" altLang="en-US" sz="1800" b="1" dirty="0">
                <a:solidFill>
                  <a:schemeClr val="tx1"/>
                </a:solidFill>
              </a:rPr>
              <a:t>專 案  編 號： </a:t>
            </a:r>
            <a:endParaRPr lang="en-US" altLang="zh-CN" sz="1600" b="1" dirty="0">
              <a:solidFill>
                <a:schemeClr val="bg1">
                  <a:lumMod val="50000"/>
                </a:schemeClr>
              </a:solidFill>
            </a:endParaRPr>
          </a:p>
          <a:p>
            <a:pPr>
              <a:lnSpc>
                <a:spcPct val="120000"/>
              </a:lnSpc>
            </a:pPr>
            <a:r>
              <a:rPr lang="zh-CN" altLang="en-US" sz="1600" b="1" dirty="0">
                <a:solidFill>
                  <a:schemeClr val="tx1"/>
                </a:solidFill>
              </a:rPr>
              <a:t>專案起止日期：</a:t>
            </a:r>
            <a:endParaRPr lang="en-US" altLang="zh-TW" sz="1800" dirty="0">
              <a:solidFill>
                <a:schemeClr val="tx1"/>
              </a:solidFill>
            </a:endParaRPr>
          </a:p>
          <a:p>
            <a:pPr>
              <a:lnSpc>
                <a:spcPct val="120000"/>
              </a:lnSpc>
            </a:pPr>
            <a:r>
              <a:rPr lang="zh-CN" altLang="en-US" sz="1800" b="1" dirty="0">
                <a:solidFill>
                  <a:schemeClr val="tx1"/>
                </a:solidFill>
              </a:rPr>
              <a:t>製   作     人：</a:t>
            </a:r>
            <a:endParaRPr lang="en-US" altLang="zh-CN" sz="1800" b="1" dirty="0">
              <a:solidFill>
                <a:schemeClr val="tx1"/>
              </a:solidFill>
            </a:endParaRPr>
          </a:p>
          <a:p>
            <a:pPr>
              <a:lnSpc>
                <a:spcPct val="120000"/>
              </a:lnSpc>
            </a:pPr>
            <a:r>
              <a:rPr lang="zh-CN" altLang="en-US" sz="1800" b="1" dirty="0">
                <a:solidFill>
                  <a:schemeClr val="tx1"/>
                </a:solidFill>
              </a:rPr>
              <a:t>審   核     人：</a:t>
            </a:r>
            <a:endParaRPr lang="en-US" altLang="zh-CN" sz="1800" b="1" dirty="0">
              <a:solidFill>
                <a:schemeClr val="tx1"/>
              </a:solidFill>
            </a:endParaRPr>
          </a:p>
          <a:p>
            <a:pPr>
              <a:lnSpc>
                <a:spcPct val="120000"/>
              </a:lnSpc>
            </a:pPr>
            <a:r>
              <a:rPr lang="en-US" altLang="zh-TW" sz="1800" b="1" dirty="0">
                <a:solidFill>
                  <a:schemeClr val="tx1"/>
                </a:solidFill>
              </a:rPr>
              <a:t>             PO</a:t>
            </a:r>
            <a:r>
              <a:rPr lang="zh-CN" altLang="en-US" sz="1800" b="1" dirty="0">
                <a:solidFill>
                  <a:schemeClr val="tx1"/>
                </a:solidFill>
              </a:rPr>
              <a:t>：</a:t>
            </a:r>
            <a:endParaRPr lang="en-US" altLang="zh-CN" sz="1800" b="1" dirty="0">
              <a:solidFill>
                <a:schemeClr val="tx1"/>
              </a:solidFill>
            </a:endParaRPr>
          </a:p>
          <a:p>
            <a:pPr>
              <a:lnSpc>
                <a:spcPct val="120000"/>
              </a:lnSpc>
            </a:pPr>
            <a:r>
              <a:rPr lang="zh-CN" altLang="en-US" sz="1800" b="1" dirty="0">
                <a:solidFill>
                  <a:schemeClr val="tx1"/>
                </a:solidFill>
              </a:rPr>
              <a:t>製 作  日 期：</a:t>
            </a:r>
            <a:endParaRPr lang="zh-TW" altLang="en-US" sz="1800" b="1" dirty="0">
              <a:solidFill>
                <a:schemeClr val="tx1"/>
              </a:solidFill>
            </a:endParaRPr>
          </a:p>
        </p:txBody>
      </p:sp>
    </p:spTree>
    <p:extLst>
      <p:ext uri="{BB962C8B-B14F-4D97-AF65-F5344CB8AC3E}">
        <p14:creationId xmlns:p14="http://schemas.microsoft.com/office/powerpoint/2010/main" val="368370575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age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 y="2"/>
            <a:ext cx="12179379" cy="6850900"/>
          </a:xfrm>
          <a:prstGeom prst="rect">
            <a:avLst/>
          </a:prstGeom>
        </p:spPr>
      </p:pic>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18912" y="5705763"/>
            <a:ext cx="2010917" cy="319651"/>
          </a:xfrm>
        </p:spPr>
        <p:txBody>
          <a:bodyPr/>
          <a:lstStyle>
            <a:lvl1pPr>
              <a:defRPr sz="1800">
                <a:solidFill>
                  <a:schemeClr val="bg1"/>
                </a:solidFill>
              </a:defRPr>
            </a:lvl1pPr>
          </a:lstStyle>
          <a:p>
            <a:r>
              <a:rPr lang="en-US" dirty="0"/>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838897" y="5333736"/>
            <a:ext cx="4114800" cy="365125"/>
          </a:xfrm>
          <a:prstGeom prst="rect">
            <a:avLst/>
          </a:prstGeom>
        </p:spPr>
        <p:txBody>
          <a:bodyPr vert="horz" lIns="91440" tIns="45720" rIns="91440" bIns="45720" rtlCol="0" anchor="ctr"/>
          <a:lstStyle>
            <a:lvl1pPr algn="l">
              <a:defRPr sz="1800" u="none">
                <a:solidFill>
                  <a:schemeClr val="bg1"/>
                </a:solidFill>
                <a:latin typeface="Arial" panose="020B0604020202020204" pitchFamily="34" charset="0"/>
                <a:cs typeface="Arial" panose="020B0604020202020204" pitchFamily="34" charset="0"/>
              </a:defRPr>
            </a:lvl1pPr>
          </a:lstStyle>
          <a:p>
            <a:r>
              <a:rPr lang="en-US" altLang="zh-TW" dirty="0"/>
              <a:t>Presenter Name</a:t>
            </a:r>
            <a:r>
              <a:rPr lang="zh-TW" altLang="en-US" dirty="0"/>
              <a:t>｜</a:t>
            </a:r>
            <a:r>
              <a:rPr lang="en-US" altLang="zh-TW" dirty="0"/>
              <a:t>Department </a:t>
            </a:r>
            <a:endParaRPr lang="en-US" dirty="0"/>
          </a:p>
        </p:txBody>
      </p:sp>
      <p:sp>
        <p:nvSpPr>
          <p:cNvPr id="10"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37873"/>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dirty="0"/>
              <a:t>Presentation Title Goes Here</a:t>
            </a:r>
            <a:br>
              <a:rPr lang="en-US" altLang="zh-TW" dirty="0"/>
            </a:br>
            <a:r>
              <a:rPr lang="en-US" altLang="zh-TW" dirty="0"/>
              <a:t>Maximum 2 Lines (32-46pt)</a:t>
            </a:r>
            <a:endParaRPr lang="en-US" dirty="0"/>
          </a:p>
        </p:txBody>
      </p:sp>
      <p:sp>
        <p:nvSpPr>
          <p:cNvPr id="11" name="文字版面配置區 4">
            <a:extLst>
              <a:ext uri="{FF2B5EF4-FFF2-40B4-BE49-F238E27FC236}">
                <a16:creationId xmlns:a16="http://schemas.microsoft.com/office/drawing/2014/main" id="{35B9A589-C73E-46B0-B30E-8BBC42A4E098}"/>
              </a:ext>
            </a:extLst>
          </p:cNvPr>
          <p:cNvSpPr>
            <a:spLocks noGrp="1"/>
          </p:cNvSpPr>
          <p:nvPr>
            <p:ph type="body" sz="quarter" idx="12" hasCustomPrompt="1"/>
          </p:nvPr>
        </p:nvSpPr>
        <p:spPr>
          <a:xfrm>
            <a:off x="934219" y="738192"/>
            <a:ext cx="2133447" cy="380427"/>
          </a:xfrm>
        </p:spPr>
        <p:txBody>
          <a:bodyPr>
            <a:normAutofit/>
          </a:bodyPr>
          <a:lstStyle>
            <a:lvl1pPr marL="0" indent="0">
              <a:buNone/>
              <a:defRPr sz="1800">
                <a:solidFill>
                  <a:srgbClr val="0070C0"/>
                </a:solidFill>
              </a:defRPr>
            </a:lvl1pPr>
          </a:lstStyle>
          <a:p>
            <a:pPr lvl="0"/>
            <a:r>
              <a:rPr lang="en-US" altLang="zh-TW" dirty="0"/>
              <a:t>Cover </a:t>
            </a:r>
            <a:r>
              <a:rPr lang="en-US" altLang="zh-TW" dirty="0" err="1"/>
              <a:t>Page_Image</a:t>
            </a:r>
            <a:endParaRPr lang="zh-TW" altLang="en-US" dirty="0"/>
          </a:p>
        </p:txBody>
      </p:sp>
    </p:spTree>
    <p:extLst>
      <p:ext uri="{BB962C8B-B14F-4D97-AF65-F5344CB8AC3E}">
        <p14:creationId xmlns:p14="http://schemas.microsoft.com/office/powerpoint/2010/main" val="103012081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eak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B44CAB8-9DEC-4DEF-99E0-D78F53E4F834}"/>
              </a:ext>
            </a:extLst>
          </p:cNvPr>
          <p:cNvSpPr>
            <a:spLocks noGrp="1"/>
          </p:cNvSpPr>
          <p:nvPr>
            <p:ph type="ctrTitle" hasCustomPrompt="1"/>
          </p:nvPr>
        </p:nvSpPr>
        <p:spPr>
          <a:xfrm>
            <a:off x="896647" y="1118621"/>
            <a:ext cx="9144000" cy="1864899"/>
          </a:xfrm>
        </p:spPr>
        <p:txBody>
          <a:bodyPr anchor="t">
            <a:normAutofit/>
          </a:bodyPr>
          <a:lstStyle>
            <a:lvl1pPr algn="l">
              <a:lnSpc>
                <a:spcPct val="110000"/>
              </a:lnSpc>
              <a:defRPr sz="4600" b="0">
                <a:solidFill>
                  <a:schemeClr val="bg1"/>
                </a:solidFill>
                <a:latin typeface="+mj-lt"/>
                <a:ea typeface="Verdana" panose="020B0604030504040204" pitchFamily="34" charset="0"/>
              </a:defRPr>
            </a:lvl1pPr>
          </a:lstStyle>
          <a:p>
            <a:r>
              <a:rPr lang="en-US" altLang="zh-TW" dirty="0"/>
              <a:t>Break Page Title Goes Here</a:t>
            </a:r>
            <a:br>
              <a:rPr lang="en-US" altLang="zh-TW" dirty="0"/>
            </a:br>
            <a:r>
              <a:rPr lang="en-US" altLang="zh-TW" dirty="0"/>
              <a:t>Maximum 2 Lines (32-46pt)</a:t>
            </a:r>
            <a:endParaRPr lang="en-US" dirty="0"/>
          </a:p>
        </p:txBody>
      </p:sp>
      <p:sp>
        <p:nvSpPr>
          <p:cNvPr id="6" name="副標題 2">
            <a:extLst>
              <a:ext uri="{FF2B5EF4-FFF2-40B4-BE49-F238E27FC236}">
                <a16:creationId xmlns:a16="http://schemas.microsoft.com/office/drawing/2014/main" id="{814F8012-3519-4A75-B26B-57773CA554B6}"/>
              </a:ext>
            </a:extLst>
          </p:cNvPr>
          <p:cNvSpPr>
            <a:spLocks noGrp="1"/>
          </p:cNvSpPr>
          <p:nvPr>
            <p:ph type="subTitle" idx="1" hasCustomPrompt="1"/>
          </p:nvPr>
        </p:nvSpPr>
        <p:spPr>
          <a:xfrm>
            <a:off x="896647" y="3015633"/>
            <a:ext cx="9144000" cy="1353169"/>
          </a:xfrm>
        </p:spPr>
        <p:txBody>
          <a:bodyPr>
            <a:normAutofit/>
          </a:bodyPr>
          <a:lstStyle>
            <a:lvl1pPr marL="0" indent="0" algn="l">
              <a:lnSpc>
                <a:spcPct val="110000"/>
              </a:lnSpc>
              <a:spcBef>
                <a:spcPts val="0"/>
              </a:spcBef>
              <a:buNone/>
              <a:defRPr sz="3200">
                <a:solidFill>
                  <a:schemeClr val="bg1"/>
                </a:solidFill>
                <a:latin typeface="+mj-lt"/>
                <a:ea typeface="Verdana" panose="020B0604030504040204" pitchFamily="34" charset="0"/>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ltLang="zh-TW" dirty="0"/>
              <a:t>Break Page Subtitle Goes Here</a:t>
            </a:r>
            <a:br>
              <a:rPr lang="en-US" altLang="zh-TW" dirty="0"/>
            </a:br>
            <a:r>
              <a:rPr lang="en-US" altLang="zh-TW" dirty="0"/>
              <a:t>Maximum 2 Lines (24-32pt)</a:t>
            </a:r>
          </a:p>
        </p:txBody>
      </p:sp>
    </p:spTree>
    <p:extLst>
      <p:ext uri="{BB962C8B-B14F-4D97-AF65-F5344CB8AC3E}">
        <p14:creationId xmlns:p14="http://schemas.microsoft.com/office/powerpoint/2010/main" val="2494010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age">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3"/>
            <a:ext cx="1368000" cy="620345"/>
          </a:xfrm>
          <a:prstGeom prst="rect">
            <a:avLst/>
          </a:prstGeom>
        </p:spPr>
      </p:pic>
      <p:sp>
        <p:nvSpPr>
          <p:cNvPr id="3" name="內容版面配置區 2">
            <a:extLst>
              <a:ext uri="{FF2B5EF4-FFF2-40B4-BE49-F238E27FC236}">
                <a16:creationId xmlns:a16="http://schemas.microsoft.com/office/drawing/2014/main" id="{BEF22CCF-5B81-47DC-861A-B0A56BD7A109}"/>
              </a:ext>
            </a:extLst>
          </p:cNvPr>
          <p:cNvSpPr>
            <a:spLocks noGrp="1"/>
          </p:cNvSpPr>
          <p:nvPr>
            <p:ph idx="1" hasCustomPrompt="1"/>
          </p:nvPr>
        </p:nvSpPr>
        <p:spPr>
          <a:xfrm>
            <a:off x="406400" y="1170464"/>
            <a:ext cx="11379200" cy="4953777"/>
          </a:xfrm>
        </p:spPr>
        <p:txBody>
          <a:bodyPr>
            <a:normAutofit/>
          </a:bodyPr>
          <a:lstStyle>
            <a:lvl1pPr>
              <a:lnSpc>
                <a:spcPct val="110000"/>
              </a:lnSpc>
              <a:defRPr sz="2000">
                <a:solidFill>
                  <a:schemeClr val="tx1"/>
                </a:solidFill>
              </a:defRPr>
            </a:lvl1pPr>
          </a:lstStyle>
          <a:p>
            <a:pPr lvl="0"/>
            <a:r>
              <a:rPr lang="en-US" altLang="zh-TW" dirty="0"/>
              <a:t>Content goes here (20pt)</a:t>
            </a:r>
            <a:endParaRPr lang="en-US" dirty="0"/>
          </a:p>
        </p:txBody>
      </p:sp>
      <p:sp>
        <p:nvSpPr>
          <p:cNvPr id="52" name="文字方塊 51">
            <a:extLst>
              <a:ext uri="{FF2B5EF4-FFF2-40B4-BE49-F238E27FC236}">
                <a16:creationId xmlns:a16="http://schemas.microsoft.com/office/drawing/2014/main" id="{4EB72046-7EFA-4D5B-9003-30F89B1D91A8}"/>
              </a:ext>
            </a:extLst>
          </p:cNvPr>
          <p:cNvSpPr txBox="1"/>
          <p:nvPr userDrawn="1"/>
        </p:nvSpPr>
        <p:spPr>
          <a:xfrm>
            <a:off x="116026" y="6478468"/>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82267" y="6528266"/>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p>
        </p:txBody>
      </p:sp>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6"/>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標題 4">
            <a:extLst>
              <a:ext uri="{FF2B5EF4-FFF2-40B4-BE49-F238E27FC236}">
                <a16:creationId xmlns:a16="http://schemas.microsoft.com/office/drawing/2014/main" id="{2702107E-0279-495A-BF89-DD786730CC37}"/>
              </a:ext>
            </a:extLst>
          </p:cNvPr>
          <p:cNvSpPr>
            <a:spLocks noGrp="1"/>
          </p:cNvSpPr>
          <p:nvPr>
            <p:ph type="title" hasCustomPrompt="1"/>
          </p:nvPr>
        </p:nvSpPr>
        <p:spPr>
          <a:xfrm>
            <a:off x="406400" y="440357"/>
            <a:ext cx="11379200" cy="679396"/>
          </a:xfrm>
        </p:spPr>
        <p:txBody>
          <a:bodyPr anchor="t">
            <a:normAutofit/>
          </a:bodyPr>
          <a:lstStyle>
            <a:lvl1pPr algn="l">
              <a:defRPr sz="2800"/>
            </a:lvl1pPr>
          </a:lstStyle>
          <a:p>
            <a:r>
              <a:rPr lang="en-US" altLang="zh-TW" dirty="0"/>
              <a:t>Page Title Goes Here (28-32pt)</a:t>
            </a:r>
            <a:endParaRPr lang="en-US" dirty="0"/>
          </a:p>
        </p:txBody>
      </p:sp>
    </p:spTree>
    <p:extLst>
      <p:ext uri="{BB962C8B-B14F-4D97-AF65-F5344CB8AC3E}">
        <p14:creationId xmlns:p14="http://schemas.microsoft.com/office/powerpoint/2010/main" val="362002792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age_Title Only">
    <p:bg>
      <p:bgPr>
        <a:solidFill>
          <a:schemeClr val="bg1"/>
        </a:solidFill>
        <a:effectLst/>
      </p:bgPr>
    </p:bg>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702107E-0279-495A-BF89-DD786730CC37}"/>
              </a:ext>
            </a:extLst>
          </p:cNvPr>
          <p:cNvSpPr>
            <a:spLocks noGrp="1"/>
          </p:cNvSpPr>
          <p:nvPr>
            <p:ph type="title" hasCustomPrompt="1"/>
          </p:nvPr>
        </p:nvSpPr>
        <p:spPr/>
        <p:txBody>
          <a:bodyPr anchor="t">
            <a:normAutofit/>
          </a:bodyPr>
          <a:lstStyle>
            <a:lvl1pPr algn="l">
              <a:defRPr sz="2800"/>
            </a:lvl1pPr>
          </a:lstStyle>
          <a:p>
            <a:r>
              <a:rPr lang="en-US" altLang="zh-TW" dirty="0"/>
              <a:t>Page Title Goes Here (28-32pt)</a:t>
            </a:r>
            <a:endParaRPr lang="en-US" dirty="0"/>
          </a:p>
        </p:txBody>
      </p:sp>
      <p:grpSp>
        <p:nvGrpSpPr>
          <p:cNvPr id="49" name="群組 48">
            <a:extLst>
              <a:ext uri="{FF2B5EF4-FFF2-40B4-BE49-F238E27FC236}">
                <a16:creationId xmlns:a16="http://schemas.microsoft.com/office/drawing/2014/main" id="{8AEA3F42-8ED3-4628-89CC-CE9DC5D371F1}"/>
              </a:ext>
            </a:extLst>
          </p:cNvPr>
          <p:cNvGrpSpPr/>
          <p:nvPr userDrawn="1"/>
        </p:nvGrpSpPr>
        <p:grpSpPr>
          <a:xfrm>
            <a:off x="0" y="7008896"/>
            <a:ext cx="10358581" cy="423333"/>
            <a:chOff x="0" y="5256671"/>
            <a:chExt cx="7768936" cy="317500"/>
          </a:xfrm>
        </p:grpSpPr>
        <p:grpSp>
          <p:nvGrpSpPr>
            <p:cNvPr id="50" name="群組 49">
              <a:extLst>
                <a:ext uri="{FF2B5EF4-FFF2-40B4-BE49-F238E27FC236}">
                  <a16:creationId xmlns:a16="http://schemas.microsoft.com/office/drawing/2014/main" id="{BDCAFD82-B8CA-4738-843C-0FC6D7C6C5F5}"/>
                </a:ext>
              </a:extLst>
            </p:cNvPr>
            <p:cNvGrpSpPr/>
            <p:nvPr userDrawn="1"/>
          </p:nvGrpSpPr>
          <p:grpSpPr>
            <a:xfrm>
              <a:off x="0" y="5256671"/>
              <a:ext cx="1321058" cy="317500"/>
              <a:chOff x="0" y="5256671"/>
              <a:chExt cx="1321058" cy="317500"/>
            </a:xfrm>
          </p:grpSpPr>
          <p:sp>
            <p:nvSpPr>
              <p:cNvPr id="63" name="矩形 62">
                <a:extLst>
                  <a:ext uri="{FF2B5EF4-FFF2-40B4-BE49-F238E27FC236}">
                    <a16:creationId xmlns:a16="http://schemas.microsoft.com/office/drawing/2014/main" id="{3C299B04-932C-4519-8E76-017FBD3A569A}"/>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0B20FB35-F562-4362-B563-165B2407465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0DE5232E-7B0E-4AEF-9D43-2E173D30F319}"/>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1" name="群組 50">
              <a:extLst>
                <a:ext uri="{FF2B5EF4-FFF2-40B4-BE49-F238E27FC236}">
                  <a16:creationId xmlns:a16="http://schemas.microsoft.com/office/drawing/2014/main" id="{9D8FD8BE-B575-4450-95FD-B132F2FBF30C}"/>
                </a:ext>
              </a:extLst>
            </p:cNvPr>
            <p:cNvGrpSpPr/>
            <p:nvPr userDrawn="1"/>
          </p:nvGrpSpPr>
          <p:grpSpPr>
            <a:xfrm>
              <a:off x="2441313" y="5256671"/>
              <a:ext cx="5327623" cy="317500"/>
              <a:chOff x="2441313" y="5256671"/>
              <a:chExt cx="5327623" cy="317500"/>
            </a:xfrm>
          </p:grpSpPr>
          <p:sp>
            <p:nvSpPr>
              <p:cNvPr id="52" name="矩形 51">
                <a:extLst>
                  <a:ext uri="{FF2B5EF4-FFF2-40B4-BE49-F238E27FC236}">
                    <a16:creationId xmlns:a16="http://schemas.microsoft.com/office/drawing/2014/main" id="{FA6D470B-49E6-460D-A2F7-3AA3A3B20021}"/>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矩形 52">
                <a:extLst>
                  <a:ext uri="{FF2B5EF4-FFF2-40B4-BE49-F238E27FC236}">
                    <a16:creationId xmlns:a16="http://schemas.microsoft.com/office/drawing/2014/main" id="{184DC0D2-E428-4F38-B04F-7DC781667A34}"/>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矩形 53">
                <a:extLst>
                  <a:ext uri="{FF2B5EF4-FFF2-40B4-BE49-F238E27FC236}">
                    <a16:creationId xmlns:a16="http://schemas.microsoft.com/office/drawing/2014/main" id="{681D0C29-FC7B-4F3F-BD32-E40206A62370}"/>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矩形 54">
                <a:extLst>
                  <a:ext uri="{FF2B5EF4-FFF2-40B4-BE49-F238E27FC236}">
                    <a16:creationId xmlns:a16="http://schemas.microsoft.com/office/drawing/2014/main" id="{D032A71D-5325-4D28-B4B1-6B6BF4AAB30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矩形 55">
                <a:extLst>
                  <a:ext uri="{FF2B5EF4-FFF2-40B4-BE49-F238E27FC236}">
                    <a16:creationId xmlns:a16="http://schemas.microsoft.com/office/drawing/2014/main" id="{738A70FA-150B-4708-B634-5950D1A00DF9}"/>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矩形 56">
                <a:extLst>
                  <a:ext uri="{FF2B5EF4-FFF2-40B4-BE49-F238E27FC236}">
                    <a16:creationId xmlns:a16="http://schemas.microsoft.com/office/drawing/2014/main" id="{D3854FDB-0E9B-46EB-A142-15E78B7E2E6D}"/>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8" name="矩形 57">
                <a:extLst>
                  <a:ext uri="{FF2B5EF4-FFF2-40B4-BE49-F238E27FC236}">
                    <a16:creationId xmlns:a16="http://schemas.microsoft.com/office/drawing/2014/main" id="{6FD94B95-A8E7-4E9F-A041-9A4885EECF37}"/>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矩形 58">
                <a:extLst>
                  <a:ext uri="{FF2B5EF4-FFF2-40B4-BE49-F238E27FC236}">
                    <a16:creationId xmlns:a16="http://schemas.microsoft.com/office/drawing/2014/main" id="{1F6E9780-35D6-4AF2-80BB-A3569C8BA2E3}"/>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4A11A937-B5ED-40BD-9B95-73D6C01FBDBD}"/>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71465539-F4BD-48C9-8CC9-44AE7B97586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85BCC709-E469-4948-B4D5-AF8897457737}"/>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文字方塊 23">
            <a:extLst>
              <a:ext uri="{FF2B5EF4-FFF2-40B4-BE49-F238E27FC236}">
                <a16:creationId xmlns:a16="http://schemas.microsoft.com/office/drawing/2014/main" id="{4EB72046-7EFA-4D5B-9003-30F89B1D91A8}"/>
              </a:ext>
            </a:extLst>
          </p:cNvPr>
          <p:cNvSpPr txBox="1"/>
          <p:nvPr userDrawn="1"/>
        </p:nvSpPr>
        <p:spPr>
          <a:xfrm>
            <a:off x="116026" y="6478468"/>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25" name="文字方塊 24">
            <a:extLst>
              <a:ext uri="{FF2B5EF4-FFF2-40B4-BE49-F238E27FC236}">
                <a16:creationId xmlns:a16="http://schemas.microsoft.com/office/drawing/2014/main" id="{E8C46C83-D634-4B86-88D9-5C8B6A41BF9F}"/>
              </a:ext>
            </a:extLst>
          </p:cNvPr>
          <p:cNvSpPr txBox="1"/>
          <p:nvPr userDrawn="1"/>
        </p:nvSpPr>
        <p:spPr>
          <a:xfrm>
            <a:off x="482267" y="6528266"/>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23" name="圖片 2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3"/>
            <a:ext cx="1368000" cy="620345"/>
          </a:xfrm>
          <a:prstGeom prst="rect">
            <a:avLst/>
          </a:prstGeom>
        </p:spPr>
      </p:pic>
    </p:spTree>
    <p:extLst>
      <p:ext uri="{BB962C8B-B14F-4D97-AF65-F5344CB8AC3E}">
        <p14:creationId xmlns:p14="http://schemas.microsoft.com/office/powerpoint/2010/main" val="34841059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ing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5F44435C-4EDB-4AB4-AAD6-08BF8682BAAC}"/>
              </a:ext>
            </a:extLst>
          </p:cNvPr>
          <p:cNvSpPr>
            <a:spLocks noGrp="1"/>
          </p:cNvSpPr>
          <p:nvPr>
            <p:ph type="ctrTitle" hasCustomPrompt="1"/>
          </p:nvPr>
        </p:nvSpPr>
        <p:spPr>
          <a:xfrm>
            <a:off x="896647" y="1099373"/>
            <a:ext cx="9144000" cy="1864899"/>
          </a:xfrm>
        </p:spPr>
        <p:txBody>
          <a:bodyPr anchor="t">
            <a:normAutofit/>
          </a:bodyPr>
          <a:lstStyle>
            <a:lvl1pPr algn="l">
              <a:lnSpc>
                <a:spcPct val="110000"/>
              </a:lnSpc>
              <a:defRPr sz="4600" b="0">
                <a:solidFill>
                  <a:schemeClr val="tx1"/>
                </a:solidFill>
                <a:latin typeface="+mj-lt"/>
                <a:ea typeface="Verdana" panose="020B0604030504040204" pitchFamily="34" charset="0"/>
              </a:defRPr>
            </a:lvl1pPr>
          </a:lstStyle>
          <a:p>
            <a:r>
              <a:rPr lang="en-US" altLang="zh-TW" dirty="0"/>
              <a:t>Smarter. Greener. Together. </a:t>
            </a:r>
            <a:br>
              <a:rPr lang="en-US" dirty="0"/>
            </a:br>
            <a:endParaRPr lang="en-US" dirty="0"/>
          </a:p>
        </p:txBody>
      </p:sp>
      <p:sp>
        <p:nvSpPr>
          <p:cNvPr id="6" name="文字版面配置區 4">
            <a:extLst>
              <a:ext uri="{FF2B5EF4-FFF2-40B4-BE49-F238E27FC236}">
                <a16:creationId xmlns:a16="http://schemas.microsoft.com/office/drawing/2014/main" id="{38C78CAC-0A95-4D70-9EAA-CE96A16F9E0A}"/>
              </a:ext>
            </a:extLst>
          </p:cNvPr>
          <p:cNvSpPr>
            <a:spLocks noGrp="1"/>
          </p:cNvSpPr>
          <p:nvPr>
            <p:ph type="body" sz="quarter" idx="12" hasCustomPrompt="1"/>
          </p:nvPr>
        </p:nvSpPr>
        <p:spPr>
          <a:xfrm>
            <a:off x="385370" y="60184"/>
            <a:ext cx="2133447" cy="380427"/>
          </a:xfrm>
        </p:spPr>
        <p:txBody>
          <a:bodyPr>
            <a:normAutofit/>
          </a:bodyPr>
          <a:lstStyle>
            <a:lvl1pPr marL="0" indent="0">
              <a:buNone/>
              <a:defRPr sz="1600">
                <a:solidFill>
                  <a:srgbClr val="0070C0"/>
                </a:solidFill>
              </a:defRPr>
            </a:lvl1pPr>
          </a:lstStyle>
          <a:p>
            <a:pPr lvl="0"/>
            <a:r>
              <a:rPr lang="en-US" altLang="zh-TW" dirty="0"/>
              <a:t>Ending </a:t>
            </a:r>
            <a:r>
              <a:rPr lang="en-US" altLang="zh-TW" dirty="0" err="1"/>
              <a:t>Page_White</a:t>
            </a:r>
            <a:endParaRPr lang="zh-TW" altLang="en-US" dirty="0"/>
          </a:p>
        </p:txBody>
      </p:sp>
    </p:spTree>
    <p:extLst>
      <p:ext uri="{BB962C8B-B14F-4D97-AF65-F5344CB8AC3E}">
        <p14:creationId xmlns:p14="http://schemas.microsoft.com/office/powerpoint/2010/main" val="1277117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ing Page_Image">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3B392DE6-2AF2-4E28-AF03-1A4F3D15BEAE}"/>
              </a:ext>
            </a:extLst>
          </p:cNvPr>
          <p:cNvSpPr/>
          <p:nvPr userDrawn="1"/>
        </p:nvSpPr>
        <p:spPr>
          <a:xfrm>
            <a:off x="0" y="-1"/>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3" name="矩形 52"/>
          <p:cNvSpPr/>
          <p:nvPr userDrawn="1"/>
        </p:nvSpPr>
        <p:spPr>
          <a:xfrm>
            <a:off x="0" y="0"/>
            <a:ext cx="12192000" cy="4831883"/>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sz="1800" dirty="0"/>
          </a:p>
        </p:txBody>
      </p:sp>
      <p:grpSp>
        <p:nvGrpSpPr>
          <p:cNvPr id="35" name="群組 34">
            <a:extLst>
              <a:ext uri="{FF2B5EF4-FFF2-40B4-BE49-F238E27FC236}">
                <a16:creationId xmlns:a16="http://schemas.microsoft.com/office/drawing/2014/main" id="{ABE8868F-CA4D-431A-BCA3-79708C4A93CC}"/>
              </a:ext>
            </a:extLst>
          </p:cNvPr>
          <p:cNvGrpSpPr/>
          <p:nvPr userDrawn="1"/>
        </p:nvGrpSpPr>
        <p:grpSpPr>
          <a:xfrm>
            <a:off x="0" y="7008896"/>
            <a:ext cx="10358581" cy="423333"/>
            <a:chOff x="0" y="5256671"/>
            <a:chExt cx="7768936" cy="317500"/>
          </a:xfrm>
        </p:grpSpPr>
        <p:grpSp>
          <p:nvGrpSpPr>
            <p:cNvPr id="36" name="群組 35">
              <a:extLst>
                <a:ext uri="{FF2B5EF4-FFF2-40B4-BE49-F238E27FC236}">
                  <a16:creationId xmlns:a16="http://schemas.microsoft.com/office/drawing/2014/main" id="{E5238164-92D2-4070-B189-8D969D4D4C1C}"/>
                </a:ext>
              </a:extLst>
            </p:cNvPr>
            <p:cNvGrpSpPr/>
            <p:nvPr userDrawn="1"/>
          </p:nvGrpSpPr>
          <p:grpSpPr>
            <a:xfrm>
              <a:off x="0" y="5256671"/>
              <a:ext cx="1321058" cy="317500"/>
              <a:chOff x="0" y="5256671"/>
              <a:chExt cx="1321058" cy="317500"/>
            </a:xfrm>
          </p:grpSpPr>
          <p:sp>
            <p:nvSpPr>
              <p:cNvPr id="49" name="矩形 48">
                <a:extLst>
                  <a:ext uri="{FF2B5EF4-FFF2-40B4-BE49-F238E27FC236}">
                    <a16:creationId xmlns:a16="http://schemas.microsoft.com/office/drawing/2014/main" id="{FD4CBB22-8F55-4813-A361-6B31616CEFC5}"/>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0" name="矩形 49">
                <a:extLst>
                  <a:ext uri="{FF2B5EF4-FFF2-40B4-BE49-F238E27FC236}">
                    <a16:creationId xmlns:a16="http://schemas.microsoft.com/office/drawing/2014/main" id="{9AE6129C-E538-40C6-95CE-8D689DA806C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矩形 50">
                <a:extLst>
                  <a:ext uri="{FF2B5EF4-FFF2-40B4-BE49-F238E27FC236}">
                    <a16:creationId xmlns:a16="http://schemas.microsoft.com/office/drawing/2014/main" id="{B42DF3C8-6F17-4F9B-8224-82E6BF529D75}"/>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群組 36">
              <a:extLst>
                <a:ext uri="{FF2B5EF4-FFF2-40B4-BE49-F238E27FC236}">
                  <a16:creationId xmlns:a16="http://schemas.microsoft.com/office/drawing/2014/main" id="{CA03870D-CA4E-4A68-B643-C828AB156380}"/>
                </a:ext>
              </a:extLst>
            </p:cNvPr>
            <p:cNvGrpSpPr/>
            <p:nvPr userDrawn="1"/>
          </p:nvGrpSpPr>
          <p:grpSpPr>
            <a:xfrm>
              <a:off x="2441313" y="5256671"/>
              <a:ext cx="5327623" cy="317500"/>
              <a:chOff x="2441313" y="5256671"/>
              <a:chExt cx="5327623" cy="317500"/>
            </a:xfrm>
          </p:grpSpPr>
          <p:sp>
            <p:nvSpPr>
              <p:cNvPr id="38" name="矩形 37">
                <a:extLst>
                  <a:ext uri="{FF2B5EF4-FFF2-40B4-BE49-F238E27FC236}">
                    <a16:creationId xmlns:a16="http://schemas.microsoft.com/office/drawing/2014/main" id="{204627FC-9E22-4DF5-9620-E588D5B1D754}"/>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9" name="矩形 38">
                <a:extLst>
                  <a:ext uri="{FF2B5EF4-FFF2-40B4-BE49-F238E27FC236}">
                    <a16:creationId xmlns:a16="http://schemas.microsoft.com/office/drawing/2014/main" id="{9FFB4E0B-7913-4DBA-B9BC-22815DD1E9F5}"/>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矩形 39">
                <a:extLst>
                  <a:ext uri="{FF2B5EF4-FFF2-40B4-BE49-F238E27FC236}">
                    <a16:creationId xmlns:a16="http://schemas.microsoft.com/office/drawing/2014/main" id="{2E6EA7B8-B405-4A2B-8F6C-66644CA26469}"/>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矩形 40">
                <a:extLst>
                  <a:ext uri="{FF2B5EF4-FFF2-40B4-BE49-F238E27FC236}">
                    <a16:creationId xmlns:a16="http://schemas.microsoft.com/office/drawing/2014/main" id="{531D023A-8171-4D62-AD85-A3E51BEECBC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2" name="矩形 41">
                <a:extLst>
                  <a:ext uri="{FF2B5EF4-FFF2-40B4-BE49-F238E27FC236}">
                    <a16:creationId xmlns:a16="http://schemas.microsoft.com/office/drawing/2014/main" id="{B8F6B22F-DD93-4EC4-8E97-7E5A61686F3E}"/>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矩形 42">
                <a:extLst>
                  <a:ext uri="{FF2B5EF4-FFF2-40B4-BE49-F238E27FC236}">
                    <a16:creationId xmlns:a16="http://schemas.microsoft.com/office/drawing/2014/main" id="{28833C97-6D6E-40FC-976A-CF4C2B0848D9}"/>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4" name="矩形 43">
                <a:extLst>
                  <a:ext uri="{FF2B5EF4-FFF2-40B4-BE49-F238E27FC236}">
                    <a16:creationId xmlns:a16="http://schemas.microsoft.com/office/drawing/2014/main" id="{ED3716C8-CA0D-4806-A013-3F0E791C886C}"/>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矩形 44">
                <a:extLst>
                  <a:ext uri="{FF2B5EF4-FFF2-40B4-BE49-F238E27FC236}">
                    <a16:creationId xmlns:a16="http://schemas.microsoft.com/office/drawing/2014/main" id="{EB57F906-7144-4062-914D-703110CC17BF}"/>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6" name="矩形 45">
                <a:extLst>
                  <a:ext uri="{FF2B5EF4-FFF2-40B4-BE49-F238E27FC236}">
                    <a16:creationId xmlns:a16="http://schemas.microsoft.com/office/drawing/2014/main" id="{09D68DFB-0813-4C3A-8CE7-03C842C11ED7}"/>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矩形 46">
                <a:extLst>
                  <a:ext uri="{FF2B5EF4-FFF2-40B4-BE49-F238E27FC236}">
                    <a16:creationId xmlns:a16="http://schemas.microsoft.com/office/drawing/2014/main" id="{AE8DE291-898F-4470-A37E-2D3C217EDD2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矩形 47">
                <a:extLst>
                  <a:ext uri="{FF2B5EF4-FFF2-40B4-BE49-F238E27FC236}">
                    <a16:creationId xmlns:a16="http://schemas.microsoft.com/office/drawing/2014/main" id="{37A1C886-D4A7-40F8-BEDF-DE906366403B}"/>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2" name="標題 1">
            <a:extLst>
              <a:ext uri="{FF2B5EF4-FFF2-40B4-BE49-F238E27FC236}">
                <a16:creationId xmlns:a16="http://schemas.microsoft.com/office/drawing/2014/main" id="{9FF8E5F9-3E27-4FB9-9E7F-AA69CBB722EF}"/>
              </a:ext>
            </a:extLst>
          </p:cNvPr>
          <p:cNvSpPr txBox="1">
            <a:spLocks/>
          </p:cNvSpPr>
          <p:nvPr userDrawn="1"/>
        </p:nvSpPr>
        <p:spPr>
          <a:xfrm>
            <a:off x="376089" y="5152427"/>
            <a:ext cx="9144000" cy="1212111"/>
          </a:xfrm>
          <a:prstGeom prst="rect">
            <a:avLst/>
          </a:prstGeom>
        </p:spPr>
        <p:txBody>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TW" sz="4400" b="0" dirty="0">
                <a:solidFill>
                  <a:schemeClr val="tx1"/>
                </a:solidFill>
                <a:latin typeface="+mn-lt"/>
              </a:rPr>
              <a:t>Smarter. Greener. Together. </a:t>
            </a:r>
            <a:br>
              <a:rPr lang="en-US" altLang="zh-TW" sz="4400" b="0" dirty="0">
                <a:solidFill>
                  <a:schemeClr val="tx1"/>
                </a:solidFill>
                <a:latin typeface="+mn-lt"/>
              </a:rPr>
            </a:br>
            <a:endParaRPr lang="en-US" sz="4400" b="0" dirty="0">
              <a:solidFill>
                <a:schemeClr val="tx1"/>
              </a:solidFill>
              <a:latin typeface="+mn-lt"/>
            </a:endParaRPr>
          </a:p>
        </p:txBody>
      </p:sp>
      <p:pic>
        <p:nvPicPr>
          <p:cNvPr id="23" name="圖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75101" y="5475969"/>
            <a:ext cx="2814119" cy="1276115"/>
          </a:xfrm>
          <a:prstGeom prst="rect">
            <a:avLst/>
          </a:prstGeom>
        </p:spPr>
      </p:pic>
      <p:sp>
        <p:nvSpPr>
          <p:cNvPr id="55" name="圖片版面配置區 6">
            <a:extLst>
              <a:ext uri="{FF2B5EF4-FFF2-40B4-BE49-F238E27FC236}">
                <a16:creationId xmlns:a16="http://schemas.microsoft.com/office/drawing/2014/main" id="{BEC39B5C-7A19-45E5-87B6-A4D4ACE91330}"/>
              </a:ext>
            </a:extLst>
          </p:cNvPr>
          <p:cNvSpPr>
            <a:spLocks noGrp="1"/>
          </p:cNvSpPr>
          <p:nvPr>
            <p:ph type="pic" sz="quarter" idx="11" hasCustomPrompt="1"/>
          </p:nvPr>
        </p:nvSpPr>
        <p:spPr>
          <a:xfrm>
            <a:off x="-1587" y="-12702"/>
            <a:ext cx="12192001" cy="4713939"/>
          </a:xfrm>
        </p:spPr>
        <p:txBody>
          <a:bodyPr/>
          <a:lstStyle>
            <a:lvl1pPr marL="0" indent="0">
              <a:lnSpc>
                <a:spcPct val="100000"/>
              </a:lnSpc>
              <a:buNone/>
              <a:defRPr sz="1600">
                <a:solidFill>
                  <a:srgbClr val="0070C0"/>
                </a:solidFill>
              </a:defRPr>
            </a:lvl1pPr>
          </a:lstStyle>
          <a:p>
            <a:r>
              <a:rPr lang="en-US" altLang="zh-TW" dirty="0"/>
              <a:t>     Ending </a:t>
            </a:r>
            <a:r>
              <a:rPr lang="en-US" altLang="zh-TW" dirty="0" err="1"/>
              <a:t>Page_Image</a:t>
            </a:r>
            <a:r>
              <a:rPr lang="en-US" altLang="zh-TW" dirty="0"/>
              <a:t>: </a:t>
            </a:r>
            <a:br>
              <a:rPr lang="en-US" altLang="zh-TW" dirty="0"/>
            </a:br>
            <a:r>
              <a:rPr lang="en-US" altLang="zh-TW" dirty="0"/>
              <a:t>      A corporate-level, sector-level or product-level brand communication imagery can be applied in this gray area.</a:t>
            </a:r>
          </a:p>
          <a:p>
            <a:endParaRPr lang="zh-TW" altLang="en-US" dirty="0"/>
          </a:p>
        </p:txBody>
      </p:sp>
      <p:grpSp>
        <p:nvGrpSpPr>
          <p:cNvPr id="5" name="群組 4"/>
          <p:cNvGrpSpPr/>
          <p:nvPr userDrawn="1"/>
        </p:nvGrpSpPr>
        <p:grpSpPr>
          <a:xfrm>
            <a:off x="-1200" y="4701237"/>
            <a:ext cx="12193200" cy="144000"/>
            <a:chOff x="22799" y="4912990"/>
            <a:chExt cx="12193200" cy="144000"/>
          </a:xfrm>
        </p:grpSpPr>
        <p:sp>
          <p:nvSpPr>
            <p:cNvPr id="2" name="矩形 1"/>
            <p:cNvSpPr/>
            <p:nvPr userDrawn="1"/>
          </p:nvSpPr>
          <p:spPr>
            <a:xfrm>
              <a:off x="22799" y="4912990"/>
              <a:ext cx="12193200" cy="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 name="矩形 3"/>
            <p:cNvSpPr/>
            <p:nvPr userDrawn="1"/>
          </p:nvSpPr>
          <p:spPr>
            <a:xfrm>
              <a:off x="9767999" y="4912990"/>
              <a:ext cx="2448000" cy="144000"/>
            </a:xfrm>
            <a:prstGeom prst="rect">
              <a:avLst/>
            </a:prstGeom>
            <a:solidFill>
              <a:srgbClr val="B9EB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52" name="矩形 51"/>
            <p:cNvSpPr/>
            <p:nvPr userDrawn="1"/>
          </p:nvSpPr>
          <p:spPr>
            <a:xfrm>
              <a:off x="7323672" y="4912990"/>
              <a:ext cx="2448000" cy="144000"/>
            </a:xfrm>
            <a:prstGeom prst="rect">
              <a:avLst/>
            </a:prstGeom>
            <a:solidFill>
              <a:srgbClr val="64D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grpSp>
    </p:spTree>
    <p:extLst>
      <p:ext uri="{BB962C8B-B14F-4D97-AF65-F5344CB8AC3E}">
        <p14:creationId xmlns:p14="http://schemas.microsoft.com/office/powerpoint/2010/main" val="2651262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nchor="ctr"/>
          <a:lstStyle>
            <a:lvl1pPr algn="l">
              <a:defRPr/>
            </a:lvl1pPr>
          </a:lstStyle>
          <a:p>
            <a:r>
              <a:rPr lang="zh-TW" altLang="en-US"/>
              <a:t>按一下以編輯母片標題樣式</a:t>
            </a:r>
          </a:p>
        </p:txBody>
      </p:sp>
      <p:sp>
        <p:nvSpPr>
          <p:cNvPr id="3" name="投影片編號版面配置區 5"/>
          <p:cNvSpPr>
            <a:spLocks noGrp="1"/>
          </p:cNvSpPr>
          <p:nvPr>
            <p:ph type="sldNum" sz="quarter" idx="10"/>
          </p:nvPr>
        </p:nvSpPr>
        <p:spPr/>
        <p:txBody>
          <a:bodyPr/>
          <a:lstStyle>
            <a:lvl1pPr>
              <a:defRPr/>
            </a:lvl1pPr>
          </a:lstStyle>
          <a:p>
            <a:pPr>
              <a:defRPr/>
            </a:pPr>
            <a:fld id="{1972D583-6F43-4BEE-A241-C30732397DD6}" type="slidenum">
              <a:rPr lang="zh-TW" altLang="en-US" smtClean="0">
                <a:solidFill>
                  <a:srgbClr val="000000">
                    <a:tint val="75000"/>
                  </a:srgbClr>
                </a:solidFill>
              </a:rPr>
              <a:pPr>
                <a:defRPr/>
              </a:pPr>
              <a:t>‹#›</a:t>
            </a:fld>
            <a:endParaRPr lang="zh-TW" altLang="en-US" dirty="0">
              <a:solidFill>
                <a:srgbClr val="000000">
                  <a:tint val="75000"/>
                </a:srgbClr>
              </a:solidFill>
            </a:endParaRPr>
          </a:p>
        </p:txBody>
      </p:sp>
    </p:spTree>
    <p:extLst>
      <p:ext uri="{BB962C8B-B14F-4D97-AF65-F5344CB8AC3E}">
        <p14:creationId xmlns:p14="http://schemas.microsoft.com/office/powerpoint/2010/main" val="280392165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按一下以編輯母片標題樣式</a:t>
            </a:r>
          </a:p>
        </p:txBody>
      </p:sp>
      <p:sp>
        <p:nvSpPr>
          <p:cNvPr id="3" name="內容版面配置區 2"/>
          <p:cNvSpPr>
            <a:spLocks noGrp="1"/>
          </p:cNvSpPr>
          <p:nvPr>
            <p:ph idx="1"/>
          </p:nvPr>
        </p:nvSpPr>
        <p:spPr>
          <a:xfrm>
            <a:off x="838200" y="1282891"/>
            <a:ext cx="10515600" cy="4981432"/>
          </a:xfrm>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D321474C-8AFC-4C54-9CF8-7E036401450A}" type="datetime1">
              <a:rPr lang="zh-TW" altLang="en-US" smtClean="0"/>
              <a:t>2026/9/1</a:t>
            </a:fld>
            <a:endParaRPr lang="zh-TW" altLang="en-US"/>
          </a:p>
        </p:txBody>
      </p:sp>
      <p:sp>
        <p:nvSpPr>
          <p:cNvPr id="6" name="投影片編號版面配置區 5"/>
          <p:cNvSpPr>
            <a:spLocks noGrp="1"/>
          </p:cNvSpPr>
          <p:nvPr>
            <p:ph type="sldNum" sz="quarter" idx="12"/>
          </p:nvPr>
        </p:nvSpPr>
        <p:spPr/>
        <p:txBody>
          <a:bodyPr/>
          <a:lstStyle/>
          <a:p>
            <a:fld id="{A6BFA6EC-5F95-4EF3-824E-DF9EB7131756}" type="slidenum">
              <a:rPr lang="zh-TW" altLang="en-US" smtClean="0"/>
              <a:t>‹#›</a:t>
            </a:fld>
            <a:endParaRPr lang="zh-TW" altLang="en-US"/>
          </a:p>
        </p:txBody>
      </p:sp>
    </p:spTree>
    <p:extLst>
      <p:ext uri="{BB962C8B-B14F-4D97-AF65-F5344CB8AC3E}">
        <p14:creationId xmlns:p14="http://schemas.microsoft.com/office/powerpoint/2010/main" val="2334812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General Solution">
    <p:bg>
      <p:bgPr>
        <a:solidFill>
          <a:schemeClr val="bg1"/>
        </a:solidFill>
        <a:effectLst/>
      </p:bgPr>
    </p:bg>
    <p:spTree>
      <p:nvGrpSpPr>
        <p:cNvPr id="1" name=""/>
        <p:cNvGrpSpPr/>
        <p:nvPr/>
      </p:nvGrpSpPr>
      <p:grpSpPr>
        <a:xfrm>
          <a:off x="0" y="0"/>
          <a:ext cx="0" cy="0"/>
          <a:chOff x="0" y="0"/>
          <a:chExt cx="0" cy="0"/>
        </a:xfrm>
      </p:grpSpPr>
      <p:sp>
        <p:nvSpPr>
          <p:cNvPr id="52" name="文字方塊 51">
            <a:extLst>
              <a:ext uri="{FF2B5EF4-FFF2-40B4-BE49-F238E27FC236}">
                <a16:creationId xmlns:a16="http://schemas.microsoft.com/office/drawing/2014/main" id="{4EB72046-7EFA-4D5B-9003-30F89B1D91A8}"/>
              </a:ext>
            </a:extLst>
          </p:cNvPr>
          <p:cNvSpPr txBox="1"/>
          <p:nvPr userDrawn="1"/>
        </p:nvSpPr>
        <p:spPr>
          <a:xfrm>
            <a:off x="146507" y="6382218"/>
            <a:ext cx="402674" cy="307777"/>
          </a:xfrm>
          <a:prstGeom prst="rect">
            <a:avLst/>
          </a:prstGeom>
          <a:noFill/>
        </p:spPr>
        <p:txBody>
          <a:bodyPr wrap="none" rtlCol="0">
            <a:spAutoFit/>
          </a:bodyPr>
          <a:lstStyle/>
          <a:p>
            <a:fld id="{823BD820-02AB-4111-88E2-98F36ECA9073}" type="slidenum">
              <a:rPr lang="en-US" sz="1400" smtClean="0"/>
              <a:t>‹#›</a:t>
            </a:fld>
            <a:endParaRPr lang="en-US" sz="1400" dirty="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61947" y="6432017"/>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endParaRPr lang="en-US" sz="1000" dirty="0"/>
          </a:p>
        </p:txBody>
      </p:sp>
      <p:pic>
        <p:nvPicPr>
          <p:cNvPr id="55" name="Image" descr="Image">
            <a:extLst>
              <a:ext uri="{FF2B5EF4-FFF2-40B4-BE49-F238E27FC236}">
                <a16:creationId xmlns:a16="http://schemas.microsoft.com/office/drawing/2014/main" id="{3FD067EA-3F6A-4BD1-B5C3-F883F3BD8FAC}"/>
              </a:ext>
            </a:extLst>
          </p:cNvPr>
          <p:cNvPicPr>
            <a:picLocks noChangeAspect="1"/>
          </p:cNvPicPr>
          <p:nvPr userDrawn="1"/>
        </p:nvPicPr>
        <p:blipFill>
          <a:blip r:embed="rId2"/>
          <a:stretch>
            <a:fillRect/>
          </a:stretch>
        </p:blipFill>
        <p:spPr>
          <a:xfrm>
            <a:off x="10877740" y="6271414"/>
            <a:ext cx="1056000" cy="325143"/>
          </a:xfrm>
          <a:prstGeom prst="rect">
            <a:avLst/>
          </a:prstGeom>
          <a:ln w="12700">
            <a:miter lim="400000"/>
          </a:ln>
        </p:spPr>
      </p:pic>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6"/>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76" name="文本框 75"/>
          <p:cNvSpPr txBox="1"/>
          <p:nvPr userDrawn="1"/>
        </p:nvSpPr>
        <p:spPr>
          <a:xfrm>
            <a:off x="9794606" y="3835802"/>
            <a:ext cx="603188" cy="332647"/>
          </a:xfrm>
          <a:prstGeom prst="rect">
            <a:avLst/>
          </a:prstGeom>
          <a:noFill/>
          <a:ln>
            <a:noFill/>
          </a:ln>
        </p:spPr>
        <p:txBody>
          <a:bodyPr wrap="square" rtlCol="0" anchor="t">
            <a:noAutofit/>
          </a:bodyPr>
          <a:lstStyle/>
          <a:p>
            <a:pPr>
              <a:lnSpc>
                <a:spcPct val="100000"/>
              </a:lnSpc>
            </a:pPr>
            <a:r>
              <a:rPr lang="en-US" altLang="zh-CN" sz="1200" b="0" kern="1200" baseline="0" dirty="0">
                <a:solidFill>
                  <a:schemeClr val="tx1"/>
                </a:solidFill>
                <a:latin typeface="+mj-lt"/>
                <a:ea typeface="微软雅黑" panose="020B0503020204020204" pitchFamily="34" charset="-122"/>
                <a:cs typeface="+mn-cs"/>
              </a:rPr>
              <a:t>ROI</a:t>
            </a:r>
            <a:r>
              <a:rPr lang="zh-CN" altLang="en-US" sz="1200" b="0" kern="1200" baseline="0" dirty="0">
                <a:solidFill>
                  <a:schemeClr val="tx1"/>
                </a:solidFill>
                <a:latin typeface="+mj-lt"/>
                <a:ea typeface="微软雅黑" panose="020B0503020204020204" pitchFamily="34" charset="-122"/>
                <a:cs typeface="+mn-cs"/>
              </a:rPr>
              <a:t>：</a:t>
            </a:r>
            <a:endParaRPr lang="en-US" altLang="zh-CN" sz="1200" b="0" kern="1200" baseline="0" dirty="0">
              <a:solidFill>
                <a:schemeClr val="tx1"/>
              </a:solidFill>
              <a:latin typeface="+mj-lt"/>
              <a:ea typeface="微软雅黑" panose="020B0503020204020204" pitchFamily="34" charset="-122"/>
              <a:cs typeface="+mn-cs"/>
            </a:endParaRPr>
          </a:p>
        </p:txBody>
      </p:sp>
      <p:sp>
        <p:nvSpPr>
          <p:cNvPr id="77" name="文本框 76"/>
          <p:cNvSpPr txBox="1"/>
          <p:nvPr userDrawn="1"/>
        </p:nvSpPr>
        <p:spPr>
          <a:xfrm>
            <a:off x="4338193" y="3741998"/>
            <a:ext cx="360000" cy="1693063"/>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專案範圍</a:t>
            </a:r>
            <a:endParaRPr lang="zh-CN" altLang="en-US" sz="1600" b="1" u="sng" dirty="0">
              <a:solidFill>
                <a:schemeClr val="bg1"/>
              </a:solidFill>
              <a:latin typeface="+mn-ea"/>
              <a:ea typeface="+mn-ea"/>
            </a:endParaRPr>
          </a:p>
        </p:txBody>
      </p:sp>
      <p:sp>
        <p:nvSpPr>
          <p:cNvPr id="81" name="文本框 80"/>
          <p:cNvSpPr txBox="1"/>
          <p:nvPr userDrawn="1"/>
        </p:nvSpPr>
        <p:spPr>
          <a:xfrm>
            <a:off x="270776" y="5497398"/>
            <a:ext cx="360000" cy="834023"/>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時</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程</a:t>
            </a:r>
          </a:p>
        </p:txBody>
      </p:sp>
      <p:sp>
        <p:nvSpPr>
          <p:cNvPr id="44" name="標題 1">
            <a:extLst>
              <a:ext uri="{FF2B5EF4-FFF2-40B4-BE49-F238E27FC236}">
                <a16:creationId xmlns:a16="http://schemas.microsoft.com/office/drawing/2014/main" id="{E8CA6B8E-EB08-4AB0-9768-E121F12ABA2B}"/>
              </a:ext>
            </a:extLst>
          </p:cNvPr>
          <p:cNvSpPr txBox="1">
            <a:spLocks/>
          </p:cNvSpPr>
          <p:nvPr userDrawn="1"/>
        </p:nvSpPr>
        <p:spPr>
          <a:xfrm>
            <a:off x="9904770" y="374733"/>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dirty="0">
                <a:solidFill>
                  <a:schemeClr val="tx1"/>
                </a:solidFill>
                <a:latin typeface="+mn-ea"/>
                <a:ea typeface="+mn-ea"/>
              </a:rPr>
              <a:t>專案編號：</a:t>
            </a:r>
            <a:endParaRPr lang="en-US" sz="1200" dirty="0">
              <a:solidFill>
                <a:schemeClr val="tx1"/>
              </a:solidFill>
              <a:latin typeface="+mn-ea"/>
              <a:ea typeface="+mn-ea"/>
            </a:endParaRPr>
          </a:p>
        </p:txBody>
      </p:sp>
      <p:graphicFrame>
        <p:nvGraphicFramePr>
          <p:cNvPr id="49" name="表格 48"/>
          <p:cNvGraphicFramePr>
            <a:graphicFrameLocks noGrp="1"/>
          </p:cNvGraphicFramePr>
          <p:nvPr userDrawn="1"/>
        </p:nvGraphicFramePr>
        <p:xfrm>
          <a:off x="4843843" y="4574137"/>
          <a:ext cx="2273740" cy="834459"/>
        </p:xfrm>
        <a:graphic>
          <a:graphicData uri="http://schemas.openxmlformats.org/drawingml/2006/table">
            <a:tbl>
              <a:tblPr>
                <a:tableStyleId>{5C22544A-7EE6-4342-B048-85BDC9FD1C3A}</a:tableStyleId>
              </a:tblPr>
              <a:tblGrid>
                <a:gridCol w="1115420">
                  <a:extLst>
                    <a:ext uri="{9D8B030D-6E8A-4147-A177-3AD203B41FA5}">
                      <a16:colId xmlns:a16="http://schemas.microsoft.com/office/drawing/2014/main" val="3601475834"/>
                    </a:ext>
                  </a:extLst>
                </a:gridCol>
                <a:gridCol w="1158320">
                  <a:extLst>
                    <a:ext uri="{9D8B030D-6E8A-4147-A177-3AD203B41FA5}">
                      <a16:colId xmlns:a16="http://schemas.microsoft.com/office/drawing/2014/main" val="3963661121"/>
                    </a:ext>
                  </a:extLst>
                </a:gridCol>
              </a:tblGrid>
              <a:tr h="236004">
                <a:tc>
                  <a:txBody>
                    <a:bodyPr/>
                    <a:lstStyle/>
                    <a:p>
                      <a:pPr algn="l"/>
                      <a:r>
                        <a:rPr lang="zh-CN" altLang="en-US" sz="1200" b="1" kern="1200" baseline="0">
                          <a:solidFill>
                            <a:schemeClr val="tx1"/>
                          </a:solidFill>
                          <a:latin typeface="+mn-ea"/>
                          <a:ea typeface="+mn-ea"/>
                          <a:cs typeface="+mn-cs"/>
                        </a:rPr>
                        <a:t>     實</a:t>
                      </a:r>
                      <a:r>
                        <a:rPr lang="zh-CN" altLang="en-US" sz="1200" b="1" kern="1200" baseline="0" dirty="0">
                          <a:solidFill>
                            <a:schemeClr val="tx1"/>
                          </a:solidFill>
                          <a:latin typeface="+mn-ea"/>
                          <a:ea typeface="+mn-ea"/>
                          <a:cs typeface="+mn-cs"/>
                        </a:rPr>
                        <a:t>施範圍</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200" b="1" kern="1200" baseline="0">
                          <a:solidFill>
                            <a:schemeClr val="tx1"/>
                          </a:solidFill>
                          <a:latin typeface="+mn-ea"/>
                          <a:ea typeface="+mn-ea"/>
                          <a:cs typeface="+mn-cs"/>
                        </a:rPr>
                        <a:t>     產</a:t>
                      </a:r>
                      <a:r>
                        <a:rPr lang="zh-CN" altLang="en-US" sz="1200" b="1" kern="1200" baseline="0" dirty="0">
                          <a:solidFill>
                            <a:schemeClr val="tx1"/>
                          </a:solidFill>
                          <a:latin typeface="+mn-ea"/>
                          <a:ea typeface="+mn-ea"/>
                          <a:cs typeface="+mn-cs"/>
                        </a:rPr>
                        <a:t>出類型</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875191"/>
                  </a:ext>
                </a:extLst>
              </a:tr>
              <a:tr h="19948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多</a:t>
                      </a:r>
                      <a:r>
                        <a:rPr lang="zh-CN" altLang="en-US" sz="1100" b="0" kern="1200" baseline="0" dirty="0">
                          <a:solidFill>
                            <a:schemeClr val="tx1"/>
                          </a:solidFill>
                          <a:latin typeface="+mn-ea"/>
                          <a:ea typeface="+mn-ea"/>
                          <a:cs typeface="+mn-cs"/>
                        </a:rPr>
                        <a:t>個</a:t>
                      </a:r>
                      <a:r>
                        <a:rPr lang="zh-CN" altLang="en-US" sz="1100" b="0" kern="1200" baseline="0">
                          <a:solidFill>
                            <a:schemeClr val="tx1"/>
                          </a:solidFill>
                          <a:latin typeface="+mn-ea"/>
                          <a:ea typeface="+mn-ea"/>
                          <a:cs typeface="+mn-cs"/>
                        </a:rPr>
                        <a:t>廠區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系統平台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775297"/>
                  </a:ext>
                </a:extLst>
              </a:tr>
              <a:tr h="199485">
                <a:tc>
                  <a:txBody>
                    <a:bodyPr/>
                    <a:lstStyle/>
                    <a:p>
                      <a:pPr algn="l"/>
                      <a:r>
                        <a:rPr lang="zh-CN" altLang="en-US" sz="1100" b="0" kern="1200" baseline="0">
                          <a:solidFill>
                            <a:schemeClr val="tx1"/>
                          </a:solidFill>
                          <a:latin typeface="+mn-ea"/>
                          <a:ea typeface="+mn-ea"/>
                          <a:cs typeface="+mn-cs"/>
                        </a:rPr>
                        <a:t>○  單</a:t>
                      </a:r>
                      <a:r>
                        <a:rPr lang="zh-CN" altLang="en-US" sz="1100" b="0" kern="1200" baseline="0" dirty="0">
                          <a:solidFill>
                            <a:schemeClr val="tx1"/>
                          </a:solidFill>
                          <a:latin typeface="+mn-ea"/>
                          <a:ea typeface="+mn-ea"/>
                          <a:cs typeface="+mn-cs"/>
                        </a:rPr>
                        <a:t>一</a:t>
                      </a:r>
                      <a:r>
                        <a:rPr lang="zh-CN" altLang="en-US" sz="1100" b="0" kern="1200" baseline="0">
                          <a:solidFill>
                            <a:schemeClr val="tx1"/>
                          </a:solidFill>
                          <a:latin typeface="+mn-ea"/>
                          <a:ea typeface="+mn-ea"/>
                          <a:cs typeface="+mn-cs"/>
                        </a:rPr>
                        <a:t>廠區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軟</a:t>
                      </a:r>
                      <a:r>
                        <a:rPr lang="zh-CN" altLang="en-US" sz="1100" b="0" kern="1200" baseline="0" dirty="0">
                          <a:solidFill>
                            <a:schemeClr val="tx1"/>
                          </a:solidFill>
                          <a:latin typeface="+mn-ea"/>
                          <a:ea typeface="+mn-ea"/>
                          <a:cs typeface="+mn-cs"/>
                        </a:rPr>
                        <a:t>件</a:t>
                      </a:r>
                      <a:r>
                        <a:rPr lang="en-US" altLang="zh-CN" sz="1100" b="0" kern="1200" baseline="0" dirty="0">
                          <a:solidFill>
                            <a:schemeClr val="tx1"/>
                          </a:solidFill>
                          <a:latin typeface="+mn-ea"/>
                          <a:ea typeface="+mn-ea"/>
                          <a:cs typeface="+mn-cs"/>
                        </a:rPr>
                        <a:t>/</a:t>
                      </a:r>
                      <a:r>
                        <a:rPr lang="zh-CN" altLang="en-US" sz="1100" b="0" kern="1200" baseline="0" dirty="0">
                          <a:solidFill>
                            <a:schemeClr val="tx1"/>
                          </a:solidFill>
                          <a:latin typeface="+mn-ea"/>
                          <a:ea typeface="+mn-ea"/>
                          <a:cs typeface="+mn-cs"/>
                        </a:rPr>
                        <a:t>規範</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5369103"/>
                  </a:ext>
                </a:extLst>
              </a:tr>
              <a:tr h="199485">
                <a:tc>
                  <a:txBody>
                    <a:bodyPr/>
                    <a:lstStyle/>
                    <a:p>
                      <a:pPr algn="l"/>
                      <a:r>
                        <a:rPr lang="zh-CN" altLang="en-US" sz="1100" b="0" kern="1200" baseline="0">
                          <a:solidFill>
                            <a:schemeClr val="tx1"/>
                          </a:solidFill>
                          <a:latin typeface="+mn-ea"/>
                          <a:ea typeface="+mn-ea"/>
                          <a:cs typeface="+mn-cs"/>
                        </a:rPr>
                        <a:t>○  單</a:t>
                      </a:r>
                      <a:r>
                        <a:rPr lang="zh-CN" altLang="en-US" sz="1100" b="0" kern="1200" baseline="0" dirty="0">
                          <a:solidFill>
                            <a:schemeClr val="tx1"/>
                          </a:solidFill>
                          <a:latin typeface="+mn-ea"/>
                          <a:ea typeface="+mn-ea"/>
                          <a:cs typeface="+mn-cs"/>
                        </a:rPr>
                        <a:t>線</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硬件</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180558"/>
                  </a:ext>
                </a:extLst>
              </a:tr>
            </a:tbl>
          </a:graphicData>
        </a:graphic>
      </p:graphicFrame>
      <p:sp>
        <p:nvSpPr>
          <p:cNvPr id="5" name="矩形 4"/>
          <p:cNvSpPr/>
          <p:nvPr userDrawn="1"/>
        </p:nvSpPr>
        <p:spPr>
          <a:xfrm>
            <a:off x="5110263" y="3773937"/>
            <a:ext cx="518091" cy="276999"/>
          </a:xfrm>
          <a:prstGeom prst="rect">
            <a:avLst/>
          </a:prstGeom>
        </p:spPr>
        <p:txBody>
          <a:bodyPr wrap="none">
            <a:spAutoFit/>
          </a:bodyPr>
          <a:lstStyle/>
          <a:p>
            <a:r>
              <a:rPr kumimoji="0" lang="en-US" altLang="zh-CN" sz="1200" b="1" i="0" u="none" strike="noStrike" kern="1200" cap="none" spc="0" normalizeH="0" baseline="0" noProof="0" dirty="0">
                <a:ln>
                  <a:noFill/>
                </a:ln>
                <a:solidFill>
                  <a:schemeClr val="tx1"/>
                </a:solidFill>
                <a:effectLst/>
                <a:uLnTx/>
                <a:uFillTx/>
                <a:latin typeface="+mj-lt"/>
                <a:ea typeface="微软雅黑" panose="020B0503020204020204" pitchFamily="34" charset="-122"/>
                <a:cs typeface="+mn-cs"/>
              </a:rPr>
              <a:t>POC</a:t>
            </a:r>
            <a:endParaRPr lang="zh-CN" altLang="en-US" sz="1200" b="1" dirty="0">
              <a:solidFill>
                <a:schemeClr val="tx1"/>
              </a:solidFill>
              <a:latin typeface="+mj-lt"/>
            </a:endParaRPr>
          </a:p>
        </p:txBody>
      </p:sp>
      <p:graphicFrame>
        <p:nvGraphicFramePr>
          <p:cNvPr id="73" name="表格 72"/>
          <p:cNvGraphicFramePr>
            <a:graphicFrameLocks noGrp="1"/>
          </p:cNvGraphicFramePr>
          <p:nvPr userDrawn="1"/>
        </p:nvGraphicFramePr>
        <p:xfrm>
          <a:off x="1708205" y="5475683"/>
          <a:ext cx="10068931" cy="747840"/>
        </p:xfrm>
        <a:graphic>
          <a:graphicData uri="http://schemas.openxmlformats.org/drawingml/2006/table">
            <a:tbl>
              <a:tblPr firstRow="1">
                <a:tableStyleId>{5C22544A-7EE6-4342-B048-85BDC9FD1C3A}</a:tableStyleId>
              </a:tblPr>
              <a:tblGrid>
                <a:gridCol w="1194619">
                  <a:extLst>
                    <a:ext uri="{9D8B030D-6E8A-4147-A177-3AD203B41FA5}">
                      <a16:colId xmlns:a16="http://schemas.microsoft.com/office/drawing/2014/main" val="1364975805"/>
                    </a:ext>
                  </a:extLst>
                </a:gridCol>
                <a:gridCol w="1109289">
                  <a:extLst>
                    <a:ext uri="{9D8B030D-6E8A-4147-A177-3AD203B41FA5}">
                      <a16:colId xmlns:a16="http://schemas.microsoft.com/office/drawing/2014/main" val="598168328"/>
                    </a:ext>
                  </a:extLst>
                </a:gridCol>
                <a:gridCol w="1109289">
                  <a:extLst>
                    <a:ext uri="{9D8B030D-6E8A-4147-A177-3AD203B41FA5}">
                      <a16:colId xmlns:a16="http://schemas.microsoft.com/office/drawing/2014/main" val="3996203012"/>
                    </a:ext>
                  </a:extLst>
                </a:gridCol>
                <a:gridCol w="1109289">
                  <a:extLst>
                    <a:ext uri="{9D8B030D-6E8A-4147-A177-3AD203B41FA5}">
                      <a16:colId xmlns:a16="http://schemas.microsoft.com/office/drawing/2014/main" val="8965765"/>
                    </a:ext>
                  </a:extLst>
                </a:gridCol>
                <a:gridCol w="1109289">
                  <a:extLst>
                    <a:ext uri="{9D8B030D-6E8A-4147-A177-3AD203B41FA5}">
                      <a16:colId xmlns:a16="http://schemas.microsoft.com/office/drawing/2014/main" val="3018412842"/>
                    </a:ext>
                  </a:extLst>
                </a:gridCol>
                <a:gridCol w="1109289">
                  <a:extLst>
                    <a:ext uri="{9D8B030D-6E8A-4147-A177-3AD203B41FA5}">
                      <a16:colId xmlns:a16="http://schemas.microsoft.com/office/drawing/2014/main" val="1610061165"/>
                    </a:ext>
                  </a:extLst>
                </a:gridCol>
                <a:gridCol w="1109289">
                  <a:extLst>
                    <a:ext uri="{9D8B030D-6E8A-4147-A177-3AD203B41FA5}">
                      <a16:colId xmlns:a16="http://schemas.microsoft.com/office/drawing/2014/main" val="2837564109"/>
                    </a:ext>
                  </a:extLst>
                </a:gridCol>
                <a:gridCol w="1109289">
                  <a:extLst>
                    <a:ext uri="{9D8B030D-6E8A-4147-A177-3AD203B41FA5}">
                      <a16:colId xmlns:a16="http://schemas.microsoft.com/office/drawing/2014/main" val="627612840"/>
                    </a:ext>
                  </a:extLst>
                </a:gridCol>
                <a:gridCol w="1109289">
                  <a:extLst>
                    <a:ext uri="{9D8B030D-6E8A-4147-A177-3AD203B41FA5}">
                      <a16:colId xmlns:a16="http://schemas.microsoft.com/office/drawing/2014/main" val="2411478032"/>
                    </a:ext>
                  </a:extLst>
                </a:gridCol>
              </a:tblGrid>
              <a:tr h="504000">
                <a:tc>
                  <a:txBody>
                    <a:bodyPr/>
                    <a:lstStyle/>
                    <a:p>
                      <a:pPr algn="ctr">
                        <a:lnSpc>
                          <a:spcPct val="100000"/>
                        </a:lnSpc>
                      </a:pPr>
                      <a:r>
                        <a:rPr lang="en-US" altLang="zh-TW" sz="1200" b="1" kern="1200" dirty="0">
                          <a:solidFill>
                            <a:schemeClr val="tx1"/>
                          </a:solidFill>
                          <a:latin typeface="+mj-lt"/>
                          <a:ea typeface="微软雅黑" panose="020B0503020204020204" pitchFamily="34" charset="-122"/>
                          <a:cs typeface="+mn-cs"/>
                        </a:rPr>
                        <a:t>Milestone</a:t>
                      </a:r>
                    </a:p>
                  </a:txBody>
                  <a:tcPr marL="0" marR="0" marT="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377" rtl="0" eaLnBrk="1" latinLnBrk="0" hangingPunct="1">
                        <a:lnSpc>
                          <a:spcPct val="100000"/>
                        </a:lnSpc>
                      </a:pPr>
                      <a:r>
                        <a:rPr lang="en-US" altLang="zh-TW" sz="1200" b="1" kern="1200" dirty="0">
                          <a:solidFill>
                            <a:schemeClr val="tx1"/>
                          </a:solidFill>
                          <a:latin typeface="+mn-lt"/>
                          <a:ea typeface="+mn-ea"/>
                          <a:cs typeface="+mn-cs"/>
                        </a:rPr>
                        <a:t>M1</a:t>
                      </a:r>
                    </a:p>
                    <a:p>
                      <a:pPr marL="0" algn="ctr" defTabSz="914377" rtl="0" eaLnBrk="1" latinLnBrk="0" hangingPunct="1">
                        <a:lnSpc>
                          <a:spcPct val="100000"/>
                        </a:lnSpc>
                      </a:pPr>
                      <a:r>
                        <a:rPr lang="zh-TW" altLang="en-US" sz="1200" b="0" kern="1200" dirty="0">
                          <a:solidFill>
                            <a:schemeClr val="tx1"/>
                          </a:solidFill>
                          <a:latin typeface="+mn-lt"/>
                          <a:ea typeface="+mn-ea"/>
                          <a:cs typeface="+mn-cs"/>
                        </a:rPr>
                        <a:t>需求評估</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M2</a:t>
                      </a:r>
                    </a:p>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mn-lt"/>
                          <a:ea typeface="+mn-ea"/>
                          <a:cs typeface="+mn-cs"/>
                        </a:rPr>
                        <a:t>立案規劃</a:t>
                      </a:r>
                      <a:endParaRPr lang="en-US" altLang="zh-CN"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spcAft>
                          <a:spcPts val="0"/>
                        </a:spcAft>
                      </a:pPr>
                      <a:r>
                        <a:rPr lang="en-US" altLang="zh-TW" sz="1200" b="1" kern="1200" dirty="0">
                          <a:solidFill>
                            <a:schemeClr val="tx1"/>
                          </a:solidFill>
                          <a:latin typeface="+mn-lt"/>
                          <a:ea typeface="+mn-ea"/>
                          <a:cs typeface="+mn-cs"/>
                        </a:rPr>
                        <a:t>M3</a:t>
                      </a:r>
                    </a:p>
                    <a:p>
                      <a:pPr marL="0" algn="ctr" defTabSz="914377" rtl="0" eaLnBrk="1" latinLnBrk="0" hangingPunct="1">
                        <a:lnSpc>
                          <a:spcPct val="100000"/>
                        </a:lnSpc>
                        <a:spcAft>
                          <a:spcPts val="0"/>
                        </a:spcAft>
                      </a:pPr>
                      <a:r>
                        <a:rPr lang="zh-TW" altLang="en-US" sz="1200" b="0" kern="1200" dirty="0">
                          <a:solidFill>
                            <a:schemeClr val="tx1"/>
                          </a:solidFill>
                          <a:latin typeface="+mn-lt"/>
                          <a:ea typeface="+mn-ea"/>
                          <a:cs typeface="+mn-cs"/>
                        </a:rPr>
                        <a:t>細部設計</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pPr>
                      <a:r>
                        <a:rPr lang="en-US" altLang="zh-TW" sz="1200" b="1" kern="1200" dirty="0">
                          <a:solidFill>
                            <a:schemeClr val="tx1"/>
                          </a:solidFill>
                          <a:latin typeface="+mn-lt"/>
                          <a:ea typeface="+mn-ea"/>
                          <a:cs typeface="+mn-cs"/>
                        </a:rPr>
                        <a:t>M4</a:t>
                      </a:r>
                    </a:p>
                    <a:p>
                      <a:pPr marL="0" lvl="0" algn="ctr" defTabSz="914377" rtl="0" eaLnBrk="1" latinLnBrk="0" hangingPunct="1">
                        <a:lnSpc>
                          <a:spcPct val="100000"/>
                        </a:lnSpc>
                      </a:pPr>
                      <a:r>
                        <a:rPr lang="zh-TW" altLang="en-US" sz="1200" b="0" kern="1200" dirty="0">
                          <a:solidFill>
                            <a:schemeClr val="tx1"/>
                          </a:solidFill>
                          <a:latin typeface="+mn-lt"/>
                          <a:ea typeface="+mn-ea"/>
                          <a:cs typeface="+mn-cs"/>
                        </a:rPr>
                        <a:t>設計反饋</a:t>
                      </a:r>
                      <a:endParaRPr lang="zh-TW"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defRPr/>
                      </a:pPr>
                      <a:r>
                        <a:rPr lang="en-US" altLang="zh-TW" sz="1200" b="1" kern="1200" dirty="0">
                          <a:solidFill>
                            <a:schemeClr val="tx1"/>
                          </a:solidFill>
                          <a:latin typeface="+mn-lt"/>
                          <a:ea typeface="+mn-ea"/>
                          <a:cs typeface="+mn-cs"/>
                        </a:rPr>
                        <a:t>M5</a:t>
                      </a:r>
                    </a:p>
                    <a:p>
                      <a:pPr marL="0" lvl="0" algn="ctr" defTabSz="914377" rtl="0" eaLnBrk="1" latinLnBrk="0" hangingPunct="1">
                        <a:lnSpc>
                          <a:spcPct val="100000"/>
                        </a:lnSpc>
                        <a:defRPr/>
                      </a:pPr>
                      <a:r>
                        <a:rPr lang="en-US" altLang="zh-TW" sz="1200" b="0" kern="1200" dirty="0">
                          <a:solidFill>
                            <a:schemeClr val="tx1"/>
                          </a:solidFill>
                          <a:latin typeface="+mn-lt"/>
                          <a:ea typeface="+mn-ea"/>
                          <a:cs typeface="+mn-cs"/>
                        </a:rPr>
                        <a:t>POC</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dirty="0">
                          <a:solidFill>
                            <a:schemeClr val="tx1"/>
                          </a:solidFill>
                          <a:latin typeface="+mn-lt"/>
                          <a:ea typeface="+mn-ea"/>
                          <a:cs typeface="+mn-cs"/>
                        </a:rPr>
                        <a:t>M6</a:t>
                      </a:r>
                    </a:p>
                    <a:p>
                      <a:pPr marL="0" algn="ctr" defTabSz="914377" rtl="0" eaLnBrk="1" latinLnBrk="0" hangingPunct="1">
                        <a:lnSpc>
                          <a:spcPct val="100000"/>
                        </a:lnSpc>
                        <a:defRPr/>
                      </a:pPr>
                      <a:r>
                        <a:rPr lang="zh-TW" altLang="en-US" sz="1200" b="0" kern="1200" dirty="0">
                          <a:solidFill>
                            <a:schemeClr val="tx1"/>
                          </a:solidFill>
                          <a:latin typeface="+mn-lt"/>
                          <a:ea typeface="+mn-ea"/>
                          <a:cs typeface="+mn-cs"/>
                        </a:rPr>
                        <a:t>資訊流標準化</a:t>
                      </a:r>
                      <a:endParaRPr lang="zh-CN" altLang="en-US"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M7</a:t>
                      </a:r>
                    </a:p>
                    <a:p>
                      <a:pPr marL="0" marR="0" indent="0" algn="ctr" defTabSz="914377"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latin typeface="+mn-lt"/>
                          <a:ea typeface="+mn-ea"/>
                          <a:cs typeface="+mn-cs"/>
                        </a:rPr>
                        <a:t>落地規劃</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dirty="0">
                          <a:solidFill>
                            <a:schemeClr val="tx1"/>
                          </a:solidFill>
                          <a:latin typeface="+mn-lt"/>
                          <a:ea typeface="+mn-ea"/>
                          <a:cs typeface="+mn-cs"/>
                        </a:rPr>
                        <a:t>M8</a:t>
                      </a:r>
                    </a:p>
                    <a:p>
                      <a:pPr marL="0" algn="ctr" defTabSz="914377" rtl="0" eaLnBrk="1" latinLnBrk="0" hangingPunct="1">
                        <a:lnSpc>
                          <a:spcPct val="100000"/>
                        </a:lnSpc>
                        <a:defRPr/>
                      </a:pPr>
                      <a:r>
                        <a:rPr lang="zh-TW" altLang="en-US" sz="1200" b="0" kern="1200" dirty="0">
                          <a:solidFill>
                            <a:schemeClr val="tx1"/>
                          </a:solidFill>
                          <a:latin typeface="+mn-lt"/>
                          <a:ea typeface="+mn-ea"/>
                          <a:cs typeface="+mn-cs"/>
                        </a:rPr>
                        <a:t>落地檢核</a:t>
                      </a:r>
                      <a:endParaRPr lang="zh-CN" altLang="en-US"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3771765"/>
                  </a:ext>
                </a:extLst>
              </a:tr>
              <a:tr h="243840">
                <a:tc>
                  <a:txBody>
                    <a:bodyPr/>
                    <a:lstStyle/>
                    <a:p>
                      <a:pPr algn="ctr">
                        <a:lnSpc>
                          <a:spcPct val="100000"/>
                        </a:lnSpc>
                      </a:pPr>
                      <a:r>
                        <a:rPr lang="en-US" altLang="zh-CN" sz="1200" b="1">
                          <a:solidFill>
                            <a:schemeClr val="tx1"/>
                          </a:solidFill>
                          <a:latin typeface="+mj-lt"/>
                          <a:ea typeface="+mn-ea"/>
                        </a:rPr>
                        <a:t>Due</a:t>
                      </a:r>
                      <a:r>
                        <a:rPr lang="zh-CN" altLang="en-US" sz="1200" b="1" baseline="0">
                          <a:solidFill>
                            <a:schemeClr val="tx1"/>
                          </a:solidFill>
                          <a:latin typeface="+mj-lt"/>
                          <a:ea typeface="+mn-ea"/>
                        </a:rPr>
                        <a:t> </a:t>
                      </a:r>
                      <a:r>
                        <a:rPr lang="en-US" altLang="zh-CN" sz="1200" b="1" baseline="0">
                          <a:solidFill>
                            <a:schemeClr val="tx1"/>
                          </a:solidFill>
                          <a:latin typeface="+mj-lt"/>
                          <a:ea typeface="+mn-ea"/>
                        </a:rPr>
                        <a:t>date</a:t>
                      </a:r>
                      <a:endParaRPr lang="en-US" altLang="zh-CN" sz="1200" b="1" dirty="0">
                        <a:solidFill>
                          <a:schemeClr val="tx1"/>
                        </a:solidFill>
                        <a:latin typeface="+mj-lt"/>
                        <a:ea typeface="+mn-ea"/>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CN" altLang="en-US" sz="1600" b="0" dirty="0">
                        <a:solidFill>
                          <a:schemeClr val="tx1"/>
                        </a:solidFill>
                        <a:latin typeface="+mj-lt"/>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4082158"/>
                  </a:ext>
                </a:extLst>
              </a:tr>
            </a:tbl>
          </a:graphicData>
        </a:graphic>
      </p:graphicFrame>
      <p:cxnSp>
        <p:nvCxnSpPr>
          <p:cNvPr id="74" name="直接连接符 73"/>
          <p:cNvCxnSpPr/>
          <p:nvPr userDrawn="1"/>
        </p:nvCxnSpPr>
        <p:spPr>
          <a:xfrm flipH="1">
            <a:off x="-3" y="5462265"/>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9" name="標題 1">
            <a:extLst>
              <a:ext uri="{FF2B5EF4-FFF2-40B4-BE49-F238E27FC236}">
                <a16:creationId xmlns:a16="http://schemas.microsoft.com/office/drawing/2014/main" id="{E8CA6B8E-EB08-4AB0-9768-E121F12ABA2B}"/>
              </a:ext>
            </a:extLst>
          </p:cNvPr>
          <p:cNvSpPr txBox="1">
            <a:spLocks/>
          </p:cNvSpPr>
          <p:nvPr userDrawn="1"/>
        </p:nvSpPr>
        <p:spPr>
          <a:xfrm>
            <a:off x="9904769" y="172486"/>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dirty="0">
                <a:solidFill>
                  <a:schemeClr val="tx1"/>
                </a:solidFill>
                <a:latin typeface="+mn-ea"/>
                <a:ea typeface="+mn-ea"/>
              </a:rPr>
              <a:t>專案屬性：</a:t>
            </a:r>
            <a:endParaRPr lang="en-US" sz="1200" dirty="0">
              <a:solidFill>
                <a:schemeClr val="tx1"/>
              </a:solidFill>
              <a:latin typeface="+mn-ea"/>
              <a:ea typeface="+mn-ea"/>
            </a:endParaRPr>
          </a:p>
        </p:txBody>
      </p:sp>
      <p:sp>
        <p:nvSpPr>
          <p:cNvPr id="41" name="文本框 80">
            <a:extLst>
              <a:ext uri="{FF2B5EF4-FFF2-40B4-BE49-F238E27FC236}">
                <a16:creationId xmlns:a16="http://schemas.microsoft.com/office/drawing/2014/main" id="{CE4A5CD4-18D6-442A-8251-0B27565425B3}"/>
              </a:ext>
            </a:extLst>
          </p:cNvPr>
          <p:cNvSpPr txBox="1"/>
          <p:nvPr userDrawn="1"/>
        </p:nvSpPr>
        <p:spPr>
          <a:xfrm>
            <a:off x="942943" y="6001110"/>
            <a:ext cx="457368" cy="211767"/>
          </a:xfrm>
          <a:prstGeom prst="rect">
            <a:avLst/>
          </a:prstGeom>
          <a:noFill/>
          <a:ln>
            <a:noFill/>
          </a:ln>
        </p:spPr>
        <p:txBody>
          <a:bodyPr wrap="none" lIns="36000" tIns="0" rIns="36000" bIns="0" rtlCol="0" anchor="t" anchorCtr="0">
            <a:noAutofit/>
          </a:bodyPr>
          <a:lstStyle/>
          <a:p>
            <a:pPr algn="ctr"/>
            <a:r>
              <a:rPr lang="zh-CN" altLang="en-US" sz="1400" b="1" dirty="0">
                <a:solidFill>
                  <a:schemeClr val="tx1"/>
                </a:solidFill>
                <a:latin typeface="+mn-ea"/>
                <a:ea typeface="+mn-ea"/>
              </a:rPr>
              <a:t>天</a:t>
            </a:r>
          </a:p>
        </p:txBody>
      </p:sp>
      <p:cxnSp>
        <p:nvCxnSpPr>
          <p:cNvPr id="48" name="直接连接符 73">
            <a:extLst>
              <a:ext uri="{FF2B5EF4-FFF2-40B4-BE49-F238E27FC236}">
                <a16:creationId xmlns:a16="http://schemas.microsoft.com/office/drawing/2014/main" id="{260BD545-25F4-463E-914E-4B2E7F5D5FE7}"/>
              </a:ext>
            </a:extLst>
          </p:cNvPr>
          <p:cNvCxnSpPr/>
          <p:nvPr userDrawn="1"/>
        </p:nvCxnSpPr>
        <p:spPr>
          <a:xfrm flipH="1">
            <a:off x="-3" y="3711691"/>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5" name="文本框 76">
            <a:extLst>
              <a:ext uri="{FF2B5EF4-FFF2-40B4-BE49-F238E27FC236}">
                <a16:creationId xmlns:a16="http://schemas.microsoft.com/office/drawing/2014/main" id="{412770B5-2D22-4757-B0F9-827C620D34C0}"/>
              </a:ext>
            </a:extLst>
          </p:cNvPr>
          <p:cNvSpPr txBox="1"/>
          <p:nvPr userDrawn="1"/>
        </p:nvSpPr>
        <p:spPr>
          <a:xfrm>
            <a:off x="7229261" y="3741999"/>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專案效益</a:t>
            </a:r>
            <a:endParaRPr lang="zh-CN" altLang="en-US" sz="1600" b="1" u="sng" dirty="0">
              <a:solidFill>
                <a:schemeClr val="bg1"/>
              </a:solidFill>
              <a:latin typeface="+mn-ea"/>
              <a:ea typeface="+mn-ea"/>
            </a:endParaRPr>
          </a:p>
        </p:txBody>
      </p:sp>
      <p:sp>
        <p:nvSpPr>
          <p:cNvPr id="79" name="矩形 78">
            <a:extLst>
              <a:ext uri="{FF2B5EF4-FFF2-40B4-BE49-F238E27FC236}">
                <a16:creationId xmlns:a16="http://schemas.microsoft.com/office/drawing/2014/main" id="{74B93A32-4EBD-4EAA-9EBE-60BA29C04118}"/>
              </a:ext>
            </a:extLst>
          </p:cNvPr>
          <p:cNvSpPr/>
          <p:nvPr userDrawn="1"/>
        </p:nvSpPr>
        <p:spPr>
          <a:xfrm>
            <a:off x="6243413" y="3773937"/>
            <a:ext cx="492443" cy="276999"/>
          </a:xfrm>
          <a:prstGeom prst="rect">
            <a:avLst/>
          </a:prstGeom>
        </p:spPr>
        <p:txBody>
          <a:bodyPr wrap="none">
            <a:spAutoFit/>
          </a:bodyPr>
          <a:lstStyle/>
          <a:p>
            <a:r>
              <a:rPr kumimoji="0" lang="zh-CN" altLang="en-US" sz="1200" b="1" i="0" u="none" strike="noStrike" kern="1200" cap="none" spc="0" normalizeH="0" baseline="0" noProof="0" dirty="0">
                <a:ln>
                  <a:noFill/>
                </a:ln>
                <a:solidFill>
                  <a:schemeClr val="tx1"/>
                </a:solidFill>
                <a:effectLst/>
                <a:uLnTx/>
                <a:uFillTx/>
                <a:latin typeface="+mn-ea"/>
                <a:ea typeface="+mn-ea"/>
                <a:cs typeface="+mn-cs"/>
              </a:rPr>
              <a:t>落地</a:t>
            </a:r>
            <a:endParaRPr lang="zh-CN" altLang="en-US" sz="1200" b="1" dirty="0">
              <a:solidFill>
                <a:schemeClr val="tx1"/>
              </a:solidFill>
              <a:latin typeface="+mn-ea"/>
              <a:ea typeface="+mn-ea"/>
            </a:endParaRPr>
          </a:p>
        </p:txBody>
      </p:sp>
      <p:sp>
        <p:nvSpPr>
          <p:cNvPr id="13" name="矩形 12">
            <a:extLst>
              <a:ext uri="{FF2B5EF4-FFF2-40B4-BE49-F238E27FC236}">
                <a16:creationId xmlns:a16="http://schemas.microsoft.com/office/drawing/2014/main" id="{DB237AD2-C320-4A06-AA5B-DFCAEB5BB200}"/>
              </a:ext>
            </a:extLst>
          </p:cNvPr>
          <p:cNvSpPr/>
          <p:nvPr userDrawn="1"/>
        </p:nvSpPr>
        <p:spPr>
          <a:xfrm>
            <a:off x="8616155" y="3829575"/>
            <a:ext cx="1007327" cy="276999"/>
          </a:xfrm>
          <a:prstGeom prst="rect">
            <a:avLst/>
          </a:prstGeom>
        </p:spPr>
        <p:txBody>
          <a:bodyPr wrap="non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KUSD</a:t>
            </a: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15" name="矩形 14">
            <a:extLst>
              <a:ext uri="{FF2B5EF4-FFF2-40B4-BE49-F238E27FC236}">
                <a16:creationId xmlns:a16="http://schemas.microsoft.com/office/drawing/2014/main" id="{A2D2403B-89BC-4F21-8E00-B9F06CF42EF0}"/>
              </a:ext>
            </a:extLst>
          </p:cNvPr>
          <p:cNvSpPr/>
          <p:nvPr userDrawn="1"/>
        </p:nvSpPr>
        <p:spPr>
          <a:xfrm>
            <a:off x="10875240" y="3822095"/>
            <a:ext cx="537648" cy="276999"/>
          </a:xfrm>
          <a:prstGeom prst="rect">
            <a:avLst/>
          </a:prstGeom>
        </p:spPr>
        <p:txBody>
          <a:bodyPr wrap="none">
            <a:spAutoFit/>
          </a:bodyPr>
          <a:lstStyle/>
          <a:p>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lang="zh-TW" altLang="en-US" sz="1800" b="0" dirty="0">
              <a:solidFill>
                <a:schemeClr val="tx1"/>
              </a:solidFill>
            </a:endParaRPr>
          </a:p>
        </p:txBody>
      </p:sp>
      <p:sp>
        <p:nvSpPr>
          <p:cNvPr id="94" name="文本框 76">
            <a:extLst>
              <a:ext uri="{FF2B5EF4-FFF2-40B4-BE49-F238E27FC236}">
                <a16:creationId xmlns:a16="http://schemas.microsoft.com/office/drawing/2014/main" id="{5E299125-23C7-45ED-9CD0-F792DF9E67D7}"/>
              </a:ext>
            </a:extLst>
          </p:cNvPr>
          <p:cNvSpPr txBox="1"/>
          <p:nvPr userDrawn="1"/>
        </p:nvSpPr>
        <p:spPr>
          <a:xfrm>
            <a:off x="270776" y="3742863"/>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專案團隊</a:t>
            </a:r>
            <a:endParaRPr lang="zh-CN" altLang="en-US" sz="1600" b="1" u="sng" dirty="0">
              <a:solidFill>
                <a:schemeClr val="bg1"/>
              </a:solidFill>
              <a:latin typeface="+mn-ea"/>
              <a:ea typeface="+mn-ea"/>
            </a:endParaRPr>
          </a:p>
        </p:txBody>
      </p:sp>
      <p:cxnSp>
        <p:nvCxnSpPr>
          <p:cNvPr id="95" name="直接连接符 73">
            <a:extLst>
              <a:ext uri="{FF2B5EF4-FFF2-40B4-BE49-F238E27FC236}">
                <a16:creationId xmlns:a16="http://schemas.microsoft.com/office/drawing/2014/main" id="{E3D9E4B4-7C32-4F6D-B760-7606B45ECC9B}"/>
              </a:ext>
            </a:extLst>
          </p:cNvPr>
          <p:cNvCxnSpPr/>
          <p:nvPr userDrawn="1"/>
        </p:nvCxnSpPr>
        <p:spPr>
          <a:xfrm flipH="1">
            <a:off x="-3"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文本框 24"/>
          <p:cNvSpPr txBox="1"/>
          <p:nvPr userDrawn="1"/>
        </p:nvSpPr>
        <p:spPr>
          <a:xfrm>
            <a:off x="270776" y="753697"/>
            <a:ext cx="360000" cy="2934000"/>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需</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求</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與</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目</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標</a:t>
            </a:r>
          </a:p>
        </p:txBody>
      </p:sp>
      <p:sp>
        <p:nvSpPr>
          <p:cNvPr id="87" name="文本框 86"/>
          <p:cNvSpPr txBox="1"/>
          <p:nvPr userDrawn="1"/>
        </p:nvSpPr>
        <p:spPr>
          <a:xfrm>
            <a:off x="5566935" y="753697"/>
            <a:ext cx="360000" cy="2934000"/>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挑</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戰</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與</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解</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決</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方</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案</a:t>
            </a:r>
          </a:p>
        </p:txBody>
      </p:sp>
      <p:sp>
        <p:nvSpPr>
          <p:cNvPr id="21" name="等腰三角形 20">
            <a:extLst>
              <a:ext uri="{FF2B5EF4-FFF2-40B4-BE49-F238E27FC236}">
                <a16:creationId xmlns:a16="http://schemas.microsoft.com/office/drawing/2014/main" id="{0F94FA73-696E-4585-96A5-3EA8EEDFE197}"/>
              </a:ext>
            </a:extLst>
          </p:cNvPr>
          <p:cNvSpPr/>
          <p:nvPr userDrawn="1"/>
        </p:nvSpPr>
        <p:spPr>
          <a:xfrm rot="5400000">
            <a:off x="2645908" y="568363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105" name="等腰三角形 104">
            <a:extLst>
              <a:ext uri="{FF2B5EF4-FFF2-40B4-BE49-F238E27FC236}">
                <a16:creationId xmlns:a16="http://schemas.microsoft.com/office/drawing/2014/main" id="{230A3365-B0E2-46E8-90A4-D92B50D29BC0}"/>
              </a:ext>
            </a:extLst>
          </p:cNvPr>
          <p:cNvSpPr/>
          <p:nvPr userDrawn="1"/>
        </p:nvSpPr>
        <p:spPr>
          <a:xfrm rot="5400000">
            <a:off x="2645908" y="607977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6" name="標題 1">
            <a:extLst>
              <a:ext uri="{FF2B5EF4-FFF2-40B4-BE49-F238E27FC236}">
                <a16:creationId xmlns:a16="http://schemas.microsoft.com/office/drawing/2014/main" id="{874D4825-8DCA-4167-9242-B1829510756A}"/>
              </a:ext>
            </a:extLst>
          </p:cNvPr>
          <p:cNvSpPr txBox="1">
            <a:spLocks/>
          </p:cNvSpPr>
          <p:nvPr userDrawn="1"/>
        </p:nvSpPr>
        <p:spPr>
          <a:xfrm>
            <a:off x="485067" y="374733"/>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j-lt"/>
                <a:ea typeface="+mn-ea"/>
              </a:rPr>
              <a:t>PM</a:t>
            </a:r>
            <a:r>
              <a:rPr lang="zh-CN" altLang="en-US" sz="1400" dirty="0">
                <a:solidFill>
                  <a:schemeClr val="tx1"/>
                </a:solidFill>
                <a:latin typeface="+mj-lt"/>
                <a:ea typeface="+mn-ea"/>
              </a:rPr>
              <a:t>：</a:t>
            </a:r>
            <a:endParaRPr lang="en-US" sz="1400" dirty="0">
              <a:solidFill>
                <a:schemeClr val="tx1"/>
              </a:solidFill>
              <a:latin typeface="+mj-lt"/>
              <a:ea typeface="+mn-ea"/>
            </a:endParaRPr>
          </a:p>
        </p:txBody>
      </p:sp>
      <p:sp>
        <p:nvSpPr>
          <p:cNvPr id="47" name="標題 1">
            <a:extLst>
              <a:ext uri="{FF2B5EF4-FFF2-40B4-BE49-F238E27FC236}">
                <a16:creationId xmlns:a16="http://schemas.microsoft.com/office/drawing/2014/main" id="{CA67BEDC-D239-4ED3-862E-B642F84DA4A2}"/>
              </a:ext>
            </a:extLst>
          </p:cNvPr>
          <p:cNvSpPr txBox="1">
            <a:spLocks/>
          </p:cNvSpPr>
          <p:nvPr userDrawn="1"/>
        </p:nvSpPr>
        <p:spPr>
          <a:xfrm>
            <a:off x="302186" y="142006"/>
            <a:ext cx="1760295"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n-lt"/>
                <a:ea typeface="+mn-ea"/>
              </a:rPr>
              <a:t>Team</a:t>
            </a:r>
            <a:r>
              <a:rPr lang="zh-CN" altLang="en-US" sz="1400" dirty="0">
                <a:solidFill>
                  <a:schemeClr val="tx1"/>
                </a:solidFill>
                <a:latin typeface="+mn-ea"/>
                <a:ea typeface="+mn-ea"/>
              </a:rPr>
              <a:t>：</a:t>
            </a:r>
            <a:r>
              <a:rPr lang="en-US" altLang="zh-CN" sz="1400" dirty="0">
                <a:solidFill>
                  <a:schemeClr val="tx1"/>
                </a:solidFill>
                <a:latin typeface="+mj-lt"/>
                <a:ea typeface="+mn-ea"/>
              </a:rPr>
              <a:t>Core</a:t>
            </a:r>
            <a:endParaRPr lang="en-US" sz="1400" dirty="0">
              <a:solidFill>
                <a:schemeClr val="tx1"/>
              </a:solidFill>
              <a:latin typeface="+mj-lt"/>
              <a:ea typeface="+mn-ea"/>
            </a:endParaRPr>
          </a:p>
        </p:txBody>
      </p:sp>
    </p:spTree>
    <p:extLst>
      <p:ext uri="{BB962C8B-B14F-4D97-AF65-F5344CB8AC3E}">
        <p14:creationId xmlns:p14="http://schemas.microsoft.com/office/powerpoint/2010/main" val="246103392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Hardware/Device">
    <p:bg>
      <p:bgPr>
        <a:solidFill>
          <a:schemeClr val="bg1"/>
        </a:solidFill>
        <a:effectLst/>
      </p:bgPr>
    </p:bg>
    <p:spTree>
      <p:nvGrpSpPr>
        <p:cNvPr id="1" name=""/>
        <p:cNvGrpSpPr/>
        <p:nvPr/>
      </p:nvGrpSpPr>
      <p:grpSpPr>
        <a:xfrm>
          <a:off x="0" y="0"/>
          <a:ext cx="0" cy="0"/>
          <a:chOff x="0" y="0"/>
          <a:chExt cx="0" cy="0"/>
        </a:xfrm>
      </p:grpSpPr>
      <p:sp>
        <p:nvSpPr>
          <p:cNvPr id="52" name="文字方塊 51">
            <a:extLst>
              <a:ext uri="{FF2B5EF4-FFF2-40B4-BE49-F238E27FC236}">
                <a16:creationId xmlns:a16="http://schemas.microsoft.com/office/drawing/2014/main" id="{4EB72046-7EFA-4D5B-9003-30F89B1D91A8}"/>
              </a:ext>
            </a:extLst>
          </p:cNvPr>
          <p:cNvSpPr txBox="1"/>
          <p:nvPr userDrawn="1"/>
        </p:nvSpPr>
        <p:spPr>
          <a:xfrm>
            <a:off x="146507" y="6382218"/>
            <a:ext cx="402674" cy="307777"/>
          </a:xfrm>
          <a:prstGeom prst="rect">
            <a:avLst/>
          </a:prstGeom>
          <a:noFill/>
        </p:spPr>
        <p:txBody>
          <a:bodyPr wrap="none" rtlCol="0">
            <a:spAutoFit/>
          </a:bodyPr>
          <a:lstStyle/>
          <a:p>
            <a:fld id="{823BD820-02AB-4111-88E2-98F36ECA9073}" type="slidenum">
              <a:rPr lang="en-US" sz="1400" smtClean="0"/>
              <a:t>‹#›</a:t>
            </a:fld>
            <a:endParaRPr lang="en-US" sz="1400" dirty="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61947" y="6432017"/>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endParaRPr lang="en-US" sz="1000" dirty="0"/>
          </a:p>
        </p:txBody>
      </p:sp>
      <p:pic>
        <p:nvPicPr>
          <p:cNvPr id="55" name="Image" descr="Image">
            <a:extLst>
              <a:ext uri="{FF2B5EF4-FFF2-40B4-BE49-F238E27FC236}">
                <a16:creationId xmlns:a16="http://schemas.microsoft.com/office/drawing/2014/main" id="{3FD067EA-3F6A-4BD1-B5C3-F883F3BD8FAC}"/>
              </a:ext>
            </a:extLst>
          </p:cNvPr>
          <p:cNvPicPr>
            <a:picLocks noChangeAspect="1"/>
          </p:cNvPicPr>
          <p:nvPr userDrawn="1"/>
        </p:nvPicPr>
        <p:blipFill>
          <a:blip r:embed="rId2"/>
          <a:stretch>
            <a:fillRect/>
          </a:stretch>
        </p:blipFill>
        <p:spPr>
          <a:xfrm>
            <a:off x="10877740" y="6271414"/>
            <a:ext cx="1056000" cy="325143"/>
          </a:xfrm>
          <a:prstGeom prst="rect">
            <a:avLst/>
          </a:prstGeom>
          <a:ln w="12700">
            <a:miter lim="400000"/>
          </a:ln>
        </p:spPr>
      </p:pic>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6"/>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76" name="文本框 75"/>
          <p:cNvSpPr txBox="1"/>
          <p:nvPr userDrawn="1"/>
        </p:nvSpPr>
        <p:spPr>
          <a:xfrm>
            <a:off x="9794606" y="3835802"/>
            <a:ext cx="603188" cy="332647"/>
          </a:xfrm>
          <a:prstGeom prst="rect">
            <a:avLst/>
          </a:prstGeom>
          <a:noFill/>
          <a:ln>
            <a:noFill/>
          </a:ln>
        </p:spPr>
        <p:txBody>
          <a:bodyPr wrap="square" rtlCol="0" anchor="t">
            <a:noAutofit/>
          </a:bodyPr>
          <a:lstStyle/>
          <a:p>
            <a:pPr>
              <a:lnSpc>
                <a:spcPct val="100000"/>
              </a:lnSpc>
            </a:pPr>
            <a:r>
              <a:rPr lang="en-US" altLang="zh-CN" sz="1200" b="0" kern="1200" baseline="0" dirty="0">
                <a:solidFill>
                  <a:schemeClr val="tx1"/>
                </a:solidFill>
                <a:latin typeface="+mj-lt"/>
                <a:ea typeface="微软雅黑" panose="020B0503020204020204" pitchFamily="34" charset="-122"/>
                <a:cs typeface="+mn-cs"/>
              </a:rPr>
              <a:t>ROI</a:t>
            </a:r>
            <a:r>
              <a:rPr lang="zh-CN" altLang="en-US" sz="1200" b="0" kern="1200" baseline="0" dirty="0">
                <a:solidFill>
                  <a:schemeClr val="tx1"/>
                </a:solidFill>
                <a:latin typeface="+mj-lt"/>
                <a:ea typeface="微软雅黑" panose="020B0503020204020204" pitchFamily="34" charset="-122"/>
                <a:cs typeface="+mn-cs"/>
              </a:rPr>
              <a:t>：</a:t>
            </a:r>
            <a:endParaRPr lang="en-US" altLang="zh-CN" sz="1200" b="0" kern="1200" baseline="0" dirty="0">
              <a:solidFill>
                <a:schemeClr val="tx1"/>
              </a:solidFill>
              <a:latin typeface="+mj-lt"/>
              <a:ea typeface="微软雅黑" panose="020B0503020204020204" pitchFamily="34" charset="-122"/>
              <a:cs typeface="+mn-cs"/>
            </a:endParaRPr>
          </a:p>
        </p:txBody>
      </p:sp>
      <p:sp>
        <p:nvSpPr>
          <p:cNvPr id="77" name="文本框 76"/>
          <p:cNvSpPr txBox="1"/>
          <p:nvPr userDrawn="1"/>
        </p:nvSpPr>
        <p:spPr>
          <a:xfrm>
            <a:off x="4338193" y="3741998"/>
            <a:ext cx="360000" cy="1693063"/>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專案範圍</a:t>
            </a:r>
            <a:endParaRPr lang="zh-CN" altLang="en-US" sz="1600" b="1" u="sng" dirty="0">
              <a:solidFill>
                <a:schemeClr val="bg1"/>
              </a:solidFill>
              <a:latin typeface="+mn-ea"/>
              <a:ea typeface="+mn-ea"/>
            </a:endParaRPr>
          </a:p>
        </p:txBody>
      </p:sp>
      <p:sp>
        <p:nvSpPr>
          <p:cNvPr id="81" name="文本框 80"/>
          <p:cNvSpPr txBox="1"/>
          <p:nvPr userDrawn="1"/>
        </p:nvSpPr>
        <p:spPr>
          <a:xfrm>
            <a:off x="270776" y="5497398"/>
            <a:ext cx="360000" cy="834023"/>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時</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程</a:t>
            </a:r>
          </a:p>
        </p:txBody>
      </p:sp>
      <p:sp>
        <p:nvSpPr>
          <p:cNvPr id="44" name="標題 1">
            <a:extLst>
              <a:ext uri="{FF2B5EF4-FFF2-40B4-BE49-F238E27FC236}">
                <a16:creationId xmlns:a16="http://schemas.microsoft.com/office/drawing/2014/main" id="{E8CA6B8E-EB08-4AB0-9768-E121F12ABA2B}"/>
              </a:ext>
            </a:extLst>
          </p:cNvPr>
          <p:cNvSpPr txBox="1">
            <a:spLocks/>
          </p:cNvSpPr>
          <p:nvPr userDrawn="1"/>
        </p:nvSpPr>
        <p:spPr>
          <a:xfrm>
            <a:off x="9904770" y="374733"/>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dirty="0">
                <a:solidFill>
                  <a:schemeClr val="tx1"/>
                </a:solidFill>
                <a:latin typeface="+mn-ea"/>
                <a:ea typeface="+mn-ea"/>
              </a:rPr>
              <a:t>專案編號：</a:t>
            </a:r>
            <a:endParaRPr lang="en-US" sz="1200" dirty="0">
              <a:solidFill>
                <a:schemeClr val="tx1"/>
              </a:solidFill>
              <a:latin typeface="+mn-ea"/>
              <a:ea typeface="+mn-ea"/>
            </a:endParaRPr>
          </a:p>
        </p:txBody>
      </p:sp>
      <p:graphicFrame>
        <p:nvGraphicFramePr>
          <p:cNvPr id="49" name="表格 48"/>
          <p:cNvGraphicFramePr>
            <a:graphicFrameLocks noGrp="1"/>
          </p:cNvGraphicFramePr>
          <p:nvPr userDrawn="1"/>
        </p:nvGraphicFramePr>
        <p:xfrm>
          <a:off x="4843843" y="4574137"/>
          <a:ext cx="2273740" cy="834459"/>
        </p:xfrm>
        <a:graphic>
          <a:graphicData uri="http://schemas.openxmlformats.org/drawingml/2006/table">
            <a:tbl>
              <a:tblPr>
                <a:tableStyleId>{5C22544A-7EE6-4342-B048-85BDC9FD1C3A}</a:tableStyleId>
              </a:tblPr>
              <a:tblGrid>
                <a:gridCol w="1115420">
                  <a:extLst>
                    <a:ext uri="{9D8B030D-6E8A-4147-A177-3AD203B41FA5}">
                      <a16:colId xmlns:a16="http://schemas.microsoft.com/office/drawing/2014/main" val="3601475834"/>
                    </a:ext>
                  </a:extLst>
                </a:gridCol>
                <a:gridCol w="1158320">
                  <a:extLst>
                    <a:ext uri="{9D8B030D-6E8A-4147-A177-3AD203B41FA5}">
                      <a16:colId xmlns:a16="http://schemas.microsoft.com/office/drawing/2014/main" val="3963661121"/>
                    </a:ext>
                  </a:extLst>
                </a:gridCol>
              </a:tblGrid>
              <a:tr h="236004">
                <a:tc>
                  <a:txBody>
                    <a:bodyPr/>
                    <a:lstStyle/>
                    <a:p>
                      <a:pPr algn="l"/>
                      <a:r>
                        <a:rPr lang="zh-CN" altLang="en-US" sz="1200" b="1" kern="1200" baseline="0">
                          <a:solidFill>
                            <a:schemeClr val="tx1"/>
                          </a:solidFill>
                          <a:latin typeface="+mn-ea"/>
                          <a:ea typeface="+mn-ea"/>
                          <a:cs typeface="+mn-cs"/>
                        </a:rPr>
                        <a:t>     實</a:t>
                      </a:r>
                      <a:r>
                        <a:rPr lang="zh-CN" altLang="en-US" sz="1200" b="1" kern="1200" baseline="0" dirty="0">
                          <a:solidFill>
                            <a:schemeClr val="tx1"/>
                          </a:solidFill>
                          <a:latin typeface="+mn-ea"/>
                          <a:ea typeface="+mn-ea"/>
                          <a:cs typeface="+mn-cs"/>
                        </a:rPr>
                        <a:t>施範圍</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200" b="1" kern="1200" baseline="0">
                          <a:solidFill>
                            <a:schemeClr val="tx1"/>
                          </a:solidFill>
                          <a:latin typeface="+mn-ea"/>
                          <a:ea typeface="+mn-ea"/>
                          <a:cs typeface="+mn-cs"/>
                        </a:rPr>
                        <a:t>     產</a:t>
                      </a:r>
                      <a:r>
                        <a:rPr lang="zh-CN" altLang="en-US" sz="1200" b="1" kern="1200" baseline="0" dirty="0">
                          <a:solidFill>
                            <a:schemeClr val="tx1"/>
                          </a:solidFill>
                          <a:latin typeface="+mn-ea"/>
                          <a:ea typeface="+mn-ea"/>
                          <a:cs typeface="+mn-cs"/>
                        </a:rPr>
                        <a:t>出類型</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875191"/>
                  </a:ext>
                </a:extLst>
              </a:tr>
              <a:tr h="19948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多</a:t>
                      </a:r>
                      <a:r>
                        <a:rPr lang="zh-CN" altLang="en-US" sz="1100" b="0" kern="1200" baseline="0" dirty="0">
                          <a:solidFill>
                            <a:schemeClr val="tx1"/>
                          </a:solidFill>
                          <a:latin typeface="+mn-ea"/>
                          <a:ea typeface="+mn-ea"/>
                          <a:cs typeface="+mn-cs"/>
                        </a:rPr>
                        <a:t>個</a:t>
                      </a:r>
                      <a:r>
                        <a:rPr lang="zh-CN" altLang="en-US" sz="1100" b="0" kern="1200" baseline="0">
                          <a:solidFill>
                            <a:schemeClr val="tx1"/>
                          </a:solidFill>
                          <a:latin typeface="+mn-ea"/>
                          <a:ea typeface="+mn-ea"/>
                          <a:cs typeface="+mn-cs"/>
                        </a:rPr>
                        <a:t>廠區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系統平台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775297"/>
                  </a:ext>
                </a:extLst>
              </a:tr>
              <a:tr h="199485">
                <a:tc>
                  <a:txBody>
                    <a:bodyPr/>
                    <a:lstStyle/>
                    <a:p>
                      <a:pPr algn="l"/>
                      <a:r>
                        <a:rPr lang="zh-CN" altLang="en-US" sz="1100" b="0" kern="1200" baseline="0">
                          <a:solidFill>
                            <a:schemeClr val="tx1"/>
                          </a:solidFill>
                          <a:latin typeface="+mn-ea"/>
                          <a:ea typeface="+mn-ea"/>
                          <a:cs typeface="+mn-cs"/>
                        </a:rPr>
                        <a:t>○  單</a:t>
                      </a:r>
                      <a:r>
                        <a:rPr lang="zh-CN" altLang="en-US" sz="1100" b="0" kern="1200" baseline="0" dirty="0">
                          <a:solidFill>
                            <a:schemeClr val="tx1"/>
                          </a:solidFill>
                          <a:latin typeface="+mn-ea"/>
                          <a:ea typeface="+mn-ea"/>
                          <a:cs typeface="+mn-cs"/>
                        </a:rPr>
                        <a:t>一</a:t>
                      </a:r>
                      <a:r>
                        <a:rPr lang="zh-CN" altLang="en-US" sz="1100" b="0" kern="1200" baseline="0">
                          <a:solidFill>
                            <a:schemeClr val="tx1"/>
                          </a:solidFill>
                          <a:latin typeface="+mn-ea"/>
                          <a:ea typeface="+mn-ea"/>
                          <a:cs typeface="+mn-cs"/>
                        </a:rPr>
                        <a:t>廠區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軟</a:t>
                      </a:r>
                      <a:r>
                        <a:rPr lang="zh-CN" altLang="en-US" sz="1100" b="0" kern="1200" baseline="0" dirty="0">
                          <a:solidFill>
                            <a:schemeClr val="tx1"/>
                          </a:solidFill>
                          <a:latin typeface="+mn-ea"/>
                          <a:ea typeface="+mn-ea"/>
                          <a:cs typeface="+mn-cs"/>
                        </a:rPr>
                        <a:t>件</a:t>
                      </a:r>
                      <a:r>
                        <a:rPr lang="en-US" altLang="zh-CN" sz="1100" b="0" kern="1200" baseline="0" dirty="0">
                          <a:solidFill>
                            <a:schemeClr val="tx1"/>
                          </a:solidFill>
                          <a:latin typeface="+mn-ea"/>
                          <a:ea typeface="+mn-ea"/>
                          <a:cs typeface="+mn-cs"/>
                        </a:rPr>
                        <a:t>/</a:t>
                      </a:r>
                      <a:r>
                        <a:rPr lang="zh-CN" altLang="en-US" sz="1100" b="0" kern="1200" baseline="0" dirty="0">
                          <a:solidFill>
                            <a:schemeClr val="tx1"/>
                          </a:solidFill>
                          <a:latin typeface="+mn-ea"/>
                          <a:ea typeface="+mn-ea"/>
                          <a:cs typeface="+mn-cs"/>
                        </a:rPr>
                        <a:t>規範</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5369103"/>
                  </a:ext>
                </a:extLst>
              </a:tr>
              <a:tr h="199485">
                <a:tc>
                  <a:txBody>
                    <a:bodyPr/>
                    <a:lstStyle/>
                    <a:p>
                      <a:pPr algn="l"/>
                      <a:r>
                        <a:rPr lang="zh-CN" altLang="en-US" sz="1100" b="0" kern="1200" baseline="0">
                          <a:solidFill>
                            <a:schemeClr val="tx1"/>
                          </a:solidFill>
                          <a:latin typeface="+mn-ea"/>
                          <a:ea typeface="+mn-ea"/>
                          <a:cs typeface="+mn-cs"/>
                        </a:rPr>
                        <a:t>○  單</a:t>
                      </a:r>
                      <a:r>
                        <a:rPr lang="zh-CN" altLang="en-US" sz="1100" b="0" kern="1200" baseline="0" dirty="0">
                          <a:solidFill>
                            <a:schemeClr val="tx1"/>
                          </a:solidFill>
                          <a:latin typeface="+mn-ea"/>
                          <a:ea typeface="+mn-ea"/>
                          <a:cs typeface="+mn-cs"/>
                        </a:rPr>
                        <a:t>線</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硬件</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180558"/>
                  </a:ext>
                </a:extLst>
              </a:tr>
            </a:tbl>
          </a:graphicData>
        </a:graphic>
      </p:graphicFrame>
      <p:sp>
        <p:nvSpPr>
          <p:cNvPr id="5" name="矩形 4"/>
          <p:cNvSpPr/>
          <p:nvPr userDrawn="1"/>
        </p:nvSpPr>
        <p:spPr>
          <a:xfrm>
            <a:off x="5110263" y="3773937"/>
            <a:ext cx="518091" cy="276999"/>
          </a:xfrm>
          <a:prstGeom prst="rect">
            <a:avLst/>
          </a:prstGeom>
        </p:spPr>
        <p:txBody>
          <a:bodyPr wrap="none">
            <a:spAutoFit/>
          </a:bodyPr>
          <a:lstStyle/>
          <a:p>
            <a:r>
              <a:rPr kumimoji="0" lang="en-US" altLang="zh-CN" sz="1200" b="1" i="0" u="none" strike="noStrike" kern="1200" cap="none" spc="0" normalizeH="0" baseline="0" noProof="0" dirty="0">
                <a:ln>
                  <a:noFill/>
                </a:ln>
                <a:solidFill>
                  <a:schemeClr val="tx1"/>
                </a:solidFill>
                <a:effectLst/>
                <a:uLnTx/>
                <a:uFillTx/>
                <a:latin typeface="+mj-lt"/>
                <a:ea typeface="微软雅黑" panose="020B0503020204020204" pitchFamily="34" charset="-122"/>
                <a:cs typeface="+mn-cs"/>
              </a:rPr>
              <a:t>POC</a:t>
            </a:r>
            <a:endParaRPr lang="zh-CN" altLang="en-US" sz="1200" b="1" dirty="0">
              <a:solidFill>
                <a:schemeClr val="tx1"/>
              </a:solidFill>
              <a:latin typeface="+mj-lt"/>
            </a:endParaRPr>
          </a:p>
        </p:txBody>
      </p:sp>
      <p:graphicFrame>
        <p:nvGraphicFramePr>
          <p:cNvPr id="73" name="表格 72"/>
          <p:cNvGraphicFramePr>
            <a:graphicFrameLocks noGrp="1"/>
          </p:cNvGraphicFramePr>
          <p:nvPr userDrawn="1"/>
        </p:nvGraphicFramePr>
        <p:xfrm>
          <a:off x="1708205" y="5475683"/>
          <a:ext cx="10068931" cy="747840"/>
        </p:xfrm>
        <a:graphic>
          <a:graphicData uri="http://schemas.openxmlformats.org/drawingml/2006/table">
            <a:tbl>
              <a:tblPr firstRow="1">
                <a:tableStyleId>{5C22544A-7EE6-4342-B048-85BDC9FD1C3A}</a:tableStyleId>
              </a:tblPr>
              <a:tblGrid>
                <a:gridCol w="1194619">
                  <a:extLst>
                    <a:ext uri="{9D8B030D-6E8A-4147-A177-3AD203B41FA5}">
                      <a16:colId xmlns:a16="http://schemas.microsoft.com/office/drawing/2014/main" val="1364975805"/>
                    </a:ext>
                  </a:extLst>
                </a:gridCol>
                <a:gridCol w="1109289">
                  <a:extLst>
                    <a:ext uri="{9D8B030D-6E8A-4147-A177-3AD203B41FA5}">
                      <a16:colId xmlns:a16="http://schemas.microsoft.com/office/drawing/2014/main" val="598168328"/>
                    </a:ext>
                  </a:extLst>
                </a:gridCol>
                <a:gridCol w="1109289">
                  <a:extLst>
                    <a:ext uri="{9D8B030D-6E8A-4147-A177-3AD203B41FA5}">
                      <a16:colId xmlns:a16="http://schemas.microsoft.com/office/drawing/2014/main" val="3996203012"/>
                    </a:ext>
                  </a:extLst>
                </a:gridCol>
                <a:gridCol w="1109289">
                  <a:extLst>
                    <a:ext uri="{9D8B030D-6E8A-4147-A177-3AD203B41FA5}">
                      <a16:colId xmlns:a16="http://schemas.microsoft.com/office/drawing/2014/main" val="8965765"/>
                    </a:ext>
                  </a:extLst>
                </a:gridCol>
                <a:gridCol w="1109289">
                  <a:extLst>
                    <a:ext uri="{9D8B030D-6E8A-4147-A177-3AD203B41FA5}">
                      <a16:colId xmlns:a16="http://schemas.microsoft.com/office/drawing/2014/main" val="3018412842"/>
                    </a:ext>
                  </a:extLst>
                </a:gridCol>
                <a:gridCol w="1109289">
                  <a:extLst>
                    <a:ext uri="{9D8B030D-6E8A-4147-A177-3AD203B41FA5}">
                      <a16:colId xmlns:a16="http://schemas.microsoft.com/office/drawing/2014/main" val="1610061165"/>
                    </a:ext>
                  </a:extLst>
                </a:gridCol>
                <a:gridCol w="1109289">
                  <a:extLst>
                    <a:ext uri="{9D8B030D-6E8A-4147-A177-3AD203B41FA5}">
                      <a16:colId xmlns:a16="http://schemas.microsoft.com/office/drawing/2014/main" val="2837564109"/>
                    </a:ext>
                  </a:extLst>
                </a:gridCol>
                <a:gridCol w="1109289">
                  <a:extLst>
                    <a:ext uri="{9D8B030D-6E8A-4147-A177-3AD203B41FA5}">
                      <a16:colId xmlns:a16="http://schemas.microsoft.com/office/drawing/2014/main" val="627612840"/>
                    </a:ext>
                  </a:extLst>
                </a:gridCol>
                <a:gridCol w="1109289">
                  <a:extLst>
                    <a:ext uri="{9D8B030D-6E8A-4147-A177-3AD203B41FA5}">
                      <a16:colId xmlns:a16="http://schemas.microsoft.com/office/drawing/2014/main" val="2411478032"/>
                    </a:ext>
                  </a:extLst>
                </a:gridCol>
              </a:tblGrid>
              <a:tr h="504000">
                <a:tc>
                  <a:txBody>
                    <a:bodyPr/>
                    <a:lstStyle/>
                    <a:p>
                      <a:pPr algn="ctr">
                        <a:lnSpc>
                          <a:spcPct val="100000"/>
                        </a:lnSpc>
                      </a:pPr>
                      <a:r>
                        <a:rPr lang="en-US" altLang="zh-TW" sz="1200" b="1" kern="1200" dirty="0">
                          <a:solidFill>
                            <a:schemeClr val="tx1"/>
                          </a:solidFill>
                          <a:latin typeface="+mj-lt"/>
                          <a:ea typeface="微软雅黑" panose="020B0503020204020204" pitchFamily="34" charset="-122"/>
                          <a:cs typeface="+mn-cs"/>
                        </a:rPr>
                        <a:t>Milestone</a:t>
                      </a:r>
                    </a:p>
                  </a:txBody>
                  <a:tcPr marL="0" marR="0" marT="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377" rtl="0" eaLnBrk="1" latinLnBrk="0" hangingPunct="1">
                        <a:lnSpc>
                          <a:spcPct val="100000"/>
                        </a:lnSpc>
                      </a:pPr>
                      <a:r>
                        <a:rPr lang="en-US" altLang="zh-TW" sz="1200" b="1" kern="1200" dirty="0">
                          <a:solidFill>
                            <a:schemeClr val="tx1"/>
                          </a:solidFill>
                          <a:latin typeface="+mn-lt"/>
                          <a:ea typeface="+mn-ea"/>
                          <a:cs typeface="+mn-cs"/>
                        </a:rPr>
                        <a:t>M1</a:t>
                      </a:r>
                    </a:p>
                    <a:p>
                      <a:pPr marL="0" algn="ctr" defTabSz="914377" rtl="0" eaLnBrk="1" latinLnBrk="0" hangingPunct="1">
                        <a:lnSpc>
                          <a:spcPct val="100000"/>
                        </a:lnSpc>
                      </a:pPr>
                      <a:r>
                        <a:rPr lang="zh-TW" altLang="en-US" sz="1200" b="0" kern="1200" dirty="0">
                          <a:solidFill>
                            <a:schemeClr val="tx1"/>
                          </a:solidFill>
                          <a:latin typeface="+mn-lt"/>
                          <a:ea typeface="+mn-ea"/>
                          <a:cs typeface="+mn-cs"/>
                        </a:rPr>
                        <a:t>需求評估</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M2</a:t>
                      </a:r>
                    </a:p>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mn-lt"/>
                          <a:ea typeface="+mn-ea"/>
                          <a:cs typeface="+mn-cs"/>
                        </a:rPr>
                        <a:t>概念設計</a:t>
                      </a:r>
                      <a:endParaRPr lang="en-US" altLang="zh-CN"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spcAft>
                          <a:spcPts val="0"/>
                        </a:spcAft>
                      </a:pPr>
                      <a:r>
                        <a:rPr lang="en-US" altLang="zh-TW" sz="1200" b="1" kern="1200" dirty="0">
                          <a:solidFill>
                            <a:schemeClr val="tx1"/>
                          </a:solidFill>
                          <a:latin typeface="+mn-lt"/>
                          <a:ea typeface="+mn-ea"/>
                          <a:cs typeface="+mn-cs"/>
                        </a:rPr>
                        <a:t>M3</a:t>
                      </a:r>
                    </a:p>
                    <a:p>
                      <a:pPr marL="0" algn="ctr" defTabSz="914377" rtl="0" eaLnBrk="1" latinLnBrk="0" hangingPunct="1">
                        <a:lnSpc>
                          <a:spcPct val="100000"/>
                        </a:lnSpc>
                        <a:spcAft>
                          <a:spcPts val="0"/>
                        </a:spcAft>
                      </a:pPr>
                      <a:r>
                        <a:rPr lang="zh-TW" altLang="en-US" sz="1200" b="0" kern="1200" dirty="0">
                          <a:solidFill>
                            <a:schemeClr val="tx1"/>
                          </a:solidFill>
                          <a:latin typeface="+mn-lt"/>
                          <a:ea typeface="+mn-ea"/>
                          <a:cs typeface="+mn-cs"/>
                        </a:rPr>
                        <a:t>細部設計</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pPr>
                      <a:r>
                        <a:rPr lang="en-US" altLang="zh-TW" sz="1200" b="1" kern="1200" dirty="0">
                          <a:solidFill>
                            <a:schemeClr val="tx1"/>
                          </a:solidFill>
                          <a:latin typeface="+mn-lt"/>
                          <a:ea typeface="+mn-ea"/>
                          <a:cs typeface="+mn-cs"/>
                        </a:rPr>
                        <a:t>M4</a:t>
                      </a:r>
                    </a:p>
                    <a:p>
                      <a:pPr marL="0" lvl="0" algn="ctr" defTabSz="914377" rtl="0" eaLnBrk="1" latinLnBrk="0" hangingPunct="1">
                        <a:lnSpc>
                          <a:spcPct val="100000"/>
                        </a:lnSpc>
                      </a:pPr>
                      <a:r>
                        <a:rPr lang="zh-CN" altLang="en-US" sz="1200" b="0" kern="1200" dirty="0">
                          <a:solidFill>
                            <a:schemeClr val="tx1"/>
                          </a:solidFill>
                          <a:latin typeface="+mn-lt"/>
                          <a:ea typeface="+mn-ea"/>
                          <a:cs typeface="+mn-cs"/>
                        </a:rPr>
                        <a:t>原型驗證</a:t>
                      </a:r>
                      <a:endParaRPr lang="zh-TW"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defRPr/>
                      </a:pPr>
                      <a:r>
                        <a:rPr lang="en-US" altLang="zh-TW" sz="1200" b="1" kern="1200" dirty="0">
                          <a:solidFill>
                            <a:schemeClr val="tx1"/>
                          </a:solidFill>
                          <a:latin typeface="+mn-lt"/>
                          <a:ea typeface="+mn-ea"/>
                          <a:cs typeface="+mn-cs"/>
                        </a:rPr>
                        <a:t>M5</a:t>
                      </a:r>
                    </a:p>
                    <a:p>
                      <a:pPr marL="0" lvl="0" algn="ctr" defTabSz="914377" rtl="0" eaLnBrk="1" latinLnBrk="0" hangingPunct="1">
                        <a:lnSpc>
                          <a:spcPct val="100000"/>
                        </a:lnSpc>
                        <a:defRPr/>
                      </a:pPr>
                      <a:r>
                        <a:rPr lang="zh-CN" altLang="en-US" sz="1200" b="0" kern="1200" dirty="0">
                          <a:solidFill>
                            <a:schemeClr val="tx1"/>
                          </a:solidFill>
                          <a:latin typeface="+mn-lt"/>
                          <a:ea typeface="+mn-ea"/>
                          <a:cs typeface="+mn-cs"/>
                        </a:rPr>
                        <a:t>場驗</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dirty="0">
                          <a:solidFill>
                            <a:schemeClr val="tx1"/>
                          </a:solidFill>
                          <a:latin typeface="+mn-lt"/>
                          <a:ea typeface="+mn-ea"/>
                          <a:cs typeface="+mn-cs"/>
                        </a:rPr>
                        <a:t>M6</a:t>
                      </a:r>
                    </a:p>
                    <a:p>
                      <a:pPr marL="0" algn="ctr" defTabSz="914377" rtl="0" eaLnBrk="1" latinLnBrk="0" hangingPunct="1">
                        <a:lnSpc>
                          <a:spcPct val="100000"/>
                        </a:lnSpc>
                        <a:defRPr/>
                      </a:pPr>
                      <a:r>
                        <a:rPr lang="zh-TW" altLang="en-US" sz="1200" b="0" kern="1200" dirty="0">
                          <a:solidFill>
                            <a:schemeClr val="tx1"/>
                          </a:solidFill>
                          <a:latin typeface="+mn-lt"/>
                          <a:ea typeface="+mn-ea"/>
                          <a:cs typeface="+mn-cs"/>
                        </a:rPr>
                        <a:t>資訊流標準化</a:t>
                      </a:r>
                      <a:endParaRPr lang="zh-CN" altLang="en-US"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M7</a:t>
                      </a:r>
                    </a:p>
                    <a:p>
                      <a:pPr marL="0" marR="0" indent="0" algn="ctr" defTabSz="914377"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latin typeface="+mn-lt"/>
                          <a:ea typeface="+mn-ea"/>
                          <a:cs typeface="+mn-cs"/>
                        </a:rPr>
                        <a:t>落地規劃</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dirty="0">
                          <a:solidFill>
                            <a:schemeClr val="tx1"/>
                          </a:solidFill>
                          <a:latin typeface="+mn-lt"/>
                          <a:ea typeface="+mn-ea"/>
                          <a:cs typeface="+mn-cs"/>
                        </a:rPr>
                        <a:t>M8</a:t>
                      </a:r>
                    </a:p>
                    <a:p>
                      <a:pPr marL="0" algn="ctr" defTabSz="914377" rtl="0" eaLnBrk="1" latinLnBrk="0" hangingPunct="1">
                        <a:lnSpc>
                          <a:spcPct val="100000"/>
                        </a:lnSpc>
                        <a:defRPr/>
                      </a:pPr>
                      <a:r>
                        <a:rPr lang="zh-TW" altLang="en-US" sz="1200" b="0" kern="1200" dirty="0">
                          <a:solidFill>
                            <a:schemeClr val="tx1"/>
                          </a:solidFill>
                          <a:latin typeface="+mn-lt"/>
                          <a:ea typeface="+mn-ea"/>
                          <a:cs typeface="+mn-cs"/>
                        </a:rPr>
                        <a:t>落地檢核</a:t>
                      </a:r>
                      <a:endParaRPr lang="zh-CN" altLang="en-US"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3771765"/>
                  </a:ext>
                </a:extLst>
              </a:tr>
              <a:tr h="243840">
                <a:tc>
                  <a:txBody>
                    <a:bodyPr/>
                    <a:lstStyle/>
                    <a:p>
                      <a:pPr algn="ctr">
                        <a:lnSpc>
                          <a:spcPct val="100000"/>
                        </a:lnSpc>
                      </a:pPr>
                      <a:r>
                        <a:rPr lang="en-US" altLang="zh-CN" sz="1200" b="1">
                          <a:solidFill>
                            <a:schemeClr val="tx1"/>
                          </a:solidFill>
                          <a:latin typeface="+mj-lt"/>
                          <a:ea typeface="+mn-ea"/>
                        </a:rPr>
                        <a:t>Due</a:t>
                      </a:r>
                      <a:r>
                        <a:rPr lang="zh-CN" altLang="en-US" sz="1200" b="1" baseline="0">
                          <a:solidFill>
                            <a:schemeClr val="tx1"/>
                          </a:solidFill>
                          <a:latin typeface="+mj-lt"/>
                          <a:ea typeface="+mn-ea"/>
                        </a:rPr>
                        <a:t> </a:t>
                      </a:r>
                      <a:r>
                        <a:rPr lang="en-US" altLang="zh-CN" sz="1200" b="1" baseline="0">
                          <a:solidFill>
                            <a:schemeClr val="tx1"/>
                          </a:solidFill>
                          <a:latin typeface="+mj-lt"/>
                          <a:ea typeface="+mn-ea"/>
                        </a:rPr>
                        <a:t>date</a:t>
                      </a:r>
                      <a:endParaRPr lang="en-US" altLang="zh-CN" sz="1200" b="1" dirty="0">
                        <a:solidFill>
                          <a:schemeClr val="tx1"/>
                        </a:solidFill>
                        <a:latin typeface="+mj-lt"/>
                        <a:ea typeface="+mn-ea"/>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CN" altLang="en-US" sz="1600" b="0" dirty="0">
                        <a:solidFill>
                          <a:schemeClr val="tx1"/>
                        </a:solidFill>
                        <a:latin typeface="+mj-lt"/>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4082158"/>
                  </a:ext>
                </a:extLst>
              </a:tr>
            </a:tbl>
          </a:graphicData>
        </a:graphic>
      </p:graphicFrame>
      <p:cxnSp>
        <p:nvCxnSpPr>
          <p:cNvPr id="74" name="直接连接符 73"/>
          <p:cNvCxnSpPr/>
          <p:nvPr userDrawn="1"/>
        </p:nvCxnSpPr>
        <p:spPr>
          <a:xfrm flipH="1">
            <a:off x="-3" y="5462265"/>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9" name="標題 1">
            <a:extLst>
              <a:ext uri="{FF2B5EF4-FFF2-40B4-BE49-F238E27FC236}">
                <a16:creationId xmlns:a16="http://schemas.microsoft.com/office/drawing/2014/main" id="{E8CA6B8E-EB08-4AB0-9768-E121F12ABA2B}"/>
              </a:ext>
            </a:extLst>
          </p:cNvPr>
          <p:cNvSpPr txBox="1">
            <a:spLocks/>
          </p:cNvSpPr>
          <p:nvPr userDrawn="1"/>
        </p:nvSpPr>
        <p:spPr>
          <a:xfrm>
            <a:off x="9904769" y="172486"/>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dirty="0">
                <a:solidFill>
                  <a:schemeClr val="tx1"/>
                </a:solidFill>
                <a:latin typeface="+mn-ea"/>
                <a:ea typeface="+mn-ea"/>
              </a:rPr>
              <a:t>專案屬性：</a:t>
            </a:r>
            <a:endParaRPr lang="en-US" sz="1200" dirty="0">
              <a:solidFill>
                <a:schemeClr val="tx1"/>
              </a:solidFill>
              <a:latin typeface="+mn-ea"/>
              <a:ea typeface="+mn-ea"/>
            </a:endParaRPr>
          </a:p>
        </p:txBody>
      </p:sp>
      <p:sp>
        <p:nvSpPr>
          <p:cNvPr id="41" name="文本框 80">
            <a:extLst>
              <a:ext uri="{FF2B5EF4-FFF2-40B4-BE49-F238E27FC236}">
                <a16:creationId xmlns:a16="http://schemas.microsoft.com/office/drawing/2014/main" id="{CE4A5CD4-18D6-442A-8251-0B27565425B3}"/>
              </a:ext>
            </a:extLst>
          </p:cNvPr>
          <p:cNvSpPr txBox="1"/>
          <p:nvPr userDrawn="1"/>
        </p:nvSpPr>
        <p:spPr>
          <a:xfrm>
            <a:off x="942943" y="6001110"/>
            <a:ext cx="457368" cy="211767"/>
          </a:xfrm>
          <a:prstGeom prst="rect">
            <a:avLst/>
          </a:prstGeom>
          <a:noFill/>
          <a:ln>
            <a:noFill/>
          </a:ln>
        </p:spPr>
        <p:txBody>
          <a:bodyPr wrap="none" lIns="36000" tIns="0" rIns="36000" bIns="0" rtlCol="0" anchor="t" anchorCtr="0">
            <a:noAutofit/>
          </a:bodyPr>
          <a:lstStyle/>
          <a:p>
            <a:pPr algn="ctr"/>
            <a:r>
              <a:rPr lang="zh-CN" altLang="en-US" sz="1400" b="1" dirty="0">
                <a:solidFill>
                  <a:schemeClr val="tx1"/>
                </a:solidFill>
                <a:latin typeface="+mn-ea"/>
                <a:ea typeface="+mn-ea"/>
              </a:rPr>
              <a:t>天</a:t>
            </a:r>
          </a:p>
        </p:txBody>
      </p:sp>
      <p:cxnSp>
        <p:nvCxnSpPr>
          <p:cNvPr id="48" name="直接连接符 73">
            <a:extLst>
              <a:ext uri="{FF2B5EF4-FFF2-40B4-BE49-F238E27FC236}">
                <a16:creationId xmlns:a16="http://schemas.microsoft.com/office/drawing/2014/main" id="{260BD545-25F4-463E-914E-4B2E7F5D5FE7}"/>
              </a:ext>
            </a:extLst>
          </p:cNvPr>
          <p:cNvCxnSpPr/>
          <p:nvPr userDrawn="1"/>
        </p:nvCxnSpPr>
        <p:spPr>
          <a:xfrm flipH="1">
            <a:off x="-3" y="3711691"/>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5" name="文本框 76">
            <a:extLst>
              <a:ext uri="{FF2B5EF4-FFF2-40B4-BE49-F238E27FC236}">
                <a16:creationId xmlns:a16="http://schemas.microsoft.com/office/drawing/2014/main" id="{412770B5-2D22-4757-B0F9-827C620D34C0}"/>
              </a:ext>
            </a:extLst>
          </p:cNvPr>
          <p:cNvSpPr txBox="1"/>
          <p:nvPr userDrawn="1"/>
        </p:nvSpPr>
        <p:spPr>
          <a:xfrm>
            <a:off x="7229261" y="3741999"/>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專案效益</a:t>
            </a:r>
            <a:endParaRPr lang="zh-CN" altLang="en-US" sz="1600" b="1" u="sng" dirty="0">
              <a:solidFill>
                <a:schemeClr val="bg1"/>
              </a:solidFill>
              <a:latin typeface="+mn-ea"/>
              <a:ea typeface="+mn-ea"/>
            </a:endParaRPr>
          </a:p>
        </p:txBody>
      </p:sp>
      <p:sp>
        <p:nvSpPr>
          <p:cNvPr id="79" name="矩形 78">
            <a:extLst>
              <a:ext uri="{FF2B5EF4-FFF2-40B4-BE49-F238E27FC236}">
                <a16:creationId xmlns:a16="http://schemas.microsoft.com/office/drawing/2014/main" id="{74B93A32-4EBD-4EAA-9EBE-60BA29C04118}"/>
              </a:ext>
            </a:extLst>
          </p:cNvPr>
          <p:cNvSpPr/>
          <p:nvPr userDrawn="1"/>
        </p:nvSpPr>
        <p:spPr>
          <a:xfrm>
            <a:off x="6243413" y="3773937"/>
            <a:ext cx="492443" cy="276999"/>
          </a:xfrm>
          <a:prstGeom prst="rect">
            <a:avLst/>
          </a:prstGeom>
        </p:spPr>
        <p:txBody>
          <a:bodyPr wrap="none">
            <a:spAutoFit/>
          </a:bodyPr>
          <a:lstStyle/>
          <a:p>
            <a:r>
              <a:rPr kumimoji="0" lang="zh-CN" altLang="en-US" sz="1200" b="1" i="0" u="none" strike="noStrike" kern="1200" cap="none" spc="0" normalizeH="0" baseline="0" noProof="0" dirty="0">
                <a:ln>
                  <a:noFill/>
                </a:ln>
                <a:solidFill>
                  <a:schemeClr val="tx1"/>
                </a:solidFill>
                <a:effectLst/>
                <a:uLnTx/>
                <a:uFillTx/>
                <a:latin typeface="+mn-ea"/>
                <a:ea typeface="+mn-ea"/>
                <a:cs typeface="+mn-cs"/>
              </a:rPr>
              <a:t>落地</a:t>
            </a:r>
            <a:endParaRPr lang="zh-CN" altLang="en-US" sz="1200" b="1" dirty="0">
              <a:solidFill>
                <a:schemeClr val="tx1"/>
              </a:solidFill>
              <a:latin typeface="+mn-ea"/>
              <a:ea typeface="+mn-ea"/>
            </a:endParaRPr>
          </a:p>
        </p:txBody>
      </p:sp>
      <p:sp>
        <p:nvSpPr>
          <p:cNvPr id="13" name="矩形 12">
            <a:extLst>
              <a:ext uri="{FF2B5EF4-FFF2-40B4-BE49-F238E27FC236}">
                <a16:creationId xmlns:a16="http://schemas.microsoft.com/office/drawing/2014/main" id="{DB237AD2-C320-4A06-AA5B-DFCAEB5BB200}"/>
              </a:ext>
            </a:extLst>
          </p:cNvPr>
          <p:cNvSpPr/>
          <p:nvPr userDrawn="1"/>
        </p:nvSpPr>
        <p:spPr>
          <a:xfrm>
            <a:off x="8616155" y="3829575"/>
            <a:ext cx="1007327" cy="276999"/>
          </a:xfrm>
          <a:prstGeom prst="rect">
            <a:avLst/>
          </a:prstGeom>
        </p:spPr>
        <p:txBody>
          <a:bodyPr wrap="non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KUSD</a:t>
            </a: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15" name="矩形 14">
            <a:extLst>
              <a:ext uri="{FF2B5EF4-FFF2-40B4-BE49-F238E27FC236}">
                <a16:creationId xmlns:a16="http://schemas.microsoft.com/office/drawing/2014/main" id="{A2D2403B-89BC-4F21-8E00-B9F06CF42EF0}"/>
              </a:ext>
            </a:extLst>
          </p:cNvPr>
          <p:cNvSpPr/>
          <p:nvPr userDrawn="1"/>
        </p:nvSpPr>
        <p:spPr>
          <a:xfrm>
            <a:off x="10875240" y="3822095"/>
            <a:ext cx="537648" cy="276999"/>
          </a:xfrm>
          <a:prstGeom prst="rect">
            <a:avLst/>
          </a:prstGeom>
        </p:spPr>
        <p:txBody>
          <a:bodyPr wrap="none">
            <a:spAutoFit/>
          </a:bodyPr>
          <a:lstStyle/>
          <a:p>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lang="zh-TW" altLang="en-US" sz="1800" b="0" dirty="0">
              <a:solidFill>
                <a:schemeClr val="tx1"/>
              </a:solidFill>
            </a:endParaRPr>
          </a:p>
        </p:txBody>
      </p:sp>
      <p:sp>
        <p:nvSpPr>
          <p:cNvPr id="94" name="文本框 76">
            <a:extLst>
              <a:ext uri="{FF2B5EF4-FFF2-40B4-BE49-F238E27FC236}">
                <a16:creationId xmlns:a16="http://schemas.microsoft.com/office/drawing/2014/main" id="{5E299125-23C7-45ED-9CD0-F792DF9E67D7}"/>
              </a:ext>
            </a:extLst>
          </p:cNvPr>
          <p:cNvSpPr txBox="1"/>
          <p:nvPr userDrawn="1"/>
        </p:nvSpPr>
        <p:spPr>
          <a:xfrm>
            <a:off x="270776" y="3742863"/>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專案團隊</a:t>
            </a:r>
            <a:endParaRPr lang="zh-CN" altLang="en-US" sz="1600" b="1" u="sng" dirty="0">
              <a:solidFill>
                <a:schemeClr val="bg1"/>
              </a:solidFill>
              <a:latin typeface="+mn-ea"/>
              <a:ea typeface="+mn-ea"/>
            </a:endParaRPr>
          </a:p>
        </p:txBody>
      </p:sp>
      <p:cxnSp>
        <p:nvCxnSpPr>
          <p:cNvPr id="95" name="直接连接符 73">
            <a:extLst>
              <a:ext uri="{FF2B5EF4-FFF2-40B4-BE49-F238E27FC236}">
                <a16:creationId xmlns:a16="http://schemas.microsoft.com/office/drawing/2014/main" id="{E3D9E4B4-7C32-4F6D-B760-7606B45ECC9B}"/>
              </a:ext>
            </a:extLst>
          </p:cNvPr>
          <p:cNvCxnSpPr/>
          <p:nvPr userDrawn="1"/>
        </p:nvCxnSpPr>
        <p:spPr>
          <a:xfrm flipH="1">
            <a:off x="-3"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文本框 24"/>
          <p:cNvSpPr txBox="1"/>
          <p:nvPr userDrawn="1"/>
        </p:nvSpPr>
        <p:spPr>
          <a:xfrm>
            <a:off x="270776" y="753697"/>
            <a:ext cx="360000" cy="2934000"/>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需</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求</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與</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目</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標</a:t>
            </a:r>
          </a:p>
        </p:txBody>
      </p:sp>
      <p:sp>
        <p:nvSpPr>
          <p:cNvPr id="87" name="文本框 86"/>
          <p:cNvSpPr txBox="1"/>
          <p:nvPr userDrawn="1"/>
        </p:nvSpPr>
        <p:spPr>
          <a:xfrm>
            <a:off x="5566935" y="753697"/>
            <a:ext cx="360000" cy="2934000"/>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挑</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戰</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與</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解</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決</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方</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案</a:t>
            </a:r>
          </a:p>
        </p:txBody>
      </p:sp>
      <p:sp>
        <p:nvSpPr>
          <p:cNvPr id="21" name="等腰三角形 20">
            <a:extLst>
              <a:ext uri="{FF2B5EF4-FFF2-40B4-BE49-F238E27FC236}">
                <a16:creationId xmlns:a16="http://schemas.microsoft.com/office/drawing/2014/main" id="{0F94FA73-696E-4585-96A5-3EA8EEDFE197}"/>
              </a:ext>
            </a:extLst>
          </p:cNvPr>
          <p:cNvSpPr/>
          <p:nvPr userDrawn="1"/>
        </p:nvSpPr>
        <p:spPr>
          <a:xfrm rot="5400000">
            <a:off x="2645908" y="568363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105" name="等腰三角形 104">
            <a:extLst>
              <a:ext uri="{FF2B5EF4-FFF2-40B4-BE49-F238E27FC236}">
                <a16:creationId xmlns:a16="http://schemas.microsoft.com/office/drawing/2014/main" id="{230A3365-B0E2-46E8-90A4-D92B50D29BC0}"/>
              </a:ext>
            </a:extLst>
          </p:cNvPr>
          <p:cNvSpPr/>
          <p:nvPr userDrawn="1"/>
        </p:nvSpPr>
        <p:spPr>
          <a:xfrm rot="5400000">
            <a:off x="2645908" y="607977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6" name="標題 1">
            <a:extLst>
              <a:ext uri="{FF2B5EF4-FFF2-40B4-BE49-F238E27FC236}">
                <a16:creationId xmlns:a16="http://schemas.microsoft.com/office/drawing/2014/main" id="{874D4825-8DCA-4167-9242-B1829510756A}"/>
              </a:ext>
            </a:extLst>
          </p:cNvPr>
          <p:cNvSpPr txBox="1">
            <a:spLocks/>
          </p:cNvSpPr>
          <p:nvPr userDrawn="1"/>
        </p:nvSpPr>
        <p:spPr>
          <a:xfrm>
            <a:off x="485067" y="374733"/>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j-lt"/>
                <a:ea typeface="+mn-ea"/>
              </a:rPr>
              <a:t>PM</a:t>
            </a:r>
            <a:r>
              <a:rPr lang="zh-CN" altLang="en-US" sz="1400" dirty="0">
                <a:solidFill>
                  <a:schemeClr val="tx1"/>
                </a:solidFill>
                <a:latin typeface="+mj-lt"/>
                <a:ea typeface="+mn-ea"/>
              </a:rPr>
              <a:t>：</a:t>
            </a:r>
            <a:endParaRPr lang="en-US" sz="1400" dirty="0">
              <a:solidFill>
                <a:schemeClr val="tx1"/>
              </a:solidFill>
              <a:latin typeface="+mj-lt"/>
              <a:ea typeface="+mn-ea"/>
            </a:endParaRPr>
          </a:p>
        </p:txBody>
      </p:sp>
      <p:sp>
        <p:nvSpPr>
          <p:cNvPr id="47" name="標題 1">
            <a:extLst>
              <a:ext uri="{FF2B5EF4-FFF2-40B4-BE49-F238E27FC236}">
                <a16:creationId xmlns:a16="http://schemas.microsoft.com/office/drawing/2014/main" id="{CA67BEDC-D239-4ED3-862E-B642F84DA4A2}"/>
              </a:ext>
            </a:extLst>
          </p:cNvPr>
          <p:cNvSpPr txBox="1">
            <a:spLocks/>
          </p:cNvSpPr>
          <p:nvPr userDrawn="1"/>
        </p:nvSpPr>
        <p:spPr>
          <a:xfrm>
            <a:off x="302186" y="142006"/>
            <a:ext cx="1760295"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n-lt"/>
                <a:ea typeface="+mn-ea"/>
              </a:rPr>
              <a:t>Team</a:t>
            </a:r>
            <a:r>
              <a:rPr lang="zh-CN" altLang="en-US" sz="1400" dirty="0">
                <a:solidFill>
                  <a:schemeClr val="tx1"/>
                </a:solidFill>
                <a:latin typeface="+mn-ea"/>
                <a:ea typeface="+mn-ea"/>
              </a:rPr>
              <a:t>：</a:t>
            </a:r>
            <a:r>
              <a:rPr lang="en-US" altLang="zh-CN" sz="1400" dirty="0">
                <a:solidFill>
                  <a:schemeClr val="tx1"/>
                </a:solidFill>
                <a:latin typeface="+mj-lt"/>
                <a:ea typeface="+mn-ea"/>
              </a:rPr>
              <a:t>Core</a:t>
            </a:r>
            <a:endParaRPr lang="en-US" sz="1400" dirty="0">
              <a:solidFill>
                <a:schemeClr val="tx1"/>
              </a:solidFill>
              <a:latin typeface="+mj-lt"/>
              <a:ea typeface="+mn-ea"/>
            </a:endParaRPr>
          </a:p>
        </p:txBody>
      </p:sp>
    </p:spTree>
    <p:extLst>
      <p:ext uri="{BB962C8B-B14F-4D97-AF65-F5344CB8AC3E}">
        <p14:creationId xmlns:p14="http://schemas.microsoft.com/office/powerpoint/2010/main" val="405457925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oftware/Platform">
    <p:bg>
      <p:bgPr>
        <a:solidFill>
          <a:schemeClr val="bg1"/>
        </a:solidFill>
        <a:effectLst/>
      </p:bgPr>
    </p:bg>
    <p:spTree>
      <p:nvGrpSpPr>
        <p:cNvPr id="1" name=""/>
        <p:cNvGrpSpPr/>
        <p:nvPr/>
      </p:nvGrpSpPr>
      <p:grpSpPr>
        <a:xfrm>
          <a:off x="0" y="0"/>
          <a:ext cx="0" cy="0"/>
          <a:chOff x="0" y="0"/>
          <a:chExt cx="0" cy="0"/>
        </a:xfrm>
      </p:grpSpPr>
      <p:sp>
        <p:nvSpPr>
          <p:cNvPr id="52" name="文字方塊 51">
            <a:extLst>
              <a:ext uri="{FF2B5EF4-FFF2-40B4-BE49-F238E27FC236}">
                <a16:creationId xmlns:a16="http://schemas.microsoft.com/office/drawing/2014/main" id="{4EB72046-7EFA-4D5B-9003-30F89B1D91A8}"/>
              </a:ext>
            </a:extLst>
          </p:cNvPr>
          <p:cNvSpPr txBox="1"/>
          <p:nvPr userDrawn="1"/>
        </p:nvSpPr>
        <p:spPr>
          <a:xfrm>
            <a:off x="146507" y="6382218"/>
            <a:ext cx="402674" cy="307777"/>
          </a:xfrm>
          <a:prstGeom prst="rect">
            <a:avLst/>
          </a:prstGeom>
          <a:noFill/>
        </p:spPr>
        <p:txBody>
          <a:bodyPr wrap="none" rtlCol="0">
            <a:spAutoFit/>
          </a:bodyPr>
          <a:lstStyle/>
          <a:p>
            <a:fld id="{823BD820-02AB-4111-88E2-98F36ECA9073}" type="slidenum">
              <a:rPr lang="en-US" sz="1400" smtClean="0"/>
              <a:t>‹#›</a:t>
            </a:fld>
            <a:endParaRPr lang="en-US" sz="1400" dirty="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61947" y="6432017"/>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endParaRPr lang="en-US" sz="1000" dirty="0"/>
          </a:p>
        </p:txBody>
      </p:sp>
      <p:pic>
        <p:nvPicPr>
          <p:cNvPr id="55" name="Image" descr="Image">
            <a:extLst>
              <a:ext uri="{FF2B5EF4-FFF2-40B4-BE49-F238E27FC236}">
                <a16:creationId xmlns:a16="http://schemas.microsoft.com/office/drawing/2014/main" id="{3FD067EA-3F6A-4BD1-B5C3-F883F3BD8FAC}"/>
              </a:ext>
            </a:extLst>
          </p:cNvPr>
          <p:cNvPicPr>
            <a:picLocks noChangeAspect="1"/>
          </p:cNvPicPr>
          <p:nvPr userDrawn="1"/>
        </p:nvPicPr>
        <p:blipFill>
          <a:blip r:embed="rId2"/>
          <a:stretch>
            <a:fillRect/>
          </a:stretch>
        </p:blipFill>
        <p:spPr>
          <a:xfrm>
            <a:off x="10877740" y="6271414"/>
            <a:ext cx="1056000" cy="325143"/>
          </a:xfrm>
          <a:prstGeom prst="rect">
            <a:avLst/>
          </a:prstGeom>
          <a:ln w="12700">
            <a:miter lim="400000"/>
          </a:ln>
        </p:spPr>
      </p:pic>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6"/>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76" name="文本框 75"/>
          <p:cNvSpPr txBox="1"/>
          <p:nvPr userDrawn="1"/>
        </p:nvSpPr>
        <p:spPr>
          <a:xfrm>
            <a:off x="9794606" y="3835802"/>
            <a:ext cx="603188" cy="332647"/>
          </a:xfrm>
          <a:prstGeom prst="rect">
            <a:avLst/>
          </a:prstGeom>
          <a:noFill/>
          <a:ln>
            <a:noFill/>
          </a:ln>
        </p:spPr>
        <p:txBody>
          <a:bodyPr wrap="square" rtlCol="0" anchor="t">
            <a:noAutofit/>
          </a:bodyPr>
          <a:lstStyle/>
          <a:p>
            <a:pPr>
              <a:lnSpc>
                <a:spcPct val="100000"/>
              </a:lnSpc>
            </a:pPr>
            <a:r>
              <a:rPr lang="en-US" altLang="zh-CN" sz="1200" b="0" kern="1200" baseline="0" dirty="0">
                <a:solidFill>
                  <a:schemeClr val="tx1"/>
                </a:solidFill>
                <a:latin typeface="+mj-lt"/>
                <a:ea typeface="微软雅黑" panose="020B0503020204020204" pitchFamily="34" charset="-122"/>
                <a:cs typeface="+mn-cs"/>
              </a:rPr>
              <a:t>ROI</a:t>
            </a:r>
            <a:r>
              <a:rPr lang="zh-CN" altLang="en-US" sz="1200" b="0" kern="1200" baseline="0" dirty="0">
                <a:solidFill>
                  <a:schemeClr val="tx1"/>
                </a:solidFill>
                <a:latin typeface="+mj-lt"/>
                <a:ea typeface="微软雅黑" panose="020B0503020204020204" pitchFamily="34" charset="-122"/>
                <a:cs typeface="+mn-cs"/>
              </a:rPr>
              <a:t>：</a:t>
            </a:r>
            <a:endParaRPr lang="en-US" altLang="zh-CN" sz="1200" b="0" kern="1200" baseline="0" dirty="0">
              <a:solidFill>
                <a:schemeClr val="tx1"/>
              </a:solidFill>
              <a:latin typeface="+mj-lt"/>
              <a:ea typeface="微软雅黑" panose="020B0503020204020204" pitchFamily="34" charset="-122"/>
              <a:cs typeface="+mn-cs"/>
            </a:endParaRPr>
          </a:p>
        </p:txBody>
      </p:sp>
      <p:sp>
        <p:nvSpPr>
          <p:cNvPr id="77" name="文本框 76"/>
          <p:cNvSpPr txBox="1"/>
          <p:nvPr userDrawn="1"/>
        </p:nvSpPr>
        <p:spPr>
          <a:xfrm>
            <a:off x="4338193" y="3741998"/>
            <a:ext cx="360000" cy="1693063"/>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專案範圍</a:t>
            </a:r>
            <a:endParaRPr lang="zh-CN" altLang="en-US" sz="1600" b="1" u="sng" dirty="0">
              <a:solidFill>
                <a:schemeClr val="bg1"/>
              </a:solidFill>
              <a:latin typeface="+mn-ea"/>
              <a:ea typeface="+mn-ea"/>
            </a:endParaRPr>
          </a:p>
        </p:txBody>
      </p:sp>
      <p:sp>
        <p:nvSpPr>
          <p:cNvPr id="81" name="文本框 80"/>
          <p:cNvSpPr txBox="1"/>
          <p:nvPr userDrawn="1"/>
        </p:nvSpPr>
        <p:spPr>
          <a:xfrm>
            <a:off x="270776" y="5497398"/>
            <a:ext cx="360000" cy="834023"/>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時</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程</a:t>
            </a:r>
          </a:p>
        </p:txBody>
      </p:sp>
      <p:sp>
        <p:nvSpPr>
          <p:cNvPr id="44" name="標題 1">
            <a:extLst>
              <a:ext uri="{FF2B5EF4-FFF2-40B4-BE49-F238E27FC236}">
                <a16:creationId xmlns:a16="http://schemas.microsoft.com/office/drawing/2014/main" id="{E8CA6B8E-EB08-4AB0-9768-E121F12ABA2B}"/>
              </a:ext>
            </a:extLst>
          </p:cNvPr>
          <p:cNvSpPr txBox="1">
            <a:spLocks/>
          </p:cNvSpPr>
          <p:nvPr userDrawn="1"/>
        </p:nvSpPr>
        <p:spPr>
          <a:xfrm>
            <a:off x="9558270" y="374733"/>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dirty="0">
                <a:solidFill>
                  <a:schemeClr val="tx1"/>
                </a:solidFill>
                <a:latin typeface="+mn-ea"/>
                <a:ea typeface="+mn-ea"/>
              </a:rPr>
              <a:t>專案編號：</a:t>
            </a:r>
            <a:endParaRPr lang="en-US" sz="1200" dirty="0">
              <a:solidFill>
                <a:schemeClr val="tx1"/>
              </a:solidFill>
              <a:latin typeface="+mn-ea"/>
              <a:ea typeface="+mn-ea"/>
            </a:endParaRPr>
          </a:p>
        </p:txBody>
      </p:sp>
      <p:graphicFrame>
        <p:nvGraphicFramePr>
          <p:cNvPr id="49" name="表格 48"/>
          <p:cNvGraphicFramePr>
            <a:graphicFrameLocks noGrp="1"/>
          </p:cNvGraphicFramePr>
          <p:nvPr userDrawn="1"/>
        </p:nvGraphicFramePr>
        <p:xfrm>
          <a:off x="4843843" y="4574137"/>
          <a:ext cx="2273740" cy="834459"/>
        </p:xfrm>
        <a:graphic>
          <a:graphicData uri="http://schemas.openxmlformats.org/drawingml/2006/table">
            <a:tbl>
              <a:tblPr>
                <a:tableStyleId>{5C22544A-7EE6-4342-B048-85BDC9FD1C3A}</a:tableStyleId>
              </a:tblPr>
              <a:tblGrid>
                <a:gridCol w="1115420">
                  <a:extLst>
                    <a:ext uri="{9D8B030D-6E8A-4147-A177-3AD203B41FA5}">
                      <a16:colId xmlns:a16="http://schemas.microsoft.com/office/drawing/2014/main" val="3601475834"/>
                    </a:ext>
                  </a:extLst>
                </a:gridCol>
                <a:gridCol w="1158320">
                  <a:extLst>
                    <a:ext uri="{9D8B030D-6E8A-4147-A177-3AD203B41FA5}">
                      <a16:colId xmlns:a16="http://schemas.microsoft.com/office/drawing/2014/main" val="3963661121"/>
                    </a:ext>
                  </a:extLst>
                </a:gridCol>
              </a:tblGrid>
              <a:tr h="236004">
                <a:tc>
                  <a:txBody>
                    <a:bodyPr/>
                    <a:lstStyle/>
                    <a:p>
                      <a:pPr algn="l"/>
                      <a:r>
                        <a:rPr lang="zh-CN" altLang="en-US" sz="1200" b="1" kern="1200" baseline="0">
                          <a:solidFill>
                            <a:schemeClr val="tx1"/>
                          </a:solidFill>
                          <a:latin typeface="+mn-ea"/>
                          <a:ea typeface="+mn-ea"/>
                          <a:cs typeface="+mn-cs"/>
                        </a:rPr>
                        <a:t>     實</a:t>
                      </a:r>
                      <a:r>
                        <a:rPr lang="zh-CN" altLang="en-US" sz="1200" b="1" kern="1200" baseline="0" dirty="0">
                          <a:solidFill>
                            <a:schemeClr val="tx1"/>
                          </a:solidFill>
                          <a:latin typeface="+mn-ea"/>
                          <a:ea typeface="+mn-ea"/>
                          <a:cs typeface="+mn-cs"/>
                        </a:rPr>
                        <a:t>施範圍</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200" b="1" kern="1200" baseline="0">
                          <a:solidFill>
                            <a:schemeClr val="tx1"/>
                          </a:solidFill>
                          <a:latin typeface="+mn-ea"/>
                          <a:ea typeface="+mn-ea"/>
                          <a:cs typeface="+mn-cs"/>
                        </a:rPr>
                        <a:t>     產</a:t>
                      </a:r>
                      <a:r>
                        <a:rPr lang="zh-CN" altLang="en-US" sz="1200" b="1" kern="1200" baseline="0" dirty="0">
                          <a:solidFill>
                            <a:schemeClr val="tx1"/>
                          </a:solidFill>
                          <a:latin typeface="+mn-ea"/>
                          <a:ea typeface="+mn-ea"/>
                          <a:cs typeface="+mn-cs"/>
                        </a:rPr>
                        <a:t>出類型</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875191"/>
                  </a:ext>
                </a:extLst>
              </a:tr>
              <a:tr h="19948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多</a:t>
                      </a:r>
                      <a:r>
                        <a:rPr lang="zh-CN" altLang="en-US" sz="1100" b="0" kern="1200" baseline="0" dirty="0">
                          <a:solidFill>
                            <a:schemeClr val="tx1"/>
                          </a:solidFill>
                          <a:latin typeface="+mn-ea"/>
                          <a:ea typeface="+mn-ea"/>
                          <a:cs typeface="+mn-cs"/>
                        </a:rPr>
                        <a:t>個</a:t>
                      </a:r>
                      <a:r>
                        <a:rPr lang="zh-CN" altLang="en-US" sz="1100" b="0" kern="1200" baseline="0">
                          <a:solidFill>
                            <a:schemeClr val="tx1"/>
                          </a:solidFill>
                          <a:latin typeface="+mn-ea"/>
                          <a:ea typeface="+mn-ea"/>
                          <a:cs typeface="+mn-cs"/>
                        </a:rPr>
                        <a:t>廠區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系統平台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775297"/>
                  </a:ext>
                </a:extLst>
              </a:tr>
              <a:tr h="199485">
                <a:tc>
                  <a:txBody>
                    <a:bodyPr/>
                    <a:lstStyle/>
                    <a:p>
                      <a:pPr algn="l"/>
                      <a:r>
                        <a:rPr lang="zh-CN" altLang="en-US" sz="1100" b="0" kern="1200" baseline="0">
                          <a:solidFill>
                            <a:schemeClr val="tx1"/>
                          </a:solidFill>
                          <a:latin typeface="+mn-ea"/>
                          <a:ea typeface="+mn-ea"/>
                          <a:cs typeface="+mn-cs"/>
                        </a:rPr>
                        <a:t>○  單</a:t>
                      </a:r>
                      <a:r>
                        <a:rPr lang="zh-CN" altLang="en-US" sz="1100" b="0" kern="1200" baseline="0" dirty="0">
                          <a:solidFill>
                            <a:schemeClr val="tx1"/>
                          </a:solidFill>
                          <a:latin typeface="+mn-ea"/>
                          <a:ea typeface="+mn-ea"/>
                          <a:cs typeface="+mn-cs"/>
                        </a:rPr>
                        <a:t>一</a:t>
                      </a:r>
                      <a:r>
                        <a:rPr lang="zh-CN" altLang="en-US" sz="1100" b="0" kern="1200" baseline="0">
                          <a:solidFill>
                            <a:schemeClr val="tx1"/>
                          </a:solidFill>
                          <a:latin typeface="+mn-ea"/>
                          <a:ea typeface="+mn-ea"/>
                          <a:cs typeface="+mn-cs"/>
                        </a:rPr>
                        <a:t>廠區 </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軟</a:t>
                      </a:r>
                      <a:r>
                        <a:rPr lang="zh-CN" altLang="en-US" sz="1100" b="0" kern="1200" baseline="0" dirty="0">
                          <a:solidFill>
                            <a:schemeClr val="tx1"/>
                          </a:solidFill>
                          <a:latin typeface="+mn-ea"/>
                          <a:ea typeface="+mn-ea"/>
                          <a:cs typeface="+mn-cs"/>
                        </a:rPr>
                        <a:t>件</a:t>
                      </a:r>
                      <a:r>
                        <a:rPr lang="en-US" altLang="zh-CN" sz="1100" b="0" kern="1200" baseline="0" dirty="0">
                          <a:solidFill>
                            <a:schemeClr val="tx1"/>
                          </a:solidFill>
                          <a:latin typeface="+mn-ea"/>
                          <a:ea typeface="+mn-ea"/>
                          <a:cs typeface="+mn-cs"/>
                        </a:rPr>
                        <a:t>/</a:t>
                      </a:r>
                      <a:r>
                        <a:rPr lang="zh-CN" altLang="en-US" sz="1100" b="0" kern="1200" baseline="0" dirty="0">
                          <a:solidFill>
                            <a:schemeClr val="tx1"/>
                          </a:solidFill>
                          <a:latin typeface="+mn-ea"/>
                          <a:ea typeface="+mn-ea"/>
                          <a:cs typeface="+mn-cs"/>
                        </a:rPr>
                        <a:t>規範</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5369103"/>
                  </a:ext>
                </a:extLst>
              </a:tr>
              <a:tr h="199485">
                <a:tc>
                  <a:txBody>
                    <a:bodyPr/>
                    <a:lstStyle/>
                    <a:p>
                      <a:pPr algn="l"/>
                      <a:r>
                        <a:rPr lang="zh-CN" altLang="en-US" sz="1100" b="0" kern="1200" baseline="0">
                          <a:solidFill>
                            <a:schemeClr val="tx1"/>
                          </a:solidFill>
                          <a:latin typeface="+mn-ea"/>
                          <a:ea typeface="+mn-ea"/>
                          <a:cs typeface="+mn-cs"/>
                        </a:rPr>
                        <a:t>○  單</a:t>
                      </a:r>
                      <a:r>
                        <a:rPr lang="zh-CN" altLang="en-US" sz="1100" b="0" kern="1200" baseline="0" dirty="0">
                          <a:solidFill>
                            <a:schemeClr val="tx1"/>
                          </a:solidFill>
                          <a:latin typeface="+mn-ea"/>
                          <a:ea typeface="+mn-ea"/>
                          <a:cs typeface="+mn-cs"/>
                        </a:rPr>
                        <a:t>線</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硬件</a:t>
                      </a:r>
                      <a:endParaRPr lang="zh-CN" altLang="en-US" sz="110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180558"/>
                  </a:ext>
                </a:extLst>
              </a:tr>
            </a:tbl>
          </a:graphicData>
        </a:graphic>
      </p:graphicFrame>
      <p:sp>
        <p:nvSpPr>
          <p:cNvPr id="5" name="矩形 4"/>
          <p:cNvSpPr/>
          <p:nvPr userDrawn="1"/>
        </p:nvSpPr>
        <p:spPr>
          <a:xfrm>
            <a:off x="5110263" y="3773937"/>
            <a:ext cx="518091" cy="276999"/>
          </a:xfrm>
          <a:prstGeom prst="rect">
            <a:avLst/>
          </a:prstGeom>
        </p:spPr>
        <p:txBody>
          <a:bodyPr wrap="none">
            <a:spAutoFit/>
          </a:bodyPr>
          <a:lstStyle/>
          <a:p>
            <a:r>
              <a:rPr kumimoji="0" lang="en-US" altLang="zh-CN" sz="1200" b="1" i="0" u="none" strike="noStrike" kern="1200" cap="none" spc="0" normalizeH="0" baseline="0" noProof="0" dirty="0">
                <a:ln>
                  <a:noFill/>
                </a:ln>
                <a:solidFill>
                  <a:schemeClr val="tx1"/>
                </a:solidFill>
                <a:effectLst/>
                <a:uLnTx/>
                <a:uFillTx/>
                <a:latin typeface="+mj-lt"/>
                <a:ea typeface="微软雅黑" panose="020B0503020204020204" pitchFamily="34" charset="-122"/>
                <a:cs typeface="+mn-cs"/>
              </a:rPr>
              <a:t>POC</a:t>
            </a:r>
            <a:endParaRPr lang="zh-CN" altLang="en-US" sz="1200" b="1" dirty="0">
              <a:solidFill>
                <a:schemeClr val="tx1"/>
              </a:solidFill>
              <a:latin typeface="+mj-lt"/>
            </a:endParaRPr>
          </a:p>
        </p:txBody>
      </p:sp>
      <p:graphicFrame>
        <p:nvGraphicFramePr>
          <p:cNvPr id="73" name="表格 72"/>
          <p:cNvGraphicFramePr>
            <a:graphicFrameLocks noGrp="1"/>
          </p:cNvGraphicFramePr>
          <p:nvPr userDrawn="1"/>
        </p:nvGraphicFramePr>
        <p:xfrm>
          <a:off x="1708205" y="5475683"/>
          <a:ext cx="10068931" cy="747840"/>
        </p:xfrm>
        <a:graphic>
          <a:graphicData uri="http://schemas.openxmlformats.org/drawingml/2006/table">
            <a:tbl>
              <a:tblPr firstRow="1">
                <a:tableStyleId>{5C22544A-7EE6-4342-B048-85BDC9FD1C3A}</a:tableStyleId>
              </a:tblPr>
              <a:tblGrid>
                <a:gridCol w="1194619">
                  <a:extLst>
                    <a:ext uri="{9D8B030D-6E8A-4147-A177-3AD203B41FA5}">
                      <a16:colId xmlns:a16="http://schemas.microsoft.com/office/drawing/2014/main" val="1364975805"/>
                    </a:ext>
                  </a:extLst>
                </a:gridCol>
                <a:gridCol w="1109289">
                  <a:extLst>
                    <a:ext uri="{9D8B030D-6E8A-4147-A177-3AD203B41FA5}">
                      <a16:colId xmlns:a16="http://schemas.microsoft.com/office/drawing/2014/main" val="598168328"/>
                    </a:ext>
                  </a:extLst>
                </a:gridCol>
                <a:gridCol w="1109289">
                  <a:extLst>
                    <a:ext uri="{9D8B030D-6E8A-4147-A177-3AD203B41FA5}">
                      <a16:colId xmlns:a16="http://schemas.microsoft.com/office/drawing/2014/main" val="3996203012"/>
                    </a:ext>
                  </a:extLst>
                </a:gridCol>
                <a:gridCol w="1109289">
                  <a:extLst>
                    <a:ext uri="{9D8B030D-6E8A-4147-A177-3AD203B41FA5}">
                      <a16:colId xmlns:a16="http://schemas.microsoft.com/office/drawing/2014/main" val="8965765"/>
                    </a:ext>
                  </a:extLst>
                </a:gridCol>
                <a:gridCol w="1109289">
                  <a:extLst>
                    <a:ext uri="{9D8B030D-6E8A-4147-A177-3AD203B41FA5}">
                      <a16:colId xmlns:a16="http://schemas.microsoft.com/office/drawing/2014/main" val="3018412842"/>
                    </a:ext>
                  </a:extLst>
                </a:gridCol>
                <a:gridCol w="1109289">
                  <a:extLst>
                    <a:ext uri="{9D8B030D-6E8A-4147-A177-3AD203B41FA5}">
                      <a16:colId xmlns:a16="http://schemas.microsoft.com/office/drawing/2014/main" val="1610061165"/>
                    </a:ext>
                  </a:extLst>
                </a:gridCol>
                <a:gridCol w="1109289">
                  <a:extLst>
                    <a:ext uri="{9D8B030D-6E8A-4147-A177-3AD203B41FA5}">
                      <a16:colId xmlns:a16="http://schemas.microsoft.com/office/drawing/2014/main" val="2837564109"/>
                    </a:ext>
                  </a:extLst>
                </a:gridCol>
                <a:gridCol w="1109289">
                  <a:extLst>
                    <a:ext uri="{9D8B030D-6E8A-4147-A177-3AD203B41FA5}">
                      <a16:colId xmlns:a16="http://schemas.microsoft.com/office/drawing/2014/main" val="627612840"/>
                    </a:ext>
                  </a:extLst>
                </a:gridCol>
                <a:gridCol w="1109289">
                  <a:extLst>
                    <a:ext uri="{9D8B030D-6E8A-4147-A177-3AD203B41FA5}">
                      <a16:colId xmlns:a16="http://schemas.microsoft.com/office/drawing/2014/main" val="2411478032"/>
                    </a:ext>
                  </a:extLst>
                </a:gridCol>
              </a:tblGrid>
              <a:tr h="504000">
                <a:tc>
                  <a:txBody>
                    <a:bodyPr/>
                    <a:lstStyle/>
                    <a:p>
                      <a:pPr algn="ctr">
                        <a:lnSpc>
                          <a:spcPct val="100000"/>
                        </a:lnSpc>
                      </a:pPr>
                      <a:r>
                        <a:rPr lang="en-US" altLang="zh-TW" sz="1200" b="1" kern="1200" dirty="0">
                          <a:solidFill>
                            <a:schemeClr val="tx1"/>
                          </a:solidFill>
                          <a:latin typeface="+mj-lt"/>
                          <a:ea typeface="微软雅黑" panose="020B0503020204020204" pitchFamily="34" charset="-122"/>
                          <a:cs typeface="+mn-cs"/>
                        </a:rPr>
                        <a:t>Milestone</a:t>
                      </a:r>
                    </a:p>
                  </a:txBody>
                  <a:tcPr marL="0" marR="0" marT="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377" rtl="0" eaLnBrk="1" latinLnBrk="0" hangingPunct="1">
                        <a:lnSpc>
                          <a:spcPct val="100000"/>
                        </a:lnSpc>
                      </a:pPr>
                      <a:r>
                        <a:rPr lang="en-US" altLang="zh-TW" sz="1200" b="1" kern="1200" dirty="0">
                          <a:solidFill>
                            <a:schemeClr val="tx1"/>
                          </a:solidFill>
                          <a:latin typeface="+mn-lt"/>
                          <a:ea typeface="+mn-ea"/>
                          <a:cs typeface="+mn-cs"/>
                        </a:rPr>
                        <a:t>M1</a:t>
                      </a:r>
                    </a:p>
                    <a:p>
                      <a:pPr marL="0" algn="ctr" defTabSz="914377" rtl="0" eaLnBrk="1" latinLnBrk="0" hangingPunct="1">
                        <a:lnSpc>
                          <a:spcPct val="100000"/>
                        </a:lnSpc>
                      </a:pPr>
                      <a:r>
                        <a:rPr lang="zh-TW" altLang="en-US" sz="1200" b="0" kern="1200" dirty="0">
                          <a:solidFill>
                            <a:schemeClr val="tx1"/>
                          </a:solidFill>
                          <a:latin typeface="+mn-lt"/>
                          <a:ea typeface="+mn-ea"/>
                          <a:cs typeface="+mn-cs"/>
                        </a:rPr>
                        <a:t>需求評估</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M2</a:t>
                      </a:r>
                    </a:p>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mn-lt"/>
                          <a:ea typeface="+mn-ea"/>
                          <a:cs typeface="+mn-cs"/>
                        </a:rPr>
                        <a:t>系統設計</a:t>
                      </a:r>
                      <a:endParaRPr lang="en-US" altLang="zh-CN"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spcAft>
                          <a:spcPts val="0"/>
                        </a:spcAft>
                      </a:pPr>
                      <a:r>
                        <a:rPr lang="en-US" altLang="zh-TW" sz="1200" b="1" kern="1200" dirty="0">
                          <a:solidFill>
                            <a:schemeClr val="tx1"/>
                          </a:solidFill>
                          <a:latin typeface="+mn-lt"/>
                          <a:ea typeface="+mn-ea"/>
                          <a:cs typeface="+mn-cs"/>
                        </a:rPr>
                        <a:t>M3</a:t>
                      </a:r>
                    </a:p>
                    <a:p>
                      <a:pPr marL="0" algn="ctr" defTabSz="914377" rtl="0" eaLnBrk="1" latinLnBrk="0" hangingPunct="1">
                        <a:lnSpc>
                          <a:spcPct val="100000"/>
                        </a:lnSpc>
                        <a:spcAft>
                          <a:spcPts val="0"/>
                        </a:spcAft>
                      </a:pPr>
                      <a:r>
                        <a:rPr lang="zh-CN" altLang="en-US" sz="1200" b="0" kern="1200" dirty="0">
                          <a:solidFill>
                            <a:schemeClr val="tx1"/>
                          </a:solidFill>
                          <a:latin typeface="+mn-lt"/>
                          <a:ea typeface="+mn-ea"/>
                          <a:cs typeface="+mn-cs"/>
                        </a:rPr>
                        <a:t>功能</a:t>
                      </a:r>
                      <a:r>
                        <a:rPr lang="zh-TW" altLang="en-US" sz="1200" b="0" kern="1200" dirty="0">
                          <a:solidFill>
                            <a:schemeClr val="tx1"/>
                          </a:solidFill>
                          <a:latin typeface="+mn-lt"/>
                          <a:ea typeface="+mn-ea"/>
                          <a:cs typeface="+mn-cs"/>
                        </a:rPr>
                        <a:t>設計</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pPr>
                      <a:r>
                        <a:rPr lang="en-US" altLang="zh-TW" sz="1200" b="1" kern="1200" dirty="0">
                          <a:solidFill>
                            <a:schemeClr val="tx1"/>
                          </a:solidFill>
                          <a:latin typeface="+mn-lt"/>
                          <a:ea typeface="+mn-ea"/>
                          <a:cs typeface="+mn-cs"/>
                        </a:rPr>
                        <a:t>M4</a:t>
                      </a:r>
                    </a:p>
                    <a:p>
                      <a:pPr marL="0" lvl="0" algn="ctr" defTabSz="914377" rtl="0" eaLnBrk="1" latinLnBrk="0" hangingPunct="1">
                        <a:lnSpc>
                          <a:spcPct val="100000"/>
                        </a:lnSpc>
                      </a:pPr>
                      <a:r>
                        <a:rPr lang="zh-CN" altLang="en-US" sz="1200" b="0" kern="1200" dirty="0">
                          <a:solidFill>
                            <a:schemeClr val="tx1"/>
                          </a:solidFill>
                          <a:latin typeface="+mn-lt"/>
                          <a:ea typeface="+mn-ea"/>
                          <a:cs typeface="+mn-cs"/>
                        </a:rPr>
                        <a:t>系統整合測試</a:t>
                      </a:r>
                      <a:endParaRPr lang="zh-TW"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defRPr/>
                      </a:pPr>
                      <a:r>
                        <a:rPr lang="en-US" altLang="zh-TW" sz="1200" b="1" kern="1200" dirty="0">
                          <a:solidFill>
                            <a:schemeClr val="tx1"/>
                          </a:solidFill>
                          <a:latin typeface="+mn-lt"/>
                          <a:ea typeface="+mn-ea"/>
                          <a:cs typeface="+mn-cs"/>
                        </a:rPr>
                        <a:t>M5</a:t>
                      </a:r>
                    </a:p>
                    <a:p>
                      <a:pPr marL="0" lvl="0" algn="ctr" defTabSz="914377" rtl="0" eaLnBrk="1" latinLnBrk="0" hangingPunct="1">
                        <a:lnSpc>
                          <a:spcPct val="100000"/>
                        </a:lnSpc>
                        <a:defRPr/>
                      </a:pPr>
                      <a:r>
                        <a:rPr lang="zh-CN" altLang="en-US" sz="1200" b="0" kern="1200" dirty="0">
                          <a:solidFill>
                            <a:schemeClr val="tx1"/>
                          </a:solidFill>
                          <a:latin typeface="+mn-lt"/>
                          <a:ea typeface="+mn-ea"/>
                          <a:cs typeface="+mn-cs"/>
                        </a:rPr>
                        <a:t>使用者測試</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dirty="0">
                          <a:solidFill>
                            <a:schemeClr val="tx1"/>
                          </a:solidFill>
                          <a:latin typeface="+mn-lt"/>
                          <a:ea typeface="+mn-ea"/>
                          <a:cs typeface="+mn-cs"/>
                        </a:rPr>
                        <a:t>M6</a:t>
                      </a:r>
                    </a:p>
                    <a:p>
                      <a:pPr marL="0" algn="ctr" defTabSz="914377" rtl="0" eaLnBrk="1" latinLnBrk="0" hangingPunct="1">
                        <a:lnSpc>
                          <a:spcPct val="100000"/>
                        </a:lnSpc>
                        <a:defRPr/>
                      </a:pPr>
                      <a:r>
                        <a:rPr lang="zh-TW" altLang="en-US" sz="1200" b="0" kern="1200" dirty="0">
                          <a:solidFill>
                            <a:schemeClr val="tx1"/>
                          </a:solidFill>
                          <a:latin typeface="+mn-lt"/>
                          <a:ea typeface="+mn-ea"/>
                          <a:cs typeface="+mn-cs"/>
                        </a:rPr>
                        <a:t>資訊流標準化</a:t>
                      </a:r>
                      <a:endParaRPr lang="zh-CN" altLang="en-US"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M7</a:t>
                      </a:r>
                    </a:p>
                    <a:p>
                      <a:pPr marL="0" marR="0" indent="0" algn="ctr" defTabSz="914377"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latin typeface="+mn-lt"/>
                          <a:ea typeface="+mn-ea"/>
                          <a:cs typeface="+mn-cs"/>
                        </a:rPr>
                        <a:t>落地規劃</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dirty="0">
                          <a:solidFill>
                            <a:schemeClr val="tx1"/>
                          </a:solidFill>
                          <a:latin typeface="+mn-lt"/>
                          <a:ea typeface="+mn-ea"/>
                          <a:cs typeface="+mn-cs"/>
                        </a:rPr>
                        <a:t>M8</a:t>
                      </a:r>
                    </a:p>
                    <a:p>
                      <a:pPr marL="0" algn="ctr" defTabSz="914377" rtl="0" eaLnBrk="1" latinLnBrk="0" hangingPunct="1">
                        <a:lnSpc>
                          <a:spcPct val="100000"/>
                        </a:lnSpc>
                        <a:defRPr/>
                      </a:pPr>
                      <a:r>
                        <a:rPr lang="zh-TW" altLang="en-US" sz="1200" b="0" kern="1200" dirty="0">
                          <a:solidFill>
                            <a:schemeClr val="tx1"/>
                          </a:solidFill>
                          <a:latin typeface="+mn-lt"/>
                          <a:ea typeface="+mn-ea"/>
                          <a:cs typeface="+mn-cs"/>
                        </a:rPr>
                        <a:t>落地檢核</a:t>
                      </a:r>
                      <a:endParaRPr lang="zh-CN" altLang="en-US"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3771765"/>
                  </a:ext>
                </a:extLst>
              </a:tr>
              <a:tr h="243840">
                <a:tc>
                  <a:txBody>
                    <a:bodyPr/>
                    <a:lstStyle/>
                    <a:p>
                      <a:pPr algn="ctr">
                        <a:lnSpc>
                          <a:spcPct val="100000"/>
                        </a:lnSpc>
                      </a:pPr>
                      <a:r>
                        <a:rPr lang="en-US" altLang="zh-CN" sz="1200" b="1">
                          <a:solidFill>
                            <a:schemeClr val="tx1"/>
                          </a:solidFill>
                          <a:latin typeface="+mj-lt"/>
                          <a:ea typeface="+mn-ea"/>
                        </a:rPr>
                        <a:t>Due</a:t>
                      </a:r>
                      <a:r>
                        <a:rPr lang="zh-CN" altLang="en-US" sz="1200" b="1" baseline="0">
                          <a:solidFill>
                            <a:schemeClr val="tx1"/>
                          </a:solidFill>
                          <a:latin typeface="+mj-lt"/>
                          <a:ea typeface="+mn-ea"/>
                        </a:rPr>
                        <a:t> </a:t>
                      </a:r>
                      <a:r>
                        <a:rPr lang="en-US" altLang="zh-CN" sz="1200" b="1" baseline="0">
                          <a:solidFill>
                            <a:schemeClr val="tx1"/>
                          </a:solidFill>
                          <a:latin typeface="+mj-lt"/>
                          <a:ea typeface="+mn-ea"/>
                        </a:rPr>
                        <a:t>date</a:t>
                      </a:r>
                      <a:endParaRPr lang="en-US" altLang="zh-CN" sz="1200" b="1" dirty="0">
                        <a:solidFill>
                          <a:schemeClr val="tx1"/>
                        </a:solidFill>
                        <a:latin typeface="+mj-lt"/>
                        <a:ea typeface="+mn-ea"/>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CN" altLang="en-US" sz="1600" b="0" dirty="0">
                        <a:solidFill>
                          <a:schemeClr val="tx1"/>
                        </a:solidFill>
                        <a:latin typeface="+mj-lt"/>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4082158"/>
                  </a:ext>
                </a:extLst>
              </a:tr>
            </a:tbl>
          </a:graphicData>
        </a:graphic>
      </p:graphicFrame>
      <p:cxnSp>
        <p:nvCxnSpPr>
          <p:cNvPr id="74" name="直接连接符 73"/>
          <p:cNvCxnSpPr/>
          <p:nvPr userDrawn="1"/>
        </p:nvCxnSpPr>
        <p:spPr>
          <a:xfrm flipH="1">
            <a:off x="-3" y="5462265"/>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9" name="標題 1">
            <a:extLst>
              <a:ext uri="{FF2B5EF4-FFF2-40B4-BE49-F238E27FC236}">
                <a16:creationId xmlns:a16="http://schemas.microsoft.com/office/drawing/2014/main" id="{E8CA6B8E-EB08-4AB0-9768-E121F12ABA2B}"/>
              </a:ext>
            </a:extLst>
          </p:cNvPr>
          <p:cNvSpPr txBox="1">
            <a:spLocks/>
          </p:cNvSpPr>
          <p:nvPr userDrawn="1"/>
        </p:nvSpPr>
        <p:spPr>
          <a:xfrm>
            <a:off x="9558269" y="172486"/>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dirty="0">
                <a:solidFill>
                  <a:schemeClr val="tx1"/>
                </a:solidFill>
                <a:latin typeface="+mn-ea"/>
                <a:ea typeface="+mn-ea"/>
              </a:rPr>
              <a:t>專案屬性：</a:t>
            </a:r>
            <a:endParaRPr lang="en-US" sz="1200" dirty="0">
              <a:solidFill>
                <a:schemeClr val="tx1"/>
              </a:solidFill>
              <a:latin typeface="+mn-ea"/>
              <a:ea typeface="+mn-ea"/>
            </a:endParaRPr>
          </a:p>
        </p:txBody>
      </p:sp>
      <p:sp>
        <p:nvSpPr>
          <p:cNvPr id="41" name="文本框 80">
            <a:extLst>
              <a:ext uri="{FF2B5EF4-FFF2-40B4-BE49-F238E27FC236}">
                <a16:creationId xmlns:a16="http://schemas.microsoft.com/office/drawing/2014/main" id="{CE4A5CD4-18D6-442A-8251-0B27565425B3}"/>
              </a:ext>
            </a:extLst>
          </p:cNvPr>
          <p:cNvSpPr txBox="1"/>
          <p:nvPr userDrawn="1"/>
        </p:nvSpPr>
        <p:spPr>
          <a:xfrm>
            <a:off x="942943" y="6001110"/>
            <a:ext cx="457368" cy="211767"/>
          </a:xfrm>
          <a:prstGeom prst="rect">
            <a:avLst/>
          </a:prstGeom>
          <a:noFill/>
          <a:ln>
            <a:noFill/>
          </a:ln>
        </p:spPr>
        <p:txBody>
          <a:bodyPr wrap="none" lIns="36000" tIns="0" rIns="36000" bIns="0" rtlCol="0" anchor="t" anchorCtr="0">
            <a:noAutofit/>
          </a:bodyPr>
          <a:lstStyle/>
          <a:p>
            <a:pPr algn="ctr"/>
            <a:r>
              <a:rPr lang="zh-CN" altLang="en-US" sz="1400" b="1" dirty="0">
                <a:solidFill>
                  <a:schemeClr val="tx1"/>
                </a:solidFill>
                <a:latin typeface="+mn-ea"/>
                <a:ea typeface="+mn-ea"/>
              </a:rPr>
              <a:t>天</a:t>
            </a:r>
          </a:p>
        </p:txBody>
      </p:sp>
      <p:cxnSp>
        <p:nvCxnSpPr>
          <p:cNvPr id="48" name="直接连接符 73">
            <a:extLst>
              <a:ext uri="{FF2B5EF4-FFF2-40B4-BE49-F238E27FC236}">
                <a16:creationId xmlns:a16="http://schemas.microsoft.com/office/drawing/2014/main" id="{260BD545-25F4-463E-914E-4B2E7F5D5FE7}"/>
              </a:ext>
            </a:extLst>
          </p:cNvPr>
          <p:cNvCxnSpPr/>
          <p:nvPr userDrawn="1"/>
        </p:nvCxnSpPr>
        <p:spPr>
          <a:xfrm flipH="1">
            <a:off x="-3" y="3711691"/>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5" name="文本框 76">
            <a:extLst>
              <a:ext uri="{FF2B5EF4-FFF2-40B4-BE49-F238E27FC236}">
                <a16:creationId xmlns:a16="http://schemas.microsoft.com/office/drawing/2014/main" id="{412770B5-2D22-4757-B0F9-827C620D34C0}"/>
              </a:ext>
            </a:extLst>
          </p:cNvPr>
          <p:cNvSpPr txBox="1"/>
          <p:nvPr userDrawn="1"/>
        </p:nvSpPr>
        <p:spPr>
          <a:xfrm>
            <a:off x="7229261" y="3741999"/>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專案效益</a:t>
            </a:r>
            <a:endParaRPr lang="zh-CN" altLang="en-US" sz="1600" b="1" u="sng" dirty="0">
              <a:solidFill>
                <a:schemeClr val="bg1"/>
              </a:solidFill>
              <a:latin typeface="+mn-ea"/>
              <a:ea typeface="+mn-ea"/>
            </a:endParaRPr>
          </a:p>
        </p:txBody>
      </p:sp>
      <p:sp>
        <p:nvSpPr>
          <p:cNvPr id="79" name="矩形 78">
            <a:extLst>
              <a:ext uri="{FF2B5EF4-FFF2-40B4-BE49-F238E27FC236}">
                <a16:creationId xmlns:a16="http://schemas.microsoft.com/office/drawing/2014/main" id="{74B93A32-4EBD-4EAA-9EBE-60BA29C04118}"/>
              </a:ext>
            </a:extLst>
          </p:cNvPr>
          <p:cNvSpPr/>
          <p:nvPr userDrawn="1"/>
        </p:nvSpPr>
        <p:spPr>
          <a:xfrm>
            <a:off x="6243413" y="3773937"/>
            <a:ext cx="492443" cy="276999"/>
          </a:xfrm>
          <a:prstGeom prst="rect">
            <a:avLst/>
          </a:prstGeom>
        </p:spPr>
        <p:txBody>
          <a:bodyPr wrap="none">
            <a:spAutoFit/>
          </a:bodyPr>
          <a:lstStyle/>
          <a:p>
            <a:r>
              <a:rPr kumimoji="0" lang="zh-CN" altLang="en-US" sz="1200" b="1" i="0" u="none" strike="noStrike" kern="1200" cap="none" spc="0" normalizeH="0" baseline="0" noProof="0" dirty="0">
                <a:ln>
                  <a:noFill/>
                </a:ln>
                <a:solidFill>
                  <a:schemeClr val="tx1"/>
                </a:solidFill>
                <a:effectLst/>
                <a:uLnTx/>
                <a:uFillTx/>
                <a:latin typeface="+mn-ea"/>
                <a:ea typeface="+mn-ea"/>
                <a:cs typeface="+mn-cs"/>
              </a:rPr>
              <a:t>落地</a:t>
            </a:r>
            <a:endParaRPr lang="zh-CN" altLang="en-US" sz="1200" b="1" dirty="0">
              <a:solidFill>
                <a:schemeClr val="tx1"/>
              </a:solidFill>
              <a:latin typeface="+mn-ea"/>
              <a:ea typeface="+mn-ea"/>
            </a:endParaRPr>
          </a:p>
        </p:txBody>
      </p:sp>
      <p:sp>
        <p:nvSpPr>
          <p:cNvPr id="13" name="矩形 12">
            <a:extLst>
              <a:ext uri="{FF2B5EF4-FFF2-40B4-BE49-F238E27FC236}">
                <a16:creationId xmlns:a16="http://schemas.microsoft.com/office/drawing/2014/main" id="{DB237AD2-C320-4A06-AA5B-DFCAEB5BB200}"/>
              </a:ext>
            </a:extLst>
          </p:cNvPr>
          <p:cNvSpPr/>
          <p:nvPr userDrawn="1"/>
        </p:nvSpPr>
        <p:spPr>
          <a:xfrm>
            <a:off x="8616155" y="3829575"/>
            <a:ext cx="1007327" cy="276999"/>
          </a:xfrm>
          <a:prstGeom prst="rect">
            <a:avLst/>
          </a:prstGeom>
        </p:spPr>
        <p:txBody>
          <a:bodyPr wrap="non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KUSD</a:t>
            </a: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15" name="矩形 14">
            <a:extLst>
              <a:ext uri="{FF2B5EF4-FFF2-40B4-BE49-F238E27FC236}">
                <a16:creationId xmlns:a16="http://schemas.microsoft.com/office/drawing/2014/main" id="{A2D2403B-89BC-4F21-8E00-B9F06CF42EF0}"/>
              </a:ext>
            </a:extLst>
          </p:cNvPr>
          <p:cNvSpPr/>
          <p:nvPr userDrawn="1"/>
        </p:nvSpPr>
        <p:spPr>
          <a:xfrm>
            <a:off x="10875240" y="3822095"/>
            <a:ext cx="537648" cy="276999"/>
          </a:xfrm>
          <a:prstGeom prst="rect">
            <a:avLst/>
          </a:prstGeom>
        </p:spPr>
        <p:txBody>
          <a:bodyPr wrap="none">
            <a:spAutoFit/>
          </a:bodyPr>
          <a:lstStyle/>
          <a:p>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lang="zh-TW" altLang="en-US" sz="1800" b="0" dirty="0">
              <a:solidFill>
                <a:schemeClr val="tx1"/>
              </a:solidFill>
            </a:endParaRPr>
          </a:p>
        </p:txBody>
      </p:sp>
      <p:sp>
        <p:nvSpPr>
          <p:cNvPr id="94" name="文本框 76">
            <a:extLst>
              <a:ext uri="{FF2B5EF4-FFF2-40B4-BE49-F238E27FC236}">
                <a16:creationId xmlns:a16="http://schemas.microsoft.com/office/drawing/2014/main" id="{5E299125-23C7-45ED-9CD0-F792DF9E67D7}"/>
              </a:ext>
            </a:extLst>
          </p:cNvPr>
          <p:cNvSpPr txBox="1"/>
          <p:nvPr userDrawn="1"/>
        </p:nvSpPr>
        <p:spPr>
          <a:xfrm>
            <a:off x="270776" y="3742863"/>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專案團隊</a:t>
            </a:r>
            <a:endParaRPr lang="zh-CN" altLang="en-US" sz="1600" b="1" u="sng" dirty="0">
              <a:solidFill>
                <a:schemeClr val="bg1"/>
              </a:solidFill>
              <a:latin typeface="+mn-ea"/>
              <a:ea typeface="+mn-ea"/>
            </a:endParaRPr>
          </a:p>
        </p:txBody>
      </p:sp>
      <p:cxnSp>
        <p:nvCxnSpPr>
          <p:cNvPr id="95" name="直接连接符 73">
            <a:extLst>
              <a:ext uri="{FF2B5EF4-FFF2-40B4-BE49-F238E27FC236}">
                <a16:creationId xmlns:a16="http://schemas.microsoft.com/office/drawing/2014/main" id="{E3D9E4B4-7C32-4F6D-B760-7606B45ECC9B}"/>
              </a:ext>
            </a:extLst>
          </p:cNvPr>
          <p:cNvCxnSpPr/>
          <p:nvPr userDrawn="1"/>
        </p:nvCxnSpPr>
        <p:spPr>
          <a:xfrm flipH="1">
            <a:off x="-3"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文本框 24"/>
          <p:cNvSpPr txBox="1"/>
          <p:nvPr userDrawn="1"/>
        </p:nvSpPr>
        <p:spPr>
          <a:xfrm>
            <a:off x="270776" y="753697"/>
            <a:ext cx="360000" cy="2934000"/>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需</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求</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與</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目</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標</a:t>
            </a:r>
          </a:p>
        </p:txBody>
      </p:sp>
      <p:sp>
        <p:nvSpPr>
          <p:cNvPr id="87" name="文本框 86"/>
          <p:cNvSpPr txBox="1"/>
          <p:nvPr userDrawn="1"/>
        </p:nvSpPr>
        <p:spPr>
          <a:xfrm>
            <a:off x="5566935" y="753697"/>
            <a:ext cx="360000" cy="2934000"/>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挑</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戰</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與</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解</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決</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方</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案</a:t>
            </a:r>
          </a:p>
        </p:txBody>
      </p:sp>
      <p:sp>
        <p:nvSpPr>
          <p:cNvPr id="21" name="等腰三角形 20">
            <a:extLst>
              <a:ext uri="{FF2B5EF4-FFF2-40B4-BE49-F238E27FC236}">
                <a16:creationId xmlns:a16="http://schemas.microsoft.com/office/drawing/2014/main" id="{0F94FA73-696E-4585-96A5-3EA8EEDFE197}"/>
              </a:ext>
            </a:extLst>
          </p:cNvPr>
          <p:cNvSpPr/>
          <p:nvPr userDrawn="1"/>
        </p:nvSpPr>
        <p:spPr>
          <a:xfrm rot="5400000">
            <a:off x="2645908" y="568363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105" name="等腰三角形 104">
            <a:extLst>
              <a:ext uri="{FF2B5EF4-FFF2-40B4-BE49-F238E27FC236}">
                <a16:creationId xmlns:a16="http://schemas.microsoft.com/office/drawing/2014/main" id="{230A3365-B0E2-46E8-90A4-D92B50D29BC0}"/>
              </a:ext>
            </a:extLst>
          </p:cNvPr>
          <p:cNvSpPr/>
          <p:nvPr userDrawn="1"/>
        </p:nvSpPr>
        <p:spPr>
          <a:xfrm rot="5400000">
            <a:off x="2645908" y="607977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6" name="標題 1">
            <a:extLst>
              <a:ext uri="{FF2B5EF4-FFF2-40B4-BE49-F238E27FC236}">
                <a16:creationId xmlns:a16="http://schemas.microsoft.com/office/drawing/2014/main" id="{874D4825-8DCA-4167-9242-B1829510756A}"/>
              </a:ext>
            </a:extLst>
          </p:cNvPr>
          <p:cNvSpPr txBox="1">
            <a:spLocks/>
          </p:cNvSpPr>
          <p:nvPr userDrawn="1"/>
        </p:nvSpPr>
        <p:spPr>
          <a:xfrm>
            <a:off x="485067" y="374733"/>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j-lt"/>
                <a:ea typeface="+mn-ea"/>
              </a:rPr>
              <a:t>PM</a:t>
            </a:r>
            <a:r>
              <a:rPr lang="zh-CN" altLang="en-US" sz="1400" dirty="0">
                <a:solidFill>
                  <a:schemeClr val="tx1"/>
                </a:solidFill>
                <a:latin typeface="+mj-lt"/>
                <a:ea typeface="+mn-ea"/>
              </a:rPr>
              <a:t>：</a:t>
            </a:r>
            <a:endParaRPr lang="en-US" sz="1400" dirty="0">
              <a:solidFill>
                <a:schemeClr val="tx1"/>
              </a:solidFill>
              <a:latin typeface="+mj-lt"/>
              <a:ea typeface="+mn-ea"/>
            </a:endParaRPr>
          </a:p>
        </p:txBody>
      </p:sp>
      <p:sp>
        <p:nvSpPr>
          <p:cNvPr id="47" name="標題 1">
            <a:extLst>
              <a:ext uri="{FF2B5EF4-FFF2-40B4-BE49-F238E27FC236}">
                <a16:creationId xmlns:a16="http://schemas.microsoft.com/office/drawing/2014/main" id="{CA67BEDC-D239-4ED3-862E-B642F84DA4A2}"/>
              </a:ext>
            </a:extLst>
          </p:cNvPr>
          <p:cNvSpPr txBox="1">
            <a:spLocks/>
          </p:cNvSpPr>
          <p:nvPr userDrawn="1"/>
        </p:nvSpPr>
        <p:spPr>
          <a:xfrm>
            <a:off x="302186" y="142006"/>
            <a:ext cx="1760295"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n-lt"/>
                <a:ea typeface="+mn-ea"/>
              </a:rPr>
              <a:t>Team</a:t>
            </a:r>
            <a:r>
              <a:rPr lang="zh-CN" altLang="en-US" sz="1400" dirty="0">
                <a:solidFill>
                  <a:schemeClr val="tx1"/>
                </a:solidFill>
                <a:latin typeface="+mn-ea"/>
                <a:ea typeface="+mn-ea"/>
              </a:rPr>
              <a:t>：</a:t>
            </a:r>
            <a:r>
              <a:rPr lang="en-US" altLang="zh-CN" sz="1400" dirty="0">
                <a:solidFill>
                  <a:schemeClr val="tx1"/>
                </a:solidFill>
                <a:latin typeface="+mj-lt"/>
                <a:ea typeface="+mn-ea"/>
              </a:rPr>
              <a:t>Core</a:t>
            </a:r>
            <a:endParaRPr lang="en-US" sz="1400" dirty="0">
              <a:solidFill>
                <a:schemeClr val="tx1"/>
              </a:solidFill>
              <a:latin typeface="+mj-lt"/>
              <a:ea typeface="+mn-ea"/>
            </a:endParaRPr>
          </a:p>
        </p:txBody>
      </p:sp>
    </p:spTree>
    <p:extLst>
      <p:ext uri="{BB962C8B-B14F-4D97-AF65-F5344CB8AC3E}">
        <p14:creationId xmlns:p14="http://schemas.microsoft.com/office/powerpoint/2010/main" val="80397373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resentation Cover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2621" y="2"/>
            <a:ext cx="12179379" cy="6850900"/>
          </a:xfrm>
          <a:prstGeom prst="rect">
            <a:avLst/>
          </a:prstGeom>
        </p:spPr>
      </p:pic>
      <p:sp>
        <p:nvSpPr>
          <p:cNvPr id="2"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868364"/>
            <a:ext cx="9144000" cy="1864899"/>
          </a:xfrm>
        </p:spPr>
        <p:txBody>
          <a:bodyPr anchor="b">
            <a:normAutofit/>
          </a:bodyPr>
          <a:lstStyle>
            <a:lvl1pPr algn="l">
              <a:lnSpc>
                <a:spcPct val="110000"/>
              </a:lnSpc>
              <a:defRPr sz="4267" b="0">
                <a:solidFill>
                  <a:schemeClr val="tx1"/>
                </a:solidFill>
                <a:latin typeface="+mj-lt"/>
                <a:ea typeface="Verdana" panose="020B0604030504040204" pitchFamily="34" charset="0"/>
              </a:defRPr>
            </a:lvl1pPr>
          </a:lstStyle>
          <a:p>
            <a:r>
              <a:rPr lang="en-US" altLang="zh-TW"/>
              <a:t>Presentation Title Goes Here</a:t>
            </a:r>
            <a:br>
              <a:rPr lang="en-US" altLang="zh-TW"/>
            </a:br>
            <a:r>
              <a:rPr lang="en-US" altLang="zh-TW"/>
              <a:t>Maximum 2 Lines (32pt)</a:t>
            </a:r>
            <a:endParaRPr lang="en-US"/>
          </a:p>
        </p:txBody>
      </p:sp>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76663" y="5638388"/>
            <a:ext cx="1534793" cy="351251"/>
          </a:xfrm>
        </p:spPr>
        <p:txBody>
          <a:bodyPr/>
          <a:lstStyle>
            <a:lvl1pPr>
              <a:defRPr sz="1467">
                <a:solidFill>
                  <a:schemeClr val="bg1"/>
                </a:solidFill>
              </a:defRPr>
            </a:lvl1pPr>
          </a:lstStyle>
          <a:p>
            <a:r>
              <a:rPr lang="en-US"/>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2411455" y="5638388"/>
            <a:ext cx="4114800" cy="365125"/>
          </a:xfrm>
          <a:prstGeom prst="rect">
            <a:avLst/>
          </a:prstGeom>
        </p:spPr>
        <p:txBody>
          <a:bodyPr vert="horz" lIns="91440" tIns="45720" rIns="91440" bIns="45720" rtlCol="0" anchor="ctr"/>
          <a:lstStyle>
            <a:lvl1pPr algn="l">
              <a:defRPr sz="1467" u="none">
                <a:solidFill>
                  <a:schemeClr val="bg1"/>
                </a:solidFill>
                <a:latin typeface="+mj-lt"/>
              </a:defRPr>
            </a:lvl1pPr>
          </a:lstStyle>
          <a:p>
            <a:r>
              <a:rPr lang="zh-TW" altLang="en-US"/>
              <a:t>簡報人姓名</a:t>
            </a:r>
            <a:endParaRPr lang="en-US"/>
          </a:p>
        </p:txBody>
      </p:sp>
    </p:spTree>
    <p:extLst>
      <p:ext uri="{BB962C8B-B14F-4D97-AF65-F5344CB8AC3E}">
        <p14:creationId xmlns:p14="http://schemas.microsoft.com/office/powerpoint/2010/main" val="388124645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18615"/>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dirty="0"/>
              <a:t>Presentation Title Goes Here</a:t>
            </a:r>
            <a:br>
              <a:rPr lang="en-US" altLang="zh-TW" dirty="0"/>
            </a:br>
            <a:r>
              <a:rPr lang="en-US" altLang="zh-TW" dirty="0"/>
              <a:t>Maximum 2 Lines (32-46pt)</a:t>
            </a:r>
            <a:endParaRPr lang="en-US" dirty="0"/>
          </a:p>
        </p:txBody>
      </p:sp>
      <p:sp>
        <p:nvSpPr>
          <p:cNvPr id="3" name="副標題 2">
            <a:extLst>
              <a:ext uri="{FF2B5EF4-FFF2-40B4-BE49-F238E27FC236}">
                <a16:creationId xmlns:a16="http://schemas.microsoft.com/office/drawing/2014/main" id="{6C9BD8EC-F37F-4F94-8712-797CC1161E95}"/>
              </a:ext>
            </a:extLst>
          </p:cNvPr>
          <p:cNvSpPr>
            <a:spLocks noGrp="1"/>
          </p:cNvSpPr>
          <p:nvPr>
            <p:ph type="subTitle" idx="1" hasCustomPrompt="1"/>
          </p:nvPr>
        </p:nvSpPr>
        <p:spPr>
          <a:xfrm>
            <a:off x="896647" y="3015629"/>
            <a:ext cx="9144000" cy="1370104"/>
          </a:xfrm>
        </p:spPr>
        <p:txBody>
          <a:bodyPr>
            <a:normAutofit/>
          </a:bodyPr>
          <a:lstStyle>
            <a:lvl1pPr marL="0" indent="0" algn="l">
              <a:lnSpc>
                <a:spcPct val="110000"/>
              </a:lnSpc>
              <a:spcBef>
                <a:spcPts val="0"/>
              </a:spcBef>
              <a:buNone/>
              <a:defRPr sz="3000">
                <a:solidFill>
                  <a:schemeClr val="tx2"/>
                </a:solidFill>
                <a:latin typeface="+mj-lt"/>
                <a:ea typeface="+mj-ea"/>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TW" sz="3000" dirty="0"/>
              <a:t>Presentation Subtitle Goes Here</a:t>
            </a:r>
            <a:br>
              <a:rPr lang="en-US" altLang="zh-TW" sz="3000" dirty="0"/>
            </a:br>
            <a:r>
              <a:rPr lang="en-US" altLang="zh-TW" sz="3000" dirty="0"/>
              <a:t>Maximum 2 Lines (24-32pt)</a:t>
            </a:r>
          </a:p>
        </p:txBody>
      </p:sp>
      <p:sp>
        <p:nvSpPr>
          <p:cNvPr id="11" name="頁尾版面配置區 4">
            <a:extLst>
              <a:ext uri="{FF2B5EF4-FFF2-40B4-BE49-F238E27FC236}">
                <a16:creationId xmlns:a16="http://schemas.microsoft.com/office/drawing/2014/main" id="{38A83012-CC3B-47DF-9FCA-A1115F39D319}"/>
              </a:ext>
            </a:extLst>
          </p:cNvPr>
          <p:cNvSpPr>
            <a:spLocks noGrp="1"/>
          </p:cNvSpPr>
          <p:nvPr>
            <p:ph type="ftr" sz="quarter" idx="3"/>
          </p:nvPr>
        </p:nvSpPr>
        <p:spPr>
          <a:xfrm>
            <a:off x="818612" y="5739683"/>
            <a:ext cx="5707316" cy="218356"/>
          </a:xfrm>
        </p:spPr>
        <p:txBody>
          <a:bodyPr/>
          <a:lstStyle>
            <a:lvl1pPr>
              <a:defRPr>
                <a:latin typeface="Arial" panose="020B0604020202020204" pitchFamily="34" charset="0"/>
                <a:cs typeface="Arial" panose="020B0604020202020204" pitchFamily="34" charset="0"/>
              </a:defRPr>
            </a:lvl1pPr>
          </a:lstStyle>
          <a:p>
            <a:r>
              <a:rPr lang="en-US" altLang="zh-TW" sz="1800" dirty="0"/>
              <a:t>Presenter</a:t>
            </a:r>
            <a:r>
              <a:rPr lang="zh-TW" altLang="en-US" sz="1800" dirty="0"/>
              <a:t> </a:t>
            </a:r>
            <a:r>
              <a:rPr lang="en-US" altLang="zh-TW" sz="1800" dirty="0"/>
              <a:t>Name</a:t>
            </a:r>
            <a:r>
              <a:rPr lang="zh-TW" altLang="en-US" sz="1800" dirty="0"/>
              <a:t>｜</a:t>
            </a:r>
            <a:r>
              <a:rPr lang="en-US" altLang="zh-TW" sz="1800" dirty="0"/>
              <a:t>Department</a:t>
            </a:r>
            <a:r>
              <a:rPr lang="zh-TW" altLang="en-US" sz="1800" dirty="0"/>
              <a:t>｜</a:t>
            </a:r>
            <a:r>
              <a:rPr lang="en-US" altLang="zh-TW" sz="1800" dirty="0"/>
              <a:t>MM/DD/YYYY</a:t>
            </a:r>
          </a:p>
        </p:txBody>
      </p:sp>
      <p:sp>
        <p:nvSpPr>
          <p:cNvPr id="9" name="文字版面配置區 4">
            <a:extLst>
              <a:ext uri="{FF2B5EF4-FFF2-40B4-BE49-F238E27FC236}">
                <a16:creationId xmlns:a16="http://schemas.microsoft.com/office/drawing/2014/main" id="{C5F15596-5511-4524-8143-5414A6D0A46F}"/>
              </a:ext>
            </a:extLst>
          </p:cNvPr>
          <p:cNvSpPr>
            <a:spLocks noGrp="1"/>
          </p:cNvSpPr>
          <p:nvPr>
            <p:ph type="body" sz="quarter" idx="12" hasCustomPrompt="1"/>
          </p:nvPr>
        </p:nvSpPr>
        <p:spPr>
          <a:xfrm>
            <a:off x="934219" y="738191"/>
            <a:ext cx="2133446" cy="380427"/>
          </a:xfrm>
        </p:spPr>
        <p:txBody>
          <a:bodyPr>
            <a:normAutofit/>
          </a:bodyPr>
          <a:lstStyle>
            <a:lvl1pPr marL="0" indent="0">
              <a:buNone/>
              <a:defRPr sz="1800">
                <a:solidFill>
                  <a:srgbClr val="0070C0"/>
                </a:solidFill>
              </a:defRPr>
            </a:lvl1pPr>
          </a:lstStyle>
          <a:p>
            <a:pPr lvl="0"/>
            <a:r>
              <a:rPr lang="en-US" altLang="zh-TW" dirty="0"/>
              <a:t>Cover </a:t>
            </a:r>
            <a:r>
              <a:rPr lang="en-US" altLang="zh-TW" dirty="0" err="1"/>
              <a:t>Page_White</a:t>
            </a:r>
            <a:endParaRPr lang="zh-TW" altLang="en-US" dirty="0"/>
          </a:p>
        </p:txBody>
      </p:sp>
    </p:spTree>
    <p:extLst>
      <p:ext uri="{BB962C8B-B14F-4D97-AF65-F5344CB8AC3E}">
        <p14:creationId xmlns:p14="http://schemas.microsoft.com/office/powerpoint/2010/main" val="211543211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age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1"/>
            <a:ext cx="12179379" cy="6850900"/>
          </a:xfrm>
          <a:prstGeom prst="rect">
            <a:avLst/>
          </a:prstGeom>
        </p:spPr>
      </p:pic>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18912" y="5705762"/>
            <a:ext cx="2010917" cy="319651"/>
          </a:xfrm>
        </p:spPr>
        <p:txBody>
          <a:bodyPr/>
          <a:lstStyle>
            <a:lvl1pPr>
              <a:defRPr sz="1800">
                <a:solidFill>
                  <a:schemeClr val="bg1"/>
                </a:solidFill>
              </a:defRPr>
            </a:lvl1pPr>
          </a:lstStyle>
          <a:p>
            <a:r>
              <a:rPr lang="en-US" dirty="0"/>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838897" y="5333736"/>
            <a:ext cx="4114800" cy="365125"/>
          </a:xfrm>
          <a:prstGeom prst="rect">
            <a:avLst/>
          </a:prstGeom>
        </p:spPr>
        <p:txBody>
          <a:bodyPr vert="horz" lIns="91440" tIns="45720" rIns="91440" bIns="45720" rtlCol="0" anchor="ctr"/>
          <a:lstStyle>
            <a:lvl1pPr algn="l">
              <a:defRPr sz="1800" u="none">
                <a:solidFill>
                  <a:schemeClr val="bg1"/>
                </a:solidFill>
                <a:latin typeface="Arial" panose="020B0604020202020204" pitchFamily="34" charset="0"/>
                <a:cs typeface="Arial" panose="020B0604020202020204" pitchFamily="34" charset="0"/>
              </a:defRPr>
            </a:lvl1pPr>
          </a:lstStyle>
          <a:p>
            <a:r>
              <a:rPr lang="en-US" altLang="zh-TW" dirty="0"/>
              <a:t>Presenter Name</a:t>
            </a:r>
            <a:r>
              <a:rPr lang="zh-TW" altLang="en-US" dirty="0"/>
              <a:t>｜</a:t>
            </a:r>
            <a:r>
              <a:rPr lang="en-US" altLang="zh-TW" dirty="0"/>
              <a:t>Department </a:t>
            </a:r>
            <a:endParaRPr lang="en-US" dirty="0"/>
          </a:p>
        </p:txBody>
      </p:sp>
      <p:sp>
        <p:nvSpPr>
          <p:cNvPr id="10"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37872"/>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dirty="0"/>
              <a:t>Presentation Title Goes Here</a:t>
            </a:r>
            <a:br>
              <a:rPr lang="en-US" altLang="zh-TW" dirty="0"/>
            </a:br>
            <a:r>
              <a:rPr lang="en-US" altLang="zh-TW" dirty="0"/>
              <a:t>Maximum 2 Lines (32-46pt)</a:t>
            </a:r>
            <a:endParaRPr lang="en-US" dirty="0"/>
          </a:p>
        </p:txBody>
      </p:sp>
      <p:sp>
        <p:nvSpPr>
          <p:cNvPr id="11" name="文字版面配置區 4">
            <a:extLst>
              <a:ext uri="{FF2B5EF4-FFF2-40B4-BE49-F238E27FC236}">
                <a16:creationId xmlns:a16="http://schemas.microsoft.com/office/drawing/2014/main" id="{35B9A589-C73E-46B0-B30E-8BBC42A4E098}"/>
              </a:ext>
            </a:extLst>
          </p:cNvPr>
          <p:cNvSpPr>
            <a:spLocks noGrp="1"/>
          </p:cNvSpPr>
          <p:nvPr>
            <p:ph type="body" sz="quarter" idx="12" hasCustomPrompt="1"/>
          </p:nvPr>
        </p:nvSpPr>
        <p:spPr>
          <a:xfrm>
            <a:off x="934219" y="738191"/>
            <a:ext cx="2133446" cy="380427"/>
          </a:xfrm>
        </p:spPr>
        <p:txBody>
          <a:bodyPr>
            <a:normAutofit/>
          </a:bodyPr>
          <a:lstStyle>
            <a:lvl1pPr marL="0" indent="0">
              <a:buNone/>
              <a:defRPr sz="1800">
                <a:solidFill>
                  <a:srgbClr val="0070C0"/>
                </a:solidFill>
              </a:defRPr>
            </a:lvl1pPr>
          </a:lstStyle>
          <a:p>
            <a:pPr lvl="0"/>
            <a:r>
              <a:rPr lang="en-US" altLang="zh-TW" dirty="0"/>
              <a:t>Cover </a:t>
            </a:r>
            <a:r>
              <a:rPr lang="en-US" altLang="zh-TW" dirty="0" err="1"/>
              <a:t>Page_Image</a:t>
            </a:r>
            <a:endParaRPr lang="zh-TW" altLang="en-US" dirty="0"/>
          </a:p>
        </p:txBody>
      </p:sp>
    </p:spTree>
    <p:extLst>
      <p:ext uri="{BB962C8B-B14F-4D97-AF65-F5344CB8AC3E}">
        <p14:creationId xmlns:p14="http://schemas.microsoft.com/office/powerpoint/2010/main" val="18918826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reak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B44CAB8-9DEC-4DEF-99E0-D78F53E4F834}"/>
              </a:ext>
            </a:extLst>
          </p:cNvPr>
          <p:cNvSpPr>
            <a:spLocks noGrp="1"/>
          </p:cNvSpPr>
          <p:nvPr>
            <p:ph type="ctrTitle" hasCustomPrompt="1"/>
          </p:nvPr>
        </p:nvSpPr>
        <p:spPr>
          <a:xfrm>
            <a:off x="896647" y="1118621"/>
            <a:ext cx="9144000" cy="1864899"/>
          </a:xfrm>
        </p:spPr>
        <p:txBody>
          <a:bodyPr anchor="t">
            <a:normAutofit/>
          </a:bodyPr>
          <a:lstStyle>
            <a:lvl1pPr algn="l">
              <a:lnSpc>
                <a:spcPct val="110000"/>
              </a:lnSpc>
              <a:defRPr sz="4600" b="0">
                <a:solidFill>
                  <a:schemeClr val="bg1"/>
                </a:solidFill>
                <a:latin typeface="+mj-lt"/>
                <a:ea typeface="Verdana" panose="020B0604030504040204" pitchFamily="34" charset="0"/>
              </a:defRPr>
            </a:lvl1pPr>
          </a:lstStyle>
          <a:p>
            <a:r>
              <a:rPr lang="en-US" altLang="zh-TW" dirty="0"/>
              <a:t>Break Page Title Goes Here</a:t>
            </a:r>
            <a:br>
              <a:rPr lang="en-US" altLang="zh-TW" dirty="0"/>
            </a:br>
            <a:r>
              <a:rPr lang="en-US" altLang="zh-TW" dirty="0"/>
              <a:t>Maximum 2 Lines (32-46pt)</a:t>
            </a:r>
            <a:endParaRPr lang="en-US" dirty="0"/>
          </a:p>
        </p:txBody>
      </p:sp>
      <p:sp>
        <p:nvSpPr>
          <p:cNvPr id="6" name="副標題 2">
            <a:extLst>
              <a:ext uri="{FF2B5EF4-FFF2-40B4-BE49-F238E27FC236}">
                <a16:creationId xmlns:a16="http://schemas.microsoft.com/office/drawing/2014/main" id="{814F8012-3519-4A75-B26B-57773CA554B6}"/>
              </a:ext>
            </a:extLst>
          </p:cNvPr>
          <p:cNvSpPr>
            <a:spLocks noGrp="1"/>
          </p:cNvSpPr>
          <p:nvPr>
            <p:ph type="subTitle" idx="1" hasCustomPrompt="1"/>
          </p:nvPr>
        </p:nvSpPr>
        <p:spPr>
          <a:xfrm>
            <a:off x="896647" y="3015632"/>
            <a:ext cx="9144000" cy="1353169"/>
          </a:xfrm>
        </p:spPr>
        <p:txBody>
          <a:bodyPr>
            <a:normAutofit/>
          </a:bodyPr>
          <a:lstStyle>
            <a:lvl1pPr marL="0" indent="0" algn="l">
              <a:lnSpc>
                <a:spcPct val="110000"/>
              </a:lnSpc>
              <a:spcBef>
                <a:spcPts val="0"/>
              </a:spcBef>
              <a:buNone/>
              <a:defRPr sz="3200">
                <a:solidFill>
                  <a:schemeClr val="bg1"/>
                </a:solidFill>
                <a:latin typeface="+mj-lt"/>
                <a:ea typeface="Verdana" panose="020B060403050404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ltLang="zh-TW" dirty="0"/>
              <a:t>Break Page Subtitle Goes Here</a:t>
            </a:r>
            <a:br>
              <a:rPr lang="en-US" altLang="zh-TW" dirty="0"/>
            </a:br>
            <a:r>
              <a:rPr lang="en-US" altLang="zh-TW" dirty="0"/>
              <a:t>Maximum 2 Lines (24-32pt)</a:t>
            </a:r>
          </a:p>
        </p:txBody>
      </p:sp>
    </p:spTree>
    <p:extLst>
      <p:ext uri="{BB962C8B-B14F-4D97-AF65-F5344CB8AC3E}">
        <p14:creationId xmlns:p14="http://schemas.microsoft.com/office/powerpoint/2010/main" val="24948287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Page">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1"/>
            <a:ext cx="1368000" cy="620345"/>
          </a:xfrm>
          <a:prstGeom prst="rect">
            <a:avLst/>
          </a:prstGeom>
        </p:spPr>
      </p:pic>
      <p:sp>
        <p:nvSpPr>
          <p:cNvPr id="3" name="內容版面配置區 2">
            <a:extLst>
              <a:ext uri="{FF2B5EF4-FFF2-40B4-BE49-F238E27FC236}">
                <a16:creationId xmlns:a16="http://schemas.microsoft.com/office/drawing/2014/main" id="{BEF22CCF-5B81-47DC-861A-B0A56BD7A109}"/>
              </a:ext>
            </a:extLst>
          </p:cNvPr>
          <p:cNvSpPr>
            <a:spLocks noGrp="1"/>
          </p:cNvSpPr>
          <p:nvPr>
            <p:ph idx="1" hasCustomPrompt="1"/>
          </p:nvPr>
        </p:nvSpPr>
        <p:spPr>
          <a:xfrm>
            <a:off x="406400" y="1170462"/>
            <a:ext cx="11379200" cy="4953777"/>
          </a:xfrm>
        </p:spPr>
        <p:txBody>
          <a:bodyPr>
            <a:normAutofit/>
          </a:bodyPr>
          <a:lstStyle>
            <a:lvl1pPr>
              <a:lnSpc>
                <a:spcPct val="110000"/>
              </a:lnSpc>
              <a:defRPr sz="2000">
                <a:solidFill>
                  <a:schemeClr val="tx1"/>
                </a:solidFill>
              </a:defRPr>
            </a:lvl1pPr>
          </a:lstStyle>
          <a:p>
            <a:pPr lvl="0"/>
            <a:r>
              <a:rPr lang="en-US" altLang="zh-TW" dirty="0"/>
              <a:t>Content goes here (20pt)</a:t>
            </a:r>
            <a:endParaRPr lang="en-US" dirty="0"/>
          </a:p>
        </p:txBody>
      </p:sp>
      <p:sp>
        <p:nvSpPr>
          <p:cNvPr id="52" name="文字方塊 51">
            <a:extLst>
              <a:ext uri="{FF2B5EF4-FFF2-40B4-BE49-F238E27FC236}">
                <a16:creationId xmlns:a16="http://schemas.microsoft.com/office/drawing/2014/main" id="{4EB72046-7EFA-4D5B-9003-30F89B1D91A8}"/>
              </a:ext>
            </a:extLst>
          </p:cNvPr>
          <p:cNvSpPr txBox="1"/>
          <p:nvPr userDrawn="1"/>
        </p:nvSpPr>
        <p:spPr>
          <a:xfrm>
            <a:off x="116026" y="6478467"/>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82266" y="652826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p>
        </p:txBody>
      </p:sp>
      <p:sp>
        <p:nvSpPr>
          <p:cNvPr id="24" name="標題 4">
            <a:extLst>
              <a:ext uri="{FF2B5EF4-FFF2-40B4-BE49-F238E27FC236}">
                <a16:creationId xmlns:a16="http://schemas.microsoft.com/office/drawing/2014/main" id="{2702107E-0279-495A-BF89-DD786730CC37}"/>
              </a:ext>
            </a:extLst>
          </p:cNvPr>
          <p:cNvSpPr>
            <a:spLocks noGrp="1"/>
          </p:cNvSpPr>
          <p:nvPr>
            <p:ph type="title" hasCustomPrompt="1"/>
          </p:nvPr>
        </p:nvSpPr>
        <p:spPr>
          <a:xfrm>
            <a:off x="406400" y="440356"/>
            <a:ext cx="11379200" cy="679396"/>
          </a:xfrm>
        </p:spPr>
        <p:txBody>
          <a:bodyPr/>
          <a:lstStyle>
            <a:lvl1pPr>
              <a:defRPr/>
            </a:lvl1pPr>
          </a:lstStyle>
          <a:p>
            <a:r>
              <a:rPr lang="en-US" altLang="zh-TW" dirty="0"/>
              <a:t>Page Title Goes Here (28-32pt)</a:t>
            </a:r>
            <a:endParaRPr lang="en-US" dirty="0"/>
          </a:p>
        </p:txBody>
      </p:sp>
    </p:spTree>
    <p:extLst>
      <p:ext uri="{BB962C8B-B14F-4D97-AF65-F5344CB8AC3E}">
        <p14:creationId xmlns:p14="http://schemas.microsoft.com/office/powerpoint/2010/main" val="1000816027"/>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age_Title Only">
    <p:bg>
      <p:bgPr>
        <a:solidFill>
          <a:schemeClr val="bg1"/>
        </a:solidFill>
        <a:effectLst/>
      </p:bgPr>
    </p:bg>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702107E-0279-495A-BF89-DD786730CC37}"/>
              </a:ext>
            </a:extLst>
          </p:cNvPr>
          <p:cNvSpPr>
            <a:spLocks noGrp="1"/>
          </p:cNvSpPr>
          <p:nvPr>
            <p:ph type="title" hasCustomPrompt="1"/>
          </p:nvPr>
        </p:nvSpPr>
        <p:spPr/>
        <p:txBody>
          <a:bodyPr/>
          <a:lstStyle>
            <a:lvl1pPr>
              <a:defRPr/>
            </a:lvl1pPr>
          </a:lstStyle>
          <a:p>
            <a:r>
              <a:rPr lang="en-US" altLang="zh-TW" dirty="0"/>
              <a:t>Page Title Goes Here (28-32pt)</a:t>
            </a:r>
            <a:endParaRPr lang="en-US" dirty="0"/>
          </a:p>
        </p:txBody>
      </p:sp>
      <p:grpSp>
        <p:nvGrpSpPr>
          <p:cNvPr id="49" name="群組 48">
            <a:extLst>
              <a:ext uri="{FF2B5EF4-FFF2-40B4-BE49-F238E27FC236}">
                <a16:creationId xmlns:a16="http://schemas.microsoft.com/office/drawing/2014/main" id="{8AEA3F42-8ED3-4628-89CC-CE9DC5D371F1}"/>
              </a:ext>
            </a:extLst>
          </p:cNvPr>
          <p:cNvGrpSpPr/>
          <p:nvPr userDrawn="1"/>
        </p:nvGrpSpPr>
        <p:grpSpPr>
          <a:xfrm>
            <a:off x="0" y="7008895"/>
            <a:ext cx="10358581" cy="423333"/>
            <a:chOff x="0" y="5256671"/>
            <a:chExt cx="7768936" cy="317500"/>
          </a:xfrm>
        </p:grpSpPr>
        <p:grpSp>
          <p:nvGrpSpPr>
            <p:cNvPr id="50" name="群組 49">
              <a:extLst>
                <a:ext uri="{FF2B5EF4-FFF2-40B4-BE49-F238E27FC236}">
                  <a16:creationId xmlns:a16="http://schemas.microsoft.com/office/drawing/2014/main" id="{BDCAFD82-B8CA-4738-843C-0FC6D7C6C5F5}"/>
                </a:ext>
              </a:extLst>
            </p:cNvPr>
            <p:cNvGrpSpPr/>
            <p:nvPr userDrawn="1"/>
          </p:nvGrpSpPr>
          <p:grpSpPr>
            <a:xfrm>
              <a:off x="0" y="5256671"/>
              <a:ext cx="1321058" cy="317500"/>
              <a:chOff x="0" y="5256671"/>
              <a:chExt cx="1321058" cy="317500"/>
            </a:xfrm>
          </p:grpSpPr>
          <p:sp>
            <p:nvSpPr>
              <p:cNvPr id="63" name="矩形 62">
                <a:extLst>
                  <a:ext uri="{FF2B5EF4-FFF2-40B4-BE49-F238E27FC236}">
                    <a16:creationId xmlns:a16="http://schemas.microsoft.com/office/drawing/2014/main" id="{3C299B04-932C-4519-8E76-017FBD3A569A}"/>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0B20FB35-F562-4362-B563-165B2407465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0DE5232E-7B0E-4AEF-9D43-2E173D30F319}"/>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1" name="群組 50">
              <a:extLst>
                <a:ext uri="{FF2B5EF4-FFF2-40B4-BE49-F238E27FC236}">
                  <a16:creationId xmlns:a16="http://schemas.microsoft.com/office/drawing/2014/main" id="{9D8FD8BE-B575-4450-95FD-B132F2FBF30C}"/>
                </a:ext>
              </a:extLst>
            </p:cNvPr>
            <p:cNvGrpSpPr/>
            <p:nvPr userDrawn="1"/>
          </p:nvGrpSpPr>
          <p:grpSpPr>
            <a:xfrm>
              <a:off x="2441313" y="5256671"/>
              <a:ext cx="5327623" cy="317500"/>
              <a:chOff x="2441313" y="5256671"/>
              <a:chExt cx="5327623" cy="317500"/>
            </a:xfrm>
          </p:grpSpPr>
          <p:sp>
            <p:nvSpPr>
              <p:cNvPr id="52" name="矩形 51">
                <a:extLst>
                  <a:ext uri="{FF2B5EF4-FFF2-40B4-BE49-F238E27FC236}">
                    <a16:creationId xmlns:a16="http://schemas.microsoft.com/office/drawing/2014/main" id="{FA6D470B-49E6-460D-A2F7-3AA3A3B20021}"/>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矩形 52">
                <a:extLst>
                  <a:ext uri="{FF2B5EF4-FFF2-40B4-BE49-F238E27FC236}">
                    <a16:creationId xmlns:a16="http://schemas.microsoft.com/office/drawing/2014/main" id="{184DC0D2-E428-4F38-B04F-7DC781667A34}"/>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矩形 53">
                <a:extLst>
                  <a:ext uri="{FF2B5EF4-FFF2-40B4-BE49-F238E27FC236}">
                    <a16:creationId xmlns:a16="http://schemas.microsoft.com/office/drawing/2014/main" id="{681D0C29-FC7B-4F3F-BD32-E40206A62370}"/>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矩形 54">
                <a:extLst>
                  <a:ext uri="{FF2B5EF4-FFF2-40B4-BE49-F238E27FC236}">
                    <a16:creationId xmlns:a16="http://schemas.microsoft.com/office/drawing/2014/main" id="{D032A71D-5325-4D28-B4B1-6B6BF4AAB30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矩形 55">
                <a:extLst>
                  <a:ext uri="{FF2B5EF4-FFF2-40B4-BE49-F238E27FC236}">
                    <a16:creationId xmlns:a16="http://schemas.microsoft.com/office/drawing/2014/main" id="{738A70FA-150B-4708-B634-5950D1A00DF9}"/>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矩形 56">
                <a:extLst>
                  <a:ext uri="{FF2B5EF4-FFF2-40B4-BE49-F238E27FC236}">
                    <a16:creationId xmlns:a16="http://schemas.microsoft.com/office/drawing/2014/main" id="{D3854FDB-0E9B-46EB-A142-15E78B7E2E6D}"/>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8" name="矩形 57">
                <a:extLst>
                  <a:ext uri="{FF2B5EF4-FFF2-40B4-BE49-F238E27FC236}">
                    <a16:creationId xmlns:a16="http://schemas.microsoft.com/office/drawing/2014/main" id="{6FD94B95-A8E7-4E9F-A041-9A4885EECF37}"/>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矩形 58">
                <a:extLst>
                  <a:ext uri="{FF2B5EF4-FFF2-40B4-BE49-F238E27FC236}">
                    <a16:creationId xmlns:a16="http://schemas.microsoft.com/office/drawing/2014/main" id="{1F6E9780-35D6-4AF2-80BB-A3569C8BA2E3}"/>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4A11A937-B5ED-40BD-9B95-73D6C01FBDBD}"/>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71465539-F4BD-48C9-8CC9-44AE7B97586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85BCC709-E469-4948-B4D5-AF8897457737}"/>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文字方塊 23">
            <a:extLst>
              <a:ext uri="{FF2B5EF4-FFF2-40B4-BE49-F238E27FC236}">
                <a16:creationId xmlns:a16="http://schemas.microsoft.com/office/drawing/2014/main" id="{4EB72046-7EFA-4D5B-9003-30F89B1D91A8}"/>
              </a:ext>
            </a:extLst>
          </p:cNvPr>
          <p:cNvSpPr txBox="1"/>
          <p:nvPr userDrawn="1"/>
        </p:nvSpPr>
        <p:spPr>
          <a:xfrm>
            <a:off x="116026" y="6478467"/>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25" name="文字方塊 24">
            <a:extLst>
              <a:ext uri="{FF2B5EF4-FFF2-40B4-BE49-F238E27FC236}">
                <a16:creationId xmlns:a16="http://schemas.microsoft.com/office/drawing/2014/main" id="{E8C46C83-D634-4B86-88D9-5C8B6A41BF9F}"/>
              </a:ext>
            </a:extLst>
          </p:cNvPr>
          <p:cNvSpPr txBox="1"/>
          <p:nvPr userDrawn="1"/>
        </p:nvSpPr>
        <p:spPr>
          <a:xfrm>
            <a:off x="482266" y="652826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23" name="圖片 2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1"/>
            <a:ext cx="1368000" cy="620345"/>
          </a:xfrm>
          <a:prstGeom prst="rect">
            <a:avLst/>
          </a:prstGeom>
        </p:spPr>
      </p:pic>
    </p:spTree>
    <p:extLst>
      <p:ext uri="{BB962C8B-B14F-4D97-AF65-F5344CB8AC3E}">
        <p14:creationId xmlns:p14="http://schemas.microsoft.com/office/powerpoint/2010/main" val="376855816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ding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5F44435C-4EDB-4AB4-AAD6-08BF8682BAAC}"/>
              </a:ext>
            </a:extLst>
          </p:cNvPr>
          <p:cNvSpPr>
            <a:spLocks noGrp="1"/>
          </p:cNvSpPr>
          <p:nvPr>
            <p:ph type="ctrTitle" hasCustomPrompt="1"/>
          </p:nvPr>
        </p:nvSpPr>
        <p:spPr>
          <a:xfrm>
            <a:off x="896647" y="1099372"/>
            <a:ext cx="9144000" cy="1864899"/>
          </a:xfrm>
        </p:spPr>
        <p:txBody>
          <a:bodyPr anchor="t">
            <a:normAutofit/>
          </a:bodyPr>
          <a:lstStyle>
            <a:lvl1pPr algn="l">
              <a:lnSpc>
                <a:spcPct val="110000"/>
              </a:lnSpc>
              <a:defRPr sz="4600" b="0">
                <a:solidFill>
                  <a:schemeClr val="tx1"/>
                </a:solidFill>
                <a:latin typeface="+mj-lt"/>
                <a:ea typeface="Verdana" panose="020B0604030504040204" pitchFamily="34" charset="0"/>
              </a:defRPr>
            </a:lvl1pPr>
          </a:lstStyle>
          <a:p>
            <a:r>
              <a:rPr lang="en-US" altLang="zh-TW" dirty="0"/>
              <a:t>Smarter. Greener. Together. </a:t>
            </a:r>
            <a:br>
              <a:rPr lang="en-US" dirty="0"/>
            </a:br>
            <a:endParaRPr lang="en-US" dirty="0"/>
          </a:p>
        </p:txBody>
      </p:sp>
      <p:sp>
        <p:nvSpPr>
          <p:cNvPr id="6" name="文字版面配置區 4">
            <a:extLst>
              <a:ext uri="{FF2B5EF4-FFF2-40B4-BE49-F238E27FC236}">
                <a16:creationId xmlns:a16="http://schemas.microsoft.com/office/drawing/2014/main" id="{38C78CAC-0A95-4D70-9EAA-CE96A16F9E0A}"/>
              </a:ext>
            </a:extLst>
          </p:cNvPr>
          <p:cNvSpPr>
            <a:spLocks noGrp="1"/>
          </p:cNvSpPr>
          <p:nvPr>
            <p:ph type="body" sz="quarter" idx="12" hasCustomPrompt="1"/>
          </p:nvPr>
        </p:nvSpPr>
        <p:spPr>
          <a:xfrm>
            <a:off x="385370" y="60183"/>
            <a:ext cx="2133446" cy="380427"/>
          </a:xfrm>
        </p:spPr>
        <p:txBody>
          <a:bodyPr>
            <a:normAutofit/>
          </a:bodyPr>
          <a:lstStyle>
            <a:lvl1pPr marL="0" indent="0">
              <a:buNone/>
              <a:defRPr sz="1600">
                <a:solidFill>
                  <a:srgbClr val="0070C0"/>
                </a:solidFill>
              </a:defRPr>
            </a:lvl1pPr>
          </a:lstStyle>
          <a:p>
            <a:pPr lvl="0"/>
            <a:r>
              <a:rPr lang="en-US" altLang="zh-TW" dirty="0"/>
              <a:t>Ending </a:t>
            </a:r>
            <a:r>
              <a:rPr lang="en-US" altLang="zh-TW" dirty="0" err="1"/>
              <a:t>Page_White</a:t>
            </a:r>
            <a:endParaRPr lang="zh-TW" altLang="en-US" dirty="0"/>
          </a:p>
        </p:txBody>
      </p:sp>
    </p:spTree>
    <p:extLst>
      <p:ext uri="{BB962C8B-B14F-4D97-AF65-F5344CB8AC3E}">
        <p14:creationId xmlns:p14="http://schemas.microsoft.com/office/powerpoint/2010/main" val="32843285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ing Page_Image">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3B392DE6-2AF2-4E28-AF03-1A4F3D15BEAE}"/>
              </a:ext>
            </a:extLst>
          </p:cNvPr>
          <p:cNvSpPr/>
          <p:nvPr userDrawn="1"/>
        </p:nvSpPr>
        <p:spPr>
          <a:xfrm>
            <a:off x="0" y="-1"/>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3" name="矩形 52"/>
          <p:cNvSpPr/>
          <p:nvPr userDrawn="1"/>
        </p:nvSpPr>
        <p:spPr>
          <a:xfrm>
            <a:off x="0" y="-1"/>
            <a:ext cx="12192000" cy="4831883"/>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dirty="0"/>
          </a:p>
        </p:txBody>
      </p:sp>
      <p:grpSp>
        <p:nvGrpSpPr>
          <p:cNvPr id="35" name="群組 34">
            <a:extLst>
              <a:ext uri="{FF2B5EF4-FFF2-40B4-BE49-F238E27FC236}">
                <a16:creationId xmlns:a16="http://schemas.microsoft.com/office/drawing/2014/main" id="{ABE8868F-CA4D-431A-BCA3-79708C4A93CC}"/>
              </a:ext>
            </a:extLst>
          </p:cNvPr>
          <p:cNvGrpSpPr/>
          <p:nvPr userDrawn="1"/>
        </p:nvGrpSpPr>
        <p:grpSpPr>
          <a:xfrm>
            <a:off x="0" y="7008895"/>
            <a:ext cx="10358581" cy="423333"/>
            <a:chOff x="0" y="5256671"/>
            <a:chExt cx="7768936" cy="317500"/>
          </a:xfrm>
        </p:grpSpPr>
        <p:grpSp>
          <p:nvGrpSpPr>
            <p:cNvPr id="36" name="群組 35">
              <a:extLst>
                <a:ext uri="{FF2B5EF4-FFF2-40B4-BE49-F238E27FC236}">
                  <a16:creationId xmlns:a16="http://schemas.microsoft.com/office/drawing/2014/main" id="{E5238164-92D2-4070-B189-8D969D4D4C1C}"/>
                </a:ext>
              </a:extLst>
            </p:cNvPr>
            <p:cNvGrpSpPr/>
            <p:nvPr userDrawn="1"/>
          </p:nvGrpSpPr>
          <p:grpSpPr>
            <a:xfrm>
              <a:off x="0" y="5256671"/>
              <a:ext cx="1321058" cy="317500"/>
              <a:chOff x="0" y="5256671"/>
              <a:chExt cx="1321058" cy="317500"/>
            </a:xfrm>
          </p:grpSpPr>
          <p:sp>
            <p:nvSpPr>
              <p:cNvPr id="49" name="矩形 48">
                <a:extLst>
                  <a:ext uri="{FF2B5EF4-FFF2-40B4-BE49-F238E27FC236}">
                    <a16:creationId xmlns:a16="http://schemas.microsoft.com/office/drawing/2014/main" id="{FD4CBB22-8F55-4813-A361-6B31616CEFC5}"/>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0" name="矩形 49">
                <a:extLst>
                  <a:ext uri="{FF2B5EF4-FFF2-40B4-BE49-F238E27FC236}">
                    <a16:creationId xmlns:a16="http://schemas.microsoft.com/office/drawing/2014/main" id="{9AE6129C-E538-40C6-95CE-8D689DA806C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矩形 50">
                <a:extLst>
                  <a:ext uri="{FF2B5EF4-FFF2-40B4-BE49-F238E27FC236}">
                    <a16:creationId xmlns:a16="http://schemas.microsoft.com/office/drawing/2014/main" id="{B42DF3C8-6F17-4F9B-8224-82E6BF529D75}"/>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群組 36">
              <a:extLst>
                <a:ext uri="{FF2B5EF4-FFF2-40B4-BE49-F238E27FC236}">
                  <a16:creationId xmlns:a16="http://schemas.microsoft.com/office/drawing/2014/main" id="{CA03870D-CA4E-4A68-B643-C828AB156380}"/>
                </a:ext>
              </a:extLst>
            </p:cNvPr>
            <p:cNvGrpSpPr/>
            <p:nvPr userDrawn="1"/>
          </p:nvGrpSpPr>
          <p:grpSpPr>
            <a:xfrm>
              <a:off x="2441313" y="5256671"/>
              <a:ext cx="5327623" cy="317500"/>
              <a:chOff x="2441313" y="5256671"/>
              <a:chExt cx="5327623" cy="317500"/>
            </a:xfrm>
          </p:grpSpPr>
          <p:sp>
            <p:nvSpPr>
              <p:cNvPr id="38" name="矩形 37">
                <a:extLst>
                  <a:ext uri="{FF2B5EF4-FFF2-40B4-BE49-F238E27FC236}">
                    <a16:creationId xmlns:a16="http://schemas.microsoft.com/office/drawing/2014/main" id="{204627FC-9E22-4DF5-9620-E588D5B1D754}"/>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9" name="矩形 38">
                <a:extLst>
                  <a:ext uri="{FF2B5EF4-FFF2-40B4-BE49-F238E27FC236}">
                    <a16:creationId xmlns:a16="http://schemas.microsoft.com/office/drawing/2014/main" id="{9FFB4E0B-7913-4DBA-B9BC-22815DD1E9F5}"/>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矩形 39">
                <a:extLst>
                  <a:ext uri="{FF2B5EF4-FFF2-40B4-BE49-F238E27FC236}">
                    <a16:creationId xmlns:a16="http://schemas.microsoft.com/office/drawing/2014/main" id="{2E6EA7B8-B405-4A2B-8F6C-66644CA26469}"/>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矩形 40">
                <a:extLst>
                  <a:ext uri="{FF2B5EF4-FFF2-40B4-BE49-F238E27FC236}">
                    <a16:creationId xmlns:a16="http://schemas.microsoft.com/office/drawing/2014/main" id="{531D023A-8171-4D62-AD85-A3E51BEECBC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2" name="矩形 41">
                <a:extLst>
                  <a:ext uri="{FF2B5EF4-FFF2-40B4-BE49-F238E27FC236}">
                    <a16:creationId xmlns:a16="http://schemas.microsoft.com/office/drawing/2014/main" id="{B8F6B22F-DD93-4EC4-8E97-7E5A61686F3E}"/>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矩形 42">
                <a:extLst>
                  <a:ext uri="{FF2B5EF4-FFF2-40B4-BE49-F238E27FC236}">
                    <a16:creationId xmlns:a16="http://schemas.microsoft.com/office/drawing/2014/main" id="{28833C97-6D6E-40FC-976A-CF4C2B0848D9}"/>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4" name="矩形 43">
                <a:extLst>
                  <a:ext uri="{FF2B5EF4-FFF2-40B4-BE49-F238E27FC236}">
                    <a16:creationId xmlns:a16="http://schemas.microsoft.com/office/drawing/2014/main" id="{ED3716C8-CA0D-4806-A013-3F0E791C886C}"/>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矩形 44">
                <a:extLst>
                  <a:ext uri="{FF2B5EF4-FFF2-40B4-BE49-F238E27FC236}">
                    <a16:creationId xmlns:a16="http://schemas.microsoft.com/office/drawing/2014/main" id="{EB57F906-7144-4062-914D-703110CC17BF}"/>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6" name="矩形 45">
                <a:extLst>
                  <a:ext uri="{FF2B5EF4-FFF2-40B4-BE49-F238E27FC236}">
                    <a16:creationId xmlns:a16="http://schemas.microsoft.com/office/drawing/2014/main" id="{09D68DFB-0813-4C3A-8CE7-03C842C11ED7}"/>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矩形 46">
                <a:extLst>
                  <a:ext uri="{FF2B5EF4-FFF2-40B4-BE49-F238E27FC236}">
                    <a16:creationId xmlns:a16="http://schemas.microsoft.com/office/drawing/2014/main" id="{AE8DE291-898F-4470-A37E-2D3C217EDD2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矩形 47">
                <a:extLst>
                  <a:ext uri="{FF2B5EF4-FFF2-40B4-BE49-F238E27FC236}">
                    <a16:creationId xmlns:a16="http://schemas.microsoft.com/office/drawing/2014/main" id="{37A1C886-D4A7-40F8-BEDF-DE906366403B}"/>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2" name="標題 1">
            <a:extLst>
              <a:ext uri="{FF2B5EF4-FFF2-40B4-BE49-F238E27FC236}">
                <a16:creationId xmlns:a16="http://schemas.microsoft.com/office/drawing/2014/main" id="{9FF8E5F9-3E27-4FB9-9E7F-AA69CBB722EF}"/>
              </a:ext>
            </a:extLst>
          </p:cNvPr>
          <p:cNvSpPr txBox="1">
            <a:spLocks/>
          </p:cNvSpPr>
          <p:nvPr userDrawn="1"/>
        </p:nvSpPr>
        <p:spPr>
          <a:xfrm>
            <a:off x="376089" y="5152426"/>
            <a:ext cx="9144000" cy="1212111"/>
          </a:xfrm>
          <a:prstGeom prst="rect">
            <a:avLst/>
          </a:prstGeom>
        </p:spPr>
        <p:txBody>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TW" sz="4400" b="0" dirty="0">
                <a:solidFill>
                  <a:schemeClr val="tx1"/>
                </a:solidFill>
                <a:latin typeface="+mn-lt"/>
              </a:rPr>
              <a:t>Smarter. Greener. Together. </a:t>
            </a:r>
            <a:br>
              <a:rPr lang="en-US" altLang="zh-TW" sz="4400" b="0" dirty="0">
                <a:solidFill>
                  <a:schemeClr val="tx1"/>
                </a:solidFill>
                <a:latin typeface="+mn-lt"/>
              </a:rPr>
            </a:br>
            <a:endParaRPr lang="en-US" sz="4400" b="0" dirty="0">
              <a:solidFill>
                <a:schemeClr val="tx1"/>
              </a:solidFill>
              <a:latin typeface="+mn-lt"/>
            </a:endParaRPr>
          </a:p>
        </p:txBody>
      </p:sp>
      <p:pic>
        <p:nvPicPr>
          <p:cNvPr id="23" name="圖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75101" y="5475968"/>
            <a:ext cx="2814118" cy="1276115"/>
          </a:xfrm>
          <a:prstGeom prst="rect">
            <a:avLst/>
          </a:prstGeom>
        </p:spPr>
      </p:pic>
      <p:sp>
        <p:nvSpPr>
          <p:cNvPr id="55" name="圖片版面配置區 6">
            <a:extLst>
              <a:ext uri="{FF2B5EF4-FFF2-40B4-BE49-F238E27FC236}">
                <a16:creationId xmlns:a16="http://schemas.microsoft.com/office/drawing/2014/main" id="{BEC39B5C-7A19-45E5-87B6-A4D4ACE91330}"/>
              </a:ext>
            </a:extLst>
          </p:cNvPr>
          <p:cNvSpPr>
            <a:spLocks noGrp="1"/>
          </p:cNvSpPr>
          <p:nvPr>
            <p:ph type="pic" sz="quarter" idx="11" hasCustomPrompt="1"/>
          </p:nvPr>
        </p:nvSpPr>
        <p:spPr>
          <a:xfrm>
            <a:off x="-1588" y="-12701"/>
            <a:ext cx="12192001" cy="4713938"/>
          </a:xfrm>
        </p:spPr>
        <p:txBody>
          <a:bodyPr/>
          <a:lstStyle>
            <a:lvl1pPr marL="0" indent="0">
              <a:lnSpc>
                <a:spcPct val="100000"/>
              </a:lnSpc>
              <a:buNone/>
              <a:defRPr sz="1600">
                <a:solidFill>
                  <a:srgbClr val="0070C0"/>
                </a:solidFill>
              </a:defRPr>
            </a:lvl1pPr>
          </a:lstStyle>
          <a:p>
            <a:r>
              <a:rPr lang="en-US" altLang="zh-TW" dirty="0"/>
              <a:t>     Ending </a:t>
            </a:r>
            <a:r>
              <a:rPr lang="en-US" altLang="zh-TW" dirty="0" err="1"/>
              <a:t>Page_Image</a:t>
            </a:r>
            <a:r>
              <a:rPr lang="en-US" altLang="zh-TW" dirty="0"/>
              <a:t>: </a:t>
            </a:r>
            <a:br>
              <a:rPr lang="en-US" altLang="zh-TW" dirty="0"/>
            </a:br>
            <a:r>
              <a:rPr lang="en-US" altLang="zh-TW" dirty="0"/>
              <a:t>      A corporate-level, sector-level or product-level brand communication imagery can be applied in this gray area.</a:t>
            </a:r>
          </a:p>
          <a:p>
            <a:endParaRPr lang="zh-TW" altLang="en-US" dirty="0"/>
          </a:p>
        </p:txBody>
      </p:sp>
      <p:grpSp>
        <p:nvGrpSpPr>
          <p:cNvPr id="5" name="群組 4"/>
          <p:cNvGrpSpPr/>
          <p:nvPr userDrawn="1"/>
        </p:nvGrpSpPr>
        <p:grpSpPr>
          <a:xfrm>
            <a:off x="-1200" y="4701237"/>
            <a:ext cx="12193200" cy="144000"/>
            <a:chOff x="22799" y="4912990"/>
            <a:chExt cx="12193200" cy="144000"/>
          </a:xfrm>
        </p:grpSpPr>
        <p:sp>
          <p:nvSpPr>
            <p:cNvPr id="2" name="矩形 1"/>
            <p:cNvSpPr/>
            <p:nvPr userDrawn="1"/>
          </p:nvSpPr>
          <p:spPr>
            <a:xfrm>
              <a:off x="22799" y="4912990"/>
              <a:ext cx="12193200" cy="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9767999" y="4912990"/>
              <a:ext cx="2448000" cy="144000"/>
            </a:xfrm>
            <a:prstGeom prst="rect">
              <a:avLst/>
            </a:prstGeom>
            <a:solidFill>
              <a:srgbClr val="B9EB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7323672" y="4912990"/>
              <a:ext cx="2448000" cy="144000"/>
            </a:xfrm>
            <a:prstGeom prst="rect">
              <a:avLst/>
            </a:prstGeom>
            <a:solidFill>
              <a:srgbClr val="64D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52275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18615"/>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dirty="0"/>
              <a:t>Presentation Title Goes Here</a:t>
            </a:r>
            <a:br>
              <a:rPr lang="en-US" altLang="zh-TW" dirty="0"/>
            </a:br>
            <a:r>
              <a:rPr lang="en-US" altLang="zh-TW" dirty="0"/>
              <a:t>Maximum 2 Lines (32-46pt)</a:t>
            </a:r>
            <a:endParaRPr lang="en-US" dirty="0"/>
          </a:p>
        </p:txBody>
      </p:sp>
      <p:sp>
        <p:nvSpPr>
          <p:cNvPr id="3" name="副標題 2">
            <a:extLst>
              <a:ext uri="{FF2B5EF4-FFF2-40B4-BE49-F238E27FC236}">
                <a16:creationId xmlns:a16="http://schemas.microsoft.com/office/drawing/2014/main" id="{6C9BD8EC-F37F-4F94-8712-797CC1161E95}"/>
              </a:ext>
            </a:extLst>
          </p:cNvPr>
          <p:cNvSpPr>
            <a:spLocks noGrp="1"/>
          </p:cNvSpPr>
          <p:nvPr>
            <p:ph type="subTitle" idx="1" hasCustomPrompt="1"/>
          </p:nvPr>
        </p:nvSpPr>
        <p:spPr>
          <a:xfrm>
            <a:off x="896647" y="3015629"/>
            <a:ext cx="9144000" cy="1370104"/>
          </a:xfrm>
        </p:spPr>
        <p:txBody>
          <a:bodyPr>
            <a:normAutofit/>
          </a:bodyPr>
          <a:lstStyle>
            <a:lvl1pPr marL="0" indent="0" algn="l">
              <a:lnSpc>
                <a:spcPct val="110000"/>
              </a:lnSpc>
              <a:spcBef>
                <a:spcPts val="0"/>
              </a:spcBef>
              <a:buNone/>
              <a:defRPr sz="3000">
                <a:solidFill>
                  <a:schemeClr val="tx2"/>
                </a:solidFill>
                <a:latin typeface="+mj-lt"/>
                <a:ea typeface="+mj-ea"/>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TW" sz="3000" dirty="0"/>
              <a:t>Presentation Subtitle Goes Here</a:t>
            </a:r>
            <a:br>
              <a:rPr lang="en-US" altLang="zh-TW" sz="3000" dirty="0"/>
            </a:br>
            <a:r>
              <a:rPr lang="en-US" altLang="zh-TW" sz="3000" dirty="0"/>
              <a:t>Maximum 2 Lines (24-32pt)</a:t>
            </a:r>
          </a:p>
        </p:txBody>
      </p:sp>
      <p:sp>
        <p:nvSpPr>
          <p:cNvPr id="11" name="頁尾版面配置區 4">
            <a:extLst>
              <a:ext uri="{FF2B5EF4-FFF2-40B4-BE49-F238E27FC236}">
                <a16:creationId xmlns:a16="http://schemas.microsoft.com/office/drawing/2014/main" id="{38A83012-CC3B-47DF-9FCA-A1115F39D319}"/>
              </a:ext>
            </a:extLst>
          </p:cNvPr>
          <p:cNvSpPr>
            <a:spLocks noGrp="1"/>
          </p:cNvSpPr>
          <p:nvPr>
            <p:ph type="ftr" sz="quarter" idx="3"/>
          </p:nvPr>
        </p:nvSpPr>
        <p:spPr>
          <a:xfrm>
            <a:off x="818612" y="5739683"/>
            <a:ext cx="5707316" cy="218356"/>
          </a:xfrm>
        </p:spPr>
        <p:txBody>
          <a:bodyPr/>
          <a:lstStyle>
            <a:lvl1pPr>
              <a:defRPr>
                <a:latin typeface="Arial" panose="020B0604020202020204" pitchFamily="34" charset="0"/>
                <a:cs typeface="Arial" panose="020B0604020202020204" pitchFamily="34" charset="0"/>
              </a:defRPr>
            </a:lvl1pPr>
          </a:lstStyle>
          <a:p>
            <a:r>
              <a:rPr lang="en-US" altLang="zh-TW" sz="1800" dirty="0"/>
              <a:t>Presenter</a:t>
            </a:r>
            <a:r>
              <a:rPr lang="zh-TW" altLang="en-US" sz="1800" dirty="0"/>
              <a:t> </a:t>
            </a:r>
            <a:r>
              <a:rPr lang="en-US" altLang="zh-TW" sz="1800" dirty="0"/>
              <a:t>Name</a:t>
            </a:r>
            <a:r>
              <a:rPr lang="zh-TW" altLang="en-US" sz="1800" dirty="0"/>
              <a:t>｜</a:t>
            </a:r>
            <a:r>
              <a:rPr lang="en-US" altLang="zh-TW" sz="1800" dirty="0"/>
              <a:t>Department</a:t>
            </a:r>
            <a:r>
              <a:rPr lang="zh-TW" altLang="en-US" sz="1800" dirty="0"/>
              <a:t>｜</a:t>
            </a:r>
            <a:r>
              <a:rPr lang="en-US" altLang="zh-TW" sz="1800" dirty="0"/>
              <a:t>MM/DD/YYYY</a:t>
            </a:r>
          </a:p>
        </p:txBody>
      </p:sp>
      <p:sp>
        <p:nvSpPr>
          <p:cNvPr id="9" name="文字版面配置區 4">
            <a:extLst>
              <a:ext uri="{FF2B5EF4-FFF2-40B4-BE49-F238E27FC236}">
                <a16:creationId xmlns:a16="http://schemas.microsoft.com/office/drawing/2014/main" id="{C5F15596-5511-4524-8143-5414A6D0A46F}"/>
              </a:ext>
            </a:extLst>
          </p:cNvPr>
          <p:cNvSpPr>
            <a:spLocks noGrp="1"/>
          </p:cNvSpPr>
          <p:nvPr>
            <p:ph type="body" sz="quarter" idx="12" hasCustomPrompt="1"/>
          </p:nvPr>
        </p:nvSpPr>
        <p:spPr>
          <a:xfrm>
            <a:off x="934219" y="738191"/>
            <a:ext cx="2133446" cy="380427"/>
          </a:xfrm>
        </p:spPr>
        <p:txBody>
          <a:bodyPr>
            <a:normAutofit/>
          </a:bodyPr>
          <a:lstStyle>
            <a:lvl1pPr marL="0" indent="0">
              <a:buNone/>
              <a:defRPr sz="1800">
                <a:solidFill>
                  <a:srgbClr val="0070C0"/>
                </a:solidFill>
              </a:defRPr>
            </a:lvl1pPr>
          </a:lstStyle>
          <a:p>
            <a:pPr lvl="0"/>
            <a:r>
              <a:rPr lang="en-US" altLang="zh-TW" dirty="0"/>
              <a:t>Cover </a:t>
            </a:r>
            <a:r>
              <a:rPr lang="en-US" altLang="zh-TW" dirty="0" err="1"/>
              <a:t>Page_White</a:t>
            </a:r>
            <a:endParaRPr lang="zh-TW" altLang="en-US" dirty="0"/>
          </a:p>
        </p:txBody>
      </p:sp>
    </p:spTree>
    <p:extLst>
      <p:ext uri="{BB962C8B-B14F-4D97-AF65-F5344CB8AC3E}">
        <p14:creationId xmlns:p14="http://schemas.microsoft.com/office/powerpoint/2010/main" val="292056006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Page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1"/>
            <a:ext cx="12179379" cy="6850900"/>
          </a:xfrm>
          <a:prstGeom prst="rect">
            <a:avLst/>
          </a:prstGeom>
        </p:spPr>
      </p:pic>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18912" y="5705762"/>
            <a:ext cx="2010917" cy="319651"/>
          </a:xfrm>
        </p:spPr>
        <p:txBody>
          <a:bodyPr/>
          <a:lstStyle>
            <a:lvl1pPr>
              <a:defRPr sz="1800">
                <a:solidFill>
                  <a:schemeClr val="bg1"/>
                </a:solidFill>
              </a:defRPr>
            </a:lvl1pPr>
          </a:lstStyle>
          <a:p>
            <a:r>
              <a:rPr lang="en-US" dirty="0"/>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838897" y="5333736"/>
            <a:ext cx="4114800" cy="365125"/>
          </a:xfrm>
          <a:prstGeom prst="rect">
            <a:avLst/>
          </a:prstGeom>
        </p:spPr>
        <p:txBody>
          <a:bodyPr vert="horz" lIns="91440" tIns="45720" rIns="91440" bIns="45720" rtlCol="0" anchor="ctr"/>
          <a:lstStyle>
            <a:lvl1pPr algn="l">
              <a:defRPr sz="1800" u="none">
                <a:solidFill>
                  <a:schemeClr val="bg1"/>
                </a:solidFill>
                <a:latin typeface="Arial" panose="020B0604020202020204" pitchFamily="34" charset="0"/>
                <a:cs typeface="Arial" panose="020B0604020202020204" pitchFamily="34" charset="0"/>
              </a:defRPr>
            </a:lvl1pPr>
          </a:lstStyle>
          <a:p>
            <a:r>
              <a:rPr lang="en-US" altLang="zh-TW" dirty="0"/>
              <a:t>Presenter Name</a:t>
            </a:r>
            <a:r>
              <a:rPr lang="zh-TW" altLang="en-US" dirty="0"/>
              <a:t>｜</a:t>
            </a:r>
            <a:r>
              <a:rPr lang="en-US" altLang="zh-TW" dirty="0"/>
              <a:t>Department </a:t>
            </a:r>
            <a:endParaRPr lang="en-US" dirty="0"/>
          </a:p>
        </p:txBody>
      </p:sp>
      <p:sp>
        <p:nvSpPr>
          <p:cNvPr id="10"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37872"/>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dirty="0"/>
              <a:t>Presentation Title Goes Here</a:t>
            </a:r>
            <a:br>
              <a:rPr lang="en-US" altLang="zh-TW" dirty="0"/>
            </a:br>
            <a:r>
              <a:rPr lang="en-US" altLang="zh-TW" dirty="0"/>
              <a:t>Maximum 2 Lines (32-46pt)</a:t>
            </a:r>
            <a:endParaRPr lang="en-US" dirty="0"/>
          </a:p>
        </p:txBody>
      </p:sp>
      <p:sp>
        <p:nvSpPr>
          <p:cNvPr id="11" name="文字版面配置區 4">
            <a:extLst>
              <a:ext uri="{FF2B5EF4-FFF2-40B4-BE49-F238E27FC236}">
                <a16:creationId xmlns:a16="http://schemas.microsoft.com/office/drawing/2014/main" id="{35B9A589-C73E-46B0-B30E-8BBC42A4E098}"/>
              </a:ext>
            </a:extLst>
          </p:cNvPr>
          <p:cNvSpPr>
            <a:spLocks noGrp="1"/>
          </p:cNvSpPr>
          <p:nvPr>
            <p:ph type="body" sz="quarter" idx="12" hasCustomPrompt="1"/>
          </p:nvPr>
        </p:nvSpPr>
        <p:spPr>
          <a:xfrm>
            <a:off x="934219" y="738191"/>
            <a:ext cx="2133446" cy="380427"/>
          </a:xfrm>
        </p:spPr>
        <p:txBody>
          <a:bodyPr>
            <a:normAutofit/>
          </a:bodyPr>
          <a:lstStyle>
            <a:lvl1pPr marL="0" indent="0">
              <a:buNone/>
              <a:defRPr sz="1800">
                <a:solidFill>
                  <a:srgbClr val="0070C0"/>
                </a:solidFill>
              </a:defRPr>
            </a:lvl1pPr>
          </a:lstStyle>
          <a:p>
            <a:pPr lvl="0"/>
            <a:r>
              <a:rPr lang="en-US" altLang="zh-TW" dirty="0"/>
              <a:t>Cover </a:t>
            </a:r>
            <a:r>
              <a:rPr lang="en-US" altLang="zh-TW" dirty="0" err="1"/>
              <a:t>Page_Image</a:t>
            </a:r>
            <a:endParaRPr lang="zh-TW" altLang="en-US" dirty="0"/>
          </a:p>
        </p:txBody>
      </p:sp>
    </p:spTree>
    <p:extLst>
      <p:ext uri="{BB962C8B-B14F-4D97-AF65-F5344CB8AC3E}">
        <p14:creationId xmlns:p14="http://schemas.microsoft.com/office/powerpoint/2010/main" val="2476343864"/>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eak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B44CAB8-9DEC-4DEF-99E0-D78F53E4F834}"/>
              </a:ext>
            </a:extLst>
          </p:cNvPr>
          <p:cNvSpPr>
            <a:spLocks noGrp="1"/>
          </p:cNvSpPr>
          <p:nvPr>
            <p:ph type="ctrTitle" hasCustomPrompt="1"/>
          </p:nvPr>
        </p:nvSpPr>
        <p:spPr>
          <a:xfrm>
            <a:off x="896647" y="1118621"/>
            <a:ext cx="9144000" cy="1864899"/>
          </a:xfrm>
        </p:spPr>
        <p:txBody>
          <a:bodyPr anchor="t">
            <a:normAutofit/>
          </a:bodyPr>
          <a:lstStyle>
            <a:lvl1pPr algn="l">
              <a:lnSpc>
                <a:spcPct val="110000"/>
              </a:lnSpc>
              <a:defRPr sz="4600" b="0">
                <a:solidFill>
                  <a:schemeClr val="bg1"/>
                </a:solidFill>
                <a:latin typeface="+mj-lt"/>
                <a:ea typeface="Verdana" panose="020B0604030504040204" pitchFamily="34" charset="0"/>
              </a:defRPr>
            </a:lvl1pPr>
          </a:lstStyle>
          <a:p>
            <a:r>
              <a:rPr lang="en-US" altLang="zh-TW" dirty="0"/>
              <a:t>Break Page Title Goes Here</a:t>
            </a:r>
            <a:br>
              <a:rPr lang="en-US" altLang="zh-TW" dirty="0"/>
            </a:br>
            <a:r>
              <a:rPr lang="en-US" altLang="zh-TW" dirty="0"/>
              <a:t>Maximum 2 Lines (32-46pt)</a:t>
            </a:r>
            <a:endParaRPr lang="en-US" dirty="0"/>
          </a:p>
        </p:txBody>
      </p:sp>
      <p:sp>
        <p:nvSpPr>
          <p:cNvPr id="6" name="副標題 2">
            <a:extLst>
              <a:ext uri="{FF2B5EF4-FFF2-40B4-BE49-F238E27FC236}">
                <a16:creationId xmlns:a16="http://schemas.microsoft.com/office/drawing/2014/main" id="{814F8012-3519-4A75-B26B-57773CA554B6}"/>
              </a:ext>
            </a:extLst>
          </p:cNvPr>
          <p:cNvSpPr>
            <a:spLocks noGrp="1"/>
          </p:cNvSpPr>
          <p:nvPr>
            <p:ph type="subTitle" idx="1" hasCustomPrompt="1"/>
          </p:nvPr>
        </p:nvSpPr>
        <p:spPr>
          <a:xfrm>
            <a:off x="896647" y="3015632"/>
            <a:ext cx="9144000" cy="1353169"/>
          </a:xfrm>
        </p:spPr>
        <p:txBody>
          <a:bodyPr>
            <a:normAutofit/>
          </a:bodyPr>
          <a:lstStyle>
            <a:lvl1pPr marL="0" indent="0" algn="l">
              <a:lnSpc>
                <a:spcPct val="110000"/>
              </a:lnSpc>
              <a:spcBef>
                <a:spcPts val="0"/>
              </a:spcBef>
              <a:buNone/>
              <a:defRPr sz="3200">
                <a:solidFill>
                  <a:schemeClr val="bg1"/>
                </a:solidFill>
                <a:latin typeface="+mj-lt"/>
                <a:ea typeface="Verdana" panose="020B060403050404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ltLang="zh-TW" dirty="0"/>
              <a:t>Break Page Subtitle Goes Here</a:t>
            </a:r>
            <a:br>
              <a:rPr lang="en-US" altLang="zh-TW" dirty="0"/>
            </a:br>
            <a:r>
              <a:rPr lang="en-US" altLang="zh-TW" dirty="0"/>
              <a:t>Maximum 2 Lines (24-32pt)</a:t>
            </a:r>
          </a:p>
        </p:txBody>
      </p:sp>
    </p:spTree>
    <p:extLst>
      <p:ext uri="{BB962C8B-B14F-4D97-AF65-F5344CB8AC3E}">
        <p14:creationId xmlns:p14="http://schemas.microsoft.com/office/powerpoint/2010/main" val="40164155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age">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1"/>
            <a:ext cx="1368000" cy="620345"/>
          </a:xfrm>
          <a:prstGeom prst="rect">
            <a:avLst/>
          </a:prstGeom>
        </p:spPr>
      </p:pic>
      <p:sp>
        <p:nvSpPr>
          <p:cNvPr id="3" name="內容版面配置區 2">
            <a:extLst>
              <a:ext uri="{FF2B5EF4-FFF2-40B4-BE49-F238E27FC236}">
                <a16:creationId xmlns:a16="http://schemas.microsoft.com/office/drawing/2014/main" id="{BEF22CCF-5B81-47DC-861A-B0A56BD7A109}"/>
              </a:ext>
            </a:extLst>
          </p:cNvPr>
          <p:cNvSpPr>
            <a:spLocks noGrp="1"/>
          </p:cNvSpPr>
          <p:nvPr>
            <p:ph idx="1" hasCustomPrompt="1"/>
          </p:nvPr>
        </p:nvSpPr>
        <p:spPr>
          <a:xfrm>
            <a:off x="406400" y="1170462"/>
            <a:ext cx="11379200" cy="4953777"/>
          </a:xfrm>
        </p:spPr>
        <p:txBody>
          <a:bodyPr>
            <a:normAutofit/>
          </a:bodyPr>
          <a:lstStyle>
            <a:lvl1pPr>
              <a:lnSpc>
                <a:spcPct val="110000"/>
              </a:lnSpc>
              <a:defRPr sz="2000">
                <a:solidFill>
                  <a:schemeClr val="tx1"/>
                </a:solidFill>
              </a:defRPr>
            </a:lvl1pPr>
          </a:lstStyle>
          <a:p>
            <a:pPr lvl="0"/>
            <a:r>
              <a:rPr lang="en-US" altLang="zh-TW" dirty="0"/>
              <a:t>Content goes here (20pt)</a:t>
            </a:r>
            <a:endParaRPr lang="en-US" dirty="0"/>
          </a:p>
        </p:txBody>
      </p:sp>
      <p:sp>
        <p:nvSpPr>
          <p:cNvPr id="52" name="文字方塊 51">
            <a:extLst>
              <a:ext uri="{FF2B5EF4-FFF2-40B4-BE49-F238E27FC236}">
                <a16:creationId xmlns:a16="http://schemas.microsoft.com/office/drawing/2014/main" id="{4EB72046-7EFA-4D5B-9003-30F89B1D91A8}"/>
              </a:ext>
            </a:extLst>
          </p:cNvPr>
          <p:cNvSpPr txBox="1"/>
          <p:nvPr userDrawn="1"/>
        </p:nvSpPr>
        <p:spPr>
          <a:xfrm>
            <a:off x="116026" y="6478467"/>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82266" y="652826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p>
        </p:txBody>
      </p:sp>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5"/>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標題 4">
            <a:extLst>
              <a:ext uri="{FF2B5EF4-FFF2-40B4-BE49-F238E27FC236}">
                <a16:creationId xmlns:a16="http://schemas.microsoft.com/office/drawing/2014/main" id="{2702107E-0279-495A-BF89-DD786730CC37}"/>
              </a:ext>
            </a:extLst>
          </p:cNvPr>
          <p:cNvSpPr>
            <a:spLocks noGrp="1"/>
          </p:cNvSpPr>
          <p:nvPr>
            <p:ph type="title" hasCustomPrompt="1"/>
          </p:nvPr>
        </p:nvSpPr>
        <p:spPr>
          <a:xfrm>
            <a:off x="406400" y="440356"/>
            <a:ext cx="11379200" cy="679396"/>
          </a:xfrm>
        </p:spPr>
        <p:txBody>
          <a:bodyPr anchor="t">
            <a:normAutofit/>
          </a:bodyPr>
          <a:lstStyle>
            <a:lvl1pPr algn="l">
              <a:defRPr sz="2800"/>
            </a:lvl1pPr>
          </a:lstStyle>
          <a:p>
            <a:r>
              <a:rPr lang="en-US" altLang="zh-TW" dirty="0"/>
              <a:t>Page Title Goes Here (28-32pt)</a:t>
            </a:r>
            <a:endParaRPr lang="en-US" dirty="0"/>
          </a:p>
        </p:txBody>
      </p:sp>
    </p:spTree>
    <p:extLst>
      <p:ext uri="{BB962C8B-B14F-4D97-AF65-F5344CB8AC3E}">
        <p14:creationId xmlns:p14="http://schemas.microsoft.com/office/powerpoint/2010/main" val="2657107886"/>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age_Title Only">
    <p:bg>
      <p:bgPr>
        <a:solidFill>
          <a:schemeClr val="bg1"/>
        </a:solidFill>
        <a:effectLst/>
      </p:bgPr>
    </p:bg>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702107E-0279-495A-BF89-DD786730CC37}"/>
              </a:ext>
            </a:extLst>
          </p:cNvPr>
          <p:cNvSpPr>
            <a:spLocks noGrp="1"/>
          </p:cNvSpPr>
          <p:nvPr>
            <p:ph type="title" hasCustomPrompt="1"/>
          </p:nvPr>
        </p:nvSpPr>
        <p:spPr/>
        <p:txBody>
          <a:bodyPr anchor="t">
            <a:normAutofit/>
          </a:bodyPr>
          <a:lstStyle>
            <a:lvl1pPr algn="l">
              <a:defRPr sz="2800"/>
            </a:lvl1pPr>
          </a:lstStyle>
          <a:p>
            <a:r>
              <a:rPr lang="en-US" altLang="zh-TW" dirty="0"/>
              <a:t>Page Title Goes Here (28-32pt)</a:t>
            </a:r>
            <a:endParaRPr lang="en-US" dirty="0"/>
          </a:p>
        </p:txBody>
      </p:sp>
      <p:grpSp>
        <p:nvGrpSpPr>
          <p:cNvPr id="49" name="群組 48">
            <a:extLst>
              <a:ext uri="{FF2B5EF4-FFF2-40B4-BE49-F238E27FC236}">
                <a16:creationId xmlns:a16="http://schemas.microsoft.com/office/drawing/2014/main" id="{8AEA3F42-8ED3-4628-89CC-CE9DC5D371F1}"/>
              </a:ext>
            </a:extLst>
          </p:cNvPr>
          <p:cNvGrpSpPr/>
          <p:nvPr userDrawn="1"/>
        </p:nvGrpSpPr>
        <p:grpSpPr>
          <a:xfrm>
            <a:off x="0" y="7008895"/>
            <a:ext cx="10358581" cy="423333"/>
            <a:chOff x="0" y="5256671"/>
            <a:chExt cx="7768936" cy="317500"/>
          </a:xfrm>
        </p:grpSpPr>
        <p:grpSp>
          <p:nvGrpSpPr>
            <p:cNvPr id="50" name="群組 49">
              <a:extLst>
                <a:ext uri="{FF2B5EF4-FFF2-40B4-BE49-F238E27FC236}">
                  <a16:creationId xmlns:a16="http://schemas.microsoft.com/office/drawing/2014/main" id="{BDCAFD82-B8CA-4738-843C-0FC6D7C6C5F5}"/>
                </a:ext>
              </a:extLst>
            </p:cNvPr>
            <p:cNvGrpSpPr/>
            <p:nvPr userDrawn="1"/>
          </p:nvGrpSpPr>
          <p:grpSpPr>
            <a:xfrm>
              <a:off x="0" y="5256671"/>
              <a:ext cx="1321058" cy="317500"/>
              <a:chOff x="0" y="5256671"/>
              <a:chExt cx="1321058" cy="317500"/>
            </a:xfrm>
          </p:grpSpPr>
          <p:sp>
            <p:nvSpPr>
              <p:cNvPr id="63" name="矩形 62">
                <a:extLst>
                  <a:ext uri="{FF2B5EF4-FFF2-40B4-BE49-F238E27FC236}">
                    <a16:creationId xmlns:a16="http://schemas.microsoft.com/office/drawing/2014/main" id="{3C299B04-932C-4519-8E76-017FBD3A569A}"/>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0B20FB35-F562-4362-B563-165B2407465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0DE5232E-7B0E-4AEF-9D43-2E173D30F319}"/>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1" name="群組 50">
              <a:extLst>
                <a:ext uri="{FF2B5EF4-FFF2-40B4-BE49-F238E27FC236}">
                  <a16:creationId xmlns:a16="http://schemas.microsoft.com/office/drawing/2014/main" id="{9D8FD8BE-B575-4450-95FD-B132F2FBF30C}"/>
                </a:ext>
              </a:extLst>
            </p:cNvPr>
            <p:cNvGrpSpPr/>
            <p:nvPr userDrawn="1"/>
          </p:nvGrpSpPr>
          <p:grpSpPr>
            <a:xfrm>
              <a:off x="2441313" y="5256671"/>
              <a:ext cx="5327623" cy="317500"/>
              <a:chOff x="2441313" y="5256671"/>
              <a:chExt cx="5327623" cy="317500"/>
            </a:xfrm>
          </p:grpSpPr>
          <p:sp>
            <p:nvSpPr>
              <p:cNvPr id="52" name="矩形 51">
                <a:extLst>
                  <a:ext uri="{FF2B5EF4-FFF2-40B4-BE49-F238E27FC236}">
                    <a16:creationId xmlns:a16="http://schemas.microsoft.com/office/drawing/2014/main" id="{FA6D470B-49E6-460D-A2F7-3AA3A3B20021}"/>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矩形 52">
                <a:extLst>
                  <a:ext uri="{FF2B5EF4-FFF2-40B4-BE49-F238E27FC236}">
                    <a16:creationId xmlns:a16="http://schemas.microsoft.com/office/drawing/2014/main" id="{184DC0D2-E428-4F38-B04F-7DC781667A34}"/>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矩形 53">
                <a:extLst>
                  <a:ext uri="{FF2B5EF4-FFF2-40B4-BE49-F238E27FC236}">
                    <a16:creationId xmlns:a16="http://schemas.microsoft.com/office/drawing/2014/main" id="{681D0C29-FC7B-4F3F-BD32-E40206A62370}"/>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矩形 54">
                <a:extLst>
                  <a:ext uri="{FF2B5EF4-FFF2-40B4-BE49-F238E27FC236}">
                    <a16:creationId xmlns:a16="http://schemas.microsoft.com/office/drawing/2014/main" id="{D032A71D-5325-4D28-B4B1-6B6BF4AAB30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矩形 55">
                <a:extLst>
                  <a:ext uri="{FF2B5EF4-FFF2-40B4-BE49-F238E27FC236}">
                    <a16:creationId xmlns:a16="http://schemas.microsoft.com/office/drawing/2014/main" id="{738A70FA-150B-4708-B634-5950D1A00DF9}"/>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矩形 56">
                <a:extLst>
                  <a:ext uri="{FF2B5EF4-FFF2-40B4-BE49-F238E27FC236}">
                    <a16:creationId xmlns:a16="http://schemas.microsoft.com/office/drawing/2014/main" id="{D3854FDB-0E9B-46EB-A142-15E78B7E2E6D}"/>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8" name="矩形 57">
                <a:extLst>
                  <a:ext uri="{FF2B5EF4-FFF2-40B4-BE49-F238E27FC236}">
                    <a16:creationId xmlns:a16="http://schemas.microsoft.com/office/drawing/2014/main" id="{6FD94B95-A8E7-4E9F-A041-9A4885EECF37}"/>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矩形 58">
                <a:extLst>
                  <a:ext uri="{FF2B5EF4-FFF2-40B4-BE49-F238E27FC236}">
                    <a16:creationId xmlns:a16="http://schemas.microsoft.com/office/drawing/2014/main" id="{1F6E9780-35D6-4AF2-80BB-A3569C8BA2E3}"/>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4A11A937-B5ED-40BD-9B95-73D6C01FBDBD}"/>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71465539-F4BD-48C9-8CC9-44AE7B97586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85BCC709-E469-4948-B4D5-AF8897457737}"/>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文字方塊 23">
            <a:extLst>
              <a:ext uri="{FF2B5EF4-FFF2-40B4-BE49-F238E27FC236}">
                <a16:creationId xmlns:a16="http://schemas.microsoft.com/office/drawing/2014/main" id="{4EB72046-7EFA-4D5B-9003-30F89B1D91A8}"/>
              </a:ext>
            </a:extLst>
          </p:cNvPr>
          <p:cNvSpPr txBox="1"/>
          <p:nvPr userDrawn="1"/>
        </p:nvSpPr>
        <p:spPr>
          <a:xfrm>
            <a:off x="116026" y="6478467"/>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25" name="文字方塊 24">
            <a:extLst>
              <a:ext uri="{FF2B5EF4-FFF2-40B4-BE49-F238E27FC236}">
                <a16:creationId xmlns:a16="http://schemas.microsoft.com/office/drawing/2014/main" id="{E8C46C83-D634-4B86-88D9-5C8B6A41BF9F}"/>
              </a:ext>
            </a:extLst>
          </p:cNvPr>
          <p:cNvSpPr txBox="1"/>
          <p:nvPr userDrawn="1"/>
        </p:nvSpPr>
        <p:spPr>
          <a:xfrm>
            <a:off x="482266" y="652826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23" name="圖片 2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1"/>
            <a:ext cx="1368000" cy="620345"/>
          </a:xfrm>
          <a:prstGeom prst="rect">
            <a:avLst/>
          </a:prstGeom>
        </p:spPr>
      </p:pic>
    </p:spTree>
    <p:extLst>
      <p:ext uri="{BB962C8B-B14F-4D97-AF65-F5344CB8AC3E}">
        <p14:creationId xmlns:p14="http://schemas.microsoft.com/office/powerpoint/2010/main" val="292923945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ing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5F44435C-4EDB-4AB4-AAD6-08BF8682BAAC}"/>
              </a:ext>
            </a:extLst>
          </p:cNvPr>
          <p:cNvSpPr>
            <a:spLocks noGrp="1"/>
          </p:cNvSpPr>
          <p:nvPr>
            <p:ph type="ctrTitle" hasCustomPrompt="1"/>
          </p:nvPr>
        </p:nvSpPr>
        <p:spPr>
          <a:xfrm>
            <a:off x="896647" y="1099372"/>
            <a:ext cx="9144000" cy="1864899"/>
          </a:xfrm>
        </p:spPr>
        <p:txBody>
          <a:bodyPr anchor="t">
            <a:normAutofit/>
          </a:bodyPr>
          <a:lstStyle>
            <a:lvl1pPr algn="l">
              <a:lnSpc>
                <a:spcPct val="110000"/>
              </a:lnSpc>
              <a:defRPr sz="4600" b="0">
                <a:solidFill>
                  <a:schemeClr val="tx1"/>
                </a:solidFill>
                <a:latin typeface="+mj-lt"/>
                <a:ea typeface="Verdana" panose="020B0604030504040204" pitchFamily="34" charset="0"/>
              </a:defRPr>
            </a:lvl1pPr>
          </a:lstStyle>
          <a:p>
            <a:r>
              <a:rPr lang="en-US" altLang="zh-TW" dirty="0"/>
              <a:t>Smarter. Greener. Together. </a:t>
            </a:r>
            <a:br>
              <a:rPr lang="en-US" dirty="0"/>
            </a:br>
            <a:endParaRPr lang="en-US" dirty="0"/>
          </a:p>
        </p:txBody>
      </p:sp>
      <p:sp>
        <p:nvSpPr>
          <p:cNvPr id="6" name="文字版面配置區 4">
            <a:extLst>
              <a:ext uri="{FF2B5EF4-FFF2-40B4-BE49-F238E27FC236}">
                <a16:creationId xmlns:a16="http://schemas.microsoft.com/office/drawing/2014/main" id="{38C78CAC-0A95-4D70-9EAA-CE96A16F9E0A}"/>
              </a:ext>
            </a:extLst>
          </p:cNvPr>
          <p:cNvSpPr>
            <a:spLocks noGrp="1"/>
          </p:cNvSpPr>
          <p:nvPr>
            <p:ph type="body" sz="quarter" idx="12" hasCustomPrompt="1"/>
          </p:nvPr>
        </p:nvSpPr>
        <p:spPr>
          <a:xfrm>
            <a:off x="385370" y="60183"/>
            <a:ext cx="2133446" cy="380427"/>
          </a:xfrm>
        </p:spPr>
        <p:txBody>
          <a:bodyPr>
            <a:normAutofit/>
          </a:bodyPr>
          <a:lstStyle>
            <a:lvl1pPr marL="0" indent="0">
              <a:buNone/>
              <a:defRPr sz="1600">
                <a:solidFill>
                  <a:srgbClr val="0070C0"/>
                </a:solidFill>
              </a:defRPr>
            </a:lvl1pPr>
          </a:lstStyle>
          <a:p>
            <a:pPr lvl="0"/>
            <a:r>
              <a:rPr lang="en-US" altLang="zh-TW" dirty="0"/>
              <a:t>Ending </a:t>
            </a:r>
            <a:r>
              <a:rPr lang="en-US" altLang="zh-TW" dirty="0" err="1"/>
              <a:t>Page_White</a:t>
            </a:r>
            <a:endParaRPr lang="zh-TW" altLang="en-US" dirty="0"/>
          </a:p>
        </p:txBody>
      </p:sp>
    </p:spTree>
    <p:extLst>
      <p:ext uri="{BB962C8B-B14F-4D97-AF65-F5344CB8AC3E}">
        <p14:creationId xmlns:p14="http://schemas.microsoft.com/office/powerpoint/2010/main" val="32301298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ing Page_Image">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3B392DE6-2AF2-4E28-AF03-1A4F3D15BEAE}"/>
              </a:ext>
            </a:extLst>
          </p:cNvPr>
          <p:cNvSpPr/>
          <p:nvPr userDrawn="1"/>
        </p:nvSpPr>
        <p:spPr>
          <a:xfrm>
            <a:off x="0" y="-1"/>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3" name="矩形 52"/>
          <p:cNvSpPr/>
          <p:nvPr userDrawn="1"/>
        </p:nvSpPr>
        <p:spPr>
          <a:xfrm>
            <a:off x="0" y="-1"/>
            <a:ext cx="12192000" cy="4831883"/>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dirty="0"/>
          </a:p>
        </p:txBody>
      </p:sp>
      <p:grpSp>
        <p:nvGrpSpPr>
          <p:cNvPr id="35" name="群組 34">
            <a:extLst>
              <a:ext uri="{FF2B5EF4-FFF2-40B4-BE49-F238E27FC236}">
                <a16:creationId xmlns:a16="http://schemas.microsoft.com/office/drawing/2014/main" id="{ABE8868F-CA4D-431A-BCA3-79708C4A93CC}"/>
              </a:ext>
            </a:extLst>
          </p:cNvPr>
          <p:cNvGrpSpPr/>
          <p:nvPr userDrawn="1"/>
        </p:nvGrpSpPr>
        <p:grpSpPr>
          <a:xfrm>
            <a:off x="0" y="7008895"/>
            <a:ext cx="10358581" cy="423333"/>
            <a:chOff x="0" y="5256671"/>
            <a:chExt cx="7768936" cy="317500"/>
          </a:xfrm>
        </p:grpSpPr>
        <p:grpSp>
          <p:nvGrpSpPr>
            <p:cNvPr id="36" name="群組 35">
              <a:extLst>
                <a:ext uri="{FF2B5EF4-FFF2-40B4-BE49-F238E27FC236}">
                  <a16:creationId xmlns:a16="http://schemas.microsoft.com/office/drawing/2014/main" id="{E5238164-92D2-4070-B189-8D969D4D4C1C}"/>
                </a:ext>
              </a:extLst>
            </p:cNvPr>
            <p:cNvGrpSpPr/>
            <p:nvPr userDrawn="1"/>
          </p:nvGrpSpPr>
          <p:grpSpPr>
            <a:xfrm>
              <a:off x="0" y="5256671"/>
              <a:ext cx="1321058" cy="317500"/>
              <a:chOff x="0" y="5256671"/>
              <a:chExt cx="1321058" cy="317500"/>
            </a:xfrm>
          </p:grpSpPr>
          <p:sp>
            <p:nvSpPr>
              <p:cNvPr id="49" name="矩形 48">
                <a:extLst>
                  <a:ext uri="{FF2B5EF4-FFF2-40B4-BE49-F238E27FC236}">
                    <a16:creationId xmlns:a16="http://schemas.microsoft.com/office/drawing/2014/main" id="{FD4CBB22-8F55-4813-A361-6B31616CEFC5}"/>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0" name="矩形 49">
                <a:extLst>
                  <a:ext uri="{FF2B5EF4-FFF2-40B4-BE49-F238E27FC236}">
                    <a16:creationId xmlns:a16="http://schemas.microsoft.com/office/drawing/2014/main" id="{9AE6129C-E538-40C6-95CE-8D689DA806C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矩形 50">
                <a:extLst>
                  <a:ext uri="{FF2B5EF4-FFF2-40B4-BE49-F238E27FC236}">
                    <a16:creationId xmlns:a16="http://schemas.microsoft.com/office/drawing/2014/main" id="{B42DF3C8-6F17-4F9B-8224-82E6BF529D75}"/>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群組 36">
              <a:extLst>
                <a:ext uri="{FF2B5EF4-FFF2-40B4-BE49-F238E27FC236}">
                  <a16:creationId xmlns:a16="http://schemas.microsoft.com/office/drawing/2014/main" id="{CA03870D-CA4E-4A68-B643-C828AB156380}"/>
                </a:ext>
              </a:extLst>
            </p:cNvPr>
            <p:cNvGrpSpPr/>
            <p:nvPr userDrawn="1"/>
          </p:nvGrpSpPr>
          <p:grpSpPr>
            <a:xfrm>
              <a:off x="2441313" y="5256671"/>
              <a:ext cx="5327623" cy="317500"/>
              <a:chOff x="2441313" y="5256671"/>
              <a:chExt cx="5327623" cy="317500"/>
            </a:xfrm>
          </p:grpSpPr>
          <p:sp>
            <p:nvSpPr>
              <p:cNvPr id="38" name="矩形 37">
                <a:extLst>
                  <a:ext uri="{FF2B5EF4-FFF2-40B4-BE49-F238E27FC236}">
                    <a16:creationId xmlns:a16="http://schemas.microsoft.com/office/drawing/2014/main" id="{204627FC-9E22-4DF5-9620-E588D5B1D754}"/>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9" name="矩形 38">
                <a:extLst>
                  <a:ext uri="{FF2B5EF4-FFF2-40B4-BE49-F238E27FC236}">
                    <a16:creationId xmlns:a16="http://schemas.microsoft.com/office/drawing/2014/main" id="{9FFB4E0B-7913-4DBA-B9BC-22815DD1E9F5}"/>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矩形 39">
                <a:extLst>
                  <a:ext uri="{FF2B5EF4-FFF2-40B4-BE49-F238E27FC236}">
                    <a16:creationId xmlns:a16="http://schemas.microsoft.com/office/drawing/2014/main" id="{2E6EA7B8-B405-4A2B-8F6C-66644CA26469}"/>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矩形 40">
                <a:extLst>
                  <a:ext uri="{FF2B5EF4-FFF2-40B4-BE49-F238E27FC236}">
                    <a16:creationId xmlns:a16="http://schemas.microsoft.com/office/drawing/2014/main" id="{531D023A-8171-4D62-AD85-A3E51BEECBC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2" name="矩形 41">
                <a:extLst>
                  <a:ext uri="{FF2B5EF4-FFF2-40B4-BE49-F238E27FC236}">
                    <a16:creationId xmlns:a16="http://schemas.microsoft.com/office/drawing/2014/main" id="{B8F6B22F-DD93-4EC4-8E97-7E5A61686F3E}"/>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矩形 42">
                <a:extLst>
                  <a:ext uri="{FF2B5EF4-FFF2-40B4-BE49-F238E27FC236}">
                    <a16:creationId xmlns:a16="http://schemas.microsoft.com/office/drawing/2014/main" id="{28833C97-6D6E-40FC-976A-CF4C2B0848D9}"/>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4" name="矩形 43">
                <a:extLst>
                  <a:ext uri="{FF2B5EF4-FFF2-40B4-BE49-F238E27FC236}">
                    <a16:creationId xmlns:a16="http://schemas.microsoft.com/office/drawing/2014/main" id="{ED3716C8-CA0D-4806-A013-3F0E791C886C}"/>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矩形 44">
                <a:extLst>
                  <a:ext uri="{FF2B5EF4-FFF2-40B4-BE49-F238E27FC236}">
                    <a16:creationId xmlns:a16="http://schemas.microsoft.com/office/drawing/2014/main" id="{EB57F906-7144-4062-914D-703110CC17BF}"/>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6" name="矩形 45">
                <a:extLst>
                  <a:ext uri="{FF2B5EF4-FFF2-40B4-BE49-F238E27FC236}">
                    <a16:creationId xmlns:a16="http://schemas.microsoft.com/office/drawing/2014/main" id="{09D68DFB-0813-4C3A-8CE7-03C842C11ED7}"/>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矩形 46">
                <a:extLst>
                  <a:ext uri="{FF2B5EF4-FFF2-40B4-BE49-F238E27FC236}">
                    <a16:creationId xmlns:a16="http://schemas.microsoft.com/office/drawing/2014/main" id="{AE8DE291-898F-4470-A37E-2D3C217EDD2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矩形 47">
                <a:extLst>
                  <a:ext uri="{FF2B5EF4-FFF2-40B4-BE49-F238E27FC236}">
                    <a16:creationId xmlns:a16="http://schemas.microsoft.com/office/drawing/2014/main" id="{37A1C886-D4A7-40F8-BEDF-DE906366403B}"/>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2" name="標題 1">
            <a:extLst>
              <a:ext uri="{FF2B5EF4-FFF2-40B4-BE49-F238E27FC236}">
                <a16:creationId xmlns:a16="http://schemas.microsoft.com/office/drawing/2014/main" id="{9FF8E5F9-3E27-4FB9-9E7F-AA69CBB722EF}"/>
              </a:ext>
            </a:extLst>
          </p:cNvPr>
          <p:cNvSpPr txBox="1">
            <a:spLocks/>
          </p:cNvSpPr>
          <p:nvPr userDrawn="1"/>
        </p:nvSpPr>
        <p:spPr>
          <a:xfrm>
            <a:off x="376089" y="5152426"/>
            <a:ext cx="9144000" cy="1212111"/>
          </a:xfrm>
          <a:prstGeom prst="rect">
            <a:avLst/>
          </a:prstGeom>
        </p:spPr>
        <p:txBody>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TW" sz="4400" b="0" dirty="0">
                <a:solidFill>
                  <a:schemeClr val="tx1"/>
                </a:solidFill>
                <a:latin typeface="+mn-lt"/>
              </a:rPr>
              <a:t>Smarter. Greener. Together. </a:t>
            </a:r>
            <a:br>
              <a:rPr lang="en-US" altLang="zh-TW" sz="4400" b="0" dirty="0">
                <a:solidFill>
                  <a:schemeClr val="tx1"/>
                </a:solidFill>
                <a:latin typeface="+mn-lt"/>
              </a:rPr>
            </a:br>
            <a:endParaRPr lang="en-US" sz="4400" b="0" dirty="0">
              <a:solidFill>
                <a:schemeClr val="tx1"/>
              </a:solidFill>
              <a:latin typeface="+mn-lt"/>
            </a:endParaRPr>
          </a:p>
        </p:txBody>
      </p:sp>
      <p:pic>
        <p:nvPicPr>
          <p:cNvPr id="23" name="圖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75101" y="5475968"/>
            <a:ext cx="2814118" cy="1276115"/>
          </a:xfrm>
          <a:prstGeom prst="rect">
            <a:avLst/>
          </a:prstGeom>
        </p:spPr>
      </p:pic>
      <p:sp>
        <p:nvSpPr>
          <p:cNvPr id="55" name="圖片版面配置區 6">
            <a:extLst>
              <a:ext uri="{FF2B5EF4-FFF2-40B4-BE49-F238E27FC236}">
                <a16:creationId xmlns:a16="http://schemas.microsoft.com/office/drawing/2014/main" id="{BEC39B5C-7A19-45E5-87B6-A4D4ACE91330}"/>
              </a:ext>
            </a:extLst>
          </p:cNvPr>
          <p:cNvSpPr>
            <a:spLocks noGrp="1"/>
          </p:cNvSpPr>
          <p:nvPr>
            <p:ph type="pic" sz="quarter" idx="11" hasCustomPrompt="1"/>
          </p:nvPr>
        </p:nvSpPr>
        <p:spPr>
          <a:xfrm>
            <a:off x="-1588" y="-12701"/>
            <a:ext cx="12192001" cy="4713938"/>
          </a:xfrm>
        </p:spPr>
        <p:txBody>
          <a:bodyPr/>
          <a:lstStyle>
            <a:lvl1pPr marL="0" indent="0">
              <a:lnSpc>
                <a:spcPct val="100000"/>
              </a:lnSpc>
              <a:buNone/>
              <a:defRPr sz="1600">
                <a:solidFill>
                  <a:srgbClr val="0070C0"/>
                </a:solidFill>
              </a:defRPr>
            </a:lvl1pPr>
          </a:lstStyle>
          <a:p>
            <a:r>
              <a:rPr lang="en-US" altLang="zh-TW" dirty="0"/>
              <a:t>     Ending </a:t>
            </a:r>
            <a:r>
              <a:rPr lang="en-US" altLang="zh-TW" dirty="0" err="1"/>
              <a:t>Page_Image</a:t>
            </a:r>
            <a:r>
              <a:rPr lang="en-US" altLang="zh-TW" dirty="0"/>
              <a:t>: </a:t>
            </a:r>
            <a:br>
              <a:rPr lang="en-US" altLang="zh-TW" dirty="0"/>
            </a:br>
            <a:r>
              <a:rPr lang="en-US" altLang="zh-TW" dirty="0"/>
              <a:t>      A corporate-level, sector-level or product-level brand communication imagery can be applied in this gray area.</a:t>
            </a:r>
          </a:p>
          <a:p>
            <a:endParaRPr lang="zh-TW" altLang="en-US" dirty="0"/>
          </a:p>
        </p:txBody>
      </p:sp>
      <p:grpSp>
        <p:nvGrpSpPr>
          <p:cNvPr id="5" name="群組 4"/>
          <p:cNvGrpSpPr/>
          <p:nvPr userDrawn="1"/>
        </p:nvGrpSpPr>
        <p:grpSpPr>
          <a:xfrm>
            <a:off x="-1200" y="4701237"/>
            <a:ext cx="12193200" cy="144000"/>
            <a:chOff x="22799" y="4912990"/>
            <a:chExt cx="12193200" cy="144000"/>
          </a:xfrm>
        </p:grpSpPr>
        <p:sp>
          <p:nvSpPr>
            <p:cNvPr id="2" name="矩形 1"/>
            <p:cNvSpPr/>
            <p:nvPr userDrawn="1"/>
          </p:nvSpPr>
          <p:spPr>
            <a:xfrm>
              <a:off x="22799" y="4912990"/>
              <a:ext cx="12193200" cy="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9767999" y="4912990"/>
              <a:ext cx="2448000" cy="144000"/>
            </a:xfrm>
            <a:prstGeom prst="rect">
              <a:avLst/>
            </a:prstGeom>
            <a:solidFill>
              <a:srgbClr val="B9EB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7323672" y="4912990"/>
              <a:ext cx="2448000" cy="144000"/>
            </a:xfrm>
            <a:prstGeom prst="rect">
              <a:avLst/>
            </a:prstGeom>
            <a:solidFill>
              <a:srgbClr val="64D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7712714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nchor="ctr"/>
          <a:lstStyle>
            <a:lvl1pPr algn="l">
              <a:defRPr/>
            </a:lvl1pPr>
          </a:lstStyle>
          <a:p>
            <a:r>
              <a:rPr lang="zh-TW" altLang="en-US"/>
              <a:t>按一下以編輯母片標題樣式</a:t>
            </a:r>
          </a:p>
        </p:txBody>
      </p:sp>
      <p:sp>
        <p:nvSpPr>
          <p:cNvPr id="3" name="投影片編號版面配置區 5"/>
          <p:cNvSpPr>
            <a:spLocks noGrp="1"/>
          </p:cNvSpPr>
          <p:nvPr>
            <p:ph type="sldNum" sz="quarter" idx="10"/>
          </p:nvPr>
        </p:nvSpPr>
        <p:spPr/>
        <p:txBody>
          <a:bodyPr/>
          <a:lstStyle>
            <a:lvl1pPr>
              <a:defRPr/>
            </a:lvl1pPr>
          </a:lstStyle>
          <a:p>
            <a:pPr>
              <a:defRPr/>
            </a:pPr>
            <a:fld id="{1972D583-6F43-4BEE-A241-C30732397DD6}" type="slidenum">
              <a:rPr lang="zh-TW" altLang="en-US" smtClean="0">
                <a:solidFill>
                  <a:srgbClr val="000000">
                    <a:tint val="75000"/>
                  </a:srgbClr>
                </a:solidFill>
              </a:rPr>
              <a:pPr>
                <a:defRPr/>
              </a:pPr>
              <a:t>‹#›</a:t>
            </a:fld>
            <a:endParaRPr lang="zh-TW" altLang="en-US" dirty="0">
              <a:solidFill>
                <a:srgbClr val="000000">
                  <a:tint val="75000"/>
                </a:srgbClr>
              </a:solidFill>
            </a:endParaRPr>
          </a:p>
        </p:txBody>
      </p:sp>
    </p:spTree>
    <p:extLst>
      <p:ext uri="{BB962C8B-B14F-4D97-AF65-F5344CB8AC3E}">
        <p14:creationId xmlns:p14="http://schemas.microsoft.com/office/powerpoint/2010/main" val="2042524290"/>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General Solution">
    <p:bg>
      <p:bgPr>
        <a:solidFill>
          <a:schemeClr val="bg1"/>
        </a:solidFill>
        <a:effectLst/>
      </p:bgPr>
    </p:bg>
    <p:spTree>
      <p:nvGrpSpPr>
        <p:cNvPr id="1" name=""/>
        <p:cNvGrpSpPr/>
        <p:nvPr/>
      </p:nvGrpSpPr>
      <p:grpSpPr>
        <a:xfrm>
          <a:off x="0" y="0"/>
          <a:ext cx="0" cy="0"/>
          <a:chOff x="0" y="0"/>
          <a:chExt cx="0" cy="0"/>
        </a:xfrm>
      </p:grpSpPr>
      <p:sp>
        <p:nvSpPr>
          <p:cNvPr id="52" name="文字方塊 51">
            <a:extLst>
              <a:ext uri="{FF2B5EF4-FFF2-40B4-BE49-F238E27FC236}">
                <a16:creationId xmlns:a16="http://schemas.microsoft.com/office/drawing/2014/main" id="{4EB72046-7EFA-4D5B-9003-30F89B1D91A8}"/>
              </a:ext>
            </a:extLst>
          </p:cNvPr>
          <p:cNvSpPr txBox="1"/>
          <p:nvPr userDrawn="1"/>
        </p:nvSpPr>
        <p:spPr>
          <a:xfrm>
            <a:off x="146506" y="6382217"/>
            <a:ext cx="402674" cy="307777"/>
          </a:xfrm>
          <a:prstGeom prst="rect">
            <a:avLst/>
          </a:prstGeom>
          <a:noFill/>
        </p:spPr>
        <p:txBody>
          <a:bodyPr wrap="none" rtlCol="0">
            <a:spAutoFit/>
          </a:bodyPr>
          <a:lstStyle/>
          <a:p>
            <a:fld id="{823BD820-02AB-4111-88E2-98F36ECA9073}" type="slidenum">
              <a:rPr lang="en-US" sz="1400" smtClean="0"/>
              <a:t>‹#›</a:t>
            </a:fld>
            <a:endParaRPr lang="en-US" sz="1400" dirty="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61946" y="643201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endParaRPr lang="en-US" sz="1000" dirty="0"/>
          </a:p>
        </p:txBody>
      </p:sp>
      <p:pic>
        <p:nvPicPr>
          <p:cNvPr id="55" name="Image" descr="Image">
            <a:extLst>
              <a:ext uri="{FF2B5EF4-FFF2-40B4-BE49-F238E27FC236}">
                <a16:creationId xmlns:a16="http://schemas.microsoft.com/office/drawing/2014/main" id="{3FD067EA-3F6A-4BD1-B5C3-F883F3BD8FAC}"/>
              </a:ext>
            </a:extLst>
          </p:cNvPr>
          <p:cNvPicPr>
            <a:picLocks noChangeAspect="1"/>
          </p:cNvPicPr>
          <p:nvPr userDrawn="1"/>
        </p:nvPicPr>
        <p:blipFill>
          <a:blip r:embed="rId2"/>
          <a:stretch>
            <a:fillRect/>
          </a:stretch>
        </p:blipFill>
        <p:spPr>
          <a:xfrm>
            <a:off x="10877740" y="6271413"/>
            <a:ext cx="1056000" cy="325143"/>
          </a:xfrm>
          <a:prstGeom prst="rect">
            <a:avLst/>
          </a:prstGeom>
          <a:ln w="12700">
            <a:miter lim="400000"/>
          </a:ln>
        </p:spPr>
      </p:pic>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5"/>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76" name="文本框 75"/>
          <p:cNvSpPr txBox="1"/>
          <p:nvPr userDrawn="1"/>
        </p:nvSpPr>
        <p:spPr>
          <a:xfrm>
            <a:off x="9794605" y="3835801"/>
            <a:ext cx="603188" cy="332646"/>
          </a:xfrm>
          <a:prstGeom prst="rect">
            <a:avLst/>
          </a:prstGeom>
          <a:noFill/>
          <a:ln>
            <a:noFill/>
          </a:ln>
        </p:spPr>
        <p:txBody>
          <a:bodyPr wrap="square" rtlCol="0" anchor="t">
            <a:noAutofit/>
          </a:bodyPr>
          <a:lstStyle/>
          <a:p>
            <a:pPr>
              <a:lnSpc>
                <a:spcPct val="100000"/>
              </a:lnSpc>
            </a:pPr>
            <a:r>
              <a:rPr lang="en-US" altLang="zh-CN" sz="1200" b="0" kern="1200" baseline="0" dirty="0">
                <a:solidFill>
                  <a:schemeClr val="tx1"/>
                </a:solidFill>
                <a:latin typeface="+mj-lt"/>
                <a:ea typeface="微软雅黑" panose="020B0503020204020204" pitchFamily="34" charset="-122"/>
                <a:cs typeface="+mn-cs"/>
              </a:rPr>
              <a:t>ROI</a:t>
            </a:r>
            <a:r>
              <a:rPr lang="zh-CN" altLang="en-US" sz="1200" b="0" kern="1200" baseline="0" dirty="0">
                <a:solidFill>
                  <a:schemeClr val="tx1"/>
                </a:solidFill>
                <a:latin typeface="+mj-lt"/>
                <a:ea typeface="微软雅黑" panose="020B0503020204020204" pitchFamily="34" charset="-122"/>
                <a:cs typeface="+mn-cs"/>
              </a:rPr>
              <a:t>：</a:t>
            </a:r>
            <a:endParaRPr lang="en-US" altLang="zh-CN" sz="1200" b="0" kern="1200" baseline="0" dirty="0">
              <a:solidFill>
                <a:schemeClr val="tx1"/>
              </a:solidFill>
              <a:latin typeface="+mj-lt"/>
              <a:ea typeface="微软雅黑" panose="020B0503020204020204" pitchFamily="34" charset="-122"/>
              <a:cs typeface="+mn-cs"/>
            </a:endParaRPr>
          </a:p>
        </p:txBody>
      </p:sp>
      <p:sp>
        <p:nvSpPr>
          <p:cNvPr id="77" name="文本框 76"/>
          <p:cNvSpPr txBox="1"/>
          <p:nvPr userDrawn="1"/>
        </p:nvSpPr>
        <p:spPr>
          <a:xfrm>
            <a:off x="4338193" y="3741998"/>
            <a:ext cx="360000" cy="1693062"/>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專案範圍</a:t>
            </a:r>
            <a:endParaRPr lang="zh-CN" altLang="en-US" sz="1600" b="1" u="sng" dirty="0">
              <a:solidFill>
                <a:schemeClr val="bg1"/>
              </a:solidFill>
              <a:latin typeface="+mn-ea"/>
              <a:ea typeface="+mn-ea"/>
            </a:endParaRPr>
          </a:p>
        </p:txBody>
      </p:sp>
      <p:sp>
        <p:nvSpPr>
          <p:cNvPr id="81" name="文本框 80"/>
          <p:cNvSpPr txBox="1"/>
          <p:nvPr userDrawn="1"/>
        </p:nvSpPr>
        <p:spPr>
          <a:xfrm>
            <a:off x="270776" y="5497397"/>
            <a:ext cx="360000" cy="834023"/>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時</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程</a:t>
            </a:r>
          </a:p>
        </p:txBody>
      </p:sp>
      <p:sp>
        <p:nvSpPr>
          <p:cNvPr id="44" name="標題 1">
            <a:extLst>
              <a:ext uri="{FF2B5EF4-FFF2-40B4-BE49-F238E27FC236}">
                <a16:creationId xmlns:a16="http://schemas.microsoft.com/office/drawing/2014/main" id="{E8CA6B8E-EB08-4AB0-9768-E121F12ABA2B}"/>
              </a:ext>
            </a:extLst>
          </p:cNvPr>
          <p:cNvSpPr txBox="1">
            <a:spLocks/>
          </p:cNvSpPr>
          <p:nvPr userDrawn="1"/>
        </p:nvSpPr>
        <p:spPr>
          <a:xfrm>
            <a:off x="9904769" y="374731"/>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dirty="0">
                <a:solidFill>
                  <a:schemeClr val="tx1"/>
                </a:solidFill>
                <a:latin typeface="+mn-ea"/>
                <a:ea typeface="+mn-ea"/>
              </a:rPr>
              <a:t>專案編號：</a:t>
            </a:r>
            <a:endParaRPr lang="en-US" sz="1200" dirty="0">
              <a:solidFill>
                <a:schemeClr val="tx1"/>
              </a:solidFill>
              <a:latin typeface="+mn-ea"/>
              <a:ea typeface="+mn-ea"/>
            </a:endParaRPr>
          </a:p>
        </p:txBody>
      </p:sp>
      <p:graphicFrame>
        <p:nvGraphicFramePr>
          <p:cNvPr id="49" name="表格 48"/>
          <p:cNvGraphicFramePr>
            <a:graphicFrameLocks noGrp="1"/>
          </p:cNvGraphicFramePr>
          <p:nvPr userDrawn="1"/>
        </p:nvGraphicFramePr>
        <p:xfrm>
          <a:off x="4843842" y="4574136"/>
          <a:ext cx="2273740" cy="834459"/>
        </p:xfrm>
        <a:graphic>
          <a:graphicData uri="http://schemas.openxmlformats.org/drawingml/2006/table">
            <a:tbl>
              <a:tblPr>
                <a:tableStyleId>{5C22544A-7EE6-4342-B048-85BDC9FD1C3A}</a:tableStyleId>
              </a:tblPr>
              <a:tblGrid>
                <a:gridCol w="1115420">
                  <a:extLst>
                    <a:ext uri="{9D8B030D-6E8A-4147-A177-3AD203B41FA5}">
                      <a16:colId xmlns:a16="http://schemas.microsoft.com/office/drawing/2014/main" val="3601475834"/>
                    </a:ext>
                  </a:extLst>
                </a:gridCol>
                <a:gridCol w="1158320">
                  <a:extLst>
                    <a:ext uri="{9D8B030D-6E8A-4147-A177-3AD203B41FA5}">
                      <a16:colId xmlns:a16="http://schemas.microsoft.com/office/drawing/2014/main" val="3963661121"/>
                    </a:ext>
                  </a:extLst>
                </a:gridCol>
              </a:tblGrid>
              <a:tr h="236004">
                <a:tc>
                  <a:txBody>
                    <a:bodyPr/>
                    <a:lstStyle/>
                    <a:p>
                      <a:pPr algn="l"/>
                      <a:r>
                        <a:rPr lang="zh-CN" altLang="en-US" sz="1200" b="1" kern="1200" baseline="0">
                          <a:solidFill>
                            <a:schemeClr val="tx1"/>
                          </a:solidFill>
                          <a:latin typeface="+mn-ea"/>
                          <a:ea typeface="+mn-ea"/>
                          <a:cs typeface="+mn-cs"/>
                        </a:rPr>
                        <a:t>     實</a:t>
                      </a:r>
                      <a:r>
                        <a:rPr lang="zh-CN" altLang="en-US" sz="1200" b="1" kern="1200" baseline="0" dirty="0">
                          <a:solidFill>
                            <a:schemeClr val="tx1"/>
                          </a:solidFill>
                          <a:latin typeface="+mn-ea"/>
                          <a:ea typeface="+mn-ea"/>
                          <a:cs typeface="+mn-cs"/>
                        </a:rPr>
                        <a:t>施範圍</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200" b="1" kern="1200" baseline="0">
                          <a:solidFill>
                            <a:schemeClr val="tx1"/>
                          </a:solidFill>
                          <a:latin typeface="+mn-ea"/>
                          <a:ea typeface="+mn-ea"/>
                          <a:cs typeface="+mn-cs"/>
                        </a:rPr>
                        <a:t>     產</a:t>
                      </a:r>
                      <a:r>
                        <a:rPr lang="zh-CN" altLang="en-US" sz="1200" b="1" kern="1200" baseline="0" dirty="0">
                          <a:solidFill>
                            <a:schemeClr val="tx1"/>
                          </a:solidFill>
                          <a:latin typeface="+mn-ea"/>
                          <a:ea typeface="+mn-ea"/>
                          <a:cs typeface="+mn-cs"/>
                        </a:rPr>
                        <a:t>出類型</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875191"/>
                  </a:ext>
                </a:extLst>
              </a:tr>
              <a:tr h="19948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050" b="0" kern="1200" baseline="0">
                          <a:solidFill>
                            <a:schemeClr val="tx1"/>
                          </a:solidFill>
                          <a:latin typeface="+mn-ea"/>
                          <a:ea typeface="+mn-ea"/>
                          <a:cs typeface="+mn-cs"/>
                        </a:rPr>
                        <a:t>○  多</a:t>
                      </a:r>
                      <a:r>
                        <a:rPr lang="zh-CN" altLang="en-US" sz="1050" b="0" kern="1200" baseline="0" dirty="0">
                          <a:solidFill>
                            <a:schemeClr val="tx1"/>
                          </a:solidFill>
                          <a:latin typeface="+mn-ea"/>
                          <a:ea typeface="+mn-ea"/>
                          <a:cs typeface="+mn-cs"/>
                        </a:rPr>
                        <a:t>個</a:t>
                      </a:r>
                      <a:r>
                        <a:rPr lang="zh-CN" altLang="en-US" sz="1050" b="0" kern="1200" baseline="0">
                          <a:solidFill>
                            <a:schemeClr val="tx1"/>
                          </a:solidFill>
                          <a:latin typeface="+mn-ea"/>
                          <a:ea typeface="+mn-ea"/>
                          <a:cs typeface="+mn-cs"/>
                        </a:rPr>
                        <a:t>廠區 </a:t>
                      </a:r>
                      <a:endParaRPr lang="zh-CN" altLang="en-US" sz="105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050" b="0" kern="1200" baseline="0">
                          <a:solidFill>
                            <a:schemeClr val="tx1"/>
                          </a:solidFill>
                          <a:latin typeface="+mn-ea"/>
                          <a:ea typeface="+mn-ea"/>
                          <a:cs typeface="+mn-cs"/>
                        </a:rPr>
                        <a:t>○  系統平台 </a:t>
                      </a:r>
                      <a:endParaRPr lang="zh-CN" altLang="en-US" sz="105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775297"/>
                  </a:ext>
                </a:extLst>
              </a:tr>
              <a:tr h="199485">
                <a:tc>
                  <a:txBody>
                    <a:bodyPr/>
                    <a:lstStyle/>
                    <a:p>
                      <a:pPr algn="l"/>
                      <a:r>
                        <a:rPr lang="zh-CN" altLang="en-US" sz="1050" b="0" kern="1200" baseline="0">
                          <a:solidFill>
                            <a:schemeClr val="tx1"/>
                          </a:solidFill>
                          <a:latin typeface="+mn-ea"/>
                          <a:ea typeface="+mn-ea"/>
                          <a:cs typeface="+mn-cs"/>
                        </a:rPr>
                        <a:t>○  單</a:t>
                      </a:r>
                      <a:r>
                        <a:rPr lang="zh-CN" altLang="en-US" sz="1050" b="0" kern="1200" baseline="0" dirty="0">
                          <a:solidFill>
                            <a:schemeClr val="tx1"/>
                          </a:solidFill>
                          <a:latin typeface="+mn-ea"/>
                          <a:ea typeface="+mn-ea"/>
                          <a:cs typeface="+mn-cs"/>
                        </a:rPr>
                        <a:t>一</a:t>
                      </a:r>
                      <a:r>
                        <a:rPr lang="zh-CN" altLang="en-US" sz="1050" b="0" kern="1200" baseline="0">
                          <a:solidFill>
                            <a:schemeClr val="tx1"/>
                          </a:solidFill>
                          <a:latin typeface="+mn-ea"/>
                          <a:ea typeface="+mn-ea"/>
                          <a:cs typeface="+mn-cs"/>
                        </a:rPr>
                        <a:t>廠區 </a:t>
                      </a:r>
                      <a:endParaRPr lang="zh-CN" altLang="en-US" sz="105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050" b="0" kern="1200" baseline="0">
                          <a:solidFill>
                            <a:schemeClr val="tx1"/>
                          </a:solidFill>
                          <a:latin typeface="+mn-ea"/>
                          <a:ea typeface="+mn-ea"/>
                          <a:cs typeface="+mn-cs"/>
                        </a:rPr>
                        <a:t>○  軟</a:t>
                      </a:r>
                      <a:r>
                        <a:rPr lang="zh-CN" altLang="en-US" sz="1050" b="0" kern="1200" baseline="0" dirty="0">
                          <a:solidFill>
                            <a:schemeClr val="tx1"/>
                          </a:solidFill>
                          <a:latin typeface="+mn-ea"/>
                          <a:ea typeface="+mn-ea"/>
                          <a:cs typeface="+mn-cs"/>
                        </a:rPr>
                        <a:t>件</a:t>
                      </a:r>
                      <a:r>
                        <a:rPr lang="en-US" altLang="zh-CN" sz="1050" b="0" kern="1200" baseline="0" dirty="0">
                          <a:solidFill>
                            <a:schemeClr val="tx1"/>
                          </a:solidFill>
                          <a:latin typeface="+mn-ea"/>
                          <a:ea typeface="+mn-ea"/>
                          <a:cs typeface="+mn-cs"/>
                        </a:rPr>
                        <a:t>/</a:t>
                      </a:r>
                      <a:r>
                        <a:rPr lang="zh-CN" altLang="en-US" sz="1050" b="0" kern="1200" baseline="0" dirty="0">
                          <a:solidFill>
                            <a:schemeClr val="tx1"/>
                          </a:solidFill>
                          <a:latin typeface="+mn-ea"/>
                          <a:ea typeface="+mn-ea"/>
                          <a:cs typeface="+mn-cs"/>
                        </a:rPr>
                        <a:t>規範</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5369103"/>
                  </a:ext>
                </a:extLst>
              </a:tr>
              <a:tr h="199485">
                <a:tc>
                  <a:txBody>
                    <a:bodyPr/>
                    <a:lstStyle/>
                    <a:p>
                      <a:pPr algn="l"/>
                      <a:r>
                        <a:rPr lang="zh-CN" altLang="en-US" sz="1050" b="0" kern="1200" baseline="0">
                          <a:solidFill>
                            <a:schemeClr val="tx1"/>
                          </a:solidFill>
                          <a:latin typeface="+mn-ea"/>
                          <a:ea typeface="+mn-ea"/>
                          <a:cs typeface="+mn-cs"/>
                        </a:rPr>
                        <a:t>○  單</a:t>
                      </a:r>
                      <a:r>
                        <a:rPr lang="zh-CN" altLang="en-US" sz="1050" b="0" kern="1200" baseline="0" dirty="0">
                          <a:solidFill>
                            <a:schemeClr val="tx1"/>
                          </a:solidFill>
                          <a:latin typeface="+mn-ea"/>
                          <a:ea typeface="+mn-ea"/>
                          <a:cs typeface="+mn-cs"/>
                        </a:rPr>
                        <a:t>線</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050" b="0" kern="1200" baseline="0">
                          <a:solidFill>
                            <a:schemeClr val="tx1"/>
                          </a:solidFill>
                          <a:latin typeface="+mn-ea"/>
                          <a:ea typeface="+mn-ea"/>
                          <a:cs typeface="+mn-cs"/>
                        </a:rPr>
                        <a:t>○  硬件</a:t>
                      </a:r>
                      <a:endParaRPr lang="zh-CN" altLang="en-US" sz="1050" b="0" kern="1200" baseline="0" dirty="0">
                        <a:solidFill>
                          <a:schemeClr val="tx1"/>
                        </a:solidFill>
                        <a:latin typeface="+mn-ea"/>
                        <a:ea typeface="+mn-ea"/>
                        <a:cs typeface="+mn-cs"/>
                      </a:endParaRP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180558"/>
                  </a:ext>
                </a:extLst>
              </a:tr>
            </a:tbl>
          </a:graphicData>
        </a:graphic>
      </p:graphicFrame>
      <p:sp>
        <p:nvSpPr>
          <p:cNvPr id="5" name="矩形 4"/>
          <p:cNvSpPr/>
          <p:nvPr userDrawn="1"/>
        </p:nvSpPr>
        <p:spPr>
          <a:xfrm>
            <a:off x="5110263" y="3773936"/>
            <a:ext cx="518091" cy="276999"/>
          </a:xfrm>
          <a:prstGeom prst="rect">
            <a:avLst/>
          </a:prstGeom>
        </p:spPr>
        <p:txBody>
          <a:bodyPr wrap="none">
            <a:spAutoFit/>
          </a:bodyPr>
          <a:lstStyle/>
          <a:p>
            <a:r>
              <a:rPr kumimoji="0" lang="en-US" altLang="zh-CN" sz="1200" b="1" i="0" u="none" strike="noStrike" kern="1200" cap="none" spc="0" normalizeH="0" baseline="0" noProof="0" dirty="0">
                <a:ln>
                  <a:noFill/>
                </a:ln>
                <a:solidFill>
                  <a:schemeClr val="tx1"/>
                </a:solidFill>
                <a:effectLst/>
                <a:uLnTx/>
                <a:uFillTx/>
                <a:latin typeface="+mj-lt"/>
                <a:ea typeface="微软雅黑" panose="020B0503020204020204" pitchFamily="34" charset="-122"/>
                <a:cs typeface="+mn-cs"/>
              </a:rPr>
              <a:t>POC</a:t>
            </a:r>
            <a:endParaRPr lang="zh-CN" altLang="en-US" sz="1200" b="1" dirty="0">
              <a:solidFill>
                <a:schemeClr val="tx1"/>
              </a:solidFill>
              <a:latin typeface="+mj-lt"/>
            </a:endParaRPr>
          </a:p>
        </p:txBody>
      </p:sp>
      <p:graphicFrame>
        <p:nvGraphicFramePr>
          <p:cNvPr id="73" name="表格 72"/>
          <p:cNvGraphicFramePr>
            <a:graphicFrameLocks noGrp="1"/>
          </p:cNvGraphicFramePr>
          <p:nvPr userDrawn="1"/>
        </p:nvGraphicFramePr>
        <p:xfrm>
          <a:off x="1708205" y="5475683"/>
          <a:ext cx="10068930" cy="747840"/>
        </p:xfrm>
        <a:graphic>
          <a:graphicData uri="http://schemas.openxmlformats.org/drawingml/2006/table">
            <a:tbl>
              <a:tblPr firstRow="1">
                <a:tableStyleId>{5C22544A-7EE6-4342-B048-85BDC9FD1C3A}</a:tableStyleId>
              </a:tblPr>
              <a:tblGrid>
                <a:gridCol w="1194618">
                  <a:extLst>
                    <a:ext uri="{9D8B030D-6E8A-4147-A177-3AD203B41FA5}">
                      <a16:colId xmlns:a16="http://schemas.microsoft.com/office/drawing/2014/main" val="1364975805"/>
                    </a:ext>
                  </a:extLst>
                </a:gridCol>
                <a:gridCol w="1109289">
                  <a:extLst>
                    <a:ext uri="{9D8B030D-6E8A-4147-A177-3AD203B41FA5}">
                      <a16:colId xmlns:a16="http://schemas.microsoft.com/office/drawing/2014/main" val="598168328"/>
                    </a:ext>
                  </a:extLst>
                </a:gridCol>
                <a:gridCol w="1109289">
                  <a:extLst>
                    <a:ext uri="{9D8B030D-6E8A-4147-A177-3AD203B41FA5}">
                      <a16:colId xmlns:a16="http://schemas.microsoft.com/office/drawing/2014/main" val="3996203012"/>
                    </a:ext>
                  </a:extLst>
                </a:gridCol>
                <a:gridCol w="1109289">
                  <a:extLst>
                    <a:ext uri="{9D8B030D-6E8A-4147-A177-3AD203B41FA5}">
                      <a16:colId xmlns:a16="http://schemas.microsoft.com/office/drawing/2014/main" val="8965765"/>
                    </a:ext>
                  </a:extLst>
                </a:gridCol>
                <a:gridCol w="1109289">
                  <a:extLst>
                    <a:ext uri="{9D8B030D-6E8A-4147-A177-3AD203B41FA5}">
                      <a16:colId xmlns:a16="http://schemas.microsoft.com/office/drawing/2014/main" val="3018412842"/>
                    </a:ext>
                  </a:extLst>
                </a:gridCol>
                <a:gridCol w="1109289">
                  <a:extLst>
                    <a:ext uri="{9D8B030D-6E8A-4147-A177-3AD203B41FA5}">
                      <a16:colId xmlns:a16="http://schemas.microsoft.com/office/drawing/2014/main" val="1610061165"/>
                    </a:ext>
                  </a:extLst>
                </a:gridCol>
                <a:gridCol w="1109289">
                  <a:extLst>
                    <a:ext uri="{9D8B030D-6E8A-4147-A177-3AD203B41FA5}">
                      <a16:colId xmlns:a16="http://schemas.microsoft.com/office/drawing/2014/main" val="2837564109"/>
                    </a:ext>
                  </a:extLst>
                </a:gridCol>
                <a:gridCol w="1109289">
                  <a:extLst>
                    <a:ext uri="{9D8B030D-6E8A-4147-A177-3AD203B41FA5}">
                      <a16:colId xmlns:a16="http://schemas.microsoft.com/office/drawing/2014/main" val="627612840"/>
                    </a:ext>
                  </a:extLst>
                </a:gridCol>
                <a:gridCol w="1109289">
                  <a:extLst>
                    <a:ext uri="{9D8B030D-6E8A-4147-A177-3AD203B41FA5}">
                      <a16:colId xmlns:a16="http://schemas.microsoft.com/office/drawing/2014/main" val="2411478032"/>
                    </a:ext>
                  </a:extLst>
                </a:gridCol>
              </a:tblGrid>
              <a:tr h="504000">
                <a:tc>
                  <a:txBody>
                    <a:bodyPr/>
                    <a:lstStyle/>
                    <a:p>
                      <a:pPr algn="ctr">
                        <a:lnSpc>
                          <a:spcPct val="100000"/>
                        </a:lnSpc>
                      </a:pPr>
                      <a:r>
                        <a:rPr lang="en-US" altLang="zh-TW" sz="1200" b="1" kern="1200" dirty="0">
                          <a:solidFill>
                            <a:schemeClr val="tx1"/>
                          </a:solidFill>
                          <a:latin typeface="+mj-lt"/>
                          <a:ea typeface="微软雅黑" panose="020B0503020204020204" pitchFamily="34" charset="-122"/>
                          <a:cs typeface="+mn-cs"/>
                        </a:rPr>
                        <a:t>Milestone</a:t>
                      </a:r>
                    </a:p>
                  </a:txBody>
                  <a:tcPr marL="0" marR="0" marT="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377" rtl="0" eaLnBrk="1" latinLnBrk="0" hangingPunct="1">
                        <a:lnSpc>
                          <a:spcPct val="100000"/>
                        </a:lnSpc>
                      </a:pPr>
                      <a:r>
                        <a:rPr lang="en-US" altLang="zh-TW" sz="1200" b="1" kern="1200" dirty="0">
                          <a:solidFill>
                            <a:schemeClr val="tx1"/>
                          </a:solidFill>
                          <a:latin typeface="+mn-lt"/>
                          <a:ea typeface="+mn-ea"/>
                          <a:cs typeface="+mn-cs"/>
                        </a:rPr>
                        <a:t>M1</a:t>
                      </a:r>
                    </a:p>
                    <a:p>
                      <a:pPr marL="0" algn="ctr" defTabSz="914377" rtl="0" eaLnBrk="1" latinLnBrk="0" hangingPunct="1">
                        <a:lnSpc>
                          <a:spcPct val="100000"/>
                        </a:lnSpc>
                      </a:pPr>
                      <a:r>
                        <a:rPr lang="zh-TW" altLang="en-US" sz="1200" b="0" kern="1200" dirty="0">
                          <a:solidFill>
                            <a:schemeClr val="tx1"/>
                          </a:solidFill>
                          <a:latin typeface="+mn-lt"/>
                          <a:ea typeface="+mn-ea"/>
                          <a:cs typeface="+mn-cs"/>
                        </a:rPr>
                        <a:t>需求評估</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M2</a:t>
                      </a:r>
                    </a:p>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mn-lt"/>
                          <a:ea typeface="+mn-ea"/>
                          <a:cs typeface="+mn-cs"/>
                        </a:rPr>
                        <a:t>立案規劃</a:t>
                      </a:r>
                      <a:endParaRPr lang="en-US" altLang="zh-CN"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spcAft>
                          <a:spcPts val="0"/>
                        </a:spcAft>
                      </a:pPr>
                      <a:r>
                        <a:rPr lang="en-US" altLang="zh-TW" sz="1200" b="1" kern="1200" dirty="0">
                          <a:solidFill>
                            <a:schemeClr val="tx1"/>
                          </a:solidFill>
                          <a:latin typeface="+mn-lt"/>
                          <a:ea typeface="+mn-ea"/>
                          <a:cs typeface="+mn-cs"/>
                        </a:rPr>
                        <a:t>M3</a:t>
                      </a:r>
                    </a:p>
                    <a:p>
                      <a:pPr marL="0" algn="ctr" defTabSz="914377" rtl="0" eaLnBrk="1" latinLnBrk="0" hangingPunct="1">
                        <a:lnSpc>
                          <a:spcPct val="100000"/>
                        </a:lnSpc>
                        <a:spcAft>
                          <a:spcPts val="0"/>
                        </a:spcAft>
                      </a:pPr>
                      <a:r>
                        <a:rPr lang="zh-TW" altLang="en-US" sz="1200" b="0" kern="1200" dirty="0">
                          <a:solidFill>
                            <a:schemeClr val="tx1"/>
                          </a:solidFill>
                          <a:latin typeface="+mn-lt"/>
                          <a:ea typeface="+mn-ea"/>
                          <a:cs typeface="+mn-cs"/>
                        </a:rPr>
                        <a:t>細部設計</a:t>
                      </a:r>
                      <a:endParaRPr lang="en-US"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pPr>
                      <a:r>
                        <a:rPr lang="en-US" altLang="zh-TW" sz="1200" b="1" kern="1200" dirty="0">
                          <a:solidFill>
                            <a:schemeClr val="tx1"/>
                          </a:solidFill>
                          <a:latin typeface="+mn-lt"/>
                          <a:ea typeface="+mn-ea"/>
                          <a:cs typeface="+mn-cs"/>
                        </a:rPr>
                        <a:t>M4</a:t>
                      </a:r>
                    </a:p>
                    <a:p>
                      <a:pPr marL="0" lvl="0" algn="ctr" defTabSz="914377" rtl="0" eaLnBrk="1" latinLnBrk="0" hangingPunct="1">
                        <a:lnSpc>
                          <a:spcPct val="100000"/>
                        </a:lnSpc>
                      </a:pPr>
                      <a:r>
                        <a:rPr lang="zh-TW" altLang="en-US" sz="1200" b="0" kern="1200" dirty="0">
                          <a:solidFill>
                            <a:schemeClr val="tx1"/>
                          </a:solidFill>
                          <a:latin typeface="+mn-lt"/>
                          <a:ea typeface="+mn-ea"/>
                          <a:cs typeface="+mn-cs"/>
                        </a:rPr>
                        <a:t>設計反饋</a:t>
                      </a:r>
                      <a:endParaRPr lang="zh-TW" altLang="zh-TW"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defRPr/>
                      </a:pPr>
                      <a:r>
                        <a:rPr lang="en-US" altLang="zh-TW" sz="1200" b="1" kern="1200" dirty="0">
                          <a:solidFill>
                            <a:schemeClr val="tx1"/>
                          </a:solidFill>
                          <a:latin typeface="+mn-lt"/>
                          <a:ea typeface="+mn-ea"/>
                          <a:cs typeface="+mn-cs"/>
                        </a:rPr>
                        <a:t>M5</a:t>
                      </a:r>
                    </a:p>
                    <a:p>
                      <a:pPr marL="0" lvl="0" algn="ctr" defTabSz="914377" rtl="0" eaLnBrk="1" latinLnBrk="0" hangingPunct="1">
                        <a:lnSpc>
                          <a:spcPct val="100000"/>
                        </a:lnSpc>
                        <a:defRPr/>
                      </a:pPr>
                      <a:r>
                        <a:rPr lang="en-US" altLang="zh-TW" sz="1200" b="0" kern="1200" dirty="0">
                          <a:solidFill>
                            <a:schemeClr val="tx1"/>
                          </a:solidFill>
                          <a:latin typeface="+mn-lt"/>
                          <a:ea typeface="+mn-ea"/>
                          <a:cs typeface="+mn-cs"/>
                        </a:rPr>
                        <a:t>POC</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dirty="0">
                          <a:solidFill>
                            <a:schemeClr val="tx1"/>
                          </a:solidFill>
                          <a:latin typeface="+mn-lt"/>
                          <a:ea typeface="+mn-ea"/>
                          <a:cs typeface="+mn-cs"/>
                        </a:rPr>
                        <a:t>M6</a:t>
                      </a:r>
                    </a:p>
                    <a:p>
                      <a:pPr marL="0" algn="ctr" defTabSz="914377" rtl="0" eaLnBrk="1" latinLnBrk="0" hangingPunct="1">
                        <a:lnSpc>
                          <a:spcPct val="100000"/>
                        </a:lnSpc>
                        <a:defRPr/>
                      </a:pPr>
                      <a:r>
                        <a:rPr lang="zh-TW" altLang="en-US" sz="1200" b="0" kern="1200" dirty="0">
                          <a:solidFill>
                            <a:schemeClr val="tx1"/>
                          </a:solidFill>
                          <a:latin typeface="+mn-lt"/>
                          <a:ea typeface="+mn-ea"/>
                          <a:cs typeface="+mn-cs"/>
                        </a:rPr>
                        <a:t>資訊流標準化</a:t>
                      </a:r>
                      <a:endParaRPr lang="zh-CN" altLang="en-US"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dirty="0">
                          <a:solidFill>
                            <a:schemeClr val="tx1"/>
                          </a:solidFill>
                          <a:latin typeface="+mn-lt"/>
                          <a:ea typeface="+mn-ea"/>
                          <a:cs typeface="+mn-cs"/>
                        </a:rPr>
                        <a:t>M7</a:t>
                      </a:r>
                    </a:p>
                    <a:p>
                      <a:pPr marL="0" marR="0" indent="0" algn="ctr" defTabSz="914377"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tx1"/>
                          </a:solidFill>
                          <a:latin typeface="+mn-lt"/>
                          <a:ea typeface="+mn-ea"/>
                          <a:cs typeface="+mn-cs"/>
                        </a:rPr>
                        <a:t>落地規劃</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dirty="0">
                          <a:solidFill>
                            <a:schemeClr val="tx1"/>
                          </a:solidFill>
                          <a:latin typeface="+mn-lt"/>
                          <a:ea typeface="+mn-ea"/>
                          <a:cs typeface="+mn-cs"/>
                        </a:rPr>
                        <a:t>M8</a:t>
                      </a:r>
                    </a:p>
                    <a:p>
                      <a:pPr marL="0" algn="ctr" defTabSz="914377" rtl="0" eaLnBrk="1" latinLnBrk="0" hangingPunct="1">
                        <a:lnSpc>
                          <a:spcPct val="100000"/>
                        </a:lnSpc>
                        <a:defRPr/>
                      </a:pPr>
                      <a:r>
                        <a:rPr lang="zh-TW" altLang="en-US" sz="1200" b="0" kern="1200" dirty="0">
                          <a:solidFill>
                            <a:schemeClr val="tx1"/>
                          </a:solidFill>
                          <a:latin typeface="+mn-lt"/>
                          <a:ea typeface="+mn-ea"/>
                          <a:cs typeface="+mn-cs"/>
                        </a:rPr>
                        <a:t>落地檢核</a:t>
                      </a:r>
                      <a:endParaRPr lang="zh-CN" altLang="en-US" sz="1200" b="0" kern="1200" dirty="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3771765"/>
                  </a:ext>
                </a:extLst>
              </a:tr>
              <a:tr h="216000">
                <a:tc>
                  <a:txBody>
                    <a:bodyPr/>
                    <a:lstStyle/>
                    <a:p>
                      <a:pPr algn="ctr">
                        <a:lnSpc>
                          <a:spcPct val="100000"/>
                        </a:lnSpc>
                      </a:pPr>
                      <a:r>
                        <a:rPr lang="en-US" altLang="zh-CN" sz="1200" b="1">
                          <a:solidFill>
                            <a:schemeClr val="tx1"/>
                          </a:solidFill>
                          <a:latin typeface="+mj-lt"/>
                          <a:ea typeface="+mn-ea"/>
                        </a:rPr>
                        <a:t>Due</a:t>
                      </a:r>
                      <a:r>
                        <a:rPr lang="zh-CN" altLang="en-US" sz="1200" b="1" baseline="0">
                          <a:solidFill>
                            <a:schemeClr val="tx1"/>
                          </a:solidFill>
                          <a:latin typeface="+mj-lt"/>
                          <a:ea typeface="+mn-ea"/>
                        </a:rPr>
                        <a:t> </a:t>
                      </a:r>
                      <a:r>
                        <a:rPr lang="en-US" altLang="zh-CN" sz="1200" b="1" baseline="0">
                          <a:solidFill>
                            <a:schemeClr val="tx1"/>
                          </a:solidFill>
                          <a:latin typeface="+mj-lt"/>
                          <a:ea typeface="+mn-ea"/>
                        </a:rPr>
                        <a:t>date</a:t>
                      </a:r>
                      <a:endParaRPr lang="en-US" altLang="zh-CN" sz="1200" b="1" dirty="0">
                        <a:solidFill>
                          <a:schemeClr val="tx1"/>
                        </a:solidFill>
                        <a:latin typeface="+mj-lt"/>
                        <a:ea typeface="+mn-ea"/>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CN" altLang="en-US" sz="1600" b="0" dirty="0">
                        <a:solidFill>
                          <a:schemeClr val="tx1"/>
                        </a:solidFill>
                        <a:latin typeface="+mj-lt"/>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dirty="0">
                        <a:solidFill>
                          <a:schemeClr val="tx1"/>
                        </a:solidFill>
                        <a:latin typeface="+mj-lt"/>
                      </a:endParaRPr>
                    </a:p>
                  </a:txBody>
                  <a:tcPr marL="0" marR="0" marT="0" marB="0" anchor="ctr">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4082158"/>
                  </a:ext>
                </a:extLst>
              </a:tr>
            </a:tbl>
          </a:graphicData>
        </a:graphic>
      </p:graphicFrame>
      <p:cxnSp>
        <p:nvCxnSpPr>
          <p:cNvPr id="74" name="直接连接符 73"/>
          <p:cNvCxnSpPr/>
          <p:nvPr userDrawn="1"/>
        </p:nvCxnSpPr>
        <p:spPr>
          <a:xfrm flipH="1">
            <a:off x="-2" y="5462265"/>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9" name="標題 1">
            <a:extLst>
              <a:ext uri="{FF2B5EF4-FFF2-40B4-BE49-F238E27FC236}">
                <a16:creationId xmlns:a16="http://schemas.microsoft.com/office/drawing/2014/main" id="{E8CA6B8E-EB08-4AB0-9768-E121F12ABA2B}"/>
              </a:ext>
            </a:extLst>
          </p:cNvPr>
          <p:cNvSpPr txBox="1">
            <a:spLocks/>
          </p:cNvSpPr>
          <p:nvPr userDrawn="1"/>
        </p:nvSpPr>
        <p:spPr>
          <a:xfrm>
            <a:off x="9904768" y="172485"/>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dirty="0">
                <a:solidFill>
                  <a:schemeClr val="tx1"/>
                </a:solidFill>
                <a:latin typeface="+mn-ea"/>
                <a:ea typeface="+mn-ea"/>
              </a:rPr>
              <a:t>專案屬性：</a:t>
            </a:r>
            <a:endParaRPr lang="en-US" sz="1200" dirty="0">
              <a:solidFill>
                <a:schemeClr val="tx1"/>
              </a:solidFill>
              <a:latin typeface="+mn-ea"/>
              <a:ea typeface="+mn-ea"/>
            </a:endParaRPr>
          </a:p>
        </p:txBody>
      </p:sp>
      <p:sp>
        <p:nvSpPr>
          <p:cNvPr id="41" name="文本框 80">
            <a:extLst>
              <a:ext uri="{FF2B5EF4-FFF2-40B4-BE49-F238E27FC236}">
                <a16:creationId xmlns:a16="http://schemas.microsoft.com/office/drawing/2014/main" id="{CE4A5CD4-18D6-442A-8251-0B27565425B3}"/>
              </a:ext>
            </a:extLst>
          </p:cNvPr>
          <p:cNvSpPr txBox="1"/>
          <p:nvPr userDrawn="1"/>
        </p:nvSpPr>
        <p:spPr>
          <a:xfrm>
            <a:off x="942943" y="6001110"/>
            <a:ext cx="457368" cy="211766"/>
          </a:xfrm>
          <a:prstGeom prst="rect">
            <a:avLst/>
          </a:prstGeom>
          <a:noFill/>
          <a:ln>
            <a:noFill/>
          </a:ln>
        </p:spPr>
        <p:txBody>
          <a:bodyPr wrap="none" lIns="36000" tIns="0" rIns="36000" bIns="0" rtlCol="0" anchor="t" anchorCtr="0">
            <a:noAutofit/>
          </a:bodyPr>
          <a:lstStyle/>
          <a:p>
            <a:pPr algn="ctr"/>
            <a:r>
              <a:rPr lang="zh-CN" altLang="en-US" sz="1400" b="1" dirty="0">
                <a:solidFill>
                  <a:schemeClr val="tx1"/>
                </a:solidFill>
                <a:latin typeface="+mn-ea"/>
                <a:ea typeface="+mn-ea"/>
              </a:rPr>
              <a:t>天</a:t>
            </a:r>
          </a:p>
        </p:txBody>
      </p:sp>
      <p:cxnSp>
        <p:nvCxnSpPr>
          <p:cNvPr id="48" name="直接连接符 73">
            <a:extLst>
              <a:ext uri="{FF2B5EF4-FFF2-40B4-BE49-F238E27FC236}">
                <a16:creationId xmlns:a16="http://schemas.microsoft.com/office/drawing/2014/main" id="{260BD545-25F4-463E-914E-4B2E7F5D5FE7}"/>
              </a:ext>
            </a:extLst>
          </p:cNvPr>
          <p:cNvCxnSpPr/>
          <p:nvPr userDrawn="1"/>
        </p:nvCxnSpPr>
        <p:spPr>
          <a:xfrm flipH="1">
            <a:off x="-2" y="3711690"/>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5" name="文本框 76">
            <a:extLst>
              <a:ext uri="{FF2B5EF4-FFF2-40B4-BE49-F238E27FC236}">
                <a16:creationId xmlns:a16="http://schemas.microsoft.com/office/drawing/2014/main" id="{412770B5-2D22-4757-B0F9-827C620D34C0}"/>
              </a:ext>
            </a:extLst>
          </p:cNvPr>
          <p:cNvSpPr txBox="1"/>
          <p:nvPr userDrawn="1"/>
        </p:nvSpPr>
        <p:spPr>
          <a:xfrm>
            <a:off x="7229261" y="3741998"/>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專案效益</a:t>
            </a:r>
            <a:endParaRPr lang="zh-CN" altLang="en-US" sz="1600" b="1" u="sng" dirty="0">
              <a:solidFill>
                <a:schemeClr val="bg1"/>
              </a:solidFill>
              <a:latin typeface="+mn-ea"/>
              <a:ea typeface="+mn-ea"/>
            </a:endParaRPr>
          </a:p>
        </p:txBody>
      </p:sp>
      <p:sp>
        <p:nvSpPr>
          <p:cNvPr id="79" name="矩形 78">
            <a:extLst>
              <a:ext uri="{FF2B5EF4-FFF2-40B4-BE49-F238E27FC236}">
                <a16:creationId xmlns:a16="http://schemas.microsoft.com/office/drawing/2014/main" id="{74B93A32-4EBD-4EAA-9EBE-60BA29C04118}"/>
              </a:ext>
            </a:extLst>
          </p:cNvPr>
          <p:cNvSpPr/>
          <p:nvPr userDrawn="1"/>
        </p:nvSpPr>
        <p:spPr>
          <a:xfrm>
            <a:off x="6243412" y="3773936"/>
            <a:ext cx="492443" cy="276999"/>
          </a:xfrm>
          <a:prstGeom prst="rect">
            <a:avLst/>
          </a:prstGeom>
        </p:spPr>
        <p:txBody>
          <a:bodyPr wrap="none">
            <a:spAutoFit/>
          </a:bodyPr>
          <a:lstStyle/>
          <a:p>
            <a:r>
              <a:rPr kumimoji="0" lang="zh-CN" altLang="en-US" sz="1200" b="1" i="0" u="none" strike="noStrike" kern="1200" cap="none" spc="0" normalizeH="0" baseline="0" noProof="0" dirty="0">
                <a:ln>
                  <a:noFill/>
                </a:ln>
                <a:solidFill>
                  <a:schemeClr val="tx1"/>
                </a:solidFill>
                <a:effectLst/>
                <a:uLnTx/>
                <a:uFillTx/>
                <a:latin typeface="+mn-ea"/>
                <a:ea typeface="+mn-ea"/>
                <a:cs typeface="+mn-cs"/>
              </a:rPr>
              <a:t>落地</a:t>
            </a:r>
            <a:endParaRPr lang="zh-CN" altLang="en-US" sz="1200" b="1" dirty="0">
              <a:solidFill>
                <a:schemeClr val="tx1"/>
              </a:solidFill>
              <a:latin typeface="+mn-ea"/>
              <a:ea typeface="+mn-ea"/>
            </a:endParaRPr>
          </a:p>
        </p:txBody>
      </p:sp>
      <p:sp>
        <p:nvSpPr>
          <p:cNvPr id="13" name="矩形 12">
            <a:extLst>
              <a:ext uri="{FF2B5EF4-FFF2-40B4-BE49-F238E27FC236}">
                <a16:creationId xmlns:a16="http://schemas.microsoft.com/office/drawing/2014/main" id="{DB237AD2-C320-4A06-AA5B-DFCAEB5BB200}"/>
              </a:ext>
            </a:extLst>
          </p:cNvPr>
          <p:cNvSpPr/>
          <p:nvPr userDrawn="1"/>
        </p:nvSpPr>
        <p:spPr>
          <a:xfrm>
            <a:off x="8616154" y="3829575"/>
            <a:ext cx="1029000" cy="276999"/>
          </a:xfrm>
          <a:prstGeom prst="rect">
            <a:avLst/>
          </a:prstGeom>
        </p:spPr>
        <p:txBody>
          <a:bodyPr wrap="non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KUSD</a:t>
            </a: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endParaRPr>
          </a:p>
        </p:txBody>
      </p:sp>
      <p:sp>
        <p:nvSpPr>
          <p:cNvPr id="15" name="矩形 14">
            <a:extLst>
              <a:ext uri="{FF2B5EF4-FFF2-40B4-BE49-F238E27FC236}">
                <a16:creationId xmlns:a16="http://schemas.microsoft.com/office/drawing/2014/main" id="{A2D2403B-89BC-4F21-8E00-B9F06CF42EF0}"/>
              </a:ext>
            </a:extLst>
          </p:cNvPr>
          <p:cNvSpPr/>
          <p:nvPr userDrawn="1"/>
        </p:nvSpPr>
        <p:spPr>
          <a:xfrm>
            <a:off x="10875240" y="3822094"/>
            <a:ext cx="551305" cy="276999"/>
          </a:xfrm>
          <a:prstGeom prst="rect">
            <a:avLst/>
          </a:prstGeom>
        </p:spPr>
        <p:txBody>
          <a:bodyPr wrap="none">
            <a:spAutoFit/>
          </a:bodyPr>
          <a:lstStyle/>
          <a:p>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lang="zh-TW" altLang="en-US" b="0" dirty="0">
              <a:solidFill>
                <a:schemeClr val="tx1"/>
              </a:solidFill>
            </a:endParaRPr>
          </a:p>
        </p:txBody>
      </p:sp>
      <p:sp>
        <p:nvSpPr>
          <p:cNvPr id="94" name="文本框 76">
            <a:extLst>
              <a:ext uri="{FF2B5EF4-FFF2-40B4-BE49-F238E27FC236}">
                <a16:creationId xmlns:a16="http://schemas.microsoft.com/office/drawing/2014/main" id="{5E299125-23C7-45ED-9CD0-F792DF9E67D7}"/>
              </a:ext>
            </a:extLst>
          </p:cNvPr>
          <p:cNvSpPr txBox="1"/>
          <p:nvPr userDrawn="1"/>
        </p:nvSpPr>
        <p:spPr>
          <a:xfrm>
            <a:off x="270776" y="3742862"/>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dirty="0">
                <a:solidFill>
                  <a:schemeClr val="bg1"/>
                </a:solidFill>
                <a:latin typeface="+mn-ea"/>
                <a:ea typeface="+mn-ea"/>
              </a:rPr>
              <a:t>專案團隊</a:t>
            </a:r>
            <a:endParaRPr lang="zh-CN" altLang="en-US" sz="1600" b="1" u="sng" dirty="0">
              <a:solidFill>
                <a:schemeClr val="bg1"/>
              </a:solidFill>
              <a:latin typeface="+mn-ea"/>
              <a:ea typeface="+mn-ea"/>
            </a:endParaRPr>
          </a:p>
        </p:txBody>
      </p:sp>
      <p:cxnSp>
        <p:nvCxnSpPr>
          <p:cNvPr id="95" name="直接连接符 73">
            <a:extLst>
              <a:ext uri="{FF2B5EF4-FFF2-40B4-BE49-F238E27FC236}">
                <a16:creationId xmlns:a16="http://schemas.microsoft.com/office/drawing/2014/main" id="{E3D9E4B4-7C32-4F6D-B760-7606B45ECC9B}"/>
              </a:ext>
            </a:extLst>
          </p:cNvPr>
          <p:cNvCxnSpPr/>
          <p:nvPr userDrawn="1"/>
        </p:nvCxnSpPr>
        <p:spPr>
          <a:xfrm flipH="1">
            <a:off x="-2"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文本框 24"/>
          <p:cNvSpPr txBox="1"/>
          <p:nvPr userDrawn="1"/>
        </p:nvSpPr>
        <p:spPr>
          <a:xfrm>
            <a:off x="270776" y="753697"/>
            <a:ext cx="360000" cy="2934000"/>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需</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求</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與</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目</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標</a:t>
            </a:r>
          </a:p>
        </p:txBody>
      </p:sp>
      <p:sp>
        <p:nvSpPr>
          <p:cNvPr id="87" name="文本框 86"/>
          <p:cNvSpPr txBox="1"/>
          <p:nvPr userDrawn="1"/>
        </p:nvSpPr>
        <p:spPr>
          <a:xfrm>
            <a:off x="5566934" y="753697"/>
            <a:ext cx="360000" cy="2934000"/>
          </a:xfrm>
          <a:prstGeom prst="rect">
            <a:avLst/>
          </a:prstGeom>
          <a:solidFill>
            <a:srgbClr val="0087DC"/>
          </a:solidFill>
          <a:ln>
            <a:noFill/>
          </a:ln>
        </p:spPr>
        <p:txBody>
          <a:bodyPr wrap="square" rtlCol="0" anchor="ctr" anchorCtr="0">
            <a:noAutofit/>
          </a:bodyPr>
          <a:lstStyle/>
          <a:p>
            <a:pPr algn="ctr"/>
            <a:r>
              <a:rPr lang="zh-CN" altLang="en-US" sz="1600" b="1" dirty="0">
                <a:solidFill>
                  <a:schemeClr val="bg1"/>
                </a:solidFill>
                <a:latin typeface="+mn-ea"/>
                <a:ea typeface="+mn-ea"/>
              </a:rPr>
              <a:t>挑</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戰</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與</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解</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決</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方</a:t>
            </a:r>
            <a:endParaRPr lang="en-US" altLang="zh-CN" sz="1600" b="1" dirty="0">
              <a:solidFill>
                <a:schemeClr val="bg1"/>
              </a:solidFill>
              <a:latin typeface="+mn-ea"/>
              <a:ea typeface="+mn-ea"/>
            </a:endParaRPr>
          </a:p>
          <a:p>
            <a:pPr algn="ctr"/>
            <a:r>
              <a:rPr lang="zh-CN" altLang="en-US" sz="1600" b="1" dirty="0">
                <a:solidFill>
                  <a:schemeClr val="bg1"/>
                </a:solidFill>
                <a:latin typeface="+mn-ea"/>
                <a:ea typeface="+mn-ea"/>
              </a:rPr>
              <a:t>案</a:t>
            </a:r>
          </a:p>
        </p:txBody>
      </p:sp>
      <p:sp>
        <p:nvSpPr>
          <p:cNvPr id="21" name="等腰三角形 20">
            <a:extLst>
              <a:ext uri="{FF2B5EF4-FFF2-40B4-BE49-F238E27FC236}">
                <a16:creationId xmlns:a16="http://schemas.microsoft.com/office/drawing/2014/main" id="{0F94FA73-696E-4585-96A5-3EA8EEDFE197}"/>
              </a:ext>
            </a:extLst>
          </p:cNvPr>
          <p:cNvSpPr/>
          <p:nvPr userDrawn="1"/>
        </p:nvSpPr>
        <p:spPr>
          <a:xfrm rot="5400000">
            <a:off x="2645908" y="568363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等腰三角形 104">
            <a:extLst>
              <a:ext uri="{FF2B5EF4-FFF2-40B4-BE49-F238E27FC236}">
                <a16:creationId xmlns:a16="http://schemas.microsoft.com/office/drawing/2014/main" id="{230A3365-B0E2-46E8-90A4-D92B50D29BC0}"/>
              </a:ext>
            </a:extLst>
          </p:cNvPr>
          <p:cNvSpPr/>
          <p:nvPr userDrawn="1"/>
        </p:nvSpPr>
        <p:spPr>
          <a:xfrm rot="5400000">
            <a:off x="2645908" y="6079770"/>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標題 1">
            <a:extLst>
              <a:ext uri="{FF2B5EF4-FFF2-40B4-BE49-F238E27FC236}">
                <a16:creationId xmlns:a16="http://schemas.microsoft.com/office/drawing/2014/main" id="{874D4825-8DCA-4167-9242-B1829510756A}"/>
              </a:ext>
            </a:extLst>
          </p:cNvPr>
          <p:cNvSpPr txBox="1">
            <a:spLocks/>
          </p:cNvSpPr>
          <p:nvPr userDrawn="1"/>
        </p:nvSpPr>
        <p:spPr>
          <a:xfrm>
            <a:off x="485066" y="374731"/>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j-lt"/>
                <a:ea typeface="+mn-ea"/>
              </a:rPr>
              <a:t>PM</a:t>
            </a:r>
            <a:r>
              <a:rPr lang="zh-CN" altLang="en-US" sz="1400" dirty="0">
                <a:solidFill>
                  <a:schemeClr val="tx1"/>
                </a:solidFill>
                <a:latin typeface="+mj-lt"/>
                <a:ea typeface="+mn-ea"/>
              </a:rPr>
              <a:t>：</a:t>
            </a:r>
            <a:endParaRPr lang="en-US" sz="1400" dirty="0">
              <a:solidFill>
                <a:schemeClr val="tx1"/>
              </a:solidFill>
              <a:latin typeface="+mj-lt"/>
              <a:ea typeface="+mn-ea"/>
            </a:endParaRPr>
          </a:p>
        </p:txBody>
      </p:sp>
      <p:sp>
        <p:nvSpPr>
          <p:cNvPr id="47" name="標題 1">
            <a:extLst>
              <a:ext uri="{FF2B5EF4-FFF2-40B4-BE49-F238E27FC236}">
                <a16:creationId xmlns:a16="http://schemas.microsoft.com/office/drawing/2014/main" id="{CA67BEDC-D239-4ED3-862E-B642F84DA4A2}"/>
              </a:ext>
            </a:extLst>
          </p:cNvPr>
          <p:cNvSpPr txBox="1">
            <a:spLocks/>
          </p:cNvSpPr>
          <p:nvPr userDrawn="1"/>
        </p:nvSpPr>
        <p:spPr>
          <a:xfrm>
            <a:off x="302186" y="142005"/>
            <a:ext cx="1760294"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n-lt"/>
                <a:ea typeface="+mn-ea"/>
              </a:rPr>
              <a:t>Team</a:t>
            </a:r>
            <a:r>
              <a:rPr lang="zh-CN" altLang="en-US" sz="1400" dirty="0">
                <a:solidFill>
                  <a:schemeClr val="tx1"/>
                </a:solidFill>
                <a:latin typeface="+mn-ea"/>
                <a:ea typeface="+mn-ea"/>
              </a:rPr>
              <a:t>：</a:t>
            </a:r>
            <a:r>
              <a:rPr lang="en-US" altLang="zh-CN" sz="1400" dirty="0">
                <a:solidFill>
                  <a:schemeClr val="tx1"/>
                </a:solidFill>
                <a:latin typeface="+mj-lt"/>
                <a:ea typeface="+mn-ea"/>
              </a:rPr>
              <a:t>Core</a:t>
            </a:r>
            <a:endParaRPr lang="en-US" sz="1400" dirty="0">
              <a:solidFill>
                <a:schemeClr val="tx1"/>
              </a:solidFill>
              <a:latin typeface="+mj-lt"/>
              <a:ea typeface="+mn-ea"/>
            </a:endParaRPr>
          </a:p>
        </p:txBody>
      </p:sp>
    </p:spTree>
    <p:extLst>
      <p:ext uri="{BB962C8B-B14F-4D97-AF65-F5344CB8AC3E}">
        <p14:creationId xmlns:p14="http://schemas.microsoft.com/office/powerpoint/2010/main" val="367797722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Presentation Cover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2621" y="1"/>
            <a:ext cx="12179379" cy="6850900"/>
          </a:xfrm>
          <a:prstGeom prst="rect">
            <a:avLst/>
          </a:prstGeom>
        </p:spPr>
      </p:pic>
      <p:sp>
        <p:nvSpPr>
          <p:cNvPr id="2"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868363"/>
            <a:ext cx="9144000" cy="1864899"/>
          </a:xfrm>
        </p:spPr>
        <p:txBody>
          <a:bodyPr anchor="b">
            <a:normAutofit/>
          </a:bodyPr>
          <a:lstStyle>
            <a:lvl1pPr algn="l">
              <a:lnSpc>
                <a:spcPct val="110000"/>
              </a:lnSpc>
              <a:defRPr sz="4267" b="0">
                <a:solidFill>
                  <a:schemeClr val="tx1"/>
                </a:solidFill>
                <a:latin typeface="+mj-lt"/>
                <a:ea typeface="Verdana" panose="020B0604030504040204" pitchFamily="34" charset="0"/>
              </a:defRPr>
            </a:lvl1pPr>
          </a:lstStyle>
          <a:p>
            <a:r>
              <a:rPr lang="en-US" altLang="zh-TW"/>
              <a:t>Presentation Title Goes Here</a:t>
            </a:r>
            <a:br>
              <a:rPr lang="en-US" altLang="zh-TW"/>
            </a:br>
            <a:r>
              <a:rPr lang="en-US" altLang="zh-TW"/>
              <a:t>Maximum 2 Lines (32pt)</a:t>
            </a:r>
            <a:endParaRPr lang="en-US"/>
          </a:p>
        </p:txBody>
      </p:sp>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76662" y="5638387"/>
            <a:ext cx="1534793" cy="351251"/>
          </a:xfrm>
        </p:spPr>
        <p:txBody>
          <a:bodyPr/>
          <a:lstStyle>
            <a:lvl1pPr>
              <a:defRPr sz="1467">
                <a:solidFill>
                  <a:schemeClr val="bg1"/>
                </a:solidFill>
              </a:defRPr>
            </a:lvl1pPr>
          </a:lstStyle>
          <a:p>
            <a:r>
              <a:rPr lang="en-US"/>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2411455" y="5638387"/>
            <a:ext cx="4114800" cy="365125"/>
          </a:xfrm>
          <a:prstGeom prst="rect">
            <a:avLst/>
          </a:prstGeom>
        </p:spPr>
        <p:txBody>
          <a:bodyPr vert="horz" lIns="91440" tIns="45720" rIns="91440" bIns="45720" rtlCol="0" anchor="ctr"/>
          <a:lstStyle>
            <a:lvl1pPr algn="l">
              <a:defRPr sz="1467" u="none">
                <a:solidFill>
                  <a:schemeClr val="bg1"/>
                </a:solidFill>
                <a:latin typeface="+mj-lt"/>
              </a:defRPr>
            </a:lvl1pPr>
          </a:lstStyle>
          <a:p>
            <a:r>
              <a:rPr lang="zh-TW" altLang="en-US"/>
              <a:t>簡報人姓名</a:t>
            </a:r>
            <a:endParaRPr lang="en-US"/>
          </a:p>
        </p:txBody>
      </p:sp>
    </p:spTree>
    <p:extLst>
      <p:ext uri="{BB962C8B-B14F-4D97-AF65-F5344CB8AC3E}">
        <p14:creationId xmlns:p14="http://schemas.microsoft.com/office/powerpoint/2010/main" val="2705743813"/>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reak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B44CAB8-9DEC-4DEF-99E0-D78F53E4F834}"/>
              </a:ext>
            </a:extLst>
          </p:cNvPr>
          <p:cNvSpPr>
            <a:spLocks noGrp="1"/>
          </p:cNvSpPr>
          <p:nvPr>
            <p:ph type="ctrTitle" hasCustomPrompt="1"/>
          </p:nvPr>
        </p:nvSpPr>
        <p:spPr>
          <a:xfrm>
            <a:off x="896647" y="1118621"/>
            <a:ext cx="9144000" cy="1864899"/>
          </a:xfrm>
        </p:spPr>
        <p:txBody>
          <a:bodyPr anchor="t">
            <a:normAutofit/>
          </a:bodyPr>
          <a:lstStyle>
            <a:lvl1pPr algn="l">
              <a:lnSpc>
                <a:spcPct val="110000"/>
              </a:lnSpc>
              <a:defRPr sz="4600" b="0">
                <a:solidFill>
                  <a:schemeClr val="bg1"/>
                </a:solidFill>
                <a:latin typeface="+mj-lt"/>
                <a:ea typeface="Verdana" panose="020B0604030504040204" pitchFamily="34" charset="0"/>
              </a:defRPr>
            </a:lvl1pPr>
          </a:lstStyle>
          <a:p>
            <a:r>
              <a:rPr lang="en-US" altLang="zh-TW"/>
              <a:t>Break Page Title Goes Here</a:t>
            </a:r>
            <a:br>
              <a:rPr lang="en-US" altLang="zh-TW"/>
            </a:br>
            <a:r>
              <a:rPr lang="en-US" altLang="zh-TW"/>
              <a:t>Maximum 2 Lines (32-46pt)</a:t>
            </a:r>
            <a:endParaRPr lang="en-US"/>
          </a:p>
        </p:txBody>
      </p:sp>
      <p:sp>
        <p:nvSpPr>
          <p:cNvPr id="6" name="副標題 2">
            <a:extLst>
              <a:ext uri="{FF2B5EF4-FFF2-40B4-BE49-F238E27FC236}">
                <a16:creationId xmlns:a16="http://schemas.microsoft.com/office/drawing/2014/main" id="{814F8012-3519-4A75-B26B-57773CA554B6}"/>
              </a:ext>
            </a:extLst>
          </p:cNvPr>
          <p:cNvSpPr>
            <a:spLocks noGrp="1"/>
          </p:cNvSpPr>
          <p:nvPr>
            <p:ph type="subTitle" idx="1" hasCustomPrompt="1"/>
          </p:nvPr>
        </p:nvSpPr>
        <p:spPr>
          <a:xfrm>
            <a:off x="896647" y="3015633"/>
            <a:ext cx="9144000" cy="1353169"/>
          </a:xfrm>
        </p:spPr>
        <p:txBody>
          <a:bodyPr>
            <a:normAutofit/>
          </a:bodyPr>
          <a:lstStyle>
            <a:lvl1pPr marL="0" indent="0" algn="l">
              <a:lnSpc>
                <a:spcPct val="110000"/>
              </a:lnSpc>
              <a:spcBef>
                <a:spcPts val="0"/>
              </a:spcBef>
              <a:buNone/>
              <a:defRPr sz="3200">
                <a:solidFill>
                  <a:schemeClr val="bg1"/>
                </a:solidFill>
                <a:latin typeface="+mj-lt"/>
                <a:ea typeface="Verdana" panose="020B0604030504040204" pitchFamily="34" charset="0"/>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ltLang="zh-TW"/>
              <a:t>Break Page Subtitle Goes Here</a:t>
            </a:r>
            <a:br>
              <a:rPr lang="en-US" altLang="zh-TW"/>
            </a:br>
            <a:r>
              <a:rPr lang="en-US" altLang="zh-TW"/>
              <a:t>Maximum 2 Lines (24-32pt)</a:t>
            </a:r>
          </a:p>
        </p:txBody>
      </p:sp>
    </p:spTree>
    <p:extLst>
      <p:ext uri="{BB962C8B-B14F-4D97-AF65-F5344CB8AC3E}">
        <p14:creationId xmlns:p14="http://schemas.microsoft.com/office/powerpoint/2010/main" val="24940107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age">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3"/>
            <a:ext cx="1368000" cy="620345"/>
          </a:xfrm>
          <a:prstGeom prst="rect">
            <a:avLst/>
          </a:prstGeom>
        </p:spPr>
      </p:pic>
      <p:sp>
        <p:nvSpPr>
          <p:cNvPr id="3" name="內容版面配置區 2">
            <a:extLst>
              <a:ext uri="{FF2B5EF4-FFF2-40B4-BE49-F238E27FC236}">
                <a16:creationId xmlns:a16="http://schemas.microsoft.com/office/drawing/2014/main" id="{BEF22CCF-5B81-47DC-861A-B0A56BD7A109}"/>
              </a:ext>
            </a:extLst>
          </p:cNvPr>
          <p:cNvSpPr>
            <a:spLocks noGrp="1"/>
          </p:cNvSpPr>
          <p:nvPr>
            <p:ph idx="1" hasCustomPrompt="1"/>
          </p:nvPr>
        </p:nvSpPr>
        <p:spPr>
          <a:xfrm>
            <a:off x="406400" y="1170464"/>
            <a:ext cx="11379200" cy="4953777"/>
          </a:xfrm>
        </p:spPr>
        <p:txBody>
          <a:bodyPr>
            <a:normAutofit/>
          </a:bodyPr>
          <a:lstStyle>
            <a:lvl1pPr>
              <a:lnSpc>
                <a:spcPct val="110000"/>
              </a:lnSpc>
              <a:defRPr sz="2000">
                <a:solidFill>
                  <a:schemeClr val="tx1"/>
                </a:solidFill>
              </a:defRPr>
            </a:lvl1pPr>
          </a:lstStyle>
          <a:p>
            <a:pPr lvl="0"/>
            <a:r>
              <a:rPr lang="en-US" altLang="zh-TW"/>
              <a:t>Content goes here (20pt)</a:t>
            </a:r>
            <a:endParaRPr lang="en-US"/>
          </a:p>
        </p:txBody>
      </p:sp>
      <p:sp>
        <p:nvSpPr>
          <p:cNvPr id="52" name="文字方塊 51">
            <a:extLst>
              <a:ext uri="{FF2B5EF4-FFF2-40B4-BE49-F238E27FC236}">
                <a16:creationId xmlns:a16="http://schemas.microsoft.com/office/drawing/2014/main" id="{4EB72046-7EFA-4D5B-9003-30F89B1D91A8}"/>
              </a:ext>
            </a:extLst>
          </p:cNvPr>
          <p:cNvSpPr txBox="1"/>
          <p:nvPr userDrawn="1"/>
        </p:nvSpPr>
        <p:spPr>
          <a:xfrm>
            <a:off x="116026" y="6478468"/>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82267" y="6528266"/>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p>
        </p:txBody>
      </p:sp>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6"/>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標題 4">
            <a:extLst>
              <a:ext uri="{FF2B5EF4-FFF2-40B4-BE49-F238E27FC236}">
                <a16:creationId xmlns:a16="http://schemas.microsoft.com/office/drawing/2014/main" id="{2702107E-0279-495A-BF89-DD786730CC37}"/>
              </a:ext>
            </a:extLst>
          </p:cNvPr>
          <p:cNvSpPr>
            <a:spLocks noGrp="1"/>
          </p:cNvSpPr>
          <p:nvPr>
            <p:ph type="title" hasCustomPrompt="1"/>
          </p:nvPr>
        </p:nvSpPr>
        <p:spPr>
          <a:xfrm>
            <a:off x="406400" y="440357"/>
            <a:ext cx="11379200" cy="679396"/>
          </a:xfrm>
        </p:spPr>
        <p:txBody>
          <a:bodyPr anchor="t">
            <a:normAutofit/>
          </a:bodyPr>
          <a:lstStyle>
            <a:lvl1pPr algn="l">
              <a:defRPr sz="2800"/>
            </a:lvl1pPr>
          </a:lstStyle>
          <a:p>
            <a:r>
              <a:rPr lang="en-US" altLang="zh-TW"/>
              <a:t>Page Title Goes Here (28-32pt)</a:t>
            </a:r>
            <a:endParaRPr lang="en-US"/>
          </a:p>
        </p:txBody>
      </p:sp>
    </p:spTree>
    <p:extLst>
      <p:ext uri="{BB962C8B-B14F-4D97-AF65-F5344CB8AC3E}">
        <p14:creationId xmlns:p14="http://schemas.microsoft.com/office/powerpoint/2010/main" val="3620027927"/>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Page_Title Only">
    <p:bg>
      <p:bgPr>
        <a:solidFill>
          <a:schemeClr val="bg1"/>
        </a:solidFill>
        <a:effectLst/>
      </p:bgPr>
    </p:bg>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702107E-0279-495A-BF89-DD786730CC37}"/>
              </a:ext>
            </a:extLst>
          </p:cNvPr>
          <p:cNvSpPr>
            <a:spLocks noGrp="1"/>
          </p:cNvSpPr>
          <p:nvPr>
            <p:ph type="title" hasCustomPrompt="1"/>
          </p:nvPr>
        </p:nvSpPr>
        <p:spPr/>
        <p:txBody>
          <a:bodyPr anchor="t">
            <a:normAutofit/>
          </a:bodyPr>
          <a:lstStyle>
            <a:lvl1pPr algn="l">
              <a:defRPr sz="2800"/>
            </a:lvl1pPr>
          </a:lstStyle>
          <a:p>
            <a:r>
              <a:rPr lang="en-US" altLang="zh-TW"/>
              <a:t>Page Title Goes Here (28-32pt)</a:t>
            </a:r>
            <a:endParaRPr lang="en-US"/>
          </a:p>
        </p:txBody>
      </p:sp>
      <p:grpSp>
        <p:nvGrpSpPr>
          <p:cNvPr id="49" name="群組 48">
            <a:extLst>
              <a:ext uri="{FF2B5EF4-FFF2-40B4-BE49-F238E27FC236}">
                <a16:creationId xmlns:a16="http://schemas.microsoft.com/office/drawing/2014/main" id="{8AEA3F42-8ED3-4628-89CC-CE9DC5D371F1}"/>
              </a:ext>
            </a:extLst>
          </p:cNvPr>
          <p:cNvGrpSpPr/>
          <p:nvPr userDrawn="1"/>
        </p:nvGrpSpPr>
        <p:grpSpPr>
          <a:xfrm>
            <a:off x="0" y="7008896"/>
            <a:ext cx="10358581" cy="423333"/>
            <a:chOff x="0" y="5256671"/>
            <a:chExt cx="7768936" cy="317500"/>
          </a:xfrm>
        </p:grpSpPr>
        <p:grpSp>
          <p:nvGrpSpPr>
            <p:cNvPr id="50" name="群組 49">
              <a:extLst>
                <a:ext uri="{FF2B5EF4-FFF2-40B4-BE49-F238E27FC236}">
                  <a16:creationId xmlns:a16="http://schemas.microsoft.com/office/drawing/2014/main" id="{BDCAFD82-B8CA-4738-843C-0FC6D7C6C5F5}"/>
                </a:ext>
              </a:extLst>
            </p:cNvPr>
            <p:cNvGrpSpPr/>
            <p:nvPr userDrawn="1"/>
          </p:nvGrpSpPr>
          <p:grpSpPr>
            <a:xfrm>
              <a:off x="0" y="5256671"/>
              <a:ext cx="1321058" cy="317500"/>
              <a:chOff x="0" y="5256671"/>
              <a:chExt cx="1321058" cy="317500"/>
            </a:xfrm>
          </p:grpSpPr>
          <p:sp>
            <p:nvSpPr>
              <p:cNvPr id="63" name="矩形 62">
                <a:extLst>
                  <a:ext uri="{FF2B5EF4-FFF2-40B4-BE49-F238E27FC236}">
                    <a16:creationId xmlns:a16="http://schemas.microsoft.com/office/drawing/2014/main" id="{3C299B04-932C-4519-8E76-017FBD3A569A}"/>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0B20FB35-F562-4362-B563-165B2407465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0DE5232E-7B0E-4AEF-9D43-2E173D30F319}"/>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1" name="群組 50">
              <a:extLst>
                <a:ext uri="{FF2B5EF4-FFF2-40B4-BE49-F238E27FC236}">
                  <a16:creationId xmlns:a16="http://schemas.microsoft.com/office/drawing/2014/main" id="{9D8FD8BE-B575-4450-95FD-B132F2FBF30C}"/>
                </a:ext>
              </a:extLst>
            </p:cNvPr>
            <p:cNvGrpSpPr/>
            <p:nvPr userDrawn="1"/>
          </p:nvGrpSpPr>
          <p:grpSpPr>
            <a:xfrm>
              <a:off x="2441313" y="5256671"/>
              <a:ext cx="5327623" cy="317500"/>
              <a:chOff x="2441313" y="5256671"/>
              <a:chExt cx="5327623" cy="317500"/>
            </a:xfrm>
          </p:grpSpPr>
          <p:sp>
            <p:nvSpPr>
              <p:cNvPr id="52" name="矩形 51">
                <a:extLst>
                  <a:ext uri="{FF2B5EF4-FFF2-40B4-BE49-F238E27FC236}">
                    <a16:creationId xmlns:a16="http://schemas.microsoft.com/office/drawing/2014/main" id="{FA6D470B-49E6-460D-A2F7-3AA3A3B20021}"/>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矩形 52">
                <a:extLst>
                  <a:ext uri="{FF2B5EF4-FFF2-40B4-BE49-F238E27FC236}">
                    <a16:creationId xmlns:a16="http://schemas.microsoft.com/office/drawing/2014/main" id="{184DC0D2-E428-4F38-B04F-7DC781667A34}"/>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矩形 53">
                <a:extLst>
                  <a:ext uri="{FF2B5EF4-FFF2-40B4-BE49-F238E27FC236}">
                    <a16:creationId xmlns:a16="http://schemas.microsoft.com/office/drawing/2014/main" id="{681D0C29-FC7B-4F3F-BD32-E40206A62370}"/>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矩形 54">
                <a:extLst>
                  <a:ext uri="{FF2B5EF4-FFF2-40B4-BE49-F238E27FC236}">
                    <a16:creationId xmlns:a16="http://schemas.microsoft.com/office/drawing/2014/main" id="{D032A71D-5325-4D28-B4B1-6B6BF4AAB30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矩形 55">
                <a:extLst>
                  <a:ext uri="{FF2B5EF4-FFF2-40B4-BE49-F238E27FC236}">
                    <a16:creationId xmlns:a16="http://schemas.microsoft.com/office/drawing/2014/main" id="{738A70FA-150B-4708-B634-5950D1A00DF9}"/>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矩形 56">
                <a:extLst>
                  <a:ext uri="{FF2B5EF4-FFF2-40B4-BE49-F238E27FC236}">
                    <a16:creationId xmlns:a16="http://schemas.microsoft.com/office/drawing/2014/main" id="{D3854FDB-0E9B-46EB-A142-15E78B7E2E6D}"/>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8" name="矩形 57">
                <a:extLst>
                  <a:ext uri="{FF2B5EF4-FFF2-40B4-BE49-F238E27FC236}">
                    <a16:creationId xmlns:a16="http://schemas.microsoft.com/office/drawing/2014/main" id="{6FD94B95-A8E7-4E9F-A041-9A4885EECF37}"/>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矩形 58">
                <a:extLst>
                  <a:ext uri="{FF2B5EF4-FFF2-40B4-BE49-F238E27FC236}">
                    <a16:creationId xmlns:a16="http://schemas.microsoft.com/office/drawing/2014/main" id="{1F6E9780-35D6-4AF2-80BB-A3569C8BA2E3}"/>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4A11A937-B5ED-40BD-9B95-73D6C01FBDBD}"/>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71465539-F4BD-48C9-8CC9-44AE7B97586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85BCC709-E469-4948-B4D5-AF8897457737}"/>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文字方塊 23">
            <a:extLst>
              <a:ext uri="{FF2B5EF4-FFF2-40B4-BE49-F238E27FC236}">
                <a16:creationId xmlns:a16="http://schemas.microsoft.com/office/drawing/2014/main" id="{4EB72046-7EFA-4D5B-9003-30F89B1D91A8}"/>
              </a:ext>
            </a:extLst>
          </p:cNvPr>
          <p:cNvSpPr txBox="1"/>
          <p:nvPr userDrawn="1"/>
        </p:nvSpPr>
        <p:spPr>
          <a:xfrm>
            <a:off x="116026" y="6478468"/>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25" name="文字方塊 24">
            <a:extLst>
              <a:ext uri="{FF2B5EF4-FFF2-40B4-BE49-F238E27FC236}">
                <a16:creationId xmlns:a16="http://schemas.microsoft.com/office/drawing/2014/main" id="{E8C46C83-D634-4B86-88D9-5C8B6A41BF9F}"/>
              </a:ext>
            </a:extLst>
          </p:cNvPr>
          <p:cNvSpPr txBox="1"/>
          <p:nvPr userDrawn="1"/>
        </p:nvSpPr>
        <p:spPr>
          <a:xfrm>
            <a:off x="482267" y="6528266"/>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23" name="圖片 2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3"/>
            <a:ext cx="1368000" cy="620345"/>
          </a:xfrm>
          <a:prstGeom prst="rect">
            <a:avLst/>
          </a:prstGeom>
        </p:spPr>
      </p:pic>
    </p:spTree>
    <p:extLst>
      <p:ext uri="{BB962C8B-B14F-4D97-AF65-F5344CB8AC3E}">
        <p14:creationId xmlns:p14="http://schemas.microsoft.com/office/powerpoint/2010/main" val="348410598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nding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5F44435C-4EDB-4AB4-AAD6-08BF8682BAAC}"/>
              </a:ext>
            </a:extLst>
          </p:cNvPr>
          <p:cNvSpPr>
            <a:spLocks noGrp="1"/>
          </p:cNvSpPr>
          <p:nvPr>
            <p:ph type="ctrTitle" hasCustomPrompt="1"/>
          </p:nvPr>
        </p:nvSpPr>
        <p:spPr>
          <a:xfrm>
            <a:off x="896647" y="1099373"/>
            <a:ext cx="9144000" cy="1864899"/>
          </a:xfrm>
        </p:spPr>
        <p:txBody>
          <a:bodyPr anchor="t">
            <a:normAutofit/>
          </a:bodyPr>
          <a:lstStyle>
            <a:lvl1pPr algn="l">
              <a:lnSpc>
                <a:spcPct val="110000"/>
              </a:lnSpc>
              <a:defRPr sz="4600" b="0">
                <a:solidFill>
                  <a:schemeClr val="tx1"/>
                </a:solidFill>
                <a:latin typeface="+mj-lt"/>
                <a:ea typeface="Verdana" panose="020B0604030504040204" pitchFamily="34" charset="0"/>
              </a:defRPr>
            </a:lvl1pPr>
          </a:lstStyle>
          <a:p>
            <a:r>
              <a:rPr lang="en-US" altLang="zh-TW"/>
              <a:t>Smarter. Greener. Together. </a:t>
            </a:r>
            <a:br>
              <a:rPr lang="en-US"/>
            </a:br>
            <a:endParaRPr lang="en-US"/>
          </a:p>
        </p:txBody>
      </p:sp>
      <p:sp>
        <p:nvSpPr>
          <p:cNvPr id="6" name="文字版面配置區 4">
            <a:extLst>
              <a:ext uri="{FF2B5EF4-FFF2-40B4-BE49-F238E27FC236}">
                <a16:creationId xmlns:a16="http://schemas.microsoft.com/office/drawing/2014/main" id="{38C78CAC-0A95-4D70-9EAA-CE96A16F9E0A}"/>
              </a:ext>
            </a:extLst>
          </p:cNvPr>
          <p:cNvSpPr>
            <a:spLocks noGrp="1"/>
          </p:cNvSpPr>
          <p:nvPr>
            <p:ph type="body" sz="quarter" idx="12" hasCustomPrompt="1"/>
          </p:nvPr>
        </p:nvSpPr>
        <p:spPr>
          <a:xfrm>
            <a:off x="385370" y="60184"/>
            <a:ext cx="2133447" cy="380427"/>
          </a:xfrm>
        </p:spPr>
        <p:txBody>
          <a:bodyPr>
            <a:normAutofit/>
          </a:bodyPr>
          <a:lstStyle>
            <a:lvl1pPr marL="0" indent="0">
              <a:buNone/>
              <a:defRPr sz="1600">
                <a:solidFill>
                  <a:srgbClr val="0070C0"/>
                </a:solidFill>
              </a:defRPr>
            </a:lvl1pPr>
          </a:lstStyle>
          <a:p>
            <a:pPr lvl="0"/>
            <a:r>
              <a:rPr lang="en-US" altLang="zh-TW"/>
              <a:t>Ending </a:t>
            </a:r>
            <a:r>
              <a:rPr lang="en-US" altLang="zh-TW" err="1"/>
              <a:t>Page_White</a:t>
            </a:r>
            <a:endParaRPr lang="zh-TW" altLang="en-US"/>
          </a:p>
        </p:txBody>
      </p:sp>
    </p:spTree>
    <p:extLst>
      <p:ext uri="{BB962C8B-B14F-4D97-AF65-F5344CB8AC3E}">
        <p14:creationId xmlns:p14="http://schemas.microsoft.com/office/powerpoint/2010/main" val="12771170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Ending Page_Image">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3B392DE6-2AF2-4E28-AF03-1A4F3D15BEAE}"/>
              </a:ext>
            </a:extLst>
          </p:cNvPr>
          <p:cNvSpPr/>
          <p:nvPr userDrawn="1"/>
        </p:nvSpPr>
        <p:spPr>
          <a:xfrm>
            <a:off x="0" y="-1"/>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3" name="矩形 52"/>
          <p:cNvSpPr/>
          <p:nvPr userDrawn="1"/>
        </p:nvSpPr>
        <p:spPr>
          <a:xfrm>
            <a:off x="0" y="0"/>
            <a:ext cx="12192000" cy="4831883"/>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sz="1800"/>
          </a:p>
        </p:txBody>
      </p:sp>
      <p:grpSp>
        <p:nvGrpSpPr>
          <p:cNvPr id="35" name="群組 34">
            <a:extLst>
              <a:ext uri="{FF2B5EF4-FFF2-40B4-BE49-F238E27FC236}">
                <a16:creationId xmlns:a16="http://schemas.microsoft.com/office/drawing/2014/main" id="{ABE8868F-CA4D-431A-BCA3-79708C4A93CC}"/>
              </a:ext>
            </a:extLst>
          </p:cNvPr>
          <p:cNvGrpSpPr/>
          <p:nvPr userDrawn="1"/>
        </p:nvGrpSpPr>
        <p:grpSpPr>
          <a:xfrm>
            <a:off x="0" y="7008896"/>
            <a:ext cx="10358581" cy="423333"/>
            <a:chOff x="0" y="5256671"/>
            <a:chExt cx="7768936" cy="317500"/>
          </a:xfrm>
        </p:grpSpPr>
        <p:grpSp>
          <p:nvGrpSpPr>
            <p:cNvPr id="36" name="群組 35">
              <a:extLst>
                <a:ext uri="{FF2B5EF4-FFF2-40B4-BE49-F238E27FC236}">
                  <a16:creationId xmlns:a16="http://schemas.microsoft.com/office/drawing/2014/main" id="{E5238164-92D2-4070-B189-8D969D4D4C1C}"/>
                </a:ext>
              </a:extLst>
            </p:cNvPr>
            <p:cNvGrpSpPr/>
            <p:nvPr userDrawn="1"/>
          </p:nvGrpSpPr>
          <p:grpSpPr>
            <a:xfrm>
              <a:off x="0" y="5256671"/>
              <a:ext cx="1321058" cy="317500"/>
              <a:chOff x="0" y="5256671"/>
              <a:chExt cx="1321058" cy="317500"/>
            </a:xfrm>
          </p:grpSpPr>
          <p:sp>
            <p:nvSpPr>
              <p:cNvPr id="49" name="矩形 48">
                <a:extLst>
                  <a:ext uri="{FF2B5EF4-FFF2-40B4-BE49-F238E27FC236}">
                    <a16:creationId xmlns:a16="http://schemas.microsoft.com/office/drawing/2014/main" id="{FD4CBB22-8F55-4813-A361-6B31616CEFC5}"/>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0" name="矩形 49">
                <a:extLst>
                  <a:ext uri="{FF2B5EF4-FFF2-40B4-BE49-F238E27FC236}">
                    <a16:creationId xmlns:a16="http://schemas.microsoft.com/office/drawing/2014/main" id="{9AE6129C-E538-40C6-95CE-8D689DA806C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矩形 50">
                <a:extLst>
                  <a:ext uri="{FF2B5EF4-FFF2-40B4-BE49-F238E27FC236}">
                    <a16:creationId xmlns:a16="http://schemas.microsoft.com/office/drawing/2014/main" id="{B42DF3C8-6F17-4F9B-8224-82E6BF529D75}"/>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群組 36">
              <a:extLst>
                <a:ext uri="{FF2B5EF4-FFF2-40B4-BE49-F238E27FC236}">
                  <a16:creationId xmlns:a16="http://schemas.microsoft.com/office/drawing/2014/main" id="{CA03870D-CA4E-4A68-B643-C828AB156380}"/>
                </a:ext>
              </a:extLst>
            </p:cNvPr>
            <p:cNvGrpSpPr/>
            <p:nvPr userDrawn="1"/>
          </p:nvGrpSpPr>
          <p:grpSpPr>
            <a:xfrm>
              <a:off x="2441313" y="5256671"/>
              <a:ext cx="5327623" cy="317500"/>
              <a:chOff x="2441313" y="5256671"/>
              <a:chExt cx="5327623" cy="317500"/>
            </a:xfrm>
          </p:grpSpPr>
          <p:sp>
            <p:nvSpPr>
              <p:cNvPr id="38" name="矩形 37">
                <a:extLst>
                  <a:ext uri="{FF2B5EF4-FFF2-40B4-BE49-F238E27FC236}">
                    <a16:creationId xmlns:a16="http://schemas.microsoft.com/office/drawing/2014/main" id="{204627FC-9E22-4DF5-9620-E588D5B1D754}"/>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9" name="矩形 38">
                <a:extLst>
                  <a:ext uri="{FF2B5EF4-FFF2-40B4-BE49-F238E27FC236}">
                    <a16:creationId xmlns:a16="http://schemas.microsoft.com/office/drawing/2014/main" id="{9FFB4E0B-7913-4DBA-B9BC-22815DD1E9F5}"/>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矩形 39">
                <a:extLst>
                  <a:ext uri="{FF2B5EF4-FFF2-40B4-BE49-F238E27FC236}">
                    <a16:creationId xmlns:a16="http://schemas.microsoft.com/office/drawing/2014/main" id="{2E6EA7B8-B405-4A2B-8F6C-66644CA26469}"/>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矩形 40">
                <a:extLst>
                  <a:ext uri="{FF2B5EF4-FFF2-40B4-BE49-F238E27FC236}">
                    <a16:creationId xmlns:a16="http://schemas.microsoft.com/office/drawing/2014/main" id="{531D023A-8171-4D62-AD85-A3E51BEECBC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2" name="矩形 41">
                <a:extLst>
                  <a:ext uri="{FF2B5EF4-FFF2-40B4-BE49-F238E27FC236}">
                    <a16:creationId xmlns:a16="http://schemas.microsoft.com/office/drawing/2014/main" id="{B8F6B22F-DD93-4EC4-8E97-7E5A61686F3E}"/>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矩形 42">
                <a:extLst>
                  <a:ext uri="{FF2B5EF4-FFF2-40B4-BE49-F238E27FC236}">
                    <a16:creationId xmlns:a16="http://schemas.microsoft.com/office/drawing/2014/main" id="{28833C97-6D6E-40FC-976A-CF4C2B0848D9}"/>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4" name="矩形 43">
                <a:extLst>
                  <a:ext uri="{FF2B5EF4-FFF2-40B4-BE49-F238E27FC236}">
                    <a16:creationId xmlns:a16="http://schemas.microsoft.com/office/drawing/2014/main" id="{ED3716C8-CA0D-4806-A013-3F0E791C886C}"/>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矩形 44">
                <a:extLst>
                  <a:ext uri="{FF2B5EF4-FFF2-40B4-BE49-F238E27FC236}">
                    <a16:creationId xmlns:a16="http://schemas.microsoft.com/office/drawing/2014/main" id="{EB57F906-7144-4062-914D-703110CC17BF}"/>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6" name="矩形 45">
                <a:extLst>
                  <a:ext uri="{FF2B5EF4-FFF2-40B4-BE49-F238E27FC236}">
                    <a16:creationId xmlns:a16="http://schemas.microsoft.com/office/drawing/2014/main" id="{09D68DFB-0813-4C3A-8CE7-03C842C11ED7}"/>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矩形 46">
                <a:extLst>
                  <a:ext uri="{FF2B5EF4-FFF2-40B4-BE49-F238E27FC236}">
                    <a16:creationId xmlns:a16="http://schemas.microsoft.com/office/drawing/2014/main" id="{AE8DE291-898F-4470-A37E-2D3C217EDD2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矩形 47">
                <a:extLst>
                  <a:ext uri="{FF2B5EF4-FFF2-40B4-BE49-F238E27FC236}">
                    <a16:creationId xmlns:a16="http://schemas.microsoft.com/office/drawing/2014/main" id="{37A1C886-D4A7-40F8-BEDF-DE906366403B}"/>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2" name="標題 1">
            <a:extLst>
              <a:ext uri="{FF2B5EF4-FFF2-40B4-BE49-F238E27FC236}">
                <a16:creationId xmlns:a16="http://schemas.microsoft.com/office/drawing/2014/main" id="{9FF8E5F9-3E27-4FB9-9E7F-AA69CBB722EF}"/>
              </a:ext>
            </a:extLst>
          </p:cNvPr>
          <p:cNvSpPr txBox="1">
            <a:spLocks/>
          </p:cNvSpPr>
          <p:nvPr userDrawn="1"/>
        </p:nvSpPr>
        <p:spPr>
          <a:xfrm>
            <a:off x="376089" y="5152427"/>
            <a:ext cx="9144000" cy="1212111"/>
          </a:xfrm>
          <a:prstGeom prst="rect">
            <a:avLst/>
          </a:prstGeom>
        </p:spPr>
        <p:txBody>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TW" sz="4400" b="0">
                <a:solidFill>
                  <a:schemeClr val="tx1"/>
                </a:solidFill>
                <a:latin typeface="+mn-lt"/>
              </a:rPr>
              <a:t>Smarter. Greener. Together. </a:t>
            </a:r>
            <a:br>
              <a:rPr lang="en-US" altLang="zh-TW" sz="4400" b="0">
                <a:solidFill>
                  <a:schemeClr val="tx1"/>
                </a:solidFill>
                <a:latin typeface="+mn-lt"/>
              </a:rPr>
            </a:br>
            <a:endParaRPr lang="en-US" sz="4400" b="0">
              <a:solidFill>
                <a:schemeClr val="tx1"/>
              </a:solidFill>
              <a:latin typeface="+mn-lt"/>
            </a:endParaRPr>
          </a:p>
        </p:txBody>
      </p:sp>
      <p:pic>
        <p:nvPicPr>
          <p:cNvPr id="23" name="圖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75101" y="5475969"/>
            <a:ext cx="2814119" cy="1276115"/>
          </a:xfrm>
          <a:prstGeom prst="rect">
            <a:avLst/>
          </a:prstGeom>
        </p:spPr>
      </p:pic>
      <p:sp>
        <p:nvSpPr>
          <p:cNvPr id="55" name="圖片版面配置區 6">
            <a:extLst>
              <a:ext uri="{FF2B5EF4-FFF2-40B4-BE49-F238E27FC236}">
                <a16:creationId xmlns:a16="http://schemas.microsoft.com/office/drawing/2014/main" id="{BEC39B5C-7A19-45E5-87B6-A4D4ACE91330}"/>
              </a:ext>
            </a:extLst>
          </p:cNvPr>
          <p:cNvSpPr>
            <a:spLocks noGrp="1"/>
          </p:cNvSpPr>
          <p:nvPr>
            <p:ph type="pic" sz="quarter" idx="11" hasCustomPrompt="1"/>
          </p:nvPr>
        </p:nvSpPr>
        <p:spPr>
          <a:xfrm>
            <a:off x="-1587" y="-12702"/>
            <a:ext cx="12192001" cy="4713939"/>
          </a:xfrm>
        </p:spPr>
        <p:txBody>
          <a:bodyPr/>
          <a:lstStyle>
            <a:lvl1pPr marL="0" indent="0">
              <a:lnSpc>
                <a:spcPct val="100000"/>
              </a:lnSpc>
              <a:buNone/>
              <a:defRPr sz="1600">
                <a:solidFill>
                  <a:srgbClr val="0070C0"/>
                </a:solidFill>
              </a:defRPr>
            </a:lvl1pPr>
          </a:lstStyle>
          <a:p>
            <a:r>
              <a:rPr lang="en-US" altLang="zh-TW"/>
              <a:t>     Ending </a:t>
            </a:r>
            <a:r>
              <a:rPr lang="en-US" altLang="zh-TW" err="1"/>
              <a:t>Page_Image</a:t>
            </a:r>
            <a:r>
              <a:rPr lang="en-US" altLang="zh-TW"/>
              <a:t>: </a:t>
            </a:r>
            <a:br>
              <a:rPr lang="en-US" altLang="zh-TW"/>
            </a:br>
            <a:r>
              <a:rPr lang="en-US" altLang="zh-TW"/>
              <a:t>      A corporate-level, sector-level or product-level brand communication imagery can be applied in this gray area.</a:t>
            </a:r>
          </a:p>
          <a:p>
            <a:endParaRPr lang="zh-TW" altLang="en-US"/>
          </a:p>
        </p:txBody>
      </p:sp>
      <p:grpSp>
        <p:nvGrpSpPr>
          <p:cNvPr id="5" name="群組 4"/>
          <p:cNvGrpSpPr/>
          <p:nvPr userDrawn="1"/>
        </p:nvGrpSpPr>
        <p:grpSpPr>
          <a:xfrm>
            <a:off x="-1200" y="4701237"/>
            <a:ext cx="12193200" cy="144000"/>
            <a:chOff x="22799" y="4912990"/>
            <a:chExt cx="12193200" cy="144000"/>
          </a:xfrm>
        </p:grpSpPr>
        <p:sp>
          <p:nvSpPr>
            <p:cNvPr id="2" name="矩形 1"/>
            <p:cNvSpPr/>
            <p:nvPr userDrawn="1"/>
          </p:nvSpPr>
          <p:spPr>
            <a:xfrm>
              <a:off x="22799" y="4912990"/>
              <a:ext cx="12193200" cy="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 name="矩形 3"/>
            <p:cNvSpPr/>
            <p:nvPr userDrawn="1"/>
          </p:nvSpPr>
          <p:spPr>
            <a:xfrm>
              <a:off x="9767999" y="4912990"/>
              <a:ext cx="2448000" cy="144000"/>
            </a:xfrm>
            <a:prstGeom prst="rect">
              <a:avLst/>
            </a:prstGeom>
            <a:solidFill>
              <a:srgbClr val="B9EB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52" name="矩形 51"/>
            <p:cNvSpPr/>
            <p:nvPr userDrawn="1"/>
          </p:nvSpPr>
          <p:spPr>
            <a:xfrm>
              <a:off x="7323672" y="4912990"/>
              <a:ext cx="2448000" cy="144000"/>
            </a:xfrm>
            <a:prstGeom prst="rect">
              <a:avLst/>
            </a:prstGeom>
            <a:solidFill>
              <a:srgbClr val="64D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grpSp>
    </p:spTree>
    <p:extLst>
      <p:ext uri="{BB962C8B-B14F-4D97-AF65-F5344CB8AC3E}">
        <p14:creationId xmlns:p14="http://schemas.microsoft.com/office/powerpoint/2010/main" val="265126271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nchor="ctr"/>
          <a:lstStyle>
            <a:lvl1pPr algn="l">
              <a:defRPr/>
            </a:lvl1pPr>
          </a:lstStyle>
          <a:p>
            <a:r>
              <a:rPr lang="zh-TW" altLang="en-US"/>
              <a:t>按一下以編輯母片標題樣式</a:t>
            </a:r>
          </a:p>
        </p:txBody>
      </p:sp>
      <p:sp>
        <p:nvSpPr>
          <p:cNvPr id="3" name="投影片編號版面配置區 5"/>
          <p:cNvSpPr>
            <a:spLocks noGrp="1"/>
          </p:cNvSpPr>
          <p:nvPr>
            <p:ph type="sldNum" sz="quarter" idx="10"/>
          </p:nvPr>
        </p:nvSpPr>
        <p:spPr/>
        <p:txBody>
          <a:bodyPr/>
          <a:lstStyle>
            <a:lvl1pPr>
              <a:defRPr/>
            </a:lvl1pPr>
          </a:lstStyle>
          <a:p>
            <a:pPr>
              <a:defRPr/>
            </a:pPr>
            <a:fld id="{1972D583-6F43-4BEE-A241-C30732397DD6}" type="slidenum">
              <a:rPr lang="zh-TW" altLang="en-US" smtClean="0">
                <a:solidFill>
                  <a:srgbClr val="000000">
                    <a:tint val="75000"/>
                  </a:srgbClr>
                </a:solidFill>
              </a:rPr>
              <a:pPr>
                <a:defRPr/>
              </a:pPr>
              <a:t>‹#›</a:t>
            </a:fld>
            <a:endParaRPr lang="zh-TW" altLang="en-US">
              <a:solidFill>
                <a:srgbClr val="000000">
                  <a:tint val="75000"/>
                </a:srgbClr>
              </a:solidFill>
            </a:endParaRPr>
          </a:p>
        </p:txBody>
      </p:sp>
    </p:spTree>
    <p:extLst>
      <p:ext uri="{BB962C8B-B14F-4D97-AF65-F5344CB8AC3E}">
        <p14:creationId xmlns:p14="http://schemas.microsoft.com/office/powerpoint/2010/main" val="2803921659"/>
      </p:ext>
    </p:extLst>
  </p:cSld>
  <p:clrMapOvr>
    <a:masterClrMapping/>
  </p:clrMapOvr>
  <p:transition spd="med"/>
</p:sldLayout>
</file>

<file path=ppt/slideLayouts/slideLayout90.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a:xfrm>
            <a:off x="838200" y="1282891"/>
            <a:ext cx="10515600" cy="4981432"/>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21474C-8AFC-4C54-9CF8-7E036401450A}" type="datetime1">
              <a:rPr lang="zh-TW" altLang="en-US" smtClean="0"/>
              <a:t>2024/12/24</a:t>
            </a:fld>
            <a:endParaRPr lang="zh-TW" altLang="en-US"/>
          </a:p>
        </p:txBody>
      </p:sp>
      <p:sp>
        <p:nvSpPr>
          <p:cNvPr id="6" name="投影片編號版面配置區 5"/>
          <p:cNvSpPr>
            <a:spLocks noGrp="1"/>
          </p:cNvSpPr>
          <p:nvPr>
            <p:ph type="sldNum" sz="quarter" idx="12"/>
          </p:nvPr>
        </p:nvSpPr>
        <p:spPr/>
        <p:txBody>
          <a:bodyPr/>
          <a:lstStyle/>
          <a:p>
            <a:fld id="{A6BFA6EC-5F95-4EF3-824E-DF9EB7131756}" type="slidenum">
              <a:rPr lang="zh-TW" altLang="en-US" smtClean="0"/>
              <a:t>‹#›</a:t>
            </a:fld>
            <a:endParaRPr lang="zh-TW" altLang="en-US"/>
          </a:p>
        </p:txBody>
      </p:sp>
    </p:spTree>
    <p:extLst>
      <p:ext uri="{BB962C8B-B14F-4D97-AF65-F5344CB8AC3E}">
        <p14:creationId xmlns:p14="http://schemas.microsoft.com/office/powerpoint/2010/main" val="233481270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General Solution">
    <p:bg>
      <p:bgPr>
        <a:solidFill>
          <a:schemeClr val="bg1"/>
        </a:solidFill>
        <a:effectLst/>
      </p:bgPr>
    </p:bg>
    <p:spTree>
      <p:nvGrpSpPr>
        <p:cNvPr id="1" name=""/>
        <p:cNvGrpSpPr/>
        <p:nvPr/>
      </p:nvGrpSpPr>
      <p:grpSpPr>
        <a:xfrm>
          <a:off x="0" y="0"/>
          <a:ext cx="0" cy="0"/>
          <a:chOff x="0" y="0"/>
          <a:chExt cx="0" cy="0"/>
        </a:xfrm>
      </p:grpSpPr>
      <p:sp>
        <p:nvSpPr>
          <p:cNvPr id="52" name="文字方塊 51">
            <a:extLst>
              <a:ext uri="{FF2B5EF4-FFF2-40B4-BE49-F238E27FC236}">
                <a16:creationId xmlns:a16="http://schemas.microsoft.com/office/drawing/2014/main" id="{4EB72046-7EFA-4D5B-9003-30F89B1D91A8}"/>
              </a:ext>
            </a:extLst>
          </p:cNvPr>
          <p:cNvSpPr txBox="1"/>
          <p:nvPr userDrawn="1"/>
        </p:nvSpPr>
        <p:spPr>
          <a:xfrm>
            <a:off x="146507" y="6382218"/>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61947" y="6432017"/>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55" name="Image" descr="Image">
            <a:extLst>
              <a:ext uri="{FF2B5EF4-FFF2-40B4-BE49-F238E27FC236}">
                <a16:creationId xmlns:a16="http://schemas.microsoft.com/office/drawing/2014/main" id="{3FD067EA-3F6A-4BD1-B5C3-F883F3BD8FAC}"/>
              </a:ext>
            </a:extLst>
          </p:cNvPr>
          <p:cNvPicPr>
            <a:picLocks noChangeAspect="1"/>
          </p:cNvPicPr>
          <p:nvPr userDrawn="1"/>
        </p:nvPicPr>
        <p:blipFill>
          <a:blip r:embed="rId2"/>
          <a:stretch>
            <a:fillRect/>
          </a:stretch>
        </p:blipFill>
        <p:spPr>
          <a:xfrm>
            <a:off x="10877740" y="6271414"/>
            <a:ext cx="1056000" cy="325143"/>
          </a:xfrm>
          <a:prstGeom prst="rect">
            <a:avLst/>
          </a:prstGeom>
          <a:ln w="12700">
            <a:miter lim="400000"/>
          </a:ln>
        </p:spPr>
      </p:pic>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6"/>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76" name="文本框 75"/>
          <p:cNvSpPr txBox="1"/>
          <p:nvPr userDrawn="1"/>
        </p:nvSpPr>
        <p:spPr>
          <a:xfrm>
            <a:off x="9794606" y="3835802"/>
            <a:ext cx="603188" cy="332647"/>
          </a:xfrm>
          <a:prstGeom prst="rect">
            <a:avLst/>
          </a:prstGeom>
          <a:noFill/>
          <a:ln>
            <a:noFill/>
          </a:ln>
        </p:spPr>
        <p:txBody>
          <a:bodyPr wrap="square" rtlCol="0" anchor="t">
            <a:noAutofit/>
          </a:bodyPr>
          <a:lstStyle/>
          <a:p>
            <a:pPr>
              <a:lnSpc>
                <a:spcPct val="100000"/>
              </a:lnSpc>
            </a:pPr>
            <a:r>
              <a:rPr lang="en-US" altLang="zh-CN" sz="1200" b="0" kern="1200" baseline="0">
                <a:solidFill>
                  <a:schemeClr val="tx1"/>
                </a:solidFill>
                <a:latin typeface="+mj-lt"/>
                <a:ea typeface="微软雅黑" panose="020B0503020204020204" pitchFamily="34" charset="-122"/>
                <a:cs typeface="+mn-cs"/>
              </a:rPr>
              <a:t>ROI</a:t>
            </a:r>
            <a:r>
              <a:rPr lang="zh-CN" altLang="en-US" sz="1200" b="0" kern="1200" baseline="0">
                <a:solidFill>
                  <a:schemeClr val="tx1"/>
                </a:solidFill>
                <a:latin typeface="+mj-lt"/>
                <a:ea typeface="微软雅黑" panose="020B0503020204020204" pitchFamily="34" charset="-122"/>
                <a:cs typeface="+mn-cs"/>
              </a:rPr>
              <a:t>：</a:t>
            </a:r>
            <a:endParaRPr lang="en-US" altLang="zh-CN" sz="1200" b="0" kern="1200" baseline="0">
              <a:solidFill>
                <a:schemeClr val="tx1"/>
              </a:solidFill>
              <a:latin typeface="+mj-lt"/>
              <a:ea typeface="微软雅黑" panose="020B0503020204020204" pitchFamily="34" charset="-122"/>
              <a:cs typeface="+mn-cs"/>
            </a:endParaRPr>
          </a:p>
        </p:txBody>
      </p:sp>
      <p:sp>
        <p:nvSpPr>
          <p:cNvPr id="77" name="文本框 76"/>
          <p:cNvSpPr txBox="1"/>
          <p:nvPr userDrawn="1"/>
        </p:nvSpPr>
        <p:spPr>
          <a:xfrm>
            <a:off x="4338193" y="3741998"/>
            <a:ext cx="360000" cy="1693063"/>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專案範圍</a:t>
            </a:r>
            <a:endParaRPr lang="zh-CN" altLang="en-US" sz="1600" b="1" u="sng">
              <a:solidFill>
                <a:schemeClr val="bg1"/>
              </a:solidFill>
              <a:latin typeface="+mn-ea"/>
              <a:ea typeface="+mn-ea"/>
            </a:endParaRPr>
          </a:p>
        </p:txBody>
      </p:sp>
      <p:sp>
        <p:nvSpPr>
          <p:cNvPr id="81" name="文本框 80"/>
          <p:cNvSpPr txBox="1"/>
          <p:nvPr userDrawn="1"/>
        </p:nvSpPr>
        <p:spPr>
          <a:xfrm>
            <a:off x="270776" y="5497398"/>
            <a:ext cx="360000" cy="834023"/>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時</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程</a:t>
            </a:r>
          </a:p>
        </p:txBody>
      </p:sp>
      <p:sp>
        <p:nvSpPr>
          <p:cNvPr id="44" name="標題 1">
            <a:extLst>
              <a:ext uri="{FF2B5EF4-FFF2-40B4-BE49-F238E27FC236}">
                <a16:creationId xmlns:a16="http://schemas.microsoft.com/office/drawing/2014/main" id="{E8CA6B8E-EB08-4AB0-9768-E121F12ABA2B}"/>
              </a:ext>
            </a:extLst>
          </p:cNvPr>
          <p:cNvSpPr txBox="1">
            <a:spLocks/>
          </p:cNvSpPr>
          <p:nvPr userDrawn="1"/>
        </p:nvSpPr>
        <p:spPr>
          <a:xfrm>
            <a:off x="9904770" y="374733"/>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a:solidFill>
                  <a:schemeClr val="tx1"/>
                </a:solidFill>
                <a:latin typeface="+mn-ea"/>
                <a:ea typeface="+mn-ea"/>
              </a:rPr>
              <a:t>專案編號：</a:t>
            </a:r>
            <a:endParaRPr lang="en-US" sz="1200">
              <a:solidFill>
                <a:schemeClr val="tx1"/>
              </a:solidFill>
              <a:latin typeface="+mn-ea"/>
              <a:ea typeface="+mn-ea"/>
            </a:endParaRPr>
          </a:p>
        </p:txBody>
      </p:sp>
      <p:graphicFrame>
        <p:nvGraphicFramePr>
          <p:cNvPr id="49" name="表格 48"/>
          <p:cNvGraphicFramePr>
            <a:graphicFrameLocks noGrp="1"/>
          </p:cNvGraphicFramePr>
          <p:nvPr userDrawn="1"/>
        </p:nvGraphicFramePr>
        <p:xfrm>
          <a:off x="4843843" y="4574137"/>
          <a:ext cx="2273740" cy="834459"/>
        </p:xfrm>
        <a:graphic>
          <a:graphicData uri="http://schemas.openxmlformats.org/drawingml/2006/table">
            <a:tbl>
              <a:tblPr>
                <a:tableStyleId>{5C22544A-7EE6-4342-B048-85BDC9FD1C3A}</a:tableStyleId>
              </a:tblPr>
              <a:tblGrid>
                <a:gridCol w="1115420">
                  <a:extLst>
                    <a:ext uri="{9D8B030D-6E8A-4147-A177-3AD203B41FA5}">
                      <a16:colId xmlns:a16="http://schemas.microsoft.com/office/drawing/2014/main" val="3601475834"/>
                    </a:ext>
                  </a:extLst>
                </a:gridCol>
                <a:gridCol w="1158320">
                  <a:extLst>
                    <a:ext uri="{9D8B030D-6E8A-4147-A177-3AD203B41FA5}">
                      <a16:colId xmlns:a16="http://schemas.microsoft.com/office/drawing/2014/main" val="3963661121"/>
                    </a:ext>
                  </a:extLst>
                </a:gridCol>
              </a:tblGrid>
              <a:tr h="236004">
                <a:tc>
                  <a:txBody>
                    <a:bodyPr/>
                    <a:lstStyle/>
                    <a:p>
                      <a:pPr algn="l"/>
                      <a:r>
                        <a:rPr lang="zh-CN" altLang="en-US" sz="1200" b="1" kern="1200" baseline="0">
                          <a:solidFill>
                            <a:schemeClr val="tx1"/>
                          </a:solidFill>
                          <a:latin typeface="+mn-ea"/>
                          <a:ea typeface="+mn-ea"/>
                          <a:cs typeface="+mn-cs"/>
                        </a:rPr>
                        <a:t>     實施範圍</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200" b="1" kern="1200" baseline="0">
                          <a:solidFill>
                            <a:schemeClr val="tx1"/>
                          </a:solidFill>
                          <a:latin typeface="+mn-ea"/>
                          <a:ea typeface="+mn-ea"/>
                          <a:cs typeface="+mn-cs"/>
                        </a:rPr>
                        <a:t>     產出類型</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875191"/>
                  </a:ext>
                </a:extLst>
              </a:tr>
              <a:tr h="19948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多個廠區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系統平台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775297"/>
                  </a:ext>
                </a:extLst>
              </a:tr>
              <a:tr h="199485">
                <a:tc>
                  <a:txBody>
                    <a:bodyPr/>
                    <a:lstStyle/>
                    <a:p>
                      <a:pPr algn="l"/>
                      <a:r>
                        <a:rPr lang="zh-CN" altLang="en-US" sz="1100" b="0" kern="1200" baseline="0">
                          <a:solidFill>
                            <a:schemeClr val="tx1"/>
                          </a:solidFill>
                          <a:latin typeface="+mn-ea"/>
                          <a:ea typeface="+mn-ea"/>
                          <a:cs typeface="+mn-cs"/>
                        </a:rPr>
                        <a:t>○  單一廠區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軟件</a:t>
                      </a:r>
                      <a:r>
                        <a:rPr lang="en-US" altLang="zh-CN" sz="1100" b="0" kern="1200" baseline="0">
                          <a:solidFill>
                            <a:schemeClr val="tx1"/>
                          </a:solidFill>
                          <a:latin typeface="+mn-ea"/>
                          <a:ea typeface="+mn-ea"/>
                          <a:cs typeface="+mn-cs"/>
                        </a:rPr>
                        <a:t>/</a:t>
                      </a:r>
                      <a:r>
                        <a:rPr lang="zh-CN" altLang="en-US" sz="1100" b="0" kern="1200" baseline="0">
                          <a:solidFill>
                            <a:schemeClr val="tx1"/>
                          </a:solidFill>
                          <a:latin typeface="+mn-ea"/>
                          <a:ea typeface="+mn-ea"/>
                          <a:cs typeface="+mn-cs"/>
                        </a:rPr>
                        <a:t>規範</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5369103"/>
                  </a:ext>
                </a:extLst>
              </a:tr>
              <a:tr h="199485">
                <a:tc>
                  <a:txBody>
                    <a:bodyPr/>
                    <a:lstStyle/>
                    <a:p>
                      <a:pPr algn="l"/>
                      <a:r>
                        <a:rPr lang="zh-CN" altLang="en-US" sz="1100" b="0" kern="1200" baseline="0">
                          <a:solidFill>
                            <a:schemeClr val="tx1"/>
                          </a:solidFill>
                          <a:latin typeface="+mn-ea"/>
                          <a:ea typeface="+mn-ea"/>
                          <a:cs typeface="+mn-cs"/>
                        </a:rPr>
                        <a:t>○  單線</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硬件</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180558"/>
                  </a:ext>
                </a:extLst>
              </a:tr>
            </a:tbl>
          </a:graphicData>
        </a:graphic>
      </p:graphicFrame>
      <p:sp>
        <p:nvSpPr>
          <p:cNvPr id="5" name="矩形 4"/>
          <p:cNvSpPr/>
          <p:nvPr userDrawn="1"/>
        </p:nvSpPr>
        <p:spPr>
          <a:xfrm>
            <a:off x="5110263" y="3773937"/>
            <a:ext cx="518091" cy="276999"/>
          </a:xfrm>
          <a:prstGeom prst="rect">
            <a:avLst/>
          </a:prstGeom>
        </p:spPr>
        <p:txBody>
          <a:bodyPr wrap="none">
            <a:spAutoFit/>
          </a:bodyPr>
          <a:lstStyle/>
          <a:p>
            <a:r>
              <a:rPr kumimoji="0" lang="en-US" altLang="zh-CN" sz="1200" b="1" i="0" u="none" strike="noStrike" kern="1200" cap="none" spc="0" normalizeH="0" baseline="0" noProof="0">
                <a:ln>
                  <a:noFill/>
                </a:ln>
                <a:solidFill>
                  <a:schemeClr val="tx1"/>
                </a:solidFill>
                <a:effectLst/>
                <a:uLnTx/>
                <a:uFillTx/>
                <a:latin typeface="+mj-lt"/>
                <a:ea typeface="微软雅黑" panose="020B0503020204020204" pitchFamily="34" charset="-122"/>
                <a:cs typeface="+mn-cs"/>
              </a:rPr>
              <a:t>POC</a:t>
            </a:r>
            <a:endParaRPr lang="zh-CN" altLang="en-US" sz="1200" b="1">
              <a:solidFill>
                <a:schemeClr val="tx1"/>
              </a:solidFill>
              <a:latin typeface="+mj-lt"/>
            </a:endParaRPr>
          </a:p>
        </p:txBody>
      </p:sp>
      <p:graphicFrame>
        <p:nvGraphicFramePr>
          <p:cNvPr id="73" name="表格 72"/>
          <p:cNvGraphicFramePr>
            <a:graphicFrameLocks noGrp="1"/>
          </p:cNvGraphicFramePr>
          <p:nvPr userDrawn="1"/>
        </p:nvGraphicFramePr>
        <p:xfrm>
          <a:off x="1708205" y="5475683"/>
          <a:ext cx="10068931" cy="747840"/>
        </p:xfrm>
        <a:graphic>
          <a:graphicData uri="http://schemas.openxmlformats.org/drawingml/2006/table">
            <a:tbl>
              <a:tblPr firstRow="1">
                <a:tableStyleId>{5C22544A-7EE6-4342-B048-85BDC9FD1C3A}</a:tableStyleId>
              </a:tblPr>
              <a:tblGrid>
                <a:gridCol w="1194619">
                  <a:extLst>
                    <a:ext uri="{9D8B030D-6E8A-4147-A177-3AD203B41FA5}">
                      <a16:colId xmlns:a16="http://schemas.microsoft.com/office/drawing/2014/main" val="1364975805"/>
                    </a:ext>
                  </a:extLst>
                </a:gridCol>
                <a:gridCol w="1109289">
                  <a:extLst>
                    <a:ext uri="{9D8B030D-6E8A-4147-A177-3AD203B41FA5}">
                      <a16:colId xmlns:a16="http://schemas.microsoft.com/office/drawing/2014/main" val="598168328"/>
                    </a:ext>
                  </a:extLst>
                </a:gridCol>
                <a:gridCol w="1109289">
                  <a:extLst>
                    <a:ext uri="{9D8B030D-6E8A-4147-A177-3AD203B41FA5}">
                      <a16:colId xmlns:a16="http://schemas.microsoft.com/office/drawing/2014/main" val="3996203012"/>
                    </a:ext>
                  </a:extLst>
                </a:gridCol>
                <a:gridCol w="1109289">
                  <a:extLst>
                    <a:ext uri="{9D8B030D-6E8A-4147-A177-3AD203B41FA5}">
                      <a16:colId xmlns:a16="http://schemas.microsoft.com/office/drawing/2014/main" val="8965765"/>
                    </a:ext>
                  </a:extLst>
                </a:gridCol>
                <a:gridCol w="1109289">
                  <a:extLst>
                    <a:ext uri="{9D8B030D-6E8A-4147-A177-3AD203B41FA5}">
                      <a16:colId xmlns:a16="http://schemas.microsoft.com/office/drawing/2014/main" val="3018412842"/>
                    </a:ext>
                  </a:extLst>
                </a:gridCol>
                <a:gridCol w="1109289">
                  <a:extLst>
                    <a:ext uri="{9D8B030D-6E8A-4147-A177-3AD203B41FA5}">
                      <a16:colId xmlns:a16="http://schemas.microsoft.com/office/drawing/2014/main" val="1610061165"/>
                    </a:ext>
                  </a:extLst>
                </a:gridCol>
                <a:gridCol w="1109289">
                  <a:extLst>
                    <a:ext uri="{9D8B030D-6E8A-4147-A177-3AD203B41FA5}">
                      <a16:colId xmlns:a16="http://schemas.microsoft.com/office/drawing/2014/main" val="2837564109"/>
                    </a:ext>
                  </a:extLst>
                </a:gridCol>
                <a:gridCol w="1109289">
                  <a:extLst>
                    <a:ext uri="{9D8B030D-6E8A-4147-A177-3AD203B41FA5}">
                      <a16:colId xmlns:a16="http://schemas.microsoft.com/office/drawing/2014/main" val="627612840"/>
                    </a:ext>
                  </a:extLst>
                </a:gridCol>
                <a:gridCol w="1109289">
                  <a:extLst>
                    <a:ext uri="{9D8B030D-6E8A-4147-A177-3AD203B41FA5}">
                      <a16:colId xmlns:a16="http://schemas.microsoft.com/office/drawing/2014/main" val="2411478032"/>
                    </a:ext>
                  </a:extLst>
                </a:gridCol>
              </a:tblGrid>
              <a:tr h="504000">
                <a:tc>
                  <a:txBody>
                    <a:bodyPr/>
                    <a:lstStyle/>
                    <a:p>
                      <a:pPr algn="ctr">
                        <a:lnSpc>
                          <a:spcPct val="100000"/>
                        </a:lnSpc>
                      </a:pPr>
                      <a:r>
                        <a:rPr lang="en-US" altLang="zh-TW" sz="1200" b="1" kern="1200">
                          <a:solidFill>
                            <a:schemeClr val="tx1"/>
                          </a:solidFill>
                          <a:latin typeface="+mj-lt"/>
                          <a:ea typeface="微软雅黑" panose="020B0503020204020204" pitchFamily="34" charset="-122"/>
                          <a:cs typeface="+mn-cs"/>
                        </a:rPr>
                        <a:t>Milestone</a:t>
                      </a:r>
                    </a:p>
                  </a:txBody>
                  <a:tcPr marL="0" marR="0" marT="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377" rtl="0" eaLnBrk="1" latinLnBrk="0" hangingPunct="1">
                        <a:lnSpc>
                          <a:spcPct val="100000"/>
                        </a:lnSpc>
                      </a:pPr>
                      <a:r>
                        <a:rPr lang="en-US" altLang="zh-TW" sz="1200" b="1" kern="1200">
                          <a:solidFill>
                            <a:schemeClr val="tx1"/>
                          </a:solidFill>
                          <a:latin typeface="+mn-lt"/>
                          <a:ea typeface="+mn-ea"/>
                          <a:cs typeface="+mn-cs"/>
                        </a:rPr>
                        <a:t>M1</a:t>
                      </a:r>
                    </a:p>
                    <a:p>
                      <a:pPr marL="0" algn="ctr" defTabSz="914377" rtl="0" eaLnBrk="1" latinLnBrk="0" hangingPunct="1">
                        <a:lnSpc>
                          <a:spcPct val="100000"/>
                        </a:lnSpc>
                      </a:pPr>
                      <a:r>
                        <a:rPr lang="zh-TW" altLang="en-US" sz="1200" b="0" kern="1200">
                          <a:solidFill>
                            <a:schemeClr val="tx1"/>
                          </a:solidFill>
                          <a:latin typeface="+mn-lt"/>
                          <a:ea typeface="+mn-ea"/>
                          <a:cs typeface="+mn-cs"/>
                        </a:rPr>
                        <a:t>需求評估</a:t>
                      </a:r>
                      <a:endParaRPr lang="en-US"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tx1"/>
                          </a:solidFill>
                          <a:latin typeface="+mn-lt"/>
                          <a:ea typeface="+mn-ea"/>
                          <a:cs typeface="+mn-cs"/>
                        </a:rPr>
                        <a:t>M2</a:t>
                      </a:r>
                    </a:p>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0" kern="1200">
                          <a:solidFill>
                            <a:schemeClr val="tx1"/>
                          </a:solidFill>
                          <a:latin typeface="+mn-lt"/>
                          <a:ea typeface="+mn-ea"/>
                          <a:cs typeface="+mn-cs"/>
                        </a:rPr>
                        <a:t>立案規劃</a:t>
                      </a:r>
                      <a:endParaRPr lang="en-US" altLang="zh-CN"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spcAft>
                          <a:spcPts val="0"/>
                        </a:spcAft>
                      </a:pPr>
                      <a:r>
                        <a:rPr lang="en-US" altLang="zh-TW" sz="1200" b="1" kern="1200">
                          <a:solidFill>
                            <a:schemeClr val="tx1"/>
                          </a:solidFill>
                          <a:latin typeface="+mn-lt"/>
                          <a:ea typeface="+mn-ea"/>
                          <a:cs typeface="+mn-cs"/>
                        </a:rPr>
                        <a:t>M3</a:t>
                      </a:r>
                    </a:p>
                    <a:p>
                      <a:pPr marL="0" algn="ctr" defTabSz="914377" rtl="0" eaLnBrk="1" latinLnBrk="0" hangingPunct="1">
                        <a:lnSpc>
                          <a:spcPct val="100000"/>
                        </a:lnSpc>
                        <a:spcAft>
                          <a:spcPts val="0"/>
                        </a:spcAft>
                      </a:pPr>
                      <a:r>
                        <a:rPr lang="zh-TW" altLang="en-US" sz="1200" b="0" kern="1200">
                          <a:solidFill>
                            <a:schemeClr val="tx1"/>
                          </a:solidFill>
                          <a:latin typeface="+mn-lt"/>
                          <a:ea typeface="+mn-ea"/>
                          <a:cs typeface="+mn-cs"/>
                        </a:rPr>
                        <a:t>細部設計</a:t>
                      </a:r>
                      <a:endParaRPr lang="en-US"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pPr>
                      <a:r>
                        <a:rPr lang="en-US" altLang="zh-TW" sz="1200" b="1" kern="1200">
                          <a:solidFill>
                            <a:schemeClr val="tx1"/>
                          </a:solidFill>
                          <a:latin typeface="+mn-lt"/>
                          <a:ea typeface="+mn-ea"/>
                          <a:cs typeface="+mn-cs"/>
                        </a:rPr>
                        <a:t>M4</a:t>
                      </a:r>
                    </a:p>
                    <a:p>
                      <a:pPr marL="0" lvl="0" algn="ctr" defTabSz="914377" rtl="0" eaLnBrk="1" latinLnBrk="0" hangingPunct="1">
                        <a:lnSpc>
                          <a:spcPct val="100000"/>
                        </a:lnSpc>
                      </a:pPr>
                      <a:r>
                        <a:rPr lang="zh-TW" altLang="en-US" sz="1200" b="0" kern="1200">
                          <a:solidFill>
                            <a:schemeClr val="tx1"/>
                          </a:solidFill>
                          <a:latin typeface="+mn-lt"/>
                          <a:ea typeface="+mn-ea"/>
                          <a:cs typeface="+mn-cs"/>
                        </a:rPr>
                        <a:t>設計反饋</a:t>
                      </a:r>
                      <a:endParaRPr lang="zh-TW"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defRPr/>
                      </a:pPr>
                      <a:r>
                        <a:rPr lang="en-US" altLang="zh-TW" sz="1200" b="1" kern="1200">
                          <a:solidFill>
                            <a:schemeClr val="tx1"/>
                          </a:solidFill>
                          <a:latin typeface="+mn-lt"/>
                          <a:ea typeface="+mn-ea"/>
                          <a:cs typeface="+mn-cs"/>
                        </a:rPr>
                        <a:t>M5</a:t>
                      </a:r>
                    </a:p>
                    <a:p>
                      <a:pPr marL="0" lvl="0" algn="ctr" defTabSz="914377" rtl="0" eaLnBrk="1" latinLnBrk="0" hangingPunct="1">
                        <a:lnSpc>
                          <a:spcPct val="100000"/>
                        </a:lnSpc>
                        <a:defRPr/>
                      </a:pPr>
                      <a:r>
                        <a:rPr lang="en-US" altLang="zh-TW" sz="1200" b="0" kern="1200">
                          <a:solidFill>
                            <a:schemeClr val="tx1"/>
                          </a:solidFill>
                          <a:latin typeface="+mn-lt"/>
                          <a:ea typeface="+mn-ea"/>
                          <a:cs typeface="+mn-cs"/>
                        </a:rPr>
                        <a:t>POC</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a:solidFill>
                            <a:schemeClr val="tx1"/>
                          </a:solidFill>
                          <a:latin typeface="+mn-lt"/>
                          <a:ea typeface="+mn-ea"/>
                          <a:cs typeface="+mn-cs"/>
                        </a:rPr>
                        <a:t>M6</a:t>
                      </a:r>
                    </a:p>
                    <a:p>
                      <a:pPr marL="0" algn="ctr" defTabSz="914377" rtl="0" eaLnBrk="1" latinLnBrk="0" hangingPunct="1">
                        <a:lnSpc>
                          <a:spcPct val="100000"/>
                        </a:lnSpc>
                        <a:defRPr/>
                      </a:pPr>
                      <a:r>
                        <a:rPr lang="zh-TW" altLang="en-US" sz="1200" b="0" kern="1200">
                          <a:solidFill>
                            <a:schemeClr val="tx1"/>
                          </a:solidFill>
                          <a:latin typeface="+mn-lt"/>
                          <a:ea typeface="+mn-ea"/>
                          <a:cs typeface="+mn-cs"/>
                        </a:rPr>
                        <a:t>資訊流標準化</a:t>
                      </a:r>
                      <a:endParaRPr lang="zh-CN" altLang="en-US"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tx1"/>
                          </a:solidFill>
                          <a:latin typeface="+mn-lt"/>
                          <a:ea typeface="+mn-ea"/>
                          <a:cs typeface="+mn-cs"/>
                        </a:rPr>
                        <a:t>M7</a:t>
                      </a:r>
                    </a:p>
                    <a:p>
                      <a:pPr marL="0" marR="0" indent="0" algn="ctr" defTabSz="914377" rtl="0" eaLnBrk="1" fontAlgn="auto" latinLnBrk="0" hangingPunct="1">
                        <a:lnSpc>
                          <a:spcPct val="100000"/>
                        </a:lnSpc>
                        <a:spcBef>
                          <a:spcPts val="0"/>
                        </a:spcBef>
                        <a:spcAft>
                          <a:spcPts val="0"/>
                        </a:spcAft>
                        <a:buClrTx/>
                        <a:buSzTx/>
                        <a:buFontTx/>
                        <a:buNone/>
                        <a:tabLst/>
                        <a:defRPr/>
                      </a:pPr>
                      <a:r>
                        <a:rPr lang="zh-TW" altLang="en-US" sz="1200" b="0" kern="1200">
                          <a:solidFill>
                            <a:schemeClr val="tx1"/>
                          </a:solidFill>
                          <a:latin typeface="+mn-lt"/>
                          <a:ea typeface="+mn-ea"/>
                          <a:cs typeface="+mn-cs"/>
                        </a:rPr>
                        <a:t>落地規劃</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a:solidFill>
                            <a:schemeClr val="tx1"/>
                          </a:solidFill>
                          <a:latin typeface="+mn-lt"/>
                          <a:ea typeface="+mn-ea"/>
                          <a:cs typeface="+mn-cs"/>
                        </a:rPr>
                        <a:t>M8</a:t>
                      </a:r>
                    </a:p>
                    <a:p>
                      <a:pPr marL="0" algn="ctr" defTabSz="914377" rtl="0" eaLnBrk="1" latinLnBrk="0" hangingPunct="1">
                        <a:lnSpc>
                          <a:spcPct val="100000"/>
                        </a:lnSpc>
                        <a:defRPr/>
                      </a:pPr>
                      <a:r>
                        <a:rPr lang="zh-TW" altLang="en-US" sz="1200" b="0" kern="1200">
                          <a:solidFill>
                            <a:schemeClr val="tx1"/>
                          </a:solidFill>
                          <a:latin typeface="+mn-lt"/>
                          <a:ea typeface="+mn-ea"/>
                          <a:cs typeface="+mn-cs"/>
                        </a:rPr>
                        <a:t>落地檢核</a:t>
                      </a:r>
                      <a:endParaRPr lang="zh-CN" altLang="en-US"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3771765"/>
                  </a:ext>
                </a:extLst>
              </a:tr>
              <a:tr h="243840">
                <a:tc>
                  <a:txBody>
                    <a:bodyPr/>
                    <a:lstStyle/>
                    <a:p>
                      <a:pPr algn="ctr">
                        <a:lnSpc>
                          <a:spcPct val="100000"/>
                        </a:lnSpc>
                      </a:pPr>
                      <a:r>
                        <a:rPr lang="en-US" altLang="zh-CN" sz="1200" b="1">
                          <a:solidFill>
                            <a:schemeClr val="tx1"/>
                          </a:solidFill>
                          <a:latin typeface="+mj-lt"/>
                          <a:ea typeface="+mn-ea"/>
                        </a:rPr>
                        <a:t>Due</a:t>
                      </a:r>
                      <a:r>
                        <a:rPr lang="zh-CN" altLang="en-US" sz="1200" b="1" baseline="0">
                          <a:solidFill>
                            <a:schemeClr val="tx1"/>
                          </a:solidFill>
                          <a:latin typeface="+mj-lt"/>
                          <a:ea typeface="+mn-ea"/>
                        </a:rPr>
                        <a:t> </a:t>
                      </a:r>
                      <a:r>
                        <a:rPr lang="en-US" altLang="zh-CN" sz="1200" b="1" baseline="0">
                          <a:solidFill>
                            <a:schemeClr val="tx1"/>
                          </a:solidFill>
                          <a:latin typeface="+mj-lt"/>
                          <a:ea typeface="+mn-ea"/>
                        </a:rPr>
                        <a:t>date</a:t>
                      </a:r>
                      <a:endParaRPr lang="en-US" altLang="zh-CN" sz="1200" b="1">
                        <a:solidFill>
                          <a:schemeClr val="tx1"/>
                        </a:solidFill>
                        <a:latin typeface="+mj-lt"/>
                        <a:ea typeface="+mn-ea"/>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CN" altLang="en-US" sz="1600" b="0">
                        <a:solidFill>
                          <a:schemeClr val="tx1"/>
                        </a:solidFill>
                        <a:latin typeface="+mj-lt"/>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4082158"/>
                  </a:ext>
                </a:extLst>
              </a:tr>
            </a:tbl>
          </a:graphicData>
        </a:graphic>
      </p:graphicFrame>
      <p:cxnSp>
        <p:nvCxnSpPr>
          <p:cNvPr id="74" name="直接连接符 73"/>
          <p:cNvCxnSpPr/>
          <p:nvPr userDrawn="1"/>
        </p:nvCxnSpPr>
        <p:spPr>
          <a:xfrm flipH="1">
            <a:off x="-3" y="5462265"/>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9" name="標題 1">
            <a:extLst>
              <a:ext uri="{FF2B5EF4-FFF2-40B4-BE49-F238E27FC236}">
                <a16:creationId xmlns:a16="http://schemas.microsoft.com/office/drawing/2014/main" id="{E8CA6B8E-EB08-4AB0-9768-E121F12ABA2B}"/>
              </a:ext>
            </a:extLst>
          </p:cNvPr>
          <p:cNvSpPr txBox="1">
            <a:spLocks/>
          </p:cNvSpPr>
          <p:nvPr userDrawn="1"/>
        </p:nvSpPr>
        <p:spPr>
          <a:xfrm>
            <a:off x="9904769" y="172486"/>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a:solidFill>
                  <a:schemeClr val="tx1"/>
                </a:solidFill>
                <a:latin typeface="+mn-ea"/>
                <a:ea typeface="+mn-ea"/>
              </a:rPr>
              <a:t>專案屬性：</a:t>
            </a:r>
            <a:endParaRPr lang="en-US" sz="1200">
              <a:solidFill>
                <a:schemeClr val="tx1"/>
              </a:solidFill>
              <a:latin typeface="+mn-ea"/>
              <a:ea typeface="+mn-ea"/>
            </a:endParaRPr>
          </a:p>
        </p:txBody>
      </p:sp>
      <p:sp>
        <p:nvSpPr>
          <p:cNvPr id="41" name="文本框 80">
            <a:extLst>
              <a:ext uri="{FF2B5EF4-FFF2-40B4-BE49-F238E27FC236}">
                <a16:creationId xmlns:a16="http://schemas.microsoft.com/office/drawing/2014/main" id="{CE4A5CD4-18D6-442A-8251-0B27565425B3}"/>
              </a:ext>
            </a:extLst>
          </p:cNvPr>
          <p:cNvSpPr txBox="1"/>
          <p:nvPr userDrawn="1"/>
        </p:nvSpPr>
        <p:spPr>
          <a:xfrm>
            <a:off x="942943" y="6001110"/>
            <a:ext cx="457368" cy="211767"/>
          </a:xfrm>
          <a:prstGeom prst="rect">
            <a:avLst/>
          </a:prstGeom>
          <a:noFill/>
          <a:ln>
            <a:noFill/>
          </a:ln>
        </p:spPr>
        <p:txBody>
          <a:bodyPr wrap="none" lIns="36000" tIns="0" rIns="36000" bIns="0" rtlCol="0" anchor="t" anchorCtr="0">
            <a:noAutofit/>
          </a:bodyPr>
          <a:lstStyle/>
          <a:p>
            <a:pPr algn="ctr"/>
            <a:r>
              <a:rPr lang="zh-CN" altLang="en-US" sz="1400" b="1">
                <a:solidFill>
                  <a:schemeClr val="tx1"/>
                </a:solidFill>
                <a:latin typeface="+mn-ea"/>
                <a:ea typeface="+mn-ea"/>
              </a:rPr>
              <a:t>天</a:t>
            </a:r>
          </a:p>
        </p:txBody>
      </p:sp>
      <p:cxnSp>
        <p:nvCxnSpPr>
          <p:cNvPr id="48" name="直接连接符 73">
            <a:extLst>
              <a:ext uri="{FF2B5EF4-FFF2-40B4-BE49-F238E27FC236}">
                <a16:creationId xmlns:a16="http://schemas.microsoft.com/office/drawing/2014/main" id="{260BD545-25F4-463E-914E-4B2E7F5D5FE7}"/>
              </a:ext>
            </a:extLst>
          </p:cNvPr>
          <p:cNvCxnSpPr/>
          <p:nvPr userDrawn="1"/>
        </p:nvCxnSpPr>
        <p:spPr>
          <a:xfrm flipH="1">
            <a:off x="-3" y="3711691"/>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5" name="文本框 76">
            <a:extLst>
              <a:ext uri="{FF2B5EF4-FFF2-40B4-BE49-F238E27FC236}">
                <a16:creationId xmlns:a16="http://schemas.microsoft.com/office/drawing/2014/main" id="{412770B5-2D22-4757-B0F9-827C620D34C0}"/>
              </a:ext>
            </a:extLst>
          </p:cNvPr>
          <p:cNvSpPr txBox="1"/>
          <p:nvPr userDrawn="1"/>
        </p:nvSpPr>
        <p:spPr>
          <a:xfrm>
            <a:off x="7229261" y="3741999"/>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專案效益</a:t>
            </a:r>
            <a:endParaRPr lang="zh-CN" altLang="en-US" sz="1600" b="1" u="sng">
              <a:solidFill>
                <a:schemeClr val="bg1"/>
              </a:solidFill>
              <a:latin typeface="+mn-ea"/>
              <a:ea typeface="+mn-ea"/>
            </a:endParaRPr>
          </a:p>
        </p:txBody>
      </p:sp>
      <p:sp>
        <p:nvSpPr>
          <p:cNvPr id="79" name="矩形 78">
            <a:extLst>
              <a:ext uri="{FF2B5EF4-FFF2-40B4-BE49-F238E27FC236}">
                <a16:creationId xmlns:a16="http://schemas.microsoft.com/office/drawing/2014/main" id="{74B93A32-4EBD-4EAA-9EBE-60BA29C04118}"/>
              </a:ext>
            </a:extLst>
          </p:cNvPr>
          <p:cNvSpPr/>
          <p:nvPr userDrawn="1"/>
        </p:nvSpPr>
        <p:spPr>
          <a:xfrm>
            <a:off x="6243413" y="3773937"/>
            <a:ext cx="492443" cy="276999"/>
          </a:xfrm>
          <a:prstGeom prst="rect">
            <a:avLst/>
          </a:prstGeom>
        </p:spPr>
        <p:txBody>
          <a:bodyPr wrap="none">
            <a:spAutoFit/>
          </a:bodyPr>
          <a:lstStyle/>
          <a:p>
            <a:r>
              <a:rPr kumimoji="0" lang="zh-CN" altLang="en-US" sz="1200" b="1" i="0" u="none" strike="noStrike" kern="1200" cap="none" spc="0" normalizeH="0" baseline="0" noProof="0">
                <a:ln>
                  <a:noFill/>
                </a:ln>
                <a:solidFill>
                  <a:schemeClr val="tx1"/>
                </a:solidFill>
                <a:effectLst/>
                <a:uLnTx/>
                <a:uFillTx/>
                <a:latin typeface="+mn-ea"/>
                <a:ea typeface="+mn-ea"/>
                <a:cs typeface="+mn-cs"/>
              </a:rPr>
              <a:t>落地</a:t>
            </a:r>
            <a:endParaRPr lang="zh-CN" altLang="en-US" sz="1200" b="1">
              <a:solidFill>
                <a:schemeClr val="tx1"/>
              </a:solidFill>
              <a:latin typeface="+mn-ea"/>
              <a:ea typeface="+mn-ea"/>
            </a:endParaRPr>
          </a:p>
        </p:txBody>
      </p:sp>
      <p:sp>
        <p:nvSpPr>
          <p:cNvPr id="13" name="矩形 12">
            <a:extLst>
              <a:ext uri="{FF2B5EF4-FFF2-40B4-BE49-F238E27FC236}">
                <a16:creationId xmlns:a16="http://schemas.microsoft.com/office/drawing/2014/main" id="{DB237AD2-C320-4A06-AA5B-DFCAEB5BB200}"/>
              </a:ext>
            </a:extLst>
          </p:cNvPr>
          <p:cNvSpPr/>
          <p:nvPr userDrawn="1"/>
        </p:nvSpPr>
        <p:spPr>
          <a:xfrm>
            <a:off x="8616155" y="3829575"/>
            <a:ext cx="1007327" cy="276999"/>
          </a:xfrm>
          <a:prstGeom prst="rect">
            <a:avLst/>
          </a:prstGeom>
        </p:spPr>
        <p:txBody>
          <a:bodyPr wrap="non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KUSD/Year </a:t>
            </a:r>
          </a:p>
        </p:txBody>
      </p:sp>
      <p:sp>
        <p:nvSpPr>
          <p:cNvPr id="15" name="矩形 14">
            <a:extLst>
              <a:ext uri="{FF2B5EF4-FFF2-40B4-BE49-F238E27FC236}">
                <a16:creationId xmlns:a16="http://schemas.microsoft.com/office/drawing/2014/main" id="{A2D2403B-89BC-4F21-8E00-B9F06CF42EF0}"/>
              </a:ext>
            </a:extLst>
          </p:cNvPr>
          <p:cNvSpPr/>
          <p:nvPr userDrawn="1"/>
        </p:nvSpPr>
        <p:spPr>
          <a:xfrm>
            <a:off x="10875240" y="3822095"/>
            <a:ext cx="537648" cy="276999"/>
          </a:xfrm>
          <a:prstGeom prst="rect">
            <a:avLst/>
          </a:prstGeom>
        </p:spPr>
        <p:txBody>
          <a:bodyPr wrap="none">
            <a:spAutoFit/>
          </a:bodyPr>
          <a:lstStyle/>
          <a:p>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lang="zh-TW" altLang="en-US" sz="1800" b="0">
              <a:solidFill>
                <a:schemeClr val="tx1"/>
              </a:solidFill>
            </a:endParaRPr>
          </a:p>
        </p:txBody>
      </p:sp>
      <p:sp>
        <p:nvSpPr>
          <p:cNvPr id="94" name="文本框 76">
            <a:extLst>
              <a:ext uri="{FF2B5EF4-FFF2-40B4-BE49-F238E27FC236}">
                <a16:creationId xmlns:a16="http://schemas.microsoft.com/office/drawing/2014/main" id="{5E299125-23C7-45ED-9CD0-F792DF9E67D7}"/>
              </a:ext>
            </a:extLst>
          </p:cNvPr>
          <p:cNvSpPr txBox="1"/>
          <p:nvPr userDrawn="1"/>
        </p:nvSpPr>
        <p:spPr>
          <a:xfrm>
            <a:off x="270776" y="3742863"/>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專案團隊</a:t>
            </a:r>
            <a:endParaRPr lang="zh-CN" altLang="en-US" sz="1600" b="1" u="sng">
              <a:solidFill>
                <a:schemeClr val="bg1"/>
              </a:solidFill>
              <a:latin typeface="+mn-ea"/>
              <a:ea typeface="+mn-ea"/>
            </a:endParaRPr>
          </a:p>
        </p:txBody>
      </p:sp>
      <p:cxnSp>
        <p:nvCxnSpPr>
          <p:cNvPr id="95" name="直接连接符 73">
            <a:extLst>
              <a:ext uri="{FF2B5EF4-FFF2-40B4-BE49-F238E27FC236}">
                <a16:creationId xmlns:a16="http://schemas.microsoft.com/office/drawing/2014/main" id="{E3D9E4B4-7C32-4F6D-B760-7606B45ECC9B}"/>
              </a:ext>
            </a:extLst>
          </p:cNvPr>
          <p:cNvCxnSpPr/>
          <p:nvPr userDrawn="1"/>
        </p:nvCxnSpPr>
        <p:spPr>
          <a:xfrm flipH="1">
            <a:off x="-3"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文本框 24"/>
          <p:cNvSpPr txBox="1"/>
          <p:nvPr userDrawn="1"/>
        </p:nvSpPr>
        <p:spPr>
          <a:xfrm>
            <a:off x="270776" y="753697"/>
            <a:ext cx="360000" cy="2934000"/>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需</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求</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與</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目</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標</a:t>
            </a:r>
          </a:p>
        </p:txBody>
      </p:sp>
      <p:sp>
        <p:nvSpPr>
          <p:cNvPr id="87" name="文本框 86"/>
          <p:cNvSpPr txBox="1"/>
          <p:nvPr userDrawn="1"/>
        </p:nvSpPr>
        <p:spPr>
          <a:xfrm>
            <a:off x="5566935" y="753697"/>
            <a:ext cx="360000" cy="2934000"/>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挑</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戰</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與</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解</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決</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方</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案</a:t>
            </a:r>
          </a:p>
        </p:txBody>
      </p:sp>
      <p:sp>
        <p:nvSpPr>
          <p:cNvPr id="21" name="等腰三角形 20">
            <a:extLst>
              <a:ext uri="{FF2B5EF4-FFF2-40B4-BE49-F238E27FC236}">
                <a16:creationId xmlns:a16="http://schemas.microsoft.com/office/drawing/2014/main" id="{0F94FA73-696E-4585-96A5-3EA8EEDFE197}"/>
              </a:ext>
            </a:extLst>
          </p:cNvPr>
          <p:cNvSpPr/>
          <p:nvPr userDrawn="1"/>
        </p:nvSpPr>
        <p:spPr>
          <a:xfrm rot="5400000">
            <a:off x="2645908" y="568363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105" name="等腰三角形 104">
            <a:extLst>
              <a:ext uri="{FF2B5EF4-FFF2-40B4-BE49-F238E27FC236}">
                <a16:creationId xmlns:a16="http://schemas.microsoft.com/office/drawing/2014/main" id="{230A3365-B0E2-46E8-90A4-D92B50D29BC0}"/>
              </a:ext>
            </a:extLst>
          </p:cNvPr>
          <p:cNvSpPr/>
          <p:nvPr userDrawn="1"/>
        </p:nvSpPr>
        <p:spPr>
          <a:xfrm rot="5400000">
            <a:off x="2645908" y="607977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6" name="標題 1">
            <a:extLst>
              <a:ext uri="{FF2B5EF4-FFF2-40B4-BE49-F238E27FC236}">
                <a16:creationId xmlns:a16="http://schemas.microsoft.com/office/drawing/2014/main" id="{874D4825-8DCA-4167-9242-B1829510756A}"/>
              </a:ext>
            </a:extLst>
          </p:cNvPr>
          <p:cNvSpPr txBox="1">
            <a:spLocks/>
          </p:cNvSpPr>
          <p:nvPr userDrawn="1"/>
        </p:nvSpPr>
        <p:spPr>
          <a:xfrm>
            <a:off x="485067" y="374733"/>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a:solidFill>
                  <a:schemeClr val="tx1"/>
                </a:solidFill>
                <a:latin typeface="+mj-lt"/>
                <a:ea typeface="+mn-ea"/>
              </a:rPr>
              <a:t>PM</a:t>
            </a:r>
            <a:r>
              <a:rPr lang="zh-CN" altLang="en-US" sz="1400">
                <a:solidFill>
                  <a:schemeClr val="tx1"/>
                </a:solidFill>
                <a:latin typeface="+mj-lt"/>
                <a:ea typeface="+mn-ea"/>
              </a:rPr>
              <a:t>：</a:t>
            </a:r>
            <a:endParaRPr lang="en-US" sz="1400">
              <a:solidFill>
                <a:schemeClr val="tx1"/>
              </a:solidFill>
              <a:latin typeface="+mj-lt"/>
              <a:ea typeface="+mn-ea"/>
            </a:endParaRPr>
          </a:p>
        </p:txBody>
      </p:sp>
      <p:sp>
        <p:nvSpPr>
          <p:cNvPr id="47" name="標題 1">
            <a:extLst>
              <a:ext uri="{FF2B5EF4-FFF2-40B4-BE49-F238E27FC236}">
                <a16:creationId xmlns:a16="http://schemas.microsoft.com/office/drawing/2014/main" id="{CA67BEDC-D239-4ED3-862E-B642F84DA4A2}"/>
              </a:ext>
            </a:extLst>
          </p:cNvPr>
          <p:cNvSpPr txBox="1">
            <a:spLocks/>
          </p:cNvSpPr>
          <p:nvPr userDrawn="1"/>
        </p:nvSpPr>
        <p:spPr>
          <a:xfrm>
            <a:off x="302186" y="142006"/>
            <a:ext cx="1760295"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a:solidFill>
                  <a:schemeClr val="tx1"/>
                </a:solidFill>
                <a:latin typeface="+mn-lt"/>
                <a:ea typeface="+mn-ea"/>
              </a:rPr>
              <a:t>Team</a:t>
            </a:r>
            <a:r>
              <a:rPr lang="zh-CN" altLang="en-US" sz="1400">
                <a:solidFill>
                  <a:schemeClr val="tx1"/>
                </a:solidFill>
                <a:latin typeface="+mn-ea"/>
                <a:ea typeface="+mn-ea"/>
              </a:rPr>
              <a:t>：</a:t>
            </a:r>
            <a:r>
              <a:rPr lang="en-US" altLang="zh-CN" sz="1400">
                <a:solidFill>
                  <a:schemeClr val="tx1"/>
                </a:solidFill>
                <a:latin typeface="+mj-lt"/>
                <a:ea typeface="+mn-ea"/>
              </a:rPr>
              <a:t>Core</a:t>
            </a:r>
            <a:endParaRPr lang="en-US" sz="1400">
              <a:solidFill>
                <a:schemeClr val="tx1"/>
              </a:solidFill>
              <a:latin typeface="+mj-lt"/>
              <a:ea typeface="+mn-ea"/>
            </a:endParaRPr>
          </a:p>
        </p:txBody>
      </p:sp>
    </p:spTree>
    <p:extLst>
      <p:ext uri="{BB962C8B-B14F-4D97-AF65-F5344CB8AC3E}">
        <p14:creationId xmlns:p14="http://schemas.microsoft.com/office/powerpoint/2010/main" val="2461033925"/>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ver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文字版面配置區 4">
            <a:extLst>
              <a:ext uri="{FF2B5EF4-FFF2-40B4-BE49-F238E27FC236}">
                <a16:creationId xmlns:a16="http://schemas.microsoft.com/office/drawing/2014/main" id="{C5F15596-5511-4524-8143-5414A6D0A46F}"/>
              </a:ext>
            </a:extLst>
          </p:cNvPr>
          <p:cNvSpPr>
            <a:spLocks noGrp="1"/>
          </p:cNvSpPr>
          <p:nvPr>
            <p:ph type="body" sz="quarter" idx="12" hasCustomPrompt="1"/>
          </p:nvPr>
        </p:nvSpPr>
        <p:spPr>
          <a:xfrm>
            <a:off x="934219" y="738192"/>
            <a:ext cx="2133447" cy="380427"/>
          </a:xfrm>
        </p:spPr>
        <p:txBody>
          <a:bodyPr>
            <a:normAutofit/>
          </a:bodyPr>
          <a:lstStyle>
            <a:lvl1pPr marL="0" indent="0">
              <a:buNone/>
              <a:defRPr sz="1800">
                <a:solidFill>
                  <a:srgbClr val="0070C0"/>
                </a:solidFill>
              </a:defRPr>
            </a:lvl1pPr>
          </a:lstStyle>
          <a:p>
            <a:pPr lvl="0"/>
            <a:r>
              <a:rPr lang="en-US" altLang="zh-TW"/>
              <a:t>Cover </a:t>
            </a:r>
            <a:r>
              <a:rPr lang="en-US" altLang="zh-TW" err="1"/>
              <a:t>Page_White</a:t>
            </a:r>
            <a:endParaRPr lang="zh-TW" altLang="en-US"/>
          </a:p>
        </p:txBody>
      </p:sp>
      <p:sp>
        <p:nvSpPr>
          <p:cNvPr id="4" name="矩形 3">
            <a:extLst>
              <a:ext uri="{FF2B5EF4-FFF2-40B4-BE49-F238E27FC236}">
                <a16:creationId xmlns:a16="http://schemas.microsoft.com/office/drawing/2014/main" id="{2309B049-2004-4273-97C4-9B172C2B172A}"/>
              </a:ext>
            </a:extLst>
          </p:cNvPr>
          <p:cNvSpPr/>
          <p:nvPr userDrawn="1"/>
        </p:nvSpPr>
        <p:spPr>
          <a:xfrm>
            <a:off x="818613" y="3398486"/>
            <a:ext cx="6096000" cy="2721322"/>
          </a:xfrm>
          <a:prstGeom prst="rect">
            <a:avLst/>
          </a:prstGeom>
        </p:spPr>
        <p:txBody>
          <a:bodyPr>
            <a:spAutoFit/>
          </a:bodyPr>
          <a:lstStyle/>
          <a:p>
            <a:pPr>
              <a:lnSpc>
                <a:spcPct val="120000"/>
              </a:lnSpc>
            </a:pPr>
            <a:r>
              <a:rPr lang="zh-CN" altLang="en-US" sz="2000" b="1">
                <a:solidFill>
                  <a:schemeClr val="tx1"/>
                </a:solidFill>
              </a:rPr>
              <a:t>專 案 類 型： </a:t>
            </a:r>
            <a:endParaRPr lang="en-US" altLang="zh-CN" sz="2000" b="1">
              <a:solidFill>
                <a:schemeClr val="tx1"/>
              </a:solidFill>
            </a:endParaRPr>
          </a:p>
          <a:p>
            <a:pPr>
              <a:lnSpc>
                <a:spcPct val="120000"/>
              </a:lnSpc>
            </a:pPr>
            <a:r>
              <a:rPr lang="zh-TW" altLang="en-US" sz="1800" b="1">
                <a:solidFill>
                  <a:schemeClr val="tx1"/>
                </a:solidFill>
              </a:rPr>
              <a:t>版             本</a:t>
            </a:r>
            <a:r>
              <a:rPr lang="en-US" altLang="zh-TW" sz="1800" b="1">
                <a:solidFill>
                  <a:schemeClr val="tx1"/>
                </a:solidFill>
              </a:rPr>
              <a:t>:   </a:t>
            </a:r>
            <a:endParaRPr lang="en-US" altLang="zh-TW" sz="1800" b="1">
              <a:solidFill>
                <a:schemeClr val="bg1">
                  <a:lumMod val="50000"/>
                </a:schemeClr>
              </a:solidFill>
            </a:endParaRPr>
          </a:p>
          <a:p>
            <a:pPr>
              <a:lnSpc>
                <a:spcPct val="120000"/>
              </a:lnSpc>
            </a:pPr>
            <a:r>
              <a:rPr lang="zh-CN" altLang="en-US" sz="1800" b="1">
                <a:solidFill>
                  <a:schemeClr val="tx1"/>
                </a:solidFill>
              </a:rPr>
              <a:t>專 案  編 號： </a:t>
            </a:r>
            <a:endParaRPr lang="en-US" altLang="zh-CN" sz="1600" b="1">
              <a:solidFill>
                <a:schemeClr val="bg1">
                  <a:lumMod val="50000"/>
                </a:schemeClr>
              </a:solidFill>
            </a:endParaRPr>
          </a:p>
          <a:p>
            <a:pPr>
              <a:lnSpc>
                <a:spcPct val="120000"/>
              </a:lnSpc>
            </a:pPr>
            <a:r>
              <a:rPr lang="zh-CN" altLang="en-US" sz="1600" b="1">
                <a:solidFill>
                  <a:schemeClr val="tx1"/>
                </a:solidFill>
              </a:rPr>
              <a:t>專案起止日期：</a:t>
            </a:r>
            <a:endParaRPr lang="en-US" altLang="zh-TW" sz="1800">
              <a:solidFill>
                <a:schemeClr val="tx1"/>
              </a:solidFill>
            </a:endParaRPr>
          </a:p>
          <a:p>
            <a:pPr>
              <a:lnSpc>
                <a:spcPct val="120000"/>
              </a:lnSpc>
            </a:pPr>
            <a:r>
              <a:rPr lang="zh-CN" altLang="en-US" sz="1800" b="1">
                <a:solidFill>
                  <a:schemeClr val="tx1"/>
                </a:solidFill>
              </a:rPr>
              <a:t>製   作     人：</a:t>
            </a:r>
            <a:endParaRPr lang="en-US" altLang="zh-CN" sz="1800" b="1">
              <a:solidFill>
                <a:schemeClr val="tx1"/>
              </a:solidFill>
            </a:endParaRPr>
          </a:p>
          <a:p>
            <a:pPr>
              <a:lnSpc>
                <a:spcPct val="120000"/>
              </a:lnSpc>
            </a:pPr>
            <a:r>
              <a:rPr lang="zh-CN" altLang="en-US" sz="1800" b="1">
                <a:solidFill>
                  <a:schemeClr val="tx1"/>
                </a:solidFill>
              </a:rPr>
              <a:t>審   核     人：</a:t>
            </a:r>
            <a:endParaRPr lang="en-US" altLang="zh-CN" sz="1800" b="1">
              <a:solidFill>
                <a:schemeClr val="tx1"/>
              </a:solidFill>
            </a:endParaRPr>
          </a:p>
          <a:p>
            <a:pPr>
              <a:lnSpc>
                <a:spcPct val="120000"/>
              </a:lnSpc>
            </a:pPr>
            <a:r>
              <a:rPr lang="en-US" altLang="zh-TW" sz="1800" b="1">
                <a:solidFill>
                  <a:schemeClr val="tx1"/>
                </a:solidFill>
              </a:rPr>
              <a:t>             PO</a:t>
            </a:r>
            <a:r>
              <a:rPr lang="zh-CN" altLang="en-US" sz="1800" b="1">
                <a:solidFill>
                  <a:schemeClr val="tx1"/>
                </a:solidFill>
              </a:rPr>
              <a:t>：</a:t>
            </a:r>
            <a:endParaRPr lang="en-US" altLang="zh-CN" sz="1800" b="1">
              <a:solidFill>
                <a:schemeClr val="tx1"/>
              </a:solidFill>
            </a:endParaRPr>
          </a:p>
          <a:p>
            <a:pPr>
              <a:lnSpc>
                <a:spcPct val="120000"/>
              </a:lnSpc>
            </a:pPr>
            <a:r>
              <a:rPr lang="zh-CN" altLang="en-US" sz="1800" b="1">
                <a:solidFill>
                  <a:schemeClr val="tx1"/>
                </a:solidFill>
              </a:rPr>
              <a:t>製 作  日 期：</a:t>
            </a:r>
            <a:endParaRPr lang="zh-TW" altLang="en-US" sz="1800" b="1">
              <a:solidFill>
                <a:schemeClr val="tx1"/>
              </a:solidFill>
            </a:endParaRPr>
          </a:p>
        </p:txBody>
      </p:sp>
    </p:spTree>
    <p:extLst>
      <p:ext uri="{BB962C8B-B14F-4D97-AF65-F5344CB8AC3E}">
        <p14:creationId xmlns:p14="http://schemas.microsoft.com/office/powerpoint/2010/main" val="3683705754"/>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Hardware/Device">
    <p:bg>
      <p:bgPr>
        <a:solidFill>
          <a:schemeClr val="bg1"/>
        </a:solidFill>
        <a:effectLst/>
      </p:bgPr>
    </p:bg>
    <p:spTree>
      <p:nvGrpSpPr>
        <p:cNvPr id="1" name=""/>
        <p:cNvGrpSpPr/>
        <p:nvPr/>
      </p:nvGrpSpPr>
      <p:grpSpPr>
        <a:xfrm>
          <a:off x="0" y="0"/>
          <a:ext cx="0" cy="0"/>
          <a:chOff x="0" y="0"/>
          <a:chExt cx="0" cy="0"/>
        </a:xfrm>
      </p:grpSpPr>
      <p:sp>
        <p:nvSpPr>
          <p:cNvPr id="52" name="文字方塊 51">
            <a:extLst>
              <a:ext uri="{FF2B5EF4-FFF2-40B4-BE49-F238E27FC236}">
                <a16:creationId xmlns:a16="http://schemas.microsoft.com/office/drawing/2014/main" id="{4EB72046-7EFA-4D5B-9003-30F89B1D91A8}"/>
              </a:ext>
            </a:extLst>
          </p:cNvPr>
          <p:cNvSpPr txBox="1"/>
          <p:nvPr userDrawn="1"/>
        </p:nvSpPr>
        <p:spPr>
          <a:xfrm>
            <a:off x="146507" y="6382218"/>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61947" y="6432017"/>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55" name="Image" descr="Image">
            <a:extLst>
              <a:ext uri="{FF2B5EF4-FFF2-40B4-BE49-F238E27FC236}">
                <a16:creationId xmlns:a16="http://schemas.microsoft.com/office/drawing/2014/main" id="{3FD067EA-3F6A-4BD1-B5C3-F883F3BD8FAC}"/>
              </a:ext>
            </a:extLst>
          </p:cNvPr>
          <p:cNvPicPr>
            <a:picLocks noChangeAspect="1"/>
          </p:cNvPicPr>
          <p:nvPr userDrawn="1"/>
        </p:nvPicPr>
        <p:blipFill>
          <a:blip r:embed="rId2"/>
          <a:stretch>
            <a:fillRect/>
          </a:stretch>
        </p:blipFill>
        <p:spPr>
          <a:xfrm>
            <a:off x="10877740" y="6271414"/>
            <a:ext cx="1056000" cy="325143"/>
          </a:xfrm>
          <a:prstGeom prst="rect">
            <a:avLst/>
          </a:prstGeom>
          <a:ln w="12700">
            <a:miter lim="400000"/>
          </a:ln>
        </p:spPr>
      </p:pic>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6"/>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76" name="文本框 75"/>
          <p:cNvSpPr txBox="1"/>
          <p:nvPr userDrawn="1"/>
        </p:nvSpPr>
        <p:spPr>
          <a:xfrm>
            <a:off x="9794606" y="3835802"/>
            <a:ext cx="603188" cy="332647"/>
          </a:xfrm>
          <a:prstGeom prst="rect">
            <a:avLst/>
          </a:prstGeom>
          <a:noFill/>
          <a:ln>
            <a:noFill/>
          </a:ln>
        </p:spPr>
        <p:txBody>
          <a:bodyPr wrap="square" rtlCol="0" anchor="t">
            <a:noAutofit/>
          </a:bodyPr>
          <a:lstStyle/>
          <a:p>
            <a:pPr>
              <a:lnSpc>
                <a:spcPct val="100000"/>
              </a:lnSpc>
            </a:pPr>
            <a:r>
              <a:rPr lang="en-US" altLang="zh-CN" sz="1200" b="0" kern="1200" baseline="0">
                <a:solidFill>
                  <a:schemeClr val="tx1"/>
                </a:solidFill>
                <a:latin typeface="+mj-lt"/>
                <a:ea typeface="微软雅黑" panose="020B0503020204020204" pitchFamily="34" charset="-122"/>
                <a:cs typeface="+mn-cs"/>
              </a:rPr>
              <a:t>ROI</a:t>
            </a:r>
            <a:r>
              <a:rPr lang="zh-CN" altLang="en-US" sz="1200" b="0" kern="1200" baseline="0">
                <a:solidFill>
                  <a:schemeClr val="tx1"/>
                </a:solidFill>
                <a:latin typeface="+mj-lt"/>
                <a:ea typeface="微软雅黑" panose="020B0503020204020204" pitchFamily="34" charset="-122"/>
                <a:cs typeface="+mn-cs"/>
              </a:rPr>
              <a:t>：</a:t>
            </a:r>
            <a:endParaRPr lang="en-US" altLang="zh-CN" sz="1200" b="0" kern="1200" baseline="0">
              <a:solidFill>
                <a:schemeClr val="tx1"/>
              </a:solidFill>
              <a:latin typeface="+mj-lt"/>
              <a:ea typeface="微软雅黑" panose="020B0503020204020204" pitchFamily="34" charset="-122"/>
              <a:cs typeface="+mn-cs"/>
            </a:endParaRPr>
          </a:p>
        </p:txBody>
      </p:sp>
      <p:sp>
        <p:nvSpPr>
          <p:cNvPr id="77" name="文本框 76"/>
          <p:cNvSpPr txBox="1"/>
          <p:nvPr userDrawn="1"/>
        </p:nvSpPr>
        <p:spPr>
          <a:xfrm>
            <a:off x="4338193" y="3741998"/>
            <a:ext cx="360000" cy="1693063"/>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專案範圍</a:t>
            </a:r>
            <a:endParaRPr lang="zh-CN" altLang="en-US" sz="1600" b="1" u="sng">
              <a:solidFill>
                <a:schemeClr val="bg1"/>
              </a:solidFill>
              <a:latin typeface="+mn-ea"/>
              <a:ea typeface="+mn-ea"/>
            </a:endParaRPr>
          </a:p>
        </p:txBody>
      </p:sp>
      <p:sp>
        <p:nvSpPr>
          <p:cNvPr id="81" name="文本框 80"/>
          <p:cNvSpPr txBox="1"/>
          <p:nvPr userDrawn="1"/>
        </p:nvSpPr>
        <p:spPr>
          <a:xfrm>
            <a:off x="270776" y="5497398"/>
            <a:ext cx="360000" cy="834023"/>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時</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程</a:t>
            </a:r>
          </a:p>
        </p:txBody>
      </p:sp>
      <p:sp>
        <p:nvSpPr>
          <p:cNvPr id="44" name="標題 1">
            <a:extLst>
              <a:ext uri="{FF2B5EF4-FFF2-40B4-BE49-F238E27FC236}">
                <a16:creationId xmlns:a16="http://schemas.microsoft.com/office/drawing/2014/main" id="{E8CA6B8E-EB08-4AB0-9768-E121F12ABA2B}"/>
              </a:ext>
            </a:extLst>
          </p:cNvPr>
          <p:cNvSpPr txBox="1">
            <a:spLocks/>
          </p:cNvSpPr>
          <p:nvPr userDrawn="1"/>
        </p:nvSpPr>
        <p:spPr>
          <a:xfrm>
            <a:off x="9904770" y="374733"/>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a:solidFill>
                  <a:schemeClr val="tx1"/>
                </a:solidFill>
                <a:latin typeface="+mn-ea"/>
                <a:ea typeface="+mn-ea"/>
              </a:rPr>
              <a:t>專案編號：</a:t>
            </a:r>
            <a:endParaRPr lang="en-US" sz="1200">
              <a:solidFill>
                <a:schemeClr val="tx1"/>
              </a:solidFill>
              <a:latin typeface="+mn-ea"/>
              <a:ea typeface="+mn-ea"/>
            </a:endParaRPr>
          </a:p>
        </p:txBody>
      </p:sp>
      <p:graphicFrame>
        <p:nvGraphicFramePr>
          <p:cNvPr id="49" name="表格 48"/>
          <p:cNvGraphicFramePr>
            <a:graphicFrameLocks noGrp="1"/>
          </p:cNvGraphicFramePr>
          <p:nvPr userDrawn="1"/>
        </p:nvGraphicFramePr>
        <p:xfrm>
          <a:off x="4843843" y="4574137"/>
          <a:ext cx="2273740" cy="834459"/>
        </p:xfrm>
        <a:graphic>
          <a:graphicData uri="http://schemas.openxmlformats.org/drawingml/2006/table">
            <a:tbl>
              <a:tblPr>
                <a:tableStyleId>{5C22544A-7EE6-4342-B048-85BDC9FD1C3A}</a:tableStyleId>
              </a:tblPr>
              <a:tblGrid>
                <a:gridCol w="1115420">
                  <a:extLst>
                    <a:ext uri="{9D8B030D-6E8A-4147-A177-3AD203B41FA5}">
                      <a16:colId xmlns:a16="http://schemas.microsoft.com/office/drawing/2014/main" val="3601475834"/>
                    </a:ext>
                  </a:extLst>
                </a:gridCol>
                <a:gridCol w="1158320">
                  <a:extLst>
                    <a:ext uri="{9D8B030D-6E8A-4147-A177-3AD203B41FA5}">
                      <a16:colId xmlns:a16="http://schemas.microsoft.com/office/drawing/2014/main" val="3963661121"/>
                    </a:ext>
                  </a:extLst>
                </a:gridCol>
              </a:tblGrid>
              <a:tr h="236004">
                <a:tc>
                  <a:txBody>
                    <a:bodyPr/>
                    <a:lstStyle/>
                    <a:p>
                      <a:pPr algn="l"/>
                      <a:r>
                        <a:rPr lang="zh-CN" altLang="en-US" sz="1200" b="1" kern="1200" baseline="0">
                          <a:solidFill>
                            <a:schemeClr val="tx1"/>
                          </a:solidFill>
                          <a:latin typeface="+mn-ea"/>
                          <a:ea typeface="+mn-ea"/>
                          <a:cs typeface="+mn-cs"/>
                        </a:rPr>
                        <a:t>     實施範圍</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200" b="1" kern="1200" baseline="0">
                          <a:solidFill>
                            <a:schemeClr val="tx1"/>
                          </a:solidFill>
                          <a:latin typeface="+mn-ea"/>
                          <a:ea typeface="+mn-ea"/>
                          <a:cs typeface="+mn-cs"/>
                        </a:rPr>
                        <a:t>     產出類型</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875191"/>
                  </a:ext>
                </a:extLst>
              </a:tr>
              <a:tr h="19948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多個廠區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系統平台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775297"/>
                  </a:ext>
                </a:extLst>
              </a:tr>
              <a:tr h="199485">
                <a:tc>
                  <a:txBody>
                    <a:bodyPr/>
                    <a:lstStyle/>
                    <a:p>
                      <a:pPr algn="l"/>
                      <a:r>
                        <a:rPr lang="zh-CN" altLang="en-US" sz="1100" b="0" kern="1200" baseline="0">
                          <a:solidFill>
                            <a:schemeClr val="tx1"/>
                          </a:solidFill>
                          <a:latin typeface="+mn-ea"/>
                          <a:ea typeface="+mn-ea"/>
                          <a:cs typeface="+mn-cs"/>
                        </a:rPr>
                        <a:t>○  單一廠區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軟件</a:t>
                      </a:r>
                      <a:r>
                        <a:rPr lang="en-US" altLang="zh-CN" sz="1100" b="0" kern="1200" baseline="0">
                          <a:solidFill>
                            <a:schemeClr val="tx1"/>
                          </a:solidFill>
                          <a:latin typeface="+mn-ea"/>
                          <a:ea typeface="+mn-ea"/>
                          <a:cs typeface="+mn-cs"/>
                        </a:rPr>
                        <a:t>/</a:t>
                      </a:r>
                      <a:r>
                        <a:rPr lang="zh-CN" altLang="en-US" sz="1100" b="0" kern="1200" baseline="0">
                          <a:solidFill>
                            <a:schemeClr val="tx1"/>
                          </a:solidFill>
                          <a:latin typeface="+mn-ea"/>
                          <a:ea typeface="+mn-ea"/>
                          <a:cs typeface="+mn-cs"/>
                        </a:rPr>
                        <a:t>規範</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5369103"/>
                  </a:ext>
                </a:extLst>
              </a:tr>
              <a:tr h="199485">
                <a:tc>
                  <a:txBody>
                    <a:bodyPr/>
                    <a:lstStyle/>
                    <a:p>
                      <a:pPr algn="l"/>
                      <a:r>
                        <a:rPr lang="zh-CN" altLang="en-US" sz="1100" b="0" kern="1200" baseline="0">
                          <a:solidFill>
                            <a:schemeClr val="tx1"/>
                          </a:solidFill>
                          <a:latin typeface="+mn-ea"/>
                          <a:ea typeface="+mn-ea"/>
                          <a:cs typeface="+mn-cs"/>
                        </a:rPr>
                        <a:t>○  單線</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硬件</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180558"/>
                  </a:ext>
                </a:extLst>
              </a:tr>
            </a:tbl>
          </a:graphicData>
        </a:graphic>
      </p:graphicFrame>
      <p:sp>
        <p:nvSpPr>
          <p:cNvPr id="5" name="矩形 4"/>
          <p:cNvSpPr/>
          <p:nvPr userDrawn="1"/>
        </p:nvSpPr>
        <p:spPr>
          <a:xfrm>
            <a:off x="5110263" y="3773937"/>
            <a:ext cx="518091" cy="276999"/>
          </a:xfrm>
          <a:prstGeom prst="rect">
            <a:avLst/>
          </a:prstGeom>
        </p:spPr>
        <p:txBody>
          <a:bodyPr wrap="none">
            <a:spAutoFit/>
          </a:bodyPr>
          <a:lstStyle/>
          <a:p>
            <a:r>
              <a:rPr kumimoji="0" lang="en-US" altLang="zh-CN" sz="1200" b="1" i="0" u="none" strike="noStrike" kern="1200" cap="none" spc="0" normalizeH="0" baseline="0" noProof="0">
                <a:ln>
                  <a:noFill/>
                </a:ln>
                <a:solidFill>
                  <a:schemeClr val="tx1"/>
                </a:solidFill>
                <a:effectLst/>
                <a:uLnTx/>
                <a:uFillTx/>
                <a:latin typeface="+mj-lt"/>
                <a:ea typeface="微软雅黑" panose="020B0503020204020204" pitchFamily="34" charset="-122"/>
                <a:cs typeface="+mn-cs"/>
              </a:rPr>
              <a:t>POC</a:t>
            </a:r>
            <a:endParaRPr lang="zh-CN" altLang="en-US" sz="1200" b="1">
              <a:solidFill>
                <a:schemeClr val="tx1"/>
              </a:solidFill>
              <a:latin typeface="+mj-lt"/>
            </a:endParaRPr>
          </a:p>
        </p:txBody>
      </p:sp>
      <p:graphicFrame>
        <p:nvGraphicFramePr>
          <p:cNvPr id="73" name="表格 72"/>
          <p:cNvGraphicFramePr>
            <a:graphicFrameLocks noGrp="1"/>
          </p:cNvGraphicFramePr>
          <p:nvPr userDrawn="1"/>
        </p:nvGraphicFramePr>
        <p:xfrm>
          <a:off x="1708205" y="5475683"/>
          <a:ext cx="10068931" cy="747840"/>
        </p:xfrm>
        <a:graphic>
          <a:graphicData uri="http://schemas.openxmlformats.org/drawingml/2006/table">
            <a:tbl>
              <a:tblPr firstRow="1">
                <a:tableStyleId>{5C22544A-7EE6-4342-B048-85BDC9FD1C3A}</a:tableStyleId>
              </a:tblPr>
              <a:tblGrid>
                <a:gridCol w="1194619">
                  <a:extLst>
                    <a:ext uri="{9D8B030D-6E8A-4147-A177-3AD203B41FA5}">
                      <a16:colId xmlns:a16="http://schemas.microsoft.com/office/drawing/2014/main" val="1364975805"/>
                    </a:ext>
                  </a:extLst>
                </a:gridCol>
                <a:gridCol w="1109289">
                  <a:extLst>
                    <a:ext uri="{9D8B030D-6E8A-4147-A177-3AD203B41FA5}">
                      <a16:colId xmlns:a16="http://schemas.microsoft.com/office/drawing/2014/main" val="598168328"/>
                    </a:ext>
                  </a:extLst>
                </a:gridCol>
                <a:gridCol w="1109289">
                  <a:extLst>
                    <a:ext uri="{9D8B030D-6E8A-4147-A177-3AD203B41FA5}">
                      <a16:colId xmlns:a16="http://schemas.microsoft.com/office/drawing/2014/main" val="3996203012"/>
                    </a:ext>
                  </a:extLst>
                </a:gridCol>
                <a:gridCol w="1109289">
                  <a:extLst>
                    <a:ext uri="{9D8B030D-6E8A-4147-A177-3AD203B41FA5}">
                      <a16:colId xmlns:a16="http://schemas.microsoft.com/office/drawing/2014/main" val="8965765"/>
                    </a:ext>
                  </a:extLst>
                </a:gridCol>
                <a:gridCol w="1109289">
                  <a:extLst>
                    <a:ext uri="{9D8B030D-6E8A-4147-A177-3AD203B41FA5}">
                      <a16:colId xmlns:a16="http://schemas.microsoft.com/office/drawing/2014/main" val="3018412842"/>
                    </a:ext>
                  </a:extLst>
                </a:gridCol>
                <a:gridCol w="1109289">
                  <a:extLst>
                    <a:ext uri="{9D8B030D-6E8A-4147-A177-3AD203B41FA5}">
                      <a16:colId xmlns:a16="http://schemas.microsoft.com/office/drawing/2014/main" val="1610061165"/>
                    </a:ext>
                  </a:extLst>
                </a:gridCol>
                <a:gridCol w="1109289">
                  <a:extLst>
                    <a:ext uri="{9D8B030D-6E8A-4147-A177-3AD203B41FA5}">
                      <a16:colId xmlns:a16="http://schemas.microsoft.com/office/drawing/2014/main" val="2837564109"/>
                    </a:ext>
                  </a:extLst>
                </a:gridCol>
                <a:gridCol w="1109289">
                  <a:extLst>
                    <a:ext uri="{9D8B030D-6E8A-4147-A177-3AD203B41FA5}">
                      <a16:colId xmlns:a16="http://schemas.microsoft.com/office/drawing/2014/main" val="627612840"/>
                    </a:ext>
                  </a:extLst>
                </a:gridCol>
                <a:gridCol w="1109289">
                  <a:extLst>
                    <a:ext uri="{9D8B030D-6E8A-4147-A177-3AD203B41FA5}">
                      <a16:colId xmlns:a16="http://schemas.microsoft.com/office/drawing/2014/main" val="2411478032"/>
                    </a:ext>
                  </a:extLst>
                </a:gridCol>
              </a:tblGrid>
              <a:tr h="504000">
                <a:tc>
                  <a:txBody>
                    <a:bodyPr/>
                    <a:lstStyle/>
                    <a:p>
                      <a:pPr algn="ctr">
                        <a:lnSpc>
                          <a:spcPct val="100000"/>
                        </a:lnSpc>
                      </a:pPr>
                      <a:r>
                        <a:rPr lang="en-US" altLang="zh-TW" sz="1200" b="1" kern="1200">
                          <a:solidFill>
                            <a:schemeClr val="tx1"/>
                          </a:solidFill>
                          <a:latin typeface="+mj-lt"/>
                          <a:ea typeface="微软雅黑" panose="020B0503020204020204" pitchFamily="34" charset="-122"/>
                          <a:cs typeface="+mn-cs"/>
                        </a:rPr>
                        <a:t>Milestone</a:t>
                      </a:r>
                    </a:p>
                  </a:txBody>
                  <a:tcPr marL="0" marR="0" marT="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377" rtl="0" eaLnBrk="1" latinLnBrk="0" hangingPunct="1">
                        <a:lnSpc>
                          <a:spcPct val="100000"/>
                        </a:lnSpc>
                      </a:pPr>
                      <a:r>
                        <a:rPr lang="en-US" altLang="zh-TW" sz="1200" b="1" kern="1200">
                          <a:solidFill>
                            <a:schemeClr val="tx1"/>
                          </a:solidFill>
                          <a:latin typeface="+mn-lt"/>
                          <a:ea typeface="+mn-ea"/>
                          <a:cs typeface="+mn-cs"/>
                        </a:rPr>
                        <a:t>M1</a:t>
                      </a:r>
                    </a:p>
                    <a:p>
                      <a:pPr marL="0" algn="ctr" defTabSz="914377" rtl="0" eaLnBrk="1" latinLnBrk="0" hangingPunct="1">
                        <a:lnSpc>
                          <a:spcPct val="100000"/>
                        </a:lnSpc>
                      </a:pPr>
                      <a:r>
                        <a:rPr lang="zh-TW" altLang="en-US" sz="1200" b="0" kern="1200">
                          <a:solidFill>
                            <a:schemeClr val="tx1"/>
                          </a:solidFill>
                          <a:latin typeface="+mn-lt"/>
                          <a:ea typeface="+mn-ea"/>
                          <a:cs typeface="+mn-cs"/>
                        </a:rPr>
                        <a:t>需求評估</a:t>
                      </a:r>
                      <a:endParaRPr lang="en-US"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tx1"/>
                          </a:solidFill>
                          <a:latin typeface="+mn-lt"/>
                          <a:ea typeface="+mn-ea"/>
                          <a:cs typeface="+mn-cs"/>
                        </a:rPr>
                        <a:t>M2</a:t>
                      </a:r>
                    </a:p>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0" kern="1200">
                          <a:solidFill>
                            <a:schemeClr val="tx1"/>
                          </a:solidFill>
                          <a:latin typeface="+mn-lt"/>
                          <a:ea typeface="+mn-ea"/>
                          <a:cs typeface="+mn-cs"/>
                        </a:rPr>
                        <a:t>概念設計</a:t>
                      </a:r>
                      <a:endParaRPr lang="en-US" altLang="zh-CN"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spcAft>
                          <a:spcPts val="0"/>
                        </a:spcAft>
                      </a:pPr>
                      <a:r>
                        <a:rPr lang="en-US" altLang="zh-TW" sz="1200" b="1" kern="1200">
                          <a:solidFill>
                            <a:schemeClr val="tx1"/>
                          </a:solidFill>
                          <a:latin typeface="+mn-lt"/>
                          <a:ea typeface="+mn-ea"/>
                          <a:cs typeface="+mn-cs"/>
                        </a:rPr>
                        <a:t>M3</a:t>
                      </a:r>
                    </a:p>
                    <a:p>
                      <a:pPr marL="0" algn="ctr" defTabSz="914377" rtl="0" eaLnBrk="1" latinLnBrk="0" hangingPunct="1">
                        <a:lnSpc>
                          <a:spcPct val="100000"/>
                        </a:lnSpc>
                        <a:spcAft>
                          <a:spcPts val="0"/>
                        </a:spcAft>
                      </a:pPr>
                      <a:r>
                        <a:rPr lang="zh-TW" altLang="en-US" sz="1200" b="0" kern="1200">
                          <a:solidFill>
                            <a:schemeClr val="tx1"/>
                          </a:solidFill>
                          <a:latin typeface="+mn-lt"/>
                          <a:ea typeface="+mn-ea"/>
                          <a:cs typeface="+mn-cs"/>
                        </a:rPr>
                        <a:t>細部設計</a:t>
                      </a:r>
                      <a:endParaRPr lang="en-US"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pPr>
                      <a:r>
                        <a:rPr lang="en-US" altLang="zh-TW" sz="1200" b="1" kern="1200">
                          <a:solidFill>
                            <a:schemeClr val="tx1"/>
                          </a:solidFill>
                          <a:latin typeface="+mn-lt"/>
                          <a:ea typeface="+mn-ea"/>
                          <a:cs typeface="+mn-cs"/>
                        </a:rPr>
                        <a:t>M4</a:t>
                      </a:r>
                    </a:p>
                    <a:p>
                      <a:pPr marL="0" lvl="0" algn="ctr" defTabSz="914377" rtl="0" eaLnBrk="1" latinLnBrk="0" hangingPunct="1">
                        <a:lnSpc>
                          <a:spcPct val="100000"/>
                        </a:lnSpc>
                      </a:pPr>
                      <a:r>
                        <a:rPr lang="zh-CN" altLang="en-US" sz="1200" b="0" kern="1200">
                          <a:solidFill>
                            <a:schemeClr val="tx1"/>
                          </a:solidFill>
                          <a:latin typeface="+mn-lt"/>
                          <a:ea typeface="+mn-ea"/>
                          <a:cs typeface="+mn-cs"/>
                        </a:rPr>
                        <a:t>原型驗證</a:t>
                      </a:r>
                      <a:endParaRPr lang="zh-TW"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defRPr/>
                      </a:pPr>
                      <a:r>
                        <a:rPr lang="en-US" altLang="zh-TW" sz="1200" b="1" kern="1200">
                          <a:solidFill>
                            <a:schemeClr val="tx1"/>
                          </a:solidFill>
                          <a:latin typeface="+mn-lt"/>
                          <a:ea typeface="+mn-ea"/>
                          <a:cs typeface="+mn-cs"/>
                        </a:rPr>
                        <a:t>M5</a:t>
                      </a:r>
                    </a:p>
                    <a:p>
                      <a:pPr marL="0" lvl="0" algn="ctr" defTabSz="914377" rtl="0" eaLnBrk="1" latinLnBrk="0" hangingPunct="1">
                        <a:lnSpc>
                          <a:spcPct val="100000"/>
                        </a:lnSpc>
                        <a:defRPr/>
                      </a:pPr>
                      <a:r>
                        <a:rPr lang="zh-CN" altLang="en-US" sz="1200" b="0" kern="1200">
                          <a:solidFill>
                            <a:schemeClr val="tx1"/>
                          </a:solidFill>
                          <a:latin typeface="+mn-lt"/>
                          <a:ea typeface="+mn-ea"/>
                          <a:cs typeface="+mn-cs"/>
                        </a:rPr>
                        <a:t>場驗</a:t>
                      </a:r>
                      <a:endParaRPr lang="en-US"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a:solidFill>
                            <a:schemeClr val="tx1"/>
                          </a:solidFill>
                          <a:latin typeface="+mn-lt"/>
                          <a:ea typeface="+mn-ea"/>
                          <a:cs typeface="+mn-cs"/>
                        </a:rPr>
                        <a:t>M6</a:t>
                      </a:r>
                    </a:p>
                    <a:p>
                      <a:pPr marL="0" algn="ctr" defTabSz="914377" rtl="0" eaLnBrk="1" latinLnBrk="0" hangingPunct="1">
                        <a:lnSpc>
                          <a:spcPct val="100000"/>
                        </a:lnSpc>
                        <a:defRPr/>
                      </a:pPr>
                      <a:r>
                        <a:rPr lang="zh-TW" altLang="en-US" sz="1200" b="0" kern="1200">
                          <a:solidFill>
                            <a:schemeClr val="tx1"/>
                          </a:solidFill>
                          <a:latin typeface="+mn-lt"/>
                          <a:ea typeface="+mn-ea"/>
                          <a:cs typeface="+mn-cs"/>
                        </a:rPr>
                        <a:t>資訊流標準化</a:t>
                      </a:r>
                      <a:endParaRPr lang="zh-CN" altLang="en-US"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tx1"/>
                          </a:solidFill>
                          <a:latin typeface="+mn-lt"/>
                          <a:ea typeface="+mn-ea"/>
                          <a:cs typeface="+mn-cs"/>
                        </a:rPr>
                        <a:t>M7</a:t>
                      </a:r>
                    </a:p>
                    <a:p>
                      <a:pPr marL="0" marR="0" indent="0" algn="ctr" defTabSz="914377" rtl="0" eaLnBrk="1" fontAlgn="auto" latinLnBrk="0" hangingPunct="1">
                        <a:lnSpc>
                          <a:spcPct val="100000"/>
                        </a:lnSpc>
                        <a:spcBef>
                          <a:spcPts val="0"/>
                        </a:spcBef>
                        <a:spcAft>
                          <a:spcPts val="0"/>
                        </a:spcAft>
                        <a:buClrTx/>
                        <a:buSzTx/>
                        <a:buFontTx/>
                        <a:buNone/>
                        <a:tabLst/>
                        <a:defRPr/>
                      </a:pPr>
                      <a:r>
                        <a:rPr lang="zh-TW" altLang="en-US" sz="1200" b="0" kern="1200">
                          <a:solidFill>
                            <a:schemeClr val="tx1"/>
                          </a:solidFill>
                          <a:latin typeface="+mn-lt"/>
                          <a:ea typeface="+mn-ea"/>
                          <a:cs typeface="+mn-cs"/>
                        </a:rPr>
                        <a:t>落地規劃</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a:solidFill>
                            <a:schemeClr val="tx1"/>
                          </a:solidFill>
                          <a:latin typeface="+mn-lt"/>
                          <a:ea typeface="+mn-ea"/>
                          <a:cs typeface="+mn-cs"/>
                        </a:rPr>
                        <a:t>M8</a:t>
                      </a:r>
                    </a:p>
                    <a:p>
                      <a:pPr marL="0" algn="ctr" defTabSz="914377" rtl="0" eaLnBrk="1" latinLnBrk="0" hangingPunct="1">
                        <a:lnSpc>
                          <a:spcPct val="100000"/>
                        </a:lnSpc>
                        <a:defRPr/>
                      </a:pPr>
                      <a:r>
                        <a:rPr lang="zh-TW" altLang="en-US" sz="1200" b="0" kern="1200">
                          <a:solidFill>
                            <a:schemeClr val="tx1"/>
                          </a:solidFill>
                          <a:latin typeface="+mn-lt"/>
                          <a:ea typeface="+mn-ea"/>
                          <a:cs typeface="+mn-cs"/>
                        </a:rPr>
                        <a:t>落地檢核</a:t>
                      </a:r>
                      <a:endParaRPr lang="zh-CN" altLang="en-US"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3771765"/>
                  </a:ext>
                </a:extLst>
              </a:tr>
              <a:tr h="243840">
                <a:tc>
                  <a:txBody>
                    <a:bodyPr/>
                    <a:lstStyle/>
                    <a:p>
                      <a:pPr algn="ctr">
                        <a:lnSpc>
                          <a:spcPct val="100000"/>
                        </a:lnSpc>
                      </a:pPr>
                      <a:r>
                        <a:rPr lang="en-US" altLang="zh-CN" sz="1200" b="1">
                          <a:solidFill>
                            <a:schemeClr val="tx1"/>
                          </a:solidFill>
                          <a:latin typeface="+mj-lt"/>
                          <a:ea typeface="+mn-ea"/>
                        </a:rPr>
                        <a:t>Due</a:t>
                      </a:r>
                      <a:r>
                        <a:rPr lang="zh-CN" altLang="en-US" sz="1200" b="1" baseline="0">
                          <a:solidFill>
                            <a:schemeClr val="tx1"/>
                          </a:solidFill>
                          <a:latin typeface="+mj-lt"/>
                          <a:ea typeface="+mn-ea"/>
                        </a:rPr>
                        <a:t> </a:t>
                      </a:r>
                      <a:r>
                        <a:rPr lang="en-US" altLang="zh-CN" sz="1200" b="1" baseline="0">
                          <a:solidFill>
                            <a:schemeClr val="tx1"/>
                          </a:solidFill>
                          <a:latin typeface="+mj-lt"/>
                          <a:ea typeface="+mn-ea"/>
                        </a:rPr>
                        <a:t>date</a:t>
                      </a:r>
                      <a:endParaRPr lang="en-US" altLang="zh-CN" sz="1200" b="1">
                        <a:solidFill>
                          <a:schemeClr val="tx1"/>
                        </a:solidFill>
                        <a:latin typeface="+mj-lt"/>
                        <a:ea typeface="+mn-ea"/>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CN" altLang="en-US" sz="1600" b="0">
                        <a:solidFill>
                          <a:schemeClr val="tx1"/>
                        </a:solidFill>
                        <a:latin typeface="+mj-lt"/>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4082158"/>
                  </a:ext>
                </a:extLst>
              </a:tr>
            </a:tbl>
          </a:graphicData>
        </a:graphic>
      </p:graphicFrame>
      <p:cxnSp>
        <p:nvCxnSpPr>
          <p:cNvPr id="74" name="直接连接符 73"/>
          <p:cNvCxnSpPr/>
          <p:nvPr userDrawn="1"/>
        </p:nvCxnSpPr>
        <p:spPr>
          <a:xfrm flipH="1">
            <a:off x="-3" y="5462265"/>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9" name="標題 1">
            <a:extLst>
              <a:ext uri="{FF2B5EF4-FFF2-40B4-BE49-F238E27FC236}">
                <a16:creationId xmlns:a16="http://schemas.microsoft.com/office/drawing/2014/main" id="{E8CA6B8E-EB08-4AB0-9768-E121F12ABA2B}"/>
              </a:ext>
            </a:extLst>
          </p:cNvPr>
          <p:cNvSpPr txBox="1">
            <a:spLocks/>
          </p:cNvSpPr>
          <p:nvPr userDrawn="1"/>
        </p:nvSpPr>
        <p:spPr>
          <a:xfrm>
            <a:off x="9904769" y="172486"/>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a:solidFill>
                  <a:schemeClr val="tx1"/>
                </a:solidFill>
                <a:latin typeface="+mn-ea"/>
                <a:ea typeface="+mn-ea"/>
              </a:rPr>
              <a:t>專案屬性：</a:t>
            </a:r>
            <a:endParaRPr lang="en-US" sz="1200">
              <a:solidFill>
                <a:schemeClr val="tx1"/>
              </a:solidFill>
              <a:latin typeface="+mn-ea"/>
              <a:ea typeface="+mn-ea"/>
            </a:endParaRPr>
          </a:p>
        </p:txBody>
      </p:sp>
      <p:sp>
        <p:nvSpPr>
          <p:cNvPr id="41" name="文本框 80">
            <a:extLst>
              <a:ext uri="{FF2B5EF4-FFF2-40B4-BE49-F238E27FC236}">
                <a16:creationId xmlns:a16="http://schemas.microsoft.com/office/drawing/2014/main" id="{CE4A5CD4-18D6-442A-8251-0B27565425B3}"/>
              </a:ext>
            </a:extLst>
          </p:cNvPr>
          <p:cNvSpPr txBox="1"/>
          <p:nvPr userDrawn="1"/>
        </p:nvSpPr>
        <p:spPr>
          <a:xfrm>
            <a:off x="942943" y="6001110"/>
            <a:ext cx="457368" cy="211767"/>
          </a:xfrm>
          <a:prstGeom prst="rect">
            <a:avLst/>
          </a:prstGeom>
          <a:noFill/>
          <a:ln>
            <a:noFill/>
          </a:ln>
        </p:spPr>
        <p:txBody>
          <a:bodyPr wrap="none" lIns="36000" tIns="0" rIns="36000" bIns="0" rtlCol="0" anchor="t" anchorCtr="0">
            <a:noAutofit/>
          </a:bodyPr>
          <a:lstStyle/>
          <a:p>
            <a:pPr algn="ctr"/>
            <a:r>
              <a:rPr lang="zh-CN" altLang="en-US" sz="1400" b="1">
                <a:solidFill>
                  <a:schemeClr val="tx1"/>
                </a:solidFill>
                <a:latin typeface="+mn-ea"/>
                <a:ea typeface="+mn-ea"/>
              </a:rPr>
              <a:t>天</a:t>
            </a:r>
          </a:p>
        </p:txBody>
      </p:sp>
      <p:cxnSp>
        <p:nvCxnSpPr>
          <p:cNvPr id="48" name="直接连接符 73">
            <a:extLst>
              <a:ext uri="{FF2B5EF4-FFF2-40B4-BE49-F238E27FC236}">
                <a16:creationId xmlns:a16="http://schemas.microsoft.com/office/drawing/2014/main" id="{260BD545-25F4-463E-914E-4B2E7F5D5FE7}"/>
              </a:ext>
            </a:extLst>
          </p:cNvPr>
          <p:cNvCxnSpPr/>
          <p:nvPr userDrawn="1"/>
        </p:nvCxnSpPr>
        <p:spPr>
          <a:xfrm flipH="1">
            <a:off x="-3" y="3711691"/>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5" name="文本框 76">
            <a:extLst>
              <a:ext uri="{FF2B5EF4-FFF2-40B4-BE49-F238E27FC236}">
                <a16:creationId xmlns:a16="http://schemas.microsoft.com/office/drawing/2014/main" id="{412770B5-2D22-4757-B0F9-827C620D34C0}"/>
              </a:ext>
            </a:extLst>
          </p:cNvPr>
          <p:cNvSpPr txBox="1"/>
          <p:nvPr userDrawn="1"/>
        </p:nvSpPr>
        <p:spPr>
          <a:xfrm>
            <a:off x="7229261" y="3741999"/>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專案效益</a:t>
            </a:r>
            <a:endParaRPr lang="zh-CN" altLang="en-US" sz="1600" b="1" u="sng">
              <a:solidFill>
                <a:schemeClr val="bg1"/>
              </a:solidFill>
              <a:latin typeface="+mn-ea"/>
              <a:ea typeface="+mn-ea"/>
            </a:endParaRPr>
          </a:p>
        </p:txBody>
      </p:sp>
      <p:sp>
        <p:nvSpPr>
          <p:cNvPr id="79" name="矩形 78">
            <a:extLst>
              <a:ext uri="{FF2B5EF4-FFF2-40B4-BE49-F238E27FC236}">
                <a16:creationId xmlns:a16="http://schemas.microsoft.com/office/drawing/2014/main" id="{74B93A32-4EBD-4EAA-9EBE-60BA29C04118}"/>
              </a:ext>
            </a:extLst>
          </p:cNvPr>
          <p:cNvSpPr/>
          <p:nvPr userDrawn="1"/>
        </p:nvSpPr>
        <p:spPr>
          <a:xfrm>
            <a:off x="6243413" y="3773937"/>
            <a:ext cx="492443" cy="276999"/>
          </a:xfrm>
          <a:prstGeom prst="rect">
            <a:avLst/>
          </a:prstGeom>
        </p:spPr>
        <p:txBody>
          <a:bodyPr wrap="none">
            <a:spAutoFit/>
          </a:bodyPr>
          <a:lstStyle/>
          <a:p>
            <a:r>
              <a:rPr kumimoji="0" lang="zh-CN" altLang="en-US" sz="1200" b="1" i="0" u="none" strike="noStrike" kern="1200" cap="none" spc="0" normalizeH="0" baseline="0" noProof="0">
                <a:ln>
                  <a:noFill/>
                </a:ln>
                <a:solidFill>
                  <a:schemeClr val="tx1"/>
                </a:solidFill>
                <a:effectLst/>
                <a:uLnTx/>
                <a:uFillTx/>
                <a:latin typeface="+mn-ea"/>
                <a:ea typeface="+mn-ea"/>
                <a:cs typeface="+mn-cs"/>
              </a:rPr>
              <a:t>落地</a:t>
            </a:r>
            <a:endParaRPr lang="zh-CN" altLang="en-US" sz="1200" b="1">
              <a:solidFill>
                <a:schemeClr val="tx1"/>
              </a:solidFill>
              <a:latin typeface="+mn-ea"/>
              <a:ea typeface="+mn-ea"/>
            </a:endParaRPr>
          </a:p>
        </p:txBody>
      </p:sp>
      <p:sp>
        <p:nvSpPr>
          <p:cNvPr id="13" name="矩形 12">
            <a:extLst>
              <a:ext uri="{FF2B5EF4-FFF2-40B4-BE49-F238E27FC236}">
                <a16:creationId xmlns:a16="http://schemas.microsoft.com/office/drawing/2014/main" id="{DB237AD2-C320-4A06-AA5B-DFCAEB5BB200}"/>
              </a:ext>
            </a:extLst>
          </p:cNvPr>
          <p:cNvSpPr/>
          <p:nvPr userDrawn="1"/>
        </p:nvSpPr>
        <p:spPr>
          <a:xfrm>
            <a:off x="8616155" y="3829575"/>
            <a:ext cx="1007327" cy="276999"/>
          </a:xfrm>
          <a:prstGeom prst="rect">
            <a:avLst/>
          </a:prstGeom>
        </p:spPr>
        <p:txBody>
          <a:bodyPr wrap="non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KUSD/Year </a:t>
            </a:r>
          </a:p>
        </p:txBody>
      </p:sp>
      <p:sp>
        <p:nvSpPr>
          <p:cNvPr id="15" name="矩形 14">
            <a:extLst>
              <a:ext uri="{FF2B5EF4-FFF2-40B4-BE49-F238E27FC236}">
                <a16:creationId xmlns:a16="http://schemas.microsoft.com/office/drawing/2014/main" id="{A2D2403B-89BC-4F21-8E00-B9F06CF42EF0}"/>
              </a:ext>
            </a:extLst>
          </p:cNvPr>
          <p:cNvSpPr/>
          <p:nvPr userDrawn="1"/>
        </p:nvSpPr>
        <p:spPr>
          <a:xfrm>
            <a:off x="10875240" y="3822095"/>
            <a:ext cx="537648" cy="276999"/>
          </a:xfrm>
          <a:prstGeom prst="rect">
            <a:avLst/>
          </a:prstGeom>
        </p:spPr>
        <p:txBody>
          <a:bodyPr wrap="none">
            <a:spAutoFit/>
          </a:bodyPr>
          <a:lstStyle/>
          <a:p>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lang="zh-TW" altLang="en-US" sz="1800" b="0">
              <a:solidFill>
                <a:schemeClr val="tx1"/>
              </a:solidFill>
            </a:endParaRPr>
          </a:p>
        </p:txBody>
      </p:sp>
      <p:sp>
        <p:nvSpPr>
          <p:cNvPr id="94" name="文本框 76">
            <a:extLst>
              <a:ext uri="{FF2B5EF4-FFF2-40B4-BE49-F238E27FC236}">
                <a16:creationId xmlns:a16="http://schemas.microsoft.com/office/drawing/2014/main" id="{5E299125-23C7-45ED-9CD0-F792DF9E67D7}"/>
              </a:ext>
            </a:extLst>
          </p:cNvPr>
          <p:cNvSpPr txBox="1"/>
          <p:nvPr userDrawn="1"/>
        </p:nvSpPr>
        <p:spPr>
          <a:xfrm>
            <a:off x="270776" y="3742863"/>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專案團隊</a:t>
            </a:r>
            <a:endParaRPr lang="zh-CN" altLang="en-US" sz="1600" b="1" u="sng">
              <a:solidFill>
                <a:schemeClr val="bg1"/>
              </a:solidFill>
              <a:latin typeface="+mn-ea"/>
              <a:ea typeface="+mn-ea"/>
            </a:endParaRPr>
          </a:p>
        </p:txBody>
      </p:sp>
      <p:cxnSp>
        <p:nvCxnSpPr>
          <p:cNvPr id="95" name="直接连接符 73">
            <a:extLst>
              <a:ext uri="{FF2B5EF4-FFF2-40B4-BE49-F238E27FC236}">
                <a16:creationId xmlns:a16="http://schemas.microsoft.com/office/drawing/2014/main" id="{E3D9E4B4-7C32-4F6D-B760-7606B45ECC9B}"/>
              </a:ext>
            </a:extLst>
          </p:cNvPr>
          <p:cNvCxnSpPr/>
          <p:nvPr userDrawn="1"/>
        </p:nvCxnSpPr>
        <p:spPr>
          <a:xfrm flipH="1">
            <a:off x="-3"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文本框 24"/>
          <p:cNvSpPr txBox="1"/>
          <p:nvPr userDrawn="1"/>
        </p:nvSpPr>
        <p:spPr>
          <a:xfrm>
            <a:off x="270776" y="753697"/>
            <a:ext cx="360000" cy="2934000"/>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需</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求</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與</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目</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標</a:t>
            </a:r>
          </a:p>
        </p:txBody>
      </p:sp>
      <p:sp>
        <p:nvSpPr>
          <p:cNvPr id="87" name="文本框 86"/>
          <p:cNvSpPr txBox="1"/>
          <p:nvPr userDrawn="1"/>
        </p:nvSpPr>
        <p:spPr>
          <a:xfrm>
            <a:off x="5566935" y="753697"/>
            <a:ext cx="360000" cy="2934000"/>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挑</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戰</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與</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解</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決</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方</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案</a:t>
            </a:r>
          </a:p>
        </p:txBody>
      </p:sp>
      <p:sp>
        <p:nvSpPr>
          <p:cNvPr id="21" name="等腰三角形 20">
            <a:extLst>
              <a:ext uri="{FF2B5EF4-FFF2-40B4-BE49-F238E27FC236}">
                <a16:creationId xmlns:a16="http://schemas.microsoft.com/office/drawing/2014/main" id="{0F94FA73-696E-4585-96A5-3EA8EEDFE197}"/>
              </a:ext>
            </a:extLst>
          </p:cNvPr>
          <p:cNvSpPr/>
          <p:nvPr userDrawn="1"/>
        </p:nvSpPr>
        <p:spPr>
          <a:xfrm rot="5400000">
            <a:off x="2645908" y="568363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105" name="等腰三角形 104">
            <a:extLst>
              <a:ext uri="{FF2B5EF4-FFF2-40B4-BE49-F238E27FC236}">
                <a16:creationId xmlns:a16="http://schemas.microsoft.com/office/drawing/2014/main" id="{230A3365-B0E2-46E8-90A4-D92B50D29BC0}"/>
              </a:ext>
            </a:extLst>
          </p:cNvPr>
          <p:cNvSpPr/>
          <p:nvPr userDrawn="1"/>
        </p:nvSpPr>
        <p:spPr>
          <a:xfrm rot="5400000">
            <a:off x="2645908" y="607977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6" name="標題 1">
            <a:extLst>
              <a:ext uri="{FF2B5EF4-FFF2-40B4-BE49-F238E27FC236}">
                <a16:creationId xmlns:a16="http://schemas.microsoft.com/office/drawing/2014/main" id="{874D4825-8DCA-4167-9242-B1829510756A}"/>
              </a:ext>
            </a:extLst>
          </p:cNvPr>
          <p:cNvSpPr txBox="1">
            <a:spLocks/>
          </p:cNvSpPr>
          <p:nvPr userDrawn="1"/>
        </p:nvSpPr>
        <p:spPr>
          <a:xfrm>
            <a:off x="485067" y="374733"/>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a:solidFill>
                  <a:schemeClr val="tx1"/>
                </a:solidFill>
                <a:latin typeface="+mj-lt"/>
                <a:ea typeface="+mn-ea"/>
              </a:rPr>
              <a:t>PM</a:t>
            </a:r>
            <a:r>
              <a:rPr lang="zh-CN" altLang="en-US" sz="1400">
                <a:solidFill>
                  <a:schemeClr val="tx1"/>
                </a:solidFill>
                <a:latin typeface="+mj-lt"/>
                <a:ea typeface="+mn-ea"/>
              </a:rPr>
              <a:t>：</a:t>
            </a:r>
            <a:endParaRPr lang="en-US" sz="1400">
              <a:solidFill>
                <a:schemeClr val="tx1"/>
              </a:solidFill>
              <a:latin typeface="+mj-lt"/>
              <a:ea typeface="+mn-ea"/>
            </a:endParaRPr>
          </a:p>
        </p:txBody>
      </p:sp>
      <p:sp>
        <p:nvSpPr>
          <p:cNvPr id="47" name="標題 1">
            <a:extLst>
              <a:ext uri="{FF2B5EF4-FFF2-40B4-BE49-F238E27FC236}">
                <a16:creationId xmlns:a16="http://schemas.microsoft.com/office/drawing/2014/main" id="{CA67BEDC-D239-4ED3-862E-B642F84DA4A2}"/>
              </a:ext>
            </a:extLst>
          </p:cNvPr>
          <p:cNvSpPr txBox="1">
            <a:spLocks/>
          </p:cNvSpPr>
          <p:nvPr userDrawn="1"/>
        </p:nvSpPr>
        <p:spPr>
          <a:xfrm>
            <a:off x="302186" y="142006"/>
            <a:ext cx="1760295"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a:solidFill>
                  <a:schemeClr val="tx1"/>
                </a:solidFill>
                <a:latin typeface="+mn-lt"/>
                <a:ea typeface="+mn-ea"/>
              </a:rPr>
              <a:t>Team</a:t>
            </a:r>
            <a:r>
              <a:rPr lang="zh-CN" altLang="en-US" sz="1400">
                <a:solidFill>
                  <a:schemeClr val="tx1"/>
                </a:solidFill>
                <a:latin typeface="+mn-ea"/>
                <a:ea typeface="+mn-ea"/>
              </a:rPr>
              <a:t>：</a:t>
            </a:r>
            <a:r>
              <a:rPr lang="en-US" altLang="zh-CN" sz="1400">
                <a:solidFill>
                  <a:schemeClr val="tx1"/>
                </a:solidFill>
                <a:latin typeface="+mj-lt"/>
                <a:ea typeface="+mn-ea"/>
              </a:rPr>
              <a:t>Core</a:t>
            </a:r>
            <a:endParaRPr lang="en-US" sz="1400">
              <a:solidFill>
                <a:schemeClr val="tx1"/>
              </a:solidFill>
              <a:latin typeface="+mj-lt"/>
              <a:ea typeface="+mn-ea"/>
            </a:endParaRPr>
          </a:p>
        </p:txBody>
      </p:sp>
    </p:spTree>
    <p:extLst>
      <p:ext uri="{BB962C8B-B14F-4D97-AF65-F5344CB8AC3E}">
        <p14:creationId xmlns:p14="http://schemas.microsoft.com/office/powerpoint/2010/main" val="4054579251"/>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Software/Platform">
    <p:bg>
      <p:bgPr>
        <a:solidFill>
          <a:schemeClr val="bg1"/>
        </a:solidFill>
        <a:effectLst/>
      </p:bgPr>
    </p:bg>
    <p:spTree>
      <p:nvGrpSpPr>
        <p:cNvPr id="1" name=""/>
        <p:cNvGrpSpPr/>
        <p:nvPr/>
      </p:nvGrpSpPr>
      <p:grpSpPr>
        <a:xfrm>
          <a:off x="0" y="0"/>
          <a:ext cx="0" cy="0"/>
          <a:chOff x="0" y="0"/>
          <a:chExt cx="0" cy="0"/>
        </a:xfrm>
      </p:grpSpPr>
      <p:sp>
        <p:nvSpPr>
          <p:cNvPr id="52" name="文字方塊 51">
            <a:extLst>
              <a:ext uri="{FF2B5EF4-FFF2-40B4-BE49-F238E27FC236}">
                <a16:creationId xmlns:a16="http://schemas.microsoft.com/office/drawing/2014/main" id="{4EB72046-7EFA-4D5B-9003-30F89B1D91A8}"/>
              </a:ext>
            </a:extLst>
          </p:cNvPr>
          <p:cNvSpPr txBox="1"/>
          <p:nvPr userDrawn="1"/>
        </p:nvSpPr>
        <p:spPr>
          <a:xfrm>
            <a:off x="146507" y="6382218"/>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61947" y="6432017"/>
            <a:ext cx="1191352" cy="246221"/>
          </a:xfrm>
          <a:prstGeom prst="rect">
            <a:avLst/>
          </a:prstGeom>
          <a:noFill/>
        </p:spPr>
        <p:txBody>
          <a:bodyPr wrap="none" rtlCol="0">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55" name="Image" descr="Image">
            <a:extLst>
              <a:ext uri="{FF2B5EF4-FFF2-40B4-BE49-F238E27FC236}">
                <a16:creationId xmlns:a16="http://schemas.microsoft.com/office/drawing/2014/main" id="{3FD067EA-3F6A-4BD1-B5C3-F883F3BD8FAC}"/>
              </a:ext>
            </a:extLst>
          </p:cNvPr>
          <p:cNvPicPr>
            <a:picLocks noChangeAspect="1"/>
          </p:cNvPicPr>
          <p:nvPr userDrawn="1"/>
        </p:nvPicPr>
        <p:blipFill>
          <a:blip r:embed="rId2"/>
          <a:stretch>
            <a:fillRect/>
          </a:stretch>
        </p:blipFill>
        <p:spPr>
          <a:xfrm>
            <a:off x="10877740" y="6271414"/>
            <a:ext cx="1056000" cy="325143"/>
          </a:xfrm>
          <a:prstGeom prst="rect">
            <a:avLst/>
          </a:prstGeom>
          <a:ln w="12700">
            <a:miter lim="400000"/>
          </a:ln>
        </p:spPr>
      </p:pic>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6"/>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76" name="文本框 75"/>
          <p:cNvSpPr txBox="1"/>
          <p:nvPr userDrawn="1"/>
        </p:nvSpPr>
        <p:spPr>
          <a:xfrm>
            <a:off x="9794606" y="3835802"/>
            <a:ext cx="603188" cy="332647"/>
          </a:xfrm>
          <a:prstGeom prst="rect">
            <a:avLst/>
          </a:prstGeom>
          <a:noFill/>
          <a:ln>
            <a:noFill/>
          </a:ln>
        </p:spPr>
        <p:txBody>
          <a:bodyPr wrap="square" rtlCol="0" anchor="t">
            <a:noAutofit/>
          </a:bodyPr>
          <a:lstStyle/>
          <a:p>
            <a:pPr>
              <a:lnSpc>
                <a:spcPct val="100000"/>
              </a:lnSpc>
            </a:pPr>
            <a:r>
              <a:rPr lang="en-US" altLang="zh-CN" sz="1200" b="0" kern="1200" baseline="0">
                <a:solidFill>
                  <a:schemeClr val="tx1"/>
                </a:solidFill>
                <a:latin typeface="+mj-lt"/>
                <a:ea typeface="微软雅黑" panose="020B0503020204020204" pitchFamily="34" charset="-122"/>
                <a:cs typeface="+mn-cs"/>
              </a:rPr>
              <a:t>ROI</a:t>
            </a:r>
            <a:r>
              <a:rPr lang="zh-CN" altLang="en-US" sz="1200" b="0" kern="1200" baseline="0">
                <a:solidFill>
                  <a:schemeClr val="tx1"/>
                </a:solidFill>
                <a:latin typeface="+mj-lt"/>
                <a:ea typeface="微软雅黑" panose="020B0503020204020204" pitchFamily="34" charset="-122"/>
                <a:cs typeface="+mn-cs"/>
              </a:rPr>
              <a:t>：</a:t>
            </a:r>
            <a:endParaRPr lang="en-US" altLang="zh-CN" sz="1200" b="0" kern="1200" baseline="0">
              <a:solidFill>
                <a:schemeClr val="tx1"/>
              </a:solidFill>
              <a:latin typeface="+mj-lt"/>
              <a:ea typeface="微软雅黑" panose="020B0503020204020204" pitchFamily="34" charset="-122"/>
              <a:cs typeface="+mn-cs"/>
            </a:endParaRPr>
          </a:p>
        </p:txBody>
      </p:sp>
      <p:sp>
        <p:nvSpPr>
          <p:cNvPr id="77" name="文本框 76"/>
          <p:cNvSpPr txBox="1"/>
          <p:nvPr userDrawn="1"/>
        </p:nvSpPr>
        <p:spPr>
          <a:xfrm>
            <a:off x="4338193" y="3741998"/>
            <a:ext cx="360000" cy="1693063"/>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專案範圍</a:t>
            </a:r>
            <a:endParaRPr lang="zh-CN" altLang="en-US" sz="1600" b="1" u="sng">
              <a:solidFill>
                <a:schemeClr val="bg1"/>
              </a:solidFill>
              <a:latin typeface="+mn-ea"/>
              <a:ea typeface="+mn-ea"/>
            </a:endParaRPr>
          </a:p>
        </p:txBody>
      </p:sp>
      <p:sp>
        <p:nvSpPr>
          <p:cNvPr id="81" name="文本框 80"/>
          <p:cNvSpPr txBox="1"/>
          <p:nvPr userDrawn="1"/>
        </p:nvSpPr>
        <p:spPr>
          <a:xfrm>
            <a:off x="270776" y="5497398"/>
            <a:ext cx="360000" cy="834023"/>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時</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程</a:t>
            </a:r>
          </a:p>
        </p:txBody>
      </p:sp>
      <p:sp>
        <p:nvSpPr>
          <p:cNvPr id="44" name="標題 1">
            <a:extLst>
              <a:ext uri="{FF2B5EF4-FFF2-40B4-BE49-F238E27FC236}">
                <a16:creationId xmlns:a16="http://schemas.microsoft.com/office/drawing/2014/main" id="{E8CA6B8E-EB08-4AB0-9768-E121F12ABA2B}"/>
              </a:ext>
            </a:extLst>
          </p:cNvPr>
          <p:cNvSpPr txBox="1">
            <a:spLocks/>
          </p:cNvSpPr>
          <p:nvPr userDrawn="1"/>
        </p:nvSpPr>
        <p:spPr>
          <a:xfrm>
            <a:off x="9558270" y="374733"/>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a:solidFill>
                  <a:schemeClr val="tx1"/>
                </a:solidFill>
                <a:latin typeface="+mn-ea"/>
                <a:ea typeface="+mn-ea"/>
              </a:rPr>
              <a:t>專案編號：</a:t>
            </a:r>
            <a:endParaRPr lang="en-US" sz="1200">
              <a:solidFill>
                <a:schemeClr val="tx1"/>
              </a:solidFill>
              <a:latin typeface="+mn-ea"/>
              <a:ea typeface="+mn-ea"/>
            </a:endParaRPr>
          </a:p>
        </p:txBody>
      </p:sp>
      <p:graphicFrame>
        <p:nvGraphicFramePr>
          <p:cNvPr id="49" name="表格 48"/>
          <p:cNvGraphicFramePr>
            <a:graphicFrameLocks noGrp="1"/>
          </p:cNvGraphicFramePr>
          <p:nvPr userDrawn="1"/>
        </p:nvGraphicFramePr>
        <p:xfrm>
          <a:off x="4843843" y="4574137"/>
          <a:ext cx="2273740" cy="834459"/>
        </p:xfrm>
        <a:graphic>
          <a:graphicData uri="http://schemas.openxmlformats.org/drawingml/2006/table">
            <a:tbl>
              <a:tblPr>
                <a:tableStyleId>{5C22544A-7EE6-4342-B048-85BDC9FD1C3A}</a:tableStyleId>
              </a:tblPr>
              <a:tblGrid>
                <a:gridCol w="1115420">
                  <a:extLst>
                    <a:ext uri="{9D8B030D-6E8A-4147-A177-3AD203B41FA5}">
                      <a16:colId xmlns:a16="http://schemas.microsoft.com/office/drawing/2014/main" val="3601475834"/>
                    </a:ext>
                  </a:extLst>
                </a:gridCol>
                <a:gridCol w="1158320">
                  <a:extLst>
                    <a:ext uri="{9D8B030D-6E8A-4147-A177-3AD203B41FA5}">
                      <a16:colId xmlns:a16="http://schemas.microsoft.com/office/drawing/2014/main" val="3963661121"/>
                    </a:ext>
                  </a:extLst>
                </a:gridCol>
              </a:tblGrid>
              <a:tr h="236004">
                <a:tc>
                  <a:txBody>
                    <a:bodyPr/>
                    <a:lstStyle/>
                    <a:p>
                      <a:pPr algn="l"/>
                      <a:r>
                        <a:rPr lang="zh-CN" altLang="en-US" sz="1200" b="1" kern="1200" baseline="0">
                          <a:solidFill>
                            <a:schemeClr val="tx1"/>
                          </a:solidFill>
                          <a:latin typeface="+mn-ea"/>
                          <a:ea typeface="+mn-ea"/>
                          <a:cs typeface="+mn-cs"/>
                        </a:rPr>
                        <a:t>     實施範圍</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200" b="1" kern="1200" baseline="0">
                          <a:solidFill>
                            <a:schemeClr val="tx1"/>
                          </a:solidFill>
                          <a:latin typeface="+mn-ea"/>
                          <a:ea typeface="+mn-ea"/>
                          <a:cs typeface="+mn-cs"/>
                        </a:rPr>
                        <a:t>     產出類型</a:t>
                      </a:r>
                    </a:p>
                  </a:txBody>
                  <a:tcPr marL="0" marR="0" marT="0" marB="360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0875191"/>
                  </a:ext>
                </a:extLst>
              </a:tr>
              <a:tr h="19948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多個廠區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系統平台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775297"/>
                  </a:ext>
                </a:extLst>
              </a:tr>
              <a:tr h="199485">
                <a:tc>
                  <a:txBody>
                    <a:bodyPr/>
                    <a:lstStyle/>
                    <a:p>
                      <a:pPr algn="l"/>
                      <a:r>
                        <a:rPr lang="zh-CN" altLang="en-US" sz="1100" b="0" kern="1200" baseline="0">
                          <a:solidFill>
                            <a:schemeClr val="tx1"/>
                          </a:solidFill>
                          <a:latin typeface="+mn-ea"/>
                          <a:ea typeface="+mn-ea"/>
                          <a:cs typeface="+mn-cs"/>
                        </a:rPr>
                        <a:t>○  單一廠區 </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100" b="0" kern="1200" baseline="0">
                          <a:solidFill>
                            <a:schemeClr val="tx1"/>
                          </a:solidFill>
                          <a:latin typeface="+mn-ea"/>
                          <a:ea typeface="+mn-ea"/>
                          <a:cs typeface="+mn-cs"/>
                        </a:rPr>
                        <a:t>○  軟件</a:t>
                      </a:r>
                      <a:r>
                        <a:rPr lang="en-US" altLang="zh-CN" sz="1100" b="0" kern="1200" baseline="0">
                          <a:solidFill>
                            <a:schemeClr val="tx1"/>
                          </a:solidFill>
                          <a:latin typeface="+mn-ea"/>
                          <a:ea typeface="+mn-ea"/>
                          <a:cs typeface="+mn-cs"/>
                        </a:rPr>
                        <a:t>/</a:t>
                      </a:r>
                      <a:r>
                        <a:rPr lang="zh-CN" altLang="en-US" sz="1100" b="0" kern="1200" baseline="0">
                          <a:solidFill>
                            <a:schemeClr val="tx1"/>
                          </a:solidFill>
                          <a:latin typeface="+mn-ea"/>
                          <a:ea typeface="+mn-ea"/>
                          <a:cs typeface="+mn-cs"/>
                        </a:rPr>
                        <a:t>規範</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5369103"/>
                  </a:ext>
                </a:extLst>
              </a:tr>
              <a:tr h="199485">
                <a:tc>
                  <a:txBody>
                    <a:bodyPr/>
                    <a:lstStyle/>
                    <a:p>
                      <a:pPr algn="l"/>
                      <a:r>
                        <a:rPr lang="zh-CN" altLang="en-US" sz="1100" b="0" kern="1200" baseline="0">
                          <a:solidFill>
                            <a:schemeClr val="tx1"/>
                          </a:solidFill>
                          <a:latin typeface="+mn-ea"/>
                          <a:ea typeface="+mn-ea"/>
                          <a:cs typeface="+mn-cs"/>
                        </a:rPr>
                        <a:t>○  單線</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CN" altLang="en-US" sz="1100" b="0" kern="1200" baseline="0">
                          <a:solidFill>
                            <a:schemeClr val="tx1"/>
                          </a:solidFill>
                          <a:latin typeface="+mn-ea"/>
                          <a:ea typeface="+mn-ea"/>
                          <a:cs typeface="+mn-cs"/>
                        </a:rPr>
                        <a:t>○  硬件</a:t>
                      </a:r>
                    </a:p>
                  </a:txBody>
                  <a:tcPr marL="7200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4180558"/>
                  </a:ext>
                </a:extLst>
              </a:tr>
            </a:tbl>
          </a:graphicData>
        </a:graphic>
      </p:graphicFrame>
      <p:sp>
        <p:nvSpPr>
          <p:cNvPr id="5" name="矩形 4"/>
          <p:cNvSpPr/>
          <p:nvPr userDrawn="1"/>
        </p:nvSpPr>
        <p:spPr>
          <a:xfrm>
            <a:off x="5110263" y="3773937"/>
            <a:ext cx="518091" cy="276999"/>
          </a:xfrm>
          <a:prstGeom prst="rect">
            <a:avLst/>
          </a:prstGeom>
        </p:spPr>
        <p:txBody>
          <a:bodyPr wrap="none">
            <a:spAutoFit/>
          </a:bodyPr>
          <a:lstStyle/>
          <a:p>
            <a:r>
              <a:rPr kumimoji="0" lang="en-US" altLang="zh-CN" sz="1200" b="1" i="0" u="none" strike="noStrike" kern="1200" cap="none" spc="0" normalizeH="0" baseline="0" noProof="0">
                <a:ln>
                  <a:noFill/>
                </a:ln>
                <a:solidFill>
                  <a:schemeClr val="tx1"/>
                </a:solidFill>
                <a:effectLst/>
                <a:uLnTx/>
                <a:uFillTx/>
                <a:latin typeface="+mj-lt"/>
                <a:ea typeface="微软雅黑" panose="020B0503020204020204" pitchFamily="34" charset="-122"/>
                <a:cs typeface="+mn-cs"/>
              </a:rPr>
              <a:t>POC</a:t>
            </a:r>
            <a:endParaRPr lang="zh-CN" altLang="en-US" sz="1200" b="1">
              <a:solidFill>
                <a:schemeClr val="tx1"/>
              </a:solidFill>
              <a:latin typeface="+mj-lt"/>
            </a:endParaRPr>
          </a:p>
        </p:txBody>
      </p:sp>
      <p:graphicFrame>
        <p:nvGraphicFramePr>
          <p:cNvPr id="73" name="表格 72"/>
          <p:cNvGraphicFramePr>
            <a:graphicFrameLocks noGrp="1"/>
          </p:cNvGraphicFramePr>
          <p:nvPr userDrawn="1"/>
        </p:nvGraphicFramePr>
        <p:xfrm>
          <a:off x="1708205" y="5475683"/>
          <a:ext cx="10068931" cy="747840"/>
        </p:xfrm>
        <a:graphic>
          <a:graphicData uri="http://schemas.openxmlformats.org/drawingml/2006/table">
            <a:tbl>
              <a:tblPr firstRow="1">
                <a:tableStyleId>{5C22544A-7EE6-4342-B048-85BDC9FD1C3A}</a:tableStyleId>
              </a:tblPr>
              <a:tblGrid>
                <a:gridCol w="1194619">
                  <a:extLst>
                    <a:ext uri="{9D8B030D-6E8A-4147-A177-3AD203B41FA5}">
                      <a16:colId xmlns:a16="http://schemas.microsoft.com/office/drawing/2014/main" val="1364975805"/>
                    </a:ext>
                  </a:extLst>
                </a:gridCol>
                <a:gridCol w="1109289">
                  <a:extLst>
                    <a:ext uri="{9D8B030D-6E8A-4147-A177-3AD203B41FA5}">
                      <a16:colId xmlns:a16="http://schemas.microsoft.com/office/drawing/2014/main" val="598168328"/>
                    </a:ext>
                  </a:extLst>
                </a:gridCol>
                <a:gridCol w="1109289">
                  <a:extLst>
                    <a:ext uri="{9D8B030D-6E8A-4147-A177-3AD203B41FA5}">
                      <a16:colId xmlns:a16="http://schemas.microsoft.com/office/drawing/2014/main" val="3996203012"/>
                    </a:ext>
                  </a:extLst>
                </a:gridCol>
                <a:gridCol w="1109289">
                  <a:extLst>
                    <a:ext uri="{9D8B030D-6E8A-4147-A177-3AD203B41FA5}">
                      <a16:colId xmlns:a16="http://schemas.microsoft.com/office/drawing/2014/main" val="8965765"/>
                    </a:ext>
                  </a:extLst>
                </a:gridCol>
                <a:gridCol w="1109289">
                  <a:extLst>
                    <a:ext uri="{9D8B030D-6E8A-4147-A177-3AD203B41FA5}">
                      <a16:colId xmlns:a16="http://schemas.microsoft.com/office/drawing/2014/main" val="3018412842"/>
                    </a:ext>
                  </a:extLst>
                </a:gridCol>
                <a:gridCol w="1109289">
                  <a:extLst>
                    <a:ext uri="{9D8B030D-6E8A-4147-A177-3AD203B41FA5}">
                      <a16:colId xmlns:a16="http://schemas.microsoft.com/office/drawing/2014/main" val="1610061165"/>
                    </a:ext>
                  </a:extLst>
                </a:gridCol>
                <a:gridCol w="1109289">
                  <a:extLst>
                    <a:ext uri="{9D8B030D-6E8A-4147-A177-3AD203B41FA5}">
                      <a16:colId xmlns:a16="http://schemas.microsoft.com/office/drawing/2014/main" val="2837564109"/>
                    </a:ext>
                  </a:extLst>
                </a:gridCol>
                <a:gridCol w="1109289">
                  <a:extLst>
                    <a:ext uri="{9D8B030D-6E8A-4147-A177-3AD203B41FA5}">
                      <a16:colId xmlns:a16="http://schemas.microsoft.com/office/drawing/2014/main" val="627612840"/>
                    </a:ext>
                  </a:extLst>
                </a:gridCol>
                <a:gridCol w="1109289">
                  <a:extLst>
                    <a:ext uri="{9D8B030D-6E8A-4147-A177-3AD203B41FA5}">
                      <a16:colId xmlns:a16="http://schemas.microsoft.com/office/drawing/2014/main" val="2411478032"/>
                    </a:ext>
                  </a:extLst>
                </a:gridCol>
              </a:tblGrid>
              <a:tr h="504000">
                <a:tc>
                  <a:txBody>
                    <a:bodyPr/>
                    <a:lstStyle/>
                    <a:p>
                      <a:pPr algn="ctr">
                        <a:lnSpc>
                          <a:spcPct val="100000"/>
                        </a:lnSpc>
                      </a:pPr>
                      <a:r>
                        <a:rPr lang="en-US" altLang="zh-TW" sz="1200" b="1" kern="1200">
                          <a:solidFill>
                            <a:schemeClr val="tx1"/>
                          </a:solidFill>
                          <a:latin typeface="+mj-lt"/>
                          <a:ea typeface="微软雅黑" panose="020B0503020204020204" pitchFamily="34" charset="-122"/>
                          <a:cs typeface="+mn-cs"/>
                        </a:rPr>
                        <a:t>Milestone</a:t>
                      </a:r>
                    </a:p>
                  </a:txBody>
                  <a:tcPr marL="0" marR="0" marT="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377" rtl="0" eaLnBrk="1" latinLnBrk="0" hangingPunct="1">
                        <a:lnSpc>
                          <a:spcPct val="100000"/>
                        </a:lnSpc>
                      </a:pPr>
                      <a:r>
                        <a:rPr lang="en-US" altLang="zh-TW" sz="1200" b="1" kern="1200">
                          <a:solidFill>
                            <a:schemeClr val="tx1"/>
                          </a:solidFill>
                          <a:latin typeface="+mn-lt"/>
                          <a:ea typeface="+mn-ea"/>
                          <a:cs typeface="+mn-cs"/>
                        </a:rPr>
                        <a:t>M1</a:t>
                      </a:r>
                    </a:p>
                    <a:p>
                      <a:pPr marL="0" algn="ctr" defTabSz="914377" rtl="0" eaLnBrk="1" latinLnBrk="0" hangingPunct="1">
                        <a:lnSpc>
                          <a:spcPct val="100000"/>
                        </a:lnSpc>
                      </a:pPr>
                      <a:r>
                        <a:rPr lang="zh-TW" altLang="en-US" sz="1200" b="0" kern="1200">
                          <a:solidFill>
                            <a:schemeClr val="tx1"/>
                          </a:solidFill>
                          <a:latin typeface="+mn-lt"/>
                          <a:ea typeface="+mn-ea"/>
                          <a:cs typeface="+mn-cs"/>
                        </a:rPr>
                        <a:t>需求評估</a:t>
                      </a:r>
                      <a:endParaRPr lang="en-US"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tx1"/>
                          </a:solidFill>
                          <a:latin typeface="+mn-lt"/>
                          <a:ea typeface="+mn-ea"/>
                          <a:cs typeface="+mn-cs"/>
                        </a:rPr>
                        <a:t>M2</a:t>
                      </a:r>
                    </a:p>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0" kern="1200">
                          <a:solidFill>
                            <a:schemeClr val="tx1"/>
                          </a:solidFill>
                          <a:latin typeface="+mn-lt"/>
                          <a:ea typeface="+mn-ea"/>
                          <a:cs typeface="+mn-cs"/>
                        </a:rPr>
                        <a:t>系統設計</a:t>
                      </a:r>
                      <a:endParaRPr lang="en-US" altLang="zh-CN"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spcAft>
                          <a:spcPts val="0"/>
                        </a:spcAft>
                      </a:pPr>
                      <a:r>
                        <a:rPr lang="en-US" altLang="zh-TW" sz="1200" b="1" kern="1200">
                          <a:solidFill>
                            <a:schemeClr val="tx1"/>
                          </a:solidFill>
                          <a:latin typeface="+mn-lt"/>
                          <a:ea typeface="+mn-ea"/>
                          <a:cs typeface="+mn-cs"/>
                        </a:rPr>
                        <a:t>M3</a:t>
                      </a:r>
                    </a:p>
                    <a:p>
                      <a:pPr marL="0" algn="ctr" defTabSz="914377" rtl="0" eaLnBrk="1" latinLnBrk="0" hangingPunct="1">
                        <a:lnSpc>
                          <a:spcPct val="100000"/>
                        </a:lnSpc>
                        <a:spcAft>
                          <a:spcPts val="0"/>
                        </a:spcAft>
                      </a:pPr>
                      <a:r>
                        <a:rPr lang="zh-CN" altLang="en-US" sz="1200" b="0" kern="1200">
                          <a:solidFill>
                            <a:schemeClr val="tx1"/>
                          </a:solidFill>
                          <a:latin typeface="+mn-lt"/>
                          <a:ea typeface="+mn-ea"/>
                          <a:cs typeface="+mn-cs"/>
                        </a:rPr>
                        <a:t>功能</a:t>
                      </a:r>
                      <a:r>
                        <a:rPr lang="zh-TW" altLang="en-US" sz="1200" b="0" kern="1200">
                          <a:solidFill>
                            <a:schemeClr val="tx1"/>
                          </a:solidFill>
                          <a:latin typeface="+mn-lt"/>
                          <a:ea typeface="+mn-ea"/>
                          <a:cs typeface="+mn-cs"/>
                        </a:rPr>
                        <a:t>設計</a:t>
                      </a:r>
                      <a:endParaRPr lang="en-US"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pPr>
                      <a:r>
                        <a:rPr lang="en-US" altLang="zh-TW" sz="1200" b="1" kern="1200">
                          <a:solidFill>
                            <a:schemeClr val="tx1"/>
                          </a:solidFill>
                          <a:latin typeface="+mn-lt"/>
                          <a:ea typeface="+mn-ea"/>
                          <a:cs typeface="+mn-cs"/>
                        </a:rPr>
                        <a:t>M4</a:t>
                      </a:r>
                    </a:p>
                    <a:p>
                      <a:pPr marL="0" lvl="0" algn="ctr" defTabSz="914377" rtl="0" eaLnBrk="1" latinLnBrk="0" hangingPunct="1">
                        <a:lnSpc>
                          <a:spcPct val="100000"/>
                        </a:lnSpc>
                      </a:pPr>
                      <a:r>
                        <a:rPr lang="zh-CN" altLang="en-US" sz="1200" b="0" kern="1200">
                          <a:solidFill>
                            <a:schemeClr val="tx1"/>
                          </a:solidFill>
                          <a:latin typeface="+mn-lt"/>
                          <a:ea typeface="+mn-ea"/>
                          <a:cs typeface="+mn-cs"/>
                        </a:rPr>
                        <a:t>系統整合測試</a:t>
                      </a:r>
                      <a:endParaRPr lang="zh-TW"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ctr" defTabSz="914377" rtl="0" eaLnBrk="1" latinLnBrk="0" hangingPunct="1">
                        <a:lnSpc>
                          <a:spcPct val="100000"/>
                        </a:lnSpc>
                        <a:defRPr/>
                      </a:pPr>
                      <a:r>
                        <a:rPr lang="en-US" altLang="zh-TW" sz="1200" b="1" kern="1200">
                          <a:solidFill>
                            <a:schemeClr val="tx1"/>
                          </a:solidFill>
                          <a:latin typeface="+mn-lt"/>
                          <a:ea typeface="+mn-ea"/>
                          <a:cs typeface="+mn-cs"/>
                        </a:rPr>
                        <a:t>M5</a:t>
                      </a:r>
                    </a:p>
                    <a:p>
                      <a:pPr marL="0" lvl="0" algn="ctr" defTabSz="914377" rtl="0" eaLnBrk="1" latinLnBrk="0" hangingPunct="1">
                        <a:lnSpc>
                          <a:spcPct val="100000"/>
                        </a:lnSpc>
                        <a:defRPr/>
                      </a:pPr>
                      <a:r>
                        <a:rPr lang="zh-CN" altLang="en-US" sz="1200" b="0" kern="1200">
                          <a:solidFill>
                            <a:schemeClr val="tx1"/>
                          </a:solidFill>
                          <a:latin typeface="+mn-lt"/>
                          <a:ea typeface="+mn-ea"/>
                          <a:cs typeface="+mn-cs"/>
                        </a:rPr>
                        <a:t>使用者測試</a:t>
                      </a:r>
                      <a:endParaRPr lang="en-US" altLang="zh-TW"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a:solidFill>
                            <a:schemeClr val="tx1"/>
                          </a:solidFill>
                          <a:latin typeface="+mn-lt"/>
                          <a:ea typeface="+mn-ea"/>
                          <a:cs typeface="+mn-cs"/>
                        </a:rPr>
                        <a:t>M6</a:t>
                      </a:r>
                    </a:p>
                    <a:p>
                      <a:pPr marL="0" algn="ctr" defTabSz="914377" rtl="0" eaLnBrk="1" latinLnBrk="0" hangingPunct="1">
                        <a:lnSpc>
                          <a:spcPct val="100000"/>
                        </a:lnSpc>
                        <a:defRPr/>
                      </a:pPr>
                      <a:r>
                        <a:rPr lang="zh-TW" altLang="en-US" sz="1200" b="0" kern="1200">
                          <a:solidFill>
                            <a:schemeClr val="tx1"/>
                          </a:solidFill>
                          <a:latin typeface="+mn-lt"/>
                          <a:ea typeface="+mn-ea"/>
                          <a:cs typeface="+mn-cs"/>
                        </a:rPr>
                        <a:t>資訊流標準化</a:t>
                      </a:r>
                      <a:endParaRPr lang="zh-CN" altLang="en-US"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CN" sz="1200" b="1" kern="1200">
                          <a:solidFill>
                            <a:schemeClr val="tx1"/>
                          </a:solidFill>
                          <a:latin typeface="+mn-lt"/>
                          <a:ea typeface="+mn-ea"/>
                          <a:cs typeface="+mn-cs"/>
                        </a:rPr>
                        <a:t>M7</a:t>
                      </a:r>
                    </a:p>
                    <a:p>
                      <a:pPr marL="0" marR="0" indent="0" algn="ctr" defTabSz="914377" rtl="0" eaLnBrk="1" fontAlgn="auto" latinLnBrk="0" hangingPunct="1">
                        <a:lnSpc>
                          <a:spcPct val="100000"/>
                        </a:lnSpc>
                        <a:spcBef>
                          <a:spcPts val="0"/>
                        </a:spcBef>
                        <a:spcAft>
                          <a:spcPts val="0"/>
                        </a:spcAft>
                        <a:buClrTx/>
                        <a:buSzTx/>
                        <a:buFontTx/>
                        <a:buNone/>
                        <a:tabLst/>
                        <a:defRPr/>
                      </a:pPr>
                      <a:r>
                        <a:rPr lang="zh-TW" altLang="en-US" sz="1200" b="0" kern="1200">
                          <a:solidFill>
                            <a:schemeClr val="tx1"/>
                          </a:solidFill>
                          <a:latin typeface="+mn-lt"/>
                          <a:ea typeface="+mn-ea"/>
                          <a:cs typeface="+mn-cs"/>
                        </a:rPr>
                        <a:t>落地規劃</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377" rtl="0" eaLnBrk="1" latinLnBrk="0" hangingPunct="1">
                        <a:lnSpc>
                          <a:spcPct val="100000"/>
                        </a:lnSpc>
                        <a:defRPr/>
                      </a:pPr>
                      <a:r>
                        <a:rPr lang="en-US" altLang="zh-CN" sz="1200" b="1" kern="1200">
                          <a:solidFill>
                            <a:schemeClr val="tx1"/>
                          </a:solidFill>
                          <a:latin typeface="+mn-lt"/>
                          <a:ea typeface="+mn-ea"/>
                          <a:cs typeface="+mn-cs"/>
                        </a:rPr>
                        <a:t>M8</a:t>
                      </a:r>
                    </a:p>
                    <a:p>
                      <a:pPr marL="0" algn="ctr" defTabSz="914377" rtl="0" eaLnBrk="1" latinLnBrk="0" hangingPunct="1">
                        <a:lnSpc>
                          <a:spcPct val="100000"/>
                        </a:lnSpc>
                        <a:defRPr/>
                      </a:pPr>
                      <a:r>
                        <a:rPr lang="zh-TW" altLang="en-US" sz="1200" b="0" kern="1200">
                          <a:solidFill>
                            <a:schemeClr val="tx1"/>
                          </a:solidFill>
                          <a:latin typeface="+mn-lt"/>
                          <a:ea typeface="+mn-ea"/>
                          <a:cs typeface="+mn-cs"/>
                        </a:rPr>
                        <a:t>落地檢核</a:t>
                      </a:r>
                      <a:endParaRPr lang="zh-CN" altLang="en-US" sz="1200" b="0" kern="1200">
                        <a:solidFill>
                          <a:schemeClr val="tx1"/>
                        </a:solidFill>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33771765"/>
                  </a:ext>
                </a:extLst>
              </a:tr>
              <a:tr h="243840">
                <a:tc>
                  <a:txBody>
                    <a:bodyPr/>
                    <a:lstStyle/>
                    <a:p>
                      <a:pPr algn="ctr">
                        <a:lnSpc>
                          <a:spcPct val="100000"/>
                        </a:lnSpc>
                      </a:pPr>
                      <a:r>
                        <a:rPr lang="en-US" altLang="zh-CN" sz="1200" b="1">
                          <a:solidFill>
                            <a:schemeClr val="tx1"/>
                          </a:solidFill>
                          <a:latin typeface="+mj-lt"/>
                          <a:ea typeface="+mn-ea"/>
                        </a:rPr>
                        <a:t>Due</a:t>
                      </a:r>
                      <a:r>
                        <a:rPr lang="zh-CN" altLang="en-US" sz="1200" b="1" baseline="0">
                          <a:solidFill>
                            <a:schemeClr val="tx1"/>
                          </a:solidFill>
                          <a:latin typeface="+mj-lt"/>
                          <a:ea typeface="+mn-ea"/>
                        </a:rPr>
                        <a:t> </a:t>
                      </a:r>
                      <a:r>
                        <a:rPr lang="en-US" altLang="zh-CN" sz="1200" b="1" baseline="0">
                          <a:solidFill>
                            <a:schemeClr val="tx1"/>
                          </a:solidFill>
                          <a:latin typeface="+mj-lt"/>
                          <a:ea typeface="+mn-ea"/>
                        </a:rPr>
                        <a:t>date</a:t>
                      </a:r>
                      <a:endParaRPr lang="en-US" altLang="zh-CN" sz="1200" b="1">
                        <a:solidFill>
                          <a:schemeClr val="tx1"/>
                        </a:solidFill>
                        <a:latin typeface="+mj-lt"/>
                        <a:ea typeface="+mn-ea"/>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CN" altLang="en-US" sz="1600" b="0">
                        <a:solidFill>
                          <a:schemeClr val="tx1"/>
                        </a:solidFill>
                        <a:latin typeface="+mj-lt"/>
                      </a:endParaRPr>
                    </a:p>
                  </a:txBody>
                  <a:tcPr marL="0" marR="0" marT="0" marB="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600" b="0">
                        <a:solidFill>
                          <a:schemeClr val="tx1"/>
                        </a:solidFill>
                        <a:latin typeface="+mj-lt"/>
                      </a:endParaRPr>
                    </a:p>
                  </a:txBody>
                  <a:tcPr marL="0" marR="0" marT="0" marB="0" anchor="ctr">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4082158"/>
                  </a:ext>
                </a:extLst>
              </a:tr>
            </a:tbl>
          </a:graphicData>
        </a:graphic>
      </p:graphicFrame>
      <p:cxnSp>
        <p:nvCxnSpPr>
          <p:cNvPr id="74" name="直接连接符 73"/>
          <p:cNvCxnSpPr/>
          <p:nvPr userDrawn="1"/>
        </p:nvCxnSpPr>
        <p:spPr>
          <a:xfrm flipH="1">
            <a:off x="-3" y="5462265"/>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9" name="標題 1">
            <a:extLst>
              <a:ext uri="{FF2B5EF4-FFF2-40B4-BE49-F238E27FC236}">
                <a16:creationId xmlns:a16="http://schemas.microsoft.com/office/drawing/2014/main" id="{E8CA6B8E-EB08-4AB0-9768-E121F12ABA2B}"/>
              </a:ext>
            </a:extLst>
          </p:cNvPr>
          <p:cNvSpPr txBox="1">
            <a:spLocks/>
          </p:cNvSpPr>
          <p:nvPr userDrawn="1"/>
        </p:nvSpPr>
        <p:spPr>
          <a:xfrm>
            <a:off x="9558269" y="172486"/>
            <a:ext cx="801180"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zh-CN" altLang="en-US" sz="1200">
                <a:solidFill>
                  <a:schemeClr val="tx1"/>
                </a:solidFill>
                <a:latin typeface="+mn-ea"/>
                <a:ea typeface="+mn-ea"/>
              </a:rPr>
              <a:t>專案屬性：</a:t>
            </a:r>
            <a:endParaRPr lang="en-US" sz="1200">
              <a:solidFill>
                <a:schemeClr val="tx1"/>
              </a:solidFill>
              <a:latin typeface="+mn-ea"/>
              <a:ea typeface="+mn-ea"/>
            </a:endParaRPr>
          </a:p>
        </p:txBody>
      </p:sp>
      <p:sp>
        <p:nvSpPr>
          <p:cNvPr id="41" name="文本框 80">
            <a:extLst>
              <a:ext uri="{FF2B5EF4-FFF2-40B4-BE49-F238E27FC236}">
                <a16:creationId xmlns:a16="http://schemas.microsoft.com/office/drawing/2014/main" id="{CE4A5CD4-18D6-442A-8251-0B27565425B3}"/>
              </a:ext>
            </a:extLst>
          </p:cNvPr>
          <p:cNvSpPr txBox="1"/>
          <p:nvPr userDrawn="1"/>
        </p:nvSpPr>
        <p:spPr>
          <a:xfrm>
            <a:off x="942943" y="6001110"/>
            <a:ext cx="457368" cy="211767"/>
          </a:xfrm>
          <a:prstGeom prst="rect">
            <a:avLst/>
          </a:prstGeom>
          <a:noFill/>
          <a:ln>
            <a:noFill/>
          </a:ln>
        </p:spPr>
        <p:txBody>
          <a:bodyPr wrap="none" lIns="36000" tIns="0" rIns="36000" bIns="0" rtlCol="0" anchor="t" anchorCtr="0">
            <a:noAutofit/>
          </a:bodyPr>
          <a:lstStyle/>
          <a:p>
            <a:pPr algn="ctr"/>
            <a:r>
              <a:rPr lang="zh-CN" altLang="en-US" sz="1400" b="1">
                <a:solidFill>
                  <a:schemeClr val="tx1"/>
                </a:solidFill>
                <a:latin typeface="+mn-ea"/>
                <a:ea typeface="+mn-ea"/>
              </a:rPr>
              <a:t>天</a:t>
            </a:r>
          </a:p>
        </p:txBody>
      </p:sp>
      <p:cxnSp>
        <p:nvCxnSpPr>
          <p:cNvPr id="48" name="直接连接符 73">
            <a:extLst>
              <a:ext uri="{FF2B5EF4-FFF2-40B4-BE49-F238E27FC236}">
                <a16:creationId xmlns:a16="http://schemas.microsoft.com/office/drawing/2014/main" id="{260BD545-25F4-463E-914E-4B2E7F5D5FE7}"/>
              </a:ext>
            </a:extLst>
          </p:cNvPr>
          <p:cNvCxnSpPr/>
          <p:nvPr userDrawn="1"/>
        </p:nvCxnSpPr>
        <p:spPr>
          <a:xfrm flipH="1">
            <a:off x="-3" y="3711691"/>
            <a:ext cx="12204000" cy="0"/>
          </a:xfrm>
          <a:prstGeom prst="line">
            <a:avLst/>
          </a:prstGeom>
          <a:ln w="12700">
            <a:solidFill>
              <a:schemeClr val="bg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5" name="文本框 76">
            <a:extLst>
              <a:ext uri="{FF2B5EF4-FFF2-40B4-BE49-F238E27FC236}">
                <a16:creationId xmlns:a16="http://schemas.microsoft.com/office/drawing/2014/main" id="{412770B5-2D22-4757-B0F9-827C620D34C0}"/>
              </a:ext>
            </a:extLst>
          </p:cNvPr>
          <p:cNvSpPr txBox="1"/>
          <p:nvPr userDrawn="1"/>
        </p:nvSpPr>
        <p:spPr>
          <a:xfrm>
            <a:off x="7229261" y="3741999"/>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專案效益</a:t>
            </a:r>
            <a:endParaRPr lang="zh-CN" altLang="en-US" sz="1600" b="1" u="sng">
              <a:solidFill>
                <a:schemeClr val="bg1"/>
              </a:solidFill>
              <a:latin typeface="+mn-ea"/>
              <a:ea typeface="+mn-ea"/>
            </a:endParaRPr>
          </a:p>
        </p:txBody>
      </p:sp>
      <p:sp>
        <p:nvSpPr>
          <p:cNvPr id="79" name="矩形 78">
            <a:extLst>
              <a:ext uri="{FF2B5EF4-FFF2-40B4-BE49-F238E27FC236}">
                <a16:creationId xmlns:a16="http://schemas.microsoft.com/office/drawing/2014/main" id="{74B93A32-4EBD-4EAA-9EBE-60BA29C04118}"/>
              </a:ext>
            </a:extLst>
          </p:cNvPr>
          <p:cNvSpPr/>
          <p:nvPr userDrawn="1"/>
        </p:nvSpPr>
        <p:spPr>
          <a:xfrm>
            <a:off x="6243413" y="3773937"/>
            <a:ext cx="492443" cy="276999"/>
          </a:xfrm>
          <a:prstGeom prst="rect">
            <a:avLst/>
          </a:prstGeom>
        </p:spPr>
        <p:txBody>
          <a:bodyPr wrap="none">
            <a:spAutoFit/>
          </a:bodyPr>
          <a:lstStyle/>
          <a:p>
            <a:r>
              <a:rPr kumimoji="0" lang="zh-CN" altLang="en-US" sz="1200" b="1" i="0" u="none" strike="noStrike" kern="1200" cap="none" spc="0" normalizeH="0" baseline="0" noProof="0">
                <a:ln>
                  <a:noFill/>
                </a:ln>
                <a:solidFill>
                  <a:schemeClr val="tx1"/>
                </a:solidFill>
                <a:effectLst/>
                <a:uLnTx/>
                <a:uFillTx/>
                <a:latin typeface="+mn-ea"/>
                <a:ea typeface="+mn-ea"/>
                <a:cs typeface="+mn-cs"/>
              </a:rPr>
              <a:t>落地</a:t>
            </a:r>
            <a:endParaRPr lang="zh-CN" altLang="en-US" sz="1200" b="1">
              <a:solidFill>
                <a:schemeClr val="tx1"/>
              </a:solidFill>
              <a:latin typeface="+mn-ea"/>
              <a:ea typeface="+mn-ea"/>
            </a:endParaRPr>
          </a:p>
        </p:txBody>
      </p:sp>
      <p:sp>
        <p:nvSpPr>
          <p:cNvPr id="13" name="矩形 12">
            <a:extLst>
              <a:ext uri="{FF2B5EF4-FFF2-40B4-BE49-F238E27FC236}">
                <a16:creationId xmlns:a16="http://schemas.microsoft.com/office/drawing/2014/main" id="{DB237AD2-C320-4A06-AA5B-DFCAEB5BB200}"/>
              </a:ext>
            </a:extLst>
          </p:cNvPr>
          <p:cNvSpPr/>
          <p:nvPr userDrawn="1"/>
        </p:nvSpPr>
        <p:spPr>
          <a:xfrm>
            <a:off x="8616155" y="3829575"/>
            <a:ext cx="1007327" cy="276999"/>
          </a:xfrm>
          <a:prstGeom prst="rect">
            <a:avLst/>
          </a:prstGeom>
        </p:spPr>
        <p:txBody>
          <a:bodyPr wrap="none">
            <a:spAutoFit/>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KUSD/Year </a:t>
            </a:r>
          </a:p>
        </p:txBody>
      </p:sp>
      <p:sp>
        <p:nvSpPr>
          <p:cNvPr id="15" name="矩形 14">
            <a:extLst>
              <a:ext uri="{FF2B5EF4-FFF2-40B4-BE49-F238E27FC236}">
                <a16:creationId xmlns:a16="http://schemas.microsoft.com/office/drawing/2014/main" id="{A2D2403B-89BC-4F21-8E00-B9F06CF42EF0}"/>
              </a:ext>
            </a:extLst>
          </p:cNvPr>
          <p:cNvSpPr/>
          <p:nvPr userDrawn="1"/>
        </p:nvSpPr>
        <p:spPr>
          <a:xfrm>
            <a:off x="10875240" y="3822095"/>
            <a:ext cx="537648" cy="276999"/>
          </a:xfrm>
          <a:prstGeom prst="rect">
            <a:avLst/>
          </a:prstGeom>
        </p:spPr>
        <p:txBody>
          <a:bodyPr wrap="none">
            <a:spAutoFit/>
          </a:bodyPr>
          <a:lstStyle/>
          <a:p>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 </a:t>
            </a:r>
            <a:endParaRPr lang="zh-TW" altLang="en-US" sz="1800" b="0">
              <a:solidFill>
                <a:schemeClr val="tx1"/>
              </a:solidFill>
            </a:endParaRPr>
          </a:p>
        </p:txBody>
      </p:sp>
      <p:sp>
        <p:nvSpPr>
          <p:cNvPr id="94" name="文本框 76">
            <a:extLst>
              <a:ext uri="{FF2B5EF4-FFF2-40B4-BE49-F238E27FC236}">
                <a16:creationId xmlns:a16="http://schemas.microsoft.com/office/drawing/2014/main" id="{5E299125-23C7-45ED-9CD0-F792DF9E67D7}"/>
              </a:ext>
            </a:extLst>
          </p:cNvPr>
          <p:cNvSpPr txBox="1"/>
          <p:nvPr userDrawn="1"/>
        </p:nvSpPr>
        <p:spPr>
          <a:xfrm>
            <a:off x="270776" y="3742863"/>
            <a:ext cx="360000" cy="1692000"/>
          </a:xfrm>
          <a:prstGeom prst="rect">
            <a:avLst/>
          </a:prstGeom>
          <a:solidFill>
            <a:srgbClr val="0087DC"/>
          </a:solidFill>
          <a:ln>
            <a:noFill/>
          </a:ln>
        </p:spPr>
        <p:txBody>
          <a:bodyPr wrap="square" rtlCol="0" anchor="ctr" anchorCtr="0">
            <a:noAutofit/>
          </a:bodyPr>
          <a:lstStyle/>
          <a:p>
            <a:pPr algn="ctr">
              <a:spcBef>
                <a:spcPts val="0"/>
              </a:spcBef>
              <a:spcAft>
                <a:spcPts val="600"/>
              </a:spcAft>
            </a:pPr>
            <a:r>
              <a:rPr lang="zh-CN" altLang="en-US" sz="1600" b="1" u="none">
                <a:solidFill>
                  <a:schemeClr val="bg1"/>
                </a:solidFill>
                <a:latin typeface="+mn-ea"/>
                <a:ea typeface="+mn-ea"/>
              </a:rPr>
              <a:t>專案團隊</a:t>
            </a:r>
            <a:endParaRPr lang="zh-CN" altLang="en-US" sz="1600" b="1" u="sng">
              <a:solidFill>
                <a:schemeClr val="bg1"/>
              </a:solidFill>
              <a:latin typeface="+mn-ea"/>
              <a:ea typeface="+mn-ea"/>
            </a:endParaRPr>
          </a:p>
        </p:txBody>
      </p:sp>
      <p:cxnSp>
        <p:nvCxnSpPr>
          <p:cNvPr id="95" name="直接连接符 73">
            <a:extLst>
              <a:ext uri="{FF2B5EF4-FFF2-40B4-BE49-F238E27FC236}">
                <a16:creationId xmlns:a16="http://schemas.microsoft.com/office/drawing/2014/main" id="{E3D9E4B4-7C32-4F6D-B760-7606B45ECC9B}"/>
              </a:ext>
            </a:extLst>
          </p:cNvPr>
          <p:cNvCxnSpPr/>
          <p:nvPr userDrawn="1"/>
        </p:nvCxnSpPr>
        <p:spPr>
          <a:xfrm flipH="1">
            <a:off x="-3"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5" name="文本框 24"/>
          <p:cNvSpPr txBox="1"/>
          <p:nvPr userDrawn="1"/>
        </p:nvSpPr>
        <p:spPr>
          <a:xfrm>
            <a:off x="270776" y="753697"/>
            <a:ext cx="360000" cy="2934000"/>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需</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求</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與</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目</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標</a:t>
            </a:r>
          </a:p>
        </p:txBody>
      </p:sp>
      <p:sp>
        <p:nvSpPr>
          <p:cNvPr id="87" name="文本框 86"/>
          <p:cNvSpPr txBox="1"/>
          <p:nvPr userDrawn="1"/>
        </p:nvSpPr>
        <p:spPr>
          <a:xfrm>
            <a:off x="5566935" y="753697"/>
            <a:ext cx="360000" cy="2934000"/>
          </a:xfrm>
          <a:prstGeom prst="rect">
            <a:avLst/>
          </a:prstGeom>
          <a:solidFill>
            <a:srgbClr val="0087DC"/>
          </a:solidFill>
          <a:ln>
            <a:noFill/>
          </a:ln>
        </p:spPr>
        <p:txBody>
          <a:bodyPr wrap="square" rtlCol="0" anchor="ctr" anchorCtr="0">
            <a:noAutofit/>
          </a:bodyPr>
          <a:lstStyle/>
          <a:p>
            <a:pPr algn="ctr"/>
            <a:r>
              <a:rPr lang="zh-CN" altLang="en-US" sz="1600" b="1">
                <a:solidFill>
                  <a:schemeClr val="bg1"/>
                </a:solidFill>
                <a:latin typeface="+mn-ea"/>
                <a:ea typeface="+mn-ea"/>
              </a:rPr>
              <a:t>挑</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戰</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與</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解</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決</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方</a:t>
            </a:r>
            <a:endParaRPr lang="en-US" altLang="zh-CN" sz="1600" b="1">
              <a:solidFill>
                <a:schemeClr val="bg1"/>
              </a:solidFill>
              <a:latin typeface="+mn-ea"/>
              <a:ea typeface="+mn-ea"/>
            </a:endParaRPr>
          </a:p>
          <a:p>
            <a:pPr algn="ctr"/>
            <a:r>
              <a:rPr lang="zh-CN" altLang="en-US" sz="1600" b="1">
                <a:solidFill>
                  <a:schemeClr val="bg1"/>
                </a:solidFill>
                <a:latin typeface="+mn-ea"/>
                <a:ea typeface="+mn-ea"/>
              </a:rPr>
              <a:t>案</a:t>
            </a:r>
          </a:p>
        </p:txBody>
      </p:sp>
      <p:sp>
        <p:nvSpPr>
          <p:cNvPr id="21" name="等腰三角形 20">
            <a:extLst>
              <a:ext uri="{FF2B5EF4-FFF2-40B4-BE49-F238E27FC236}">
                <a16:creationId xmlns:a16="http://schemas.microsoft.com/office/drawing/2014/main" id="{0F94FA73-696E-4585-96A5-3EA8EEDFE197}"/>
              </a:ext>
            </a:extLst>
          </p:cNvPr>
          <p:cNvSpPr/>
          <p:nvPr userDrawn="1"/>
        </p:nvSpPr>
        <p:spPr>
          <a:xfrm rot="5400000">
            <a:off x="2645908" y="568363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105" name="等腰三角形 104">
            <a:extLst>
              <a:ext uri="{FF2B5EF4-FFF2-40B4-BE49-F238E27FC236}">
                <a16:creationId xmlns:a16="http://schemas.microsoft.com/office/drawing/2014/main" id="{230A3365-B0E2-46E8-90A4-D92B50D29BC0}"/>
              </a:ext>
            </a:extLst>
          </p:cNvPr>
          <p:cNvSpPr/>
          <p:nvPr userDrawn="1"/>
        </p:nvSpPr>
        <p:spPr>
          <a:xfrm rot="5400000">
            <a:off x="2645908" y="6079771"/>
            <a:ext cx="144000" cy="72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46" name="標題 1">
            <a:extLst>
              <a:ext uri="{FF2B5EF4-FFF2-40B4-BE49-F238E27FC236}">
                <a16:creationId xmlns:a16="http://schemas.microsoft.com/office/drawing/2014/main" id="{874D4825-8DCA-4167-9242-B1829510756A}"/>
              </a:ext>
            </a:extLst>
          </p:cNvPr>
          <p:cNvSpPr txBox="1">
            <a:spLocks/>
          </p:cNvSpPr>
          <p:nvPr userDrawn="1"/>
        </p:nvSpPr>
        <p:spPr>
          <a:xfrm>
            <a:off x="485067" y="374733"/>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a:solidFill>
                  <a:schemeClr val="tx1"/>
                </a:solidFill>
                <a:latin typeface="+mj-lt"/>
                <a:ea typeface="+mn-ea"/>
              </a:rPr>
              <a:t>PM</a:t>
            </a:r>
            <a:r>
              <a:rPr lang="zh-CN" altLang="en-US" sz="1400">
                <a:solidFill>
                  <a:schemeClr val="tx1"/>
                </a:solidFill>
                <a:latin typeface="+mj-lt"/>
                <a:ea typeface="+mn-ea"/>
              </a:rPr>
              <a:t>：</a:t>
            </a:r>
            <a:endParaRPr lang="en-US" sz="1400">
              <a:solidFill>
                <a:schemeClr val="tx1"/>
              </a:solidFill>
              <a:latin typeface="+mj-lt"/>
              <a:ea typeface="+mn-ea"/>
            </a:endParaRPr>
          </a:p>
        </p:txBody>
      </p:sp>
      <p:sp>
        <p:nvSpPr>
          <p:cNvPr id="47" name="標題 1">
            <a:extLst>
              <a:ext uri="{FF2B5EF4-FFF2-40B4-BE49-F238E27FC236}">
                <a16:creationId xmlns:a16="http://schemas.microsoft.com/office/drawing/2014/main" id="{CA67BEDC-D239-4ED3-862E-B642F84DA4A2}"/>
              </a:ext>
            </a:extLst>
          </p:cNvPr>
          <p:cNvSpPr txBox="1">
            <a:spLocks/>
          </p:cNvSpPr>
          <p:nvPr userDrawn="1"/>
        </p:nvSpPr>
        <p:spPr>
          <a:xfrm>
            <a:off x="302186" y="142006"/>
            <a:ext cx="1760295"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a:solidFill>
                  <a:schemeClr val="tx1"/>
                </a:solidFill>
                <a:latin typeface="+mn-lt"/>
                <a:ea typeface="+mn-ea"/>
              </a:rPr>
              <a:t>Team</a:t>
            </a:r>
            <a:r>
              <a:rPr lang="zh-CN" altLang="en-US" sz="1400">
                <a:solidFill>
                  <a:schemeClr val="tx1"/>
                </a:solidFill>
                <a:latin typeface="+mn-ea"/>
                <a:ea typeface="+mn-ea"/>
              </a:rPr>
              <a:t>：</a:t>
            </a:r>
            <a:r>
              <a:rPr lang="en-US" altLang="zh-CN" sz="1400">
                <a:solidFill>
                  <a:schemeClr val="tx1"/>
                </a:solidFill>
                <a:latin typeface="+mj-lt"/>
                <a:ea typeface="+mn-ea"/>
              </a:rPr>
              <a:t>Core</a:t>
            </a:r>
            <a:endParaRPr lang="en-US" sz="1400">
              <a:solidFill>
                <a:schemeClr val="tx1"/>
              </a:solidFill>
              <a:latin typeface="+mj-lt"/>
              <a:ea typeface="+mn-ea"/>
            </a:endParaRPr>
          </a:p>
        </p:txBody>
      </p:sp>
    </p:spTree>
    <p:extLst>
      <p:ext uri="{BB962C8B-B14F-4D97-AF65-F5344CB8AC3E}">
        <p14:creationId xmlns:p14="http://schemas.microsoft.com/office/powerpoint/2010/main" val="803973733"/>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Presentation Cover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2621" y="2"/>
            <a:ext cx="12179379" cy="6850900"/>
          </a:xfrm>
          <a:prstGeom prst="rect">
            <a:avLst/>
          </a:prstGeom>
        </p:spPr>
      </p:pic>
      <p:sp>
        <p:nvSpPr>
          <p:cNvPr id="2"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868364"/>
            <a:ext cx="9144000" cy="1864899"/>
          </a:xfrm>
        </p:spPr>
        <p:txBody>
          <a:bodyPr anchor="b">
            <a:normAutofit/>
          </a:bodyPr>
          <a:lstStyle>
            <a:lvl1pPr algn="l">
              <a:lnSpc>
                <a:spcPct val="110000"/>
              </a:lnSpc>
              <a:defRPr sz="4267" b="0">
                <a:solidFill>
                  <a:schemeClr val="tx1"/>
                </a:solidFill>
                <a:latin typeface="+mj-lt"/>
                <a:ea typeface="Verdana" panose="020B0604030504040204" pitchFamily="34" charset="0"/>
              </a:defRPr>
            </a:lvl1pPr>
          </a:lstStyle>
          <a:p>
            <a:r>
              <a:rPr lang="en-US" altLang="zh-TW"/>
              <a:t>Presentation Title Goes Here</a:t>
            </a:r>
            <a:br>
              <a:rPr lang="en-US" altLang="zh-TW"/>
            </a:br>
            <a:r>
              <a:rPr lang="en-US" altLang="zh-TW"/>
              <a:t>Maximum 2 Lines (32pt)</a:t>
            </a:r>
            <a:endParaRPr lang="en-US"/>
          </a:p>
        </p:txBody>
      </p:sp>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76663" y="5638388"/>
            <a:ext cx="1534793" cy="351251"/>
          </a:xfrm>
        </p:spPr>
        <p:txBody>
          <a:bodyPr/>
          <a:lstStyle>
            <a:lvl1pPr>
              <a:defRPr sz="1467">
                <a:solidFill>
                  <a:schemeClr val="bg1"/>
                </a:solidFill>
              </a:defRPr>
            </a:lvl1pPr>
          </a:lstStyle>
          <a:p>
            <a:r>
              <a:rPr lang="en-US"/>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2411455" y="5638388"/>
            <a:ext cx="4114800" cy="365125"/>
          </a:xfrm>
          <a:prstGeom prst="rect">
            <a:avLst/>
          </a:prstGeom>
        </p:spPr>
        <p:txBody>
          <a:bodyPr vert="horz" lIns="91440" tIns="45720" rIns="91440" bIns="45720" rtlCol="0" anchor="ctr"/>
          <a:lstStyle>
            <a:lvl1pPr algn="l">
              <a:defRPr sz="1467" u="none">
                <a:solidFill>
                  <a:schemeClr val="bg1"/>
                </a:solidFill>
                <a:latin typeface="+mj-lt"/>
              </a:defRPr>
            </a:lvl1pPr>
          </a:lstStyle>
          <a:p>
            <a:r>
              <a:rPr lang="zh-TW" altLang="en-US"/>
              <a:t>簡報人姓名</a:t>
            </a:r>
            <a:endParaRPr lang="en-US"/>
          </a:p>
        </p:txBody>
      </p:sp>
    </p:spTree>
    <p:extLst>
      <p:ext uri="{BB962C8B-B14F-4D97-AF65-F5344CB8AC3E}">
        <p14:creationId xmlns:p14="http://schemas.microsoft.com/office/powerpoint/2010/main" val="3881246458"/>
      </p:ext>
    </p:extLst>
  </p:cSld>
  <p:clrMapOvr>
    <a:masterClrMapping/>
  </p:clrMapOvr>
  <p:extLst>
    <p:ext uri="{DCECCB84-F9BA-43D5-87BE-67443E8EF086}">
      <p15:sldGuideLst xmlns:p15="http://schemas.microsoft.com/office/powerpoint/2012/main"/>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Cover Page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 y="2"/>
            <a:ext cx="12179379" cy="6850900"/>
          </a:xfrm>
          <a:prstGeom prst="rect">
            <a:avLst/>
          </a:prstGeom>
        </p:spPr>
      </p:pic>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18912" y="5705763"/>
            <a:ext cx="2010917" cy="319651"/>
          </a:xfrm>
        </p:spPr>
        <p:txBody>
          <a:bodyPr/>
          <a:lstStyle>
            <a:lvl1pPr>
              <a:defRPr sz="1800">
                <a:solidFill>
                  <a:schemeClr val="bg1"/>
                </a:solidFill>
              </a:defRPr>
            </a:lvl1pPr>
          </a:lstStyle>
          <a:p>
            <a:r>
              <a:rPr lang="en-US"/>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838897" y="5333736"/>
            <a:ext cx="4114800" cy="365125"/>
          </a:xfrm>
          <a:prstGeom prst="rect">
            <a:avLst/>
          </a:prstGeom>
        </p:spPr>
        <p:txBody>
          <a:bodyPr vert="horz" lIns="91440" tIns="45720" rIns="91440" bIns="45720" rtlCol="0" anchor="ctr"/>
          <a:lstStyle>
            <a:lvl1pPr algn="l">
              <a:defRPr sz="1800" u="none">
                <a:solidFill>
                  <a:schemeClr val="bg1"/>
                </a:solidFill>
                <a:latin typeface="Arial" panose="020B0604020202020204" pitchFamily="34" charset="0"/>
                <a:cs typeface="Arial" panose="020B0604020202020204" pitchFamily="34" charset="0"/>
              </a:defRPr>
            </a:lvl1pPr>
          </a:lstStyle>
          <a:p>
            <a:r>
              <a:rPr lang="en-US" altLang="zh-TW"/>
              <a:t>Presenter Name</a:t>
            </a:r>
            <a:r>
              <a:rPr lang="zh-TW" altLang="en-US"/>
              <a:t>｜</a:t>
            </a:r>
            <a:r>
              <a:rPr lang="en-US" altLang="zh-TW"/>
              <a:t>Department </a:t>
            </a:r>
            <a:endParaRPr lang="en-US"/>
          </a:p>
        </p:txBody>
      </p:sp>
      <p:sp>
        <p:nvSpPr>
          <p:cNvPr id="10"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37873"/>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a:t>Presentation Title Goes Here</a:t>
            </a:r>
            <a:br>
              <a:rPr lang="en-US" altLang="zh-TW"/>
            </a:br>
            <a:r>
              <a:rPr lang="en-US" altLang="zh-TW"/>
              <a:t>Maximum 2 Lines (32-46pt)</a:t>
            </a:r>
            <a:endParaRPr lang="en-US"/>
          </a:p>
        </p:txBody>
      </p:sp>
      <p:sp>
        <p:nvSpPr>
          <p:cNvPr id="11" name="文字版面配置區 4">
            <a:extLst>
              <a:ext uri="{FF2B5EF4-FFF2-40B4-BE49-F238E27FC236}">
                <a16:creationId xmlns:a16="http://schemas.microsoft.com/office/drawing/2014/main" id="{35B9A589-C73E-46B0-B30E-8BBC42A4E098}"/>
              </a:ext>
            </a:extLst>
          </p:cNvPr>
          <p:cNvSpPr>
            <a:spLocks noGrp="1"/>
          </p:cNvSpPr>
          <p:nvPr>
            <p:ph type="body" sz="quarter" idx="12" hasCustomPrompt="1"/>
          </p:nvPr>
        </p:nvSpPr>
        <p:spPr>
          <a:xfrm>
            <a:off x="934219" y="738192"/>
            <a:ext cx="2133447" cy="380427"/>
          </a:xfrm>
        </p:spPr>
        <p:txBody>
          <a:bodyPr>
            <a:normAutofit/>
          </a:bodyPr>
          <a:lstStyle>
            <a:lvl1pPr marL="0" indent="0">
              <a:buNone/>
              <a:defRPr sz="1800">
                <a:solidFill>
                  <a:srgbClr val="0070C0"/>
                </a:solidFill>
              </a:defRPr>
            </a:lvl1pPr>
          </a:lstStyle>
          <a:p>
            <a:pPr lvl="0"/>
            <a:r>
              <a:rPr lang="en-US" altLang="zh-TW"/>
              <a:t>Cover </a:t>
            </a:r>
            <a:r>
              <a:rPr lang="en-US" altLang="zh-TW" err="1"/>
              <a:t>Page_Image</a:t>
            </a:r>
            <a:endParaRPr lang="zh-TW" altLang="en-US"/>
          </a:p>
        </p:txBody>
      </p:sp>
    </p:spTree>
    <p:extLst>
      <p:ext uri="{BB962C8B-B14F-4D97-AF65-F5344CB8AC3E}">
        <p14:creationId xmlns:p14="http://schemas.microsoft.com/office/powerpoint/2010/main" val="103012081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130.xml"/><Relationship Id="rId3" Type="http://schemas.openxmlformats.org/officeDocument/2006/relationships/slideLayout" Target="../slideLayouts/slideLayout31.xml"/><Relationship Id="rId7" Type="http://schemas.openxmlformats.org/officeDocument/2006/relationships/slideLayout" Target="../slideLayouts/slideLayout70.xml"/><Relationship Id="rId12" Type="http://schemas.openxmlformats.org/officeDocument/2006/relationships/slideLayout" Target="../slideLayouts/slideLayout120.xml"/><Relationship Id="rId2" Type="http://schemas.openxmlformats.org/officeDocument/2006/relationships/slideLayout" Target="../slideLayouts/slideLayout210.xml"/><Relationship Id="rId1" Type="http://schemas.openxmlformats.org/officeDocument/2006/relationships/slideLayout" Target="../slideLayouts/slideLayout110.xml"/><Relationship Id="rId6" Type="http://schemas.openxmlformats.org/officeDocument/2006/relationships/slideLayout" Target="../slideLayouts/slideLayout60.xml"/><Relationship Id="rId11" Type="http://schemas.openxmlformats.org/officeDocument/2006/relationships/slideLayout" Target="../slideLayouts/slideLayout111.xml"/><Relationship Id="rId5" Type="http://schemas.openxmlformats.org/officeDocument/2006/relationships/slideLayout" Target="../slideLayouts/slideLayout50.xml"/><Relationship Id="rId10" Type="http://schemas.openxmlformats.org/officeDocument/2006/relationships/slideLayout" Target="../slideLayouts/slideLayout100.xml"/><Relationship Id="rId4" Type="http://schemas.openxmlformats.org/officeDocument/2006/relationships/slideLayout" Target="../slideLayouts/slideLayout40.xml"/><Relationship Id="rId9" Type="http://schemas.openxmlformats.org/officeDocument/2006/relationships/slideLayout" Target="../slideLayouts/slideLayout90.xml"/><Relationship Id="rId14"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84B288-D41F-4145-A1C0-E0281E1E2461}"/>
              </a:ext>
            </a:extLst>
          </p:cNvPr>
          <p:cNvSpPr>
            <a:spLocks noGrp="1"/>
          </p:cNvSpPr>
          <p:nvPr>
            <p:ph type="title"/>
          </p:nvPr>
        </p:nvSpPr>
        <p:spPr>
          <a:xfrm>
            <a:off x="406400" y="440357"/>
            <a:ext cx="11379200" cy="679396"/>
          </a:xfrm>
          <a:prstGeom prst="rect">
            <a:avLst/>
          </a:prstGeom>
        </p:spPr>
        <p:txBody>
          <a:bodyPr vert="horz" lIns="0" tIns="45720" rIns="0" bIns="45720" rtlCol="0" anchor="t">
            <a:normAutofit/>
          </a:bodyPr>
          <a:lstStyle/>
          <a:p>
            <a:r>
              <a:rPr lang="en-US" altLang="zh-TW" dirty="0"/>
              <a:t>Page Title Goes Here (32pt)</a:t>
            </a:r>
            <a:endParaRPr lang="en-US" dirty="0"/>
          </a:p>
        </p:txBody>
      </p:sp>
      <p:sp>
        <p:nvSpPr>
          <p:cNvPr id="3" name="文字版面配置區 2">
            <a:extLst>
              <a:ext uri="{FF2B5EF4-FFF2-40B4-BE49-F238E27FC236}">
                <a16:creationId xmlns:a16="http://schemas.microsoft.com/office/drawing/2014/main" id="{23BE7FFB-6DD4-4C49-91B1-9DC75DF6EC07}"/>
              </a:ext>
            </a:extLst>
          </p:cNvPr>
          <p:cNvSpPr>
            <a:spLocks noGrp="1"/>
          </p:cNvSpPr>
          <p:nvPr>
            <p:ph type="body" idx="1"/>
          </p:nvPr>
        </p:nvSpPr>
        <p:spPr>
          <a:xfrm>
            <a:off x="406400" y="1170463"/>
            <a:ext cx="11379200" cy="4669631"/>
          </a:xfrm>
          <a:prstGeom prst="rect">
            <a:avLst/>
          </a:prstGeom>
        </p:spPr>
        <p:txBody>
          <a:bodyPr vert="horz" lIns="0" tIns="45720" rIns="0" bIns="45720" rtlCol="0">
            <a:normAutofit/>
          </a:bodyPr>
          <a:lstStyle/>
          <a:p>
            <a:pPr lvl="0"/>
            <a:r>
              <a:rPr lang="en-US" altLang="zh-TW" dirty="0"/>
              <a:t>Content goes here (24pt)</a:t>
            </a:r>
            <a:endParaRPr lang="en-US" dirty="0"/>
          </a:p>
        </p:txBody>
      </p:sp>
      <p:sp>
        <p:nvSpPr>
          <p:cNvPr id="4" name="日期版面配置區 3">
            <a:extLst>
              <a:ext uri="{FF2B5EF4-FFF2-40B4-BE49-F238E27FC236}">
                <a16:creationId xmlns:a16="http://schemas.microsoft.com/office/drawing/2014/main" id="{1BBD7ECA-A67F-4BFF-9619-0DDD6E5A9229}"/>
              </a:ext>
            </a:extLst>
          </p:cNvPr>
          <p:cNvSpPr>
            <a:spLocks noGrp="1"/>
          </p:cNvSpPr>
          <p:nvPr>
            <p:ph type="dt" sz="half" idx="2"/>
          </p:nvPr>
        </p:nvSpPr>
        <p:spPr>
          <a:xfrm>
            <a:off x="6096000" y="6176268"/>
            <a:ext cx="2743200" cy="422101"/>
          </a:xfrm>
          <a:prstGeom prst="rect">
            <a:avLst/>
          </a:prstGeom>
        </p:spPr>
        <p:txBody>
          <a:bodyPr vert="horz" lIns="91440" tIns="45720" rIns="91440" bIns="45720" rtlCol="0" anchor="ctr"/>
          <a:lstStyle>
            <a:lvl1pPr algn="l">
              <a:defRPr sz="1200">
                <a:solidFill>
                  <a:schemeClr val="tx1"/>
                </a:solidFill>
              </a:defRPr>
            </a:lvl1pPr>
          </a:lstStyle>
          <a:p>
            <a:r>
              <a:rPr lang="en-US" dirty="0"/>
              <a:t>MM/DD/YYYY</a:t>
            </a:r>
          </a:p>
        </p:txBody>
      </p:sp>
      <p:sp>
        <p:nvSpPr>
          <p:cNvPr id="5" name="頁尾版面配置區 4">
            <a:extLst>
              <a:ext uri="{FF2B5EF4-FFF2-40B4-BE49-F238E27FC236}">
                <a16:creationId xmlns:a16="http://schemas.microsoft.com/office/drawing/2014/main" id="{989C03B7-7699-4072-AC6D-A339A44A7047}"/>
              </a:ext>
            </a:extLst>
          </p:cNvPr>
          <p:cNvSpPr>
            <a:spLocks noGrp="1"/>
          </p:cNvSpPr>
          <p:nvPr>
            <p:ph type="ftr" sz="quarter" idx="3"/>
          </p:nvPr>
        </p:nvSpPr>
        <p:spPr>
          <a:xfrm>
            <a:off x="843611" y="6191967"/>
            <a:ext cx="4114800" cy="437428"/>
          </a:xfrm>
          <a:prstGeom prst="rect">
            <a:avLst/>
          </a:prstGeom>
        </p:spPr>
        <p:txBody>
          <a:bodyPr vert="horz" lIns="91440" tIns="45720" rIns="91440" bIns="45720" rtlCol="0" anchor="ctr"/>
          <a:lstStyle>
            <a:lvl1pPr algn="l">
              <a:defRPr sz="1200" u="none">
                <a:solidFill>
                  <a:schemeClr val="tx1"/>
                </a:solidFill>
              </a:defRPr>
            </a:lvl1pPr>
          </a:lstStyle>
          <a:p>
            <a:r>
              <a:rPr lang="en-US" dirty="0"/>
              <a:t>Presenter Name</a:t>
            </a:r>
          </a:p>
        </p:txBody>
      </p:sp>
      <p:sp>
        <p:nvSpPr>
          <p:cNvPr id="6" name="投影片編號版面配置區 5">
            <a:extLst>
              <a:ext uri="{FF2B5EF4-FFF2-40B4-BE49-F238E27FC236}">
                <a16:creationId xmlns:a16="http://schemas.microsoft.com/office/drawing/2014/main" id="{9AC81264-E3A8-4919-AA46-612C30BB1B99}"/>
              </a:ext>
            </a:extLst>
          </p:cNvPr>
          <p:cNvSpPr>
            <a:spLocks noGrp="1"/>
          </p:cNvSpPr>
          <p:nvPr>
            <p:ph type="sldNum" sz="quarter" idx="4"/>
          </p:nvPr>
        </p:nvSpPr>
        <p:spPr>
          <a:xfrm>
            <a:off x="406404" y="6191968"/>
            <a:ext cx="401121" cy="422589"/>
          </a:xfrm>
          <a:prstGeom prst="rect">
            <a:avLst/>
          </a:prstGeom>
        </p:spPr>
        <p:txBody>
          <a:bodyPr vert="horz" lIns="91440" tIns="45720" rIns="91440" bIns="45720" rtlCol="0" anchor="ctr"/>
          <a:lstStyle>
            <a:lvl1pPr algn="l">
              <a:defRPr sz="1200">
                <a:solidFill>
                  <a:schemeClr val="tx1"/>
                </a:solidFill>
              </a:defRPr>
            </a:lvl1pPr>
          </a:lstStyle>
          <a:p>
            <a:fld id="{81BD21A8-5E88-4AE4-993C-2D76760CAD3D}" type="slidenum">
              <a:rPr lang="en-US" smtClean="0"/>
              <a:pPr/>
              <a:t>‹#›</a:t>
            </a:fld>
            <a:endParaRPr lang="en-US"/>
          </a:p>
        </p:txBody>
      </p:sp>
    </p:spTree>
    <p:extLst>
      <p:ext uri="{BB962C8B-B14F-4D97-AF65-F5344CB8AC3E}">
        <p14:creationId xmlns:p14="http://schemas.microsoft.com/office/powerpoint/2010/main" val="2793072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354"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89" indent="-228589" algn="l" defTabSz="914354" rtl="0" eaLnBrk="1" latinLnBrk="0" hangingPunct="1">
        <a:lnSpc>
          <a:spcPct val="90000"/>
        </a:lnSpc>
        <a:spcBef>
          <a:spcPts val="1000"/>
        </a:spcBef>
        <a:buClr>
          <a:schemeClr val="tx2"/>
        </a:buClr>
        <a:buFont typeface="Arial" panose="020B0604020202020204" pitchFamily="34" charset="0"/>
        <a:buChar char="•"/>
        <a:defRPr sz="24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84B288-D41F-4145-A1C0-E0281E1E2461}"/>
              </a:ext>
            </a:extLst>
          </p:cNvPr>
          <p:cNvSpPr>
            <a:spLocks noGrp="1"/>
          </p:cNvSpPr>
          <p:nvPr>
            <p:ph type="title"/>
          </p:nvPr>
        </p:nvSpPr>
        <p:spPr>
          <a:xfrm>
            <a:off x="406400" y="440356"/>
            <a:ext cx="11379200" cy="679396"/>
          </a:xfrm>
          <a:prstGeom prst="rect">
            <a:avLst/>
          </a:prstGeom>
        </p:spPr>
        <p:txBody>
          <a:bodyPr vert="horz" lIns="0" tIns="45720" rIns="0" bIns="45720" rtlCol="0" anchor="t">
            <a:normAutofit/>
          </a:bodyPr>
          <a:lstStyle/>
          <a:p>
            <a:r>
              <a:rPr lang="en-US" altLang="zh-TW" dirty="0"/>
              <a:t>Page Title Goes Here (32pt)</a:t>
            </a:r>
            <a:endParaRPr lang="en-US" dirty="0"/>
          </a:p>
        </p:txBody>
      </p:sp>
      <p:sp>
        <p:nvSpPr>
          <p:cNvPr id="3" name="文字版面配置區 2">
            <a:extLst>
              <a:ext uri="{FF2B5EF4-FFF2-40B4-BE49-F238E27FC236}">
                <a16:creationId xmlns:a16="http://schemas.microsoft.com/office/drawing/2014/main" id="{23BE7FFB-6DD4-4C49-91B1-9DC75DF6EC07}"/>
              </a:ext>
            </a:extLst>
          </p:cNvPr>
          <p:cNvSpPr>
            <a:spLocks noGrp="1"/>
          </p:cNvSpPr>
          <p:nvPr>
            <p:ph type="body" idx="1"/>
          </p:nvPr>
        </p:nvSpPr>
        <p:spPr>
          <a:xfrm>
            <a:off x="406400" y="1170462"/>
            <a:ext cx="11379200" cy="4669631"/>
          </a:xfrm>
          <a:prstGeom prst="rect">
            <a:avLst/>
          </a:prstGeom>
        </p:spPr>
        <p:txBody>
          <a:bodyPr vert="horz" lIns="0" tIns="45720" rIns="0" bIns="45720" rtlCol="0">
            <a:normAutofit/>
          </a:bodyPr>
          <a:lstStyle/>
          <a:p>
            <a:pPr lvl="0"/>
            <a:r>
              <a:rPr lang="en-US" altLang="zh-TW" dirty="0"/>
              <a:t>Content goes here (24pt)</a:t>
            </a:r>
            <a:endParaRPr lang="en-US" dirty="0"/>
          </a:p>
        </p:txBody>
      </p:sp>
      <p:sp>
        <p:nvSpPr>
          <p:cNvPr id="4" name="日期版面配置區 3">
            <a:extLst>
              <a:ext uri="{FF2B5EF4-FFF2-40B4-BE49-F238E27FC236}">
                <a16:creationId xmlns:a16="http://schemas.microsoft.com/office/drawing/2014/main" id="{1BBD7ECA-A67F-4BFF-9619-0DDD6E5A9229}"/>
              </a:ext>
            </a:extLst>
          </p:cNvPr>
          <p:cNvSpPr>
            <a:spLocks noGrp="1"/>
          </p:cNvSpPr>
          <p:nvPr>
            <p:ph type="dt" sz="half" idx="2"/>
          </p:nvPr>
        </p:nvSpPr>
        <p:spPr>
          <a:xfrm>
            <a:off x="6096000" y="6176267"/>
            <a:ext cx="2743200" cy="422101"/>
          </a:xfrm>
          <a:prstGeom prst="rect">
            <a:avLst/>
          </a:prstGeom>
        </p:spPr>
        <p:txBody>
          <a:bodyPr vert="horz" lIns="91440" tIns="45720" rIns="91440" bIns="45720" rtlCol="0" anchor="ctr"/>
          <a:lstStyle>
            <a:lvl1pPr algn="l">
              <a:defRPr sz="1200">
                <a:solidFill>
                  <a:schemeClr val="tx1"/>
                </a:solidFill>
              </a:defRPr>
            </a:lvl1pPr>
          </a:lstStyle>
          <a:p>
            <a:r>
              <a:rPr lang="en-US" dirty="0"/>
              <a:t>MM/DD/YYYY</a:t>
            </a:r>
          </a:p>
        </p:txBody>
      </p:sp>
      <p:sp>
        <p:nvSpPr>
          <p:cNvPr id="5" name="頁尾版面配置區 4">
            <a:extLst>
              <a:ext uri="{FF2B5EF4-FFF2-40B4-BE49-F238E27FC236}">
                <a16:creationId xmlns:a16="http://schemas.microsoft.com/office/drawing/2014/main" id="{989C03B7-7699-4072-AC6D-A339A44A7047}"/>
              </a:ext>
            </a:extLst>
          </p:cNvPr>
          <p:cNvSpPr>
            <a:spLocks noGrp="1"/>
          </p:cNvSpPr>
          <p:nvPr>
            <p:ph type="ftr" sz="quarter" idx="3"/>
          </p:nvPr>
        </p:nvSpPr>
        <p:spPr>
          <a:xfrm>
            <a:off x="843611" y="6191967"/>
            <a:ext cx="4114800" cy="437428"/>
          </a:xfrm>
          <a:prstGeom prst="rect">
            <a:avLst/>
          </a:prstGeom>
        </p:spPr>
        <p:txBody>
          <a:bodyPr vert="horz" lIns="91440" tIns="45720" rIns="91440" bIns="45720" rtlCol="0" anchor="ctr"/>
          <a:lstStyle>
            <a:lvl1pPr algn="l">
              <a:defRPr sz="1200" u="none">
                <a:solidFill>
                  <a:schemeClr val="tx1"/>
                </a:solidFill>
              </a:defRPr>
            </a:lvl1pPr>
          </a:lstStyle>
          <a:p>
            <a:r>
              <a:rPr lang="en-US" dirty="0"/>
              <a:t>Presenter Name</a:t>
            </a:r>
          </a:p>
        </p:txBody>
      </p:sp>
      <p:sp>
        <p:nvSpPr>
          <p:cNvPr id="6" name="投影片編號版面配置區 5">
            <a:extLst>
              <a:ext uri="{FF2B5EF4-FFF2-40B4-BE49-F238E27FC236}">
                <a16:creationId xmlns:a16="http://schemas.microsoft.com/office/drawing/2014/main" id="{9AC81264-E3A8-4919-AA46-612C30BB1B99}"/>
              </a:ext>
            </a:extLst>
          </p:cNvPr>
          <p:cNvSpPr>
            <a:spLocks noGrp="1"/>
          </p:cNvSpPr>
          <p:nvPr>
            <p:ph type="sldNum" sz="quarter" idx="4"/>
          </p:nvPr>
        </p:nvSpPr>
        <p:spPr>
          <a:xfrm>
            <a:off x="406402" y="6191968"/>
            <a:ext cx="401121" cy="422589"/>
          </a:xfrm>
          <a:prstGeom prst="rect">
            <a:avLst/>
          </a:prstGeom>
        </p:spPr>
        <p:txBody>
          <a:bodyPr vert="horz" lIns="91440" tIns="45720" rIns="91440" bIns="45720" rtlCol="0" anchor="ctr"/>
          <a:lstStyle>
            <a:lvl1pPr algn="l">
              <a:defRPr sz="1200">
                <a:solidFill>
                  <a:schemeClr val="tx1"/>
                </a:solidFill>
              </a:defRPr>
            </a:lvl1pPr>
          </a:lstStyle>
          <a:p>
            <a:fld id="{81BD21A8-5E88-4AE4-993C-2D76760CAD3D}" type="slidenum">
              <a:rPr lang="en-US" smtClean="0"/>
              <a:pPr/>
              <a:t>‹#›</a:t>
            </a:fld>
            <a:endParaRPr lang="en-US" dirty="0"/>
          </a:p>
        </p:txBody>
      </p:sp>
    </p:spTree>
    <p:extLst>
      <p:ext uri="{BB962C8B-B14F-4D97-AF65-F5344CB8AC3E}">
        <p14:creationId xmlns:p14="http://schemas.microsoft.com/office/powerpoint/2010/main" val="134642589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hf hdr="0"/>
  <p:txStyles>
    <p:title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84B288-D41F-4145-A1C0-E0281E1E2461}"/>
              </a:ext>
            </a:extLst>
          </p:cNvPr>
          <p:cNvSpPr>
            <a:spLocks noGrp="1"/>
          </p:cNvSpPr>
          <p:nvPr>
            <p:ph type="title"/>
          </p:nvPr>
        </p:nvSpPr>
        <p:spPr>
          <a:xfrm>
            <a:off x="406400" y="440356"/>
            <a:ext cx="11379200" cy="679396"/>
          </a:xfrm>
          <a:prstGeom prst="rect">
            <a:avLst/>
          </a:prstGeom>
        </p:spPr>
        <p:txBody>
          <a:bodyPr vert="horz" lIns="0" tIns="45720" rIns="0" bIns="45720" rtlCol="0" anchor="t">
            <a:normAutofit/>
          </a:bodyPr>
          <a:lstStyle/>
          <a:p>
            <a:r>
              <a:rPr lang="en-US" altLang="zh-TW" dirty="0"/>
              <a:t>Page Title Goes Here (32pt)</a:t>
            </a:r>
            <a:endParaRPr lang="en-US" dirty="0"/>
          </a:p>
        </p:txBody>
      </p:sp>
      <p:sp>
        <p:nvSpPr>
          <p:cNvPr id="3" name="文字版面配置區 2">
            <a:extLst>
              <a:ext uri="{FF2B5EF4-FFF2-40B4-BE49-F238E27FC236}">
                <a16:creationId xmlns:a16="http://schemas.microsoft.com/office/drawing/2014/main" id="{23BE7FFB-6DD4-4C49-91B1-9DC75DF6EC07}"/>
              </a:ext>
            </a:extLst>
          </p:cNvPr>
          <p:cNvSpPr>
            <a:spLocks noGrp="1"/>
          </p:cNvSpPr>
          <p:nvPr>
            <p:ph type="body" idx="1"/>
          </p:nvPr>
        </p:nvSpPr>
        <p:spPr>
          <a:xfrm>
            <a:off x="406400" y="1170462"/>
            <a:ext cx="11379200" cy="4669631"/>
          </a:xfrm>
          <a:prstGeom prst="rect">
            <a:avLst/>
          </a:prstGeom>
        </p:spPr>
        <p:txBody>
          <a:bodyPr vert="horz" lIns="0" tIns="45720" rIns="0" bIns="45720" rtlCol="0">
            <a:normAutofit/>
          </a:bodyPr>
          <a:lstStyle/>
          <a:p>
            <a:pPr lvl="0"/>
            <a:r>
              <a:rPr lang="en-US" altLang="zh-TW" dirty="0"/>
              <a:t>Content goes here (24pt)</a:t>
            </a:r>
            <a:endParaRPr lang="en-US" dirty="0"/>
          </a:p>
        </p:txBody>
      </p:sp>
      <p:sp>
        <p:nvSpPr>
          <p:cNvPr id="4" name="日期版面配置區 3">
            <a:extLst>
              <a:ext uri="{FF2B5EF4-FFF2-40B4-BE49-F238E27FC236}">
                <a16:creationId xmlns:a16="http://schemas.microsoft.com/office/drawing/2014/main" id="{1BBD7ECA-A67F-4BFF-9619-0DDD6E5A9229}"/>
              </a:ext>
            </a:extLst>
          </p:cNvPr>
          <p:cNvSpPr>
            <a:spLocks noGrp="1"/>
          </p:cNvSpPr>
          <p:nvPr>
            <p:ph type="dt" sz="half" idx="2"/>
          </p:nvPr>
        </p:nvSpPr>
        <p:spPr>
          <a:xfrm>
            <a:off x="6096000" y="6176267"/>
            <a:ext cx="2743200" cy="422101"/>
          </a:xfrm>
          <a:prstGeom prst="rect">
            <a:avLst/>
          </a:prstGeom>
        </p:spPr>
        <p:txBody>
          <a:bodyPr vert="horz" lIns="91440" tIns="45720" rIns="91440" bIns="45720" rtlCol="0" anchor="ctr"/>
          <a:lstStyle>
            <a:lvl1pPr algn="l">
              <a:defRPr sz="1200">
                <a:solidFill>
                  <a:schemeClr val="tx1"/>
                </a:solidFill>
              </a:defRPr>
            </a:lvl1pPr>
          </a:lstStyle>
          <a:p>
            <a:r>
              <a:rPr lang="en-US" dirty="0"/>
              <a:t>MM/DD/YYYY</a:t>
            </a:r>
          </a:p>
        </p:txBody>
      </p:sp>
      <p:sp>
        <p:nvSpPr>
          <p:cNvPr id="5" name="頁尾版面配置區 4">
            <a:extLst>
              <a:ext uri="{FF2B5EF4-FFF2-40B4-BE49-F238E27FC236}">
                <a16:creationId xmlns:a16="http://schemas.microsoft.com/office/drawing/2014/main" id="{989C03B7-7699-4072-AC6D-A339A44A7047}"/>
              </a:ext>
            </a:extLst>
          </p:cNvPr>
          <p:cNvSpPr>
            <a:spLocks noGrp="1"/>
          </p:cNvSpPr>
          <p:nvPr>
            <p:ph type="ftr" sz="quarter" idx="3"/>
          </p:nvPr>
        </p:nvSpPr>
        <p:spPr>
          <a:xfrm>
            <a:off x="843611" y="6191967"/>
            <a:ext cx="4114800" cy="437428"/>
          </a:xfrm>
          <a:prstGeom prst="rect">
            <a:avLst/>
          </a:prstGeom>
        </p:spPr>
        <p:txBody>
          <a:bodyPr vert="horz" lIns="91440" tIns="45720" rIns="91440" bIns="45720" rtlCol="0" anchor="ctr"/>
          <a:lstStyle>
            <a:lvl1pPr algn="l">
              <a:defRPr sz="1200" u="none">
                <a:solidFill>
                  <a:schemeClr val="tx1"/>
                </a:solidFill>
              </a:defRPr>
            </a:lvl1pPr>
          </a:lstStyle>
          <a:p>
            <a:r>
              <a:rPr lang="en-US" dirty="0"/>
              <a:t>Presenter Name</a:t>
            </a:r>
          </a:p>
        </p:txBody>
      </p:sp>
      <p:sp>
        <p:nvSpPr>
          <p:cNvPr id="6" name="投影片編號版面配置區 5">
            <a:extLst>
              <a:ext uri="{FF2B5EF4-FFF2-40B4-BE49-F238E27FC236}">
                <a16:creationId xmlns:a16="http://schemas.microsoft.com/office/drawing/2014/main" id="{9AC81264-E3A8-4919-AA46-612C30BB1B99}"/>
              </a:ext>
            </a:extLst>
          </p:cNvPr>
          <p:cNvSpPr>
            <a:spLocks noGrp="1"/>
          </p:cNvSpPr>
          <p:nvPr>
            <p:ph type="sldNum" sz="quarter" idx="4"/>
          </p:nvPr>
        </p:nvSpPr>
        <p:spPr>
          <a:xfrm>
            <a:off x="406402" y="6191968"/>
            <a:ext cx="401121" cy="422589"/>
          </a:xfrm>
          <a:prstGeom prst="rect">
            <a:avLst/>
          </a:prstGeom>
        </p:spPr>
        <p:txBody>
          <a:bodyPr vert="horz" lIns="91440" tIns="45720" rIns="91440" bIns="45720" rtlCol="0" anchor="ctr"/>
          <a:lstStyle>
            <a:lvl1pPr algn="l">
              <a:defRPr sz="1200">
                <a:solidFill>
                  <a:schemeClr val="tx1"/>
                </a:solidFill>
              </a:defRPr>
            </a:lvl1pPr>
          </a:lstStyle>
          <a:p>
            <a:fld id="{81BD21A8-5E88-4AE4-993C-2D76760CAD3D}" type="slidenum">
              <a:rPr lang="en-US" smtClean="0"/>
              <a:pPr/>
              <a:t>‹#›</a:t>
            </a:fld>
            <a:endParaRPr lang="en-US"/>
          </a:p>
        </p:txBody>
      </p:sp>
    </p:spTree>
    <p:extLst>
      <p:ext uri="{BB962C8B-B14F-4D97-AF65-F5344CB8AC3E}">
        <p14:creationId xmlns:p14="http://schemas.microsoft.com/office/powerpoint/2010/main" val="136319085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Lst>
  <p:hf hdr="0"/>
  <p:txStyles>
    <p:titleStyle>
      <a:lvl1pPr algn="l" defTabSz="914377"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84B288-D41F-4145-A1C0-E0281E1E2461}"/>
              </a:ext>
            </a:extLst>
          </p:cNvPr>
          <p:cNvSpPr>
            <a:spLocks noGrp="1"/>
          </p:cNvSpPr>
          <p:nvPr>
            <p:ph type="title"/>
          </p:nvPr>
        </p:nvSpPr>
        <p:spPr>
          <a:xfrm>
            <a:off x="406400" y="440357"/>
            <a:ext cx="11379200" cy="679396"/>
          </a:xfrm>
          <a:prstGeom prst="rect">
            <a:avLst/>
          </a:prstGeom>
        </p:spPr>
        <p:txBody>
          <a:bodyPr vert="horz" lIns="0" tIns="45720" rIns="0" bIns="45720" rtlCol="0" anchor="t">
            <a:normAutofit/>
          </a:bodyPr>
          <a:lstStyle/>
          <a:p>
            <a:r>
              <a:rPr lang="en-US" altLang="zh-TW"/>
              <a:t>Page Title Goes Here (32pt)</a:t>
            </a:r>
            <a:endParaRPr lang="en-US"/>
          </a:p>
        </p:txBody>
      </p:sp>
      <p:sp>
        <p:nvSpPr>
          <p:cNvPr id="3" name="文字版面配置區 2">
            <a:extLst>
              <a:ext uri="{FF2B5EF4-FFF2-40B4-BE49-F238E27FC236}">
                <a16:creationId xmlns:a16="http://schemas.microsoft.com/office/drawing/2014/main" id="{23BE7FFB-6DD4-4C49-91B1-9DC75DF6EC07}"/>
              </a:ext>
            </a:extLst>
          </p:cNvPr>
          <p:cNvSpPr>
            <a:spLocks noGrp="1"/>
          </p:cNvSpPr>
          <p:nvPr>
            <p:ph type="body" idx="1"/>
          </p:nvPr>
        </p:nvSpPr>
        <p:spPr>
          <a:xfrm>
            <a:off x="406400" y="1170463"/>
            <a:ext cx="11379200" cy="4669631"/>
          </a:xfrm>
          <a:prstGeom prst="rect">
            <a:avLst/>
          </a:prstGeom>
        </p:spPr>
        <p:txBody>
          <a:bodyPr vert="horz" lIns="0" tIns="45720" rIns="0" bIns="45720" rtlCol="0">
            <a:normAutofit/>
          </a:bodyPr>
          <a:lstStyle/>
          <a:p>
            <a:pPr lvl="0"/>
            <a:r>
              <a:rPr lang="en-US" altLang="zh-TW"/>
              <a:t>Content goes here (24pt)</a:t>
            </a:r>
            <a:endParaRPr lang="en-US"/>
          </a:p>
        </p:txBody>
      </p:sp>
      <p:sp>
        <p:nvSpPr>
          <p:cNvPr id="4" name="日期版面配置區 3">
            <a:extLst>
              <a:ext uri="{FF2B5EF4-FFF2-40B4-BE49-F238E27FC236}">
                <a16:creationId xmlns:a16="http://schemas.microsoft.com/office/drawing/2014/main" id="{1BBD7ECA-A67F-4BFF-9619-0DDD6E5A9229}"/>
              </a:ext>
            </a:extLst>
          </p:cNvPr>
          <p:cNvSpPr>
            <a:spLocks noGrp="1"/>
          </p:cNvSpPr>
          <p:nvPr>
            <p:ph type="dt" sz="half" idx="2"/>
          </p:nvPr>
        </p:nvSpPr>
        <p:spPr>
          <a:xfrm>
            <a:off x="6096000" y="6176268"/>
            <a:ext cx="2743200" cy="422101"/>
          </a:xfrm>
          <a:prstGeom prst="rect">
            <a:avLst/>
          </a:prstGeom>
        </p:spPr>
        <p:txBody>
          <a:bodyPr vert="horz" lIns="91440" tIns="45720" rIns="91440" bIns="45720" rtlCol="0" anchor="ctr"/>
          <a:lstStyle>
            <a:lvl1pPr algn="l">
              <a:defRPr sz="1200">
                <a:solidFill>
                  <a:schemeClr val="tx1"/>
                </a:solidFill>
              </a:defRPr>
            </a:lvl1pPr>
          </a:lstStyle>
          <a:p>
            <a:r>
              <a:rPr lang="en-US"/>
              <a:t>MM/DD/YYYY</a:t>
            </a:r>
          </a:p>
        </p:txBody>
      </p:sp>
      <p:sp>
        <p:nvSpPr>
          <p:cNvPr id="5" name="頁尾版面配置區 4">
            <a:extLst>
              <a:ext uri="{FF2B5EF4-FFF2-40B4-BE49-F238E27FC236}">
                <a16:creationId xmlns:a16="http://schemas.microsoft.com/office/drawing/2014/main" id="{989C03B7-7699-4072-AC6D-A339A44A7047}"/>
              </a:ext>
            </a:extLst>
          </p:cNvPr>
          <p:cNvSpPr>
            <a:spLocks noGrp="1"/>
          </p:cNvSpPr>
          <p:nvPr>
            <p:ph type="ftr" sz="quarter" idx="3"/>
          </p:nvPr>
        </p:nvSpPr>
        <p:spPr>
          <a:xfrm>
            <a:off x="843611" y="6191967"/>
            <a:ext cx="4114800" cy="437428"/>
          </a:xfrm>
          <a:prstGeom prst="rect">
            <a:avLst/>
          </a:prstGeom>
        </p:spPr>
        <p:txBody>
          <a:bodyPr vert="horz" lIns="91440" tIns="45720" rIns="91440" bIns="45720" rtlCol="0" anchor="ctr"/>
          <a:lstStyle>
            <a:lvl1pPr algn="l">
              <a:defRPr sz="1200" u="none">
                <a:solidFill>
                  <a:schemeClr val="tx1"/>
                </a:solidFill>
              </a:defRPr>
            </a:lvl1pPr>
          </a:lstStyle>
          <a:p>
            <a:r>
              <a:rPr lang="en-US"/>
              <a:t>Presenter Name</a:t>
            </a:r>
          </a:p>
        </p:txBody>
      </p:sp>
      <p:sp>
        <p:nvSpPr>
          <p:cNvPr id="6" name="投影片編號版面配置區 5">
            <a:extLst>
              <a:ext uri="{FF2B5EF4-FFF2-40B4-BE49-F238E27FC236}">
                <a16:creationId xmlns:a16="http://schemas.microsoft.com/office/drawing/2014/main" id="{9AC81264-E3A8-4919-AA46-612C30BB1B99}"/>
              </a:ext>
            </a:extLst>
          </p:cNvPr>
          <p:cNvSpPr>
            <a:spLocks noGrp="1"/>
          </p:cNvSpPr>
          <p:nvPr>
            <p:ph type="sldNum" sz="quarter" idx="4"/>
          </p:nvPr>
        </p:nvSpPr>
        <p:spPr>
          <a:xfrm>
            <a:off x="406404" y="6191968"/>
            <a:ext cx="401121" cy="422589"/>
          </a:xfrm>
          <a:prstGeom prst="rect">
            <a:avLst/>
          </a:prstGeom>
        </p:spPr>
        <p:txBody>
          <a:bodyPr vert="horz" lIns="91440" tIns="45720" rIns="91440" bIns="45720" rtlCol="0" anchor="ctr"/>
          <a:lstStyle>
            <a:lvl1pPr algn="l">
              <a:defRPr sz="1200">
                <a:solidFill>
                  <a:schemeClr val="tx1"/>
                </a:solidFill>
              </a:defRPr>
            </a:lvl1pPr>
          </a:lstStyle>
          <a:p>
            <a:fld id="{81BD21A8-5E88-4AE4-993C-2D76760CAD3D}" type="slidenum">
              <a:rPr lang="en-US" smtClean="0"/>
              <a:pPr/>
              <a:t>‹#›</a:t>
            </a:fld>
            <a:endParaRPr lang="en-US"/>
          </a:p>
        </p:txBody>
      </p:sp>
    </p:spTree>
    <p:extLst>
      <p:ext uri="{BB962C8B-B14F-4D97-AF65-F5344CB8AC3E}">
        <p14:creationId xmlns:p14="http://schemas.microsoft.com/office/powerpoint/2010/main" val="2793072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354"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589" indent="-228589" algn="l" defTabSz="914354" rtl="0" eaLnBrk="1" latinLnBrk="0" hangingPunct="1">
        <a:lnSpc>
          <a:spcPct val="90000"/>
        </a:lnSpc>
        <a:spcBef>
          <a:spcPts val="1000"/>
        </a:spcBef>
        <a:buClr>
          <a:schemeClr val="tx2"/>
        </a:buClr>
        <a:buFont typeface="Arial" panose="020B0604020202020204" pitchFamily="34" charset="0"/>
        <a:buChar char="•"/>
        <a:defRPr sz="24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10.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slide" Target="slide27.xml"/><Relationship Id="rId2" Type="http://schemas.openxmlformats.org/officeDocument/2006/relationships/notesSlide" Target="../notesSlides/notesSlide1.xml"/><Relationship Id="rId16"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chart" Target="../charts/chart1.xml"/><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sv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deltao365-my.sharepoint.com/:w:/r/personal/chuck_sun_deltaww_com/Documents/ChuckSun/01_%E6%95%B8%E6%93%9A%E4%B8%AD%E5%8F%B0/99_Projects/01.%20%E6%95%B8%E6%93%9A%E4%B8%AD%E5%8F%B0POC_Run1/99.%20Documents/%E6%95%B8%E6%93%9A%E4%B8%AD%E5%8F%B0%E5%8A%9F%E8%83%BD%E5%B7%A5%E5%85%B7%E9%81%B8%E5%9E%8B%E5%A0%B1%E5%91%8A%E6%9B%B8_20241220.docx?d=w29f14e3c217a47aea6be5c7890d35120&amp;csf=1&amp;web=1&amp;e=N5ellq" TargetMode="Externa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18" Type="http://schemas.openxmlformats.org/officeDocument/2006/relationships/image" Target="../media/image65.png"/><Relationship Id="rId3" Type="http://schemas.openxmlformats.org/officeDocument/2006/relationships/image" Target="../media/image50.jpeg"/><Relationship Id="rId21" Type="http://schemas.openxmlformats.org/officeDocument/2006/relationships/image" Target="../media/image68.png"/><Relationship Id="rId7" Type="http://schemas.openxmlformats.org/officeDocument/2006/relationships/image" Target="../media/image54.png"/><Relationship Id="rId12" Type="http://schemas.openxmlformats.org/officeDocument/2006/relationships/image" Target="../media/image59.png"/><Relationship Id="rId17" Type="http://schemas.openxmlformats.org/officeDocument/2006/relationships/image" Target="../media/image64.jpeg"/><Relationship Id="rId25" Type="http://schemas.openxmlformats.org/officeDocument/2006/relationships/image" Target="../media/image72.png"/><Relationship Id="rId2" Type="http://schemas.openxmlformats.org/officeDocument/2006/relationships/notesSlide" Target="../notesSlides/notesSlide16.xml"/><Relationship Id="rId16" Type="http://schemas.openxmlformats.org/officeDocument/2006/relationships/image" Target="../media/image63.png"/><Relationship Id="rId20" Type="http://schemas.openxmlformats.org/officeDocument/2006/relationships/image" Target="../media/image67.jpeg"/><Relationship Id="rId1" Type="http://schemas.openxmlformats.org/officeDocument/2006/relationships/slideLayout" Target="../slideLayouts/slideLayout8.xml"/><Relationship Id="rId6" Type="http://schemas.openxmlformats.org/officeDocument/2006/relationships/image" Target="../media/image53.png"/><Relationship Id="rId11" Type="http://schemas.openxmlformats.org/officeDocument/2006/relationships/image" Target="../media/image58.png"/><Relationship Id="rId24" Type="http://schemas.openxmlformats.org/officeDocument/2006/relationships/image" Target="../media/image71.png"/><Relationship Id="rId5" Type="http://schemas.openxmlformats.org/officeDocument/2006/relationships/image" Target="../media/image52.jpeg"/><Relationship Id="rId15" Type="http://schemas.openxmlformats.org/officeDocument/2006/relationships/image" Target="../media/image62.png"/><Relationship Id="rId23" Type="http://schemas.openxmlformats.org/officeDocument/2006/relationships/image" Target="../media/image70.png"/><Relationship Id="rId10" Type="http://schemas.openxmlformats.org/officeDocument/2006/relationships/image" Target="../media/image57.png"/><Relationship Id="rId19" Type="http://schemas.openxmlformats.org/officeDocument/2006/relationships/image" Target="../media/image66.png"/><Relationship Id="rId4" Type="http://schemas.openxmlformats.org/officeDocument/2006/relationships/image" Target="../media/image51.png"/><Relationship Id="rId9" Type="http://schemas.openxmlformats.org/officeDocument/2006/relationships/image" Target="../media/image56.png"/><Relationship Id="rId14" Type="http://schemas.openxmlformats.org/officeDocument/2006/relationships/image" Target="../media/image61.png"/><Relationship Id="rId22" Type="http://schemas.openxmlformats.org/officeDocument/2006/relationships/image" Target="../media/image6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roapi/roapi/issues/265" TargetMode="External"/><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6" Type="http://schemas.openxmlformats.org/officeDocument/2006/relationships/slide" Target="slide27.xml"/><Relationship Id="rId1" Type="http://schemas.openxmlformats.org/officeDocument/2006/relationships/slideLayout" Target="../slideLayouts/slideLayout50.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10.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chart" Target="../charts/char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D9E8D4D-0250-4F2E-9283-56208C1A98F6}"/>
              </a:ext>
            </a:extLst>
          </p:cNvPr>
          <p:cNvSpPr>
            <a:spLocks noGrp="1"/>
          </p:cNvSpPr>
          <p:nvPr>
            <p:ph type="ctrTitle" idx="4294967295"/>
          </p:nvPr>
        </p:nvSpPr>
        <p:spPr>
          <a:xfrm>
            <a:off x="896648" y="1118616"/>
            <a:ext cx="10502281" cy="1726183"/>
          </a:xfrm>
        </p:spPr>
        <p:txBody>
          <a:bodyPr>
            <a:normAutofit/>
          </a:bodyPr>
          <a:lstStyle/>
          <a:p>
            <a:r>
              <a:rPr lang="zh-TW" altLang="en-US" sz="3600" dirty="0"/>
              <a:t>數據中台 </a:t>
            </a:r>
            <a:r>
              <a:rPr lang="en-US" altLang="zh-CN" sz="3600" dirty="0"/>
              <a:t>PO</a:t>
            </a:r>
            <a:r>
              <a:rPr lang="en-US" altLang="zh-TW" sz="3600" dirty="0"/>
              <a:t>C1</a:t>
            </a:r>
            <a:r>
              <a:rPr lang="zh-CN" altLang="en-US" sz="3600" dirty="0"/>
              <a:t>專案</a:t>
            </a:r>
            <a:br>
              <a:rPr lang="en-US" altLang="zh-CN" sz="3600" dirty="0"/>
            </a:br>
            <a:r>
              <a:rPr lang="zh-CN" altLang="en-US" sz="3600" dirty="0"/>
              <a:t>結案報告</a:t>
            </a:r>
            <a:endParaRPr lang="en-US" sz="3600" dirty="0"/>
          </a:p>
        </p:txBody>
      </p:sp>
      <p:sp>
        <p:nvSpPr>
          <p:cNvPr id="9" name="文本占位符 3">
            <a:extLst>
              <a:ext uri="{FF2B5EF4-FFF2-40B4-BE49-F238E27FC236}">
                <a16:creationId xmlns:a16="http://schemas.microsoft.com/office/drawing/2014/main" id="{044EA91E-1B99-4682-A893-84563D6869AA}"/>
              </a:ext>
            </a:extLst>
          </p:cNvPr>
          <p:cNvSpPr txBox="1">
            <a:spLocks/>
          </p:cNvSpPr>
          <p:nvPr/>
        </p:nvSpPr>
        <p:spPr>
          <a:xfrm>
            <a:off x="10660512" y="409051"/>
            <a:ext cx="1692000" cy="290542"/>
          </a:xfrm>
          <a:prstGeom prst="rect">
            <a:avLst/>
          </a:prstGeom>
          <a:noFill/>
        </p:spPr>
        <p:txBody>
          <a:bodyPr vert="horz" wrap="none" lIns="0" tIns="0" rIns="0" bIns="0" anchor="ctr">
            <a:noAutofit/>
          </a:bodyPr>
          <a:lstStyle>
            <a:lvl1pPr marL="0" indent="0" algn="l" defTabSz="914377" rtl="0" eaLnBrk="1" latinLnBrk="0" hangingPunct="1">
              <a:lnSpc>
                <a:spcPct val="100000"/>
              </a:lnSpc>
              <a:spcBef>
                <a:spcPts val="0"/>
              </a:spcBef>
              <a:buClr>
                <a:schemeClr val="tx2"/>
              </a:buClr>
              <a:buFontTx/>
              <a:buNone/>
              <a:defRPr sz="1200" kern="1200">
                <a:solidFill>
                  <a:srgbClr val="C00000"/>
                </a:solidFill>
                <a:latin typeface="+mn-lt"/>
                <a:ea typeface="+mn-ea"/>
                <a:cs typeface="+mn-cs"/>
              </a:defRPr>
            </a:lvl1pPr>
            <a:lvl2pPr marL="685783" indent="-228594" algn="l" defTabSz="914377"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0"/>
              </a:spcBef>
              <a:spcAft>
                <a:spcPts val="0"/>
              </a:spcAft>
              <a:buClr>
                <a:srgbClr val="0087DC"/>
              </a:buClr>
              <a:buSzTx/>
              <a:buFontTx/>
              <a:buNone/>
              <a:tabLst/>
              <a:defRPr/>
            </a:pPr>
            <a:endParaRPr kumimoji="0" lang="zh-CN" altLang="en-US" sz="12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微軟正黑體"/>
              <a:cs typeface="Arial" panose="020B0604020202020204" pitchFamily="34" charset="0"/>
            </a:endParaRPr>
          </a:p>
        </p:txBody>
      </p:sp>
      <p:sp>
        <p:nvSpPr>
          <p:cNvPr id="4" name="矩形 3">
            <a:extLst>
              <a:ext uri="{FF2B5EF4-FFF2-40B4-BE49-F238E27FC236}">
                <a16:creationId xmlns:a16="http://schemas.microsoft.com/office/drawing/2014/main" id="{486EAC0E-4759-45B6-8ABF-F28E21DABFC9}"/>
              </a:ext>
            </a:extLst>
          </p:cNvPr>
          <p:cNvSpPr/>
          <p:nvPr/>
        </p:nvSpPr>
        <p:spPr>
          <a:xfrm>
            <a:off x="2315034" y="3454399"/>
            <a:ext cx="2223101" cy="338554"/>
          </a:xfrm>
          <a:prstGeom prst="rect">
            <a:avLst/>
          </a:prstGeom>
        </p:spPr>
        <p:txBody>
          <a:bodyPr wrap="square">
            <a:spAutoFit/>
          </a:bodyPr>
          <a:lstStyle/>
          <a:p>
            <a:pPr lvl="0" defTabSz="914354">
              <a:spcBef>
                <a:spcPts val="1000"/>
              </a:spcBef>
              <a:buClr>
                <a:srgbClr val="0087DC"/>
              </a:buClr>
            </a:pPr>
            <a:r>
              <a:rPr lang="en-US" altLang="zh-CN" sz="1600" b="1" dirty="0">
                <a:solidFill>
                  <a:schemeClr val="tx1"/>
                </a:solidFill>
              </a:rPr>
              <a:t>0~1</a:t>
            </a:r>
            <a:endParaRPr lang="en-US" altLang="zh-CN" sz="1600" b="1" dirty="0">
              <a:solidFill>
                <a:schemeClr val="bg1">
                  <a:lumMod val="50000"/>
                </a:schemeClr>
              </a:solidFill>
            </a:endParaRPr>
          </a:p>
        </p:txBody>
      </p:sp>
      <p:sp>
        <p:nvSpPr>
          <p:cNvPr id="10" name="矩形 9">
            <a:extLst>
              <a:ext uri="{FF2B5EF4-FFF2-40B4-BE49-F238E27FC236}">
                <a16:creationId xmlns:a16="http://schemas.microsoft.com/office/drawing/2014/main" id="{80308D31-D938-4210-852E-D8C0493F24A0}"/>
              </a:ext>
            </a:extLst>
          </p:cNvPr>
          <p:cNvSpPr/>
          <p:nvPr/>
        </p:nvSpPr>
        <p:spPr>
          <a:xfrm>
            <a:off x="2315034" y="3792953"/>
            <a:ext cx="2223101" cy="338554"/>
          </a:xfrm>
          <a:prstGeom prst="rect">
            <a:avLst/>
          </a:prstGeom>
        </p:spPr>
        <p:txBody>
          <a:bodyPr wrap="square">
            <a:spAutoFit/>
          </a:bodyPr>
          <a:lstStyle/>
          <a:p>
            <a:pPr lvl="0" defTabSz="914354">
              <a:spcBef>
                <a:spcPts val="1000"/>
              </a:spcBef>
              <a:buClr>
                <a:srgbClr val="0087DC"/>
              </a:buClr>
            </a:pPr>
            <a:r>
              <a:rPr lang="en-US" altLang="zh-CN" sz="1600" b="1" dirty="0"/>
              <a:t>20241225 v1</a:t>
            </a:r>
          </a:p>
        </p:txBody>
      </p:sp>
      <p:sp>
        <p:nvSpPr>
          <p:cNvPr id="11" name="矩形 10">
            <a:extLst>
              <a:ext uri="{FF2B5EF4-FFF2-40B4-BE49-F238E27FC236}">
                <a16:creationId xmlns:a16="http://schemas.microsoft.com/office/drawing/2014/main" id="{FCCC770F-35FD-4DBD-80D2-631103A13060}"/>
              </a:ext>
            </a:extLst>
          </p:cNvPr>
          <p:cNvSpPr/>
          <p:nvPr/>
        </p:nvSpPr>
        <p:spPr>
          <a:xfrm>
            <a:off x="2315034" y="4148217"/>
            <a:ext cx="2223101" cy="338554"/>
          </a:xfrm>
          <a:prstGeom prst="rect">
            <a:avLst/>
          </a:prstGeom>
        </p:spPr>
        <p:txBody>
          <a:bodyPr wrap="square">
            <a:spAutoFit/>
          </a:bodyPr>
          <a:lstStyle/>
          <a:p>
            <a:pPr lvl="0" defTabSz="914354">
              <a:spcBef>
                <a:spcPts val="1000"/>
              </a:spcBef>
              <a:buClr>
                <a:srgbClr val="0087DC"/>
              </a:buClr>
            </a:pPr>
            <a:r>
              <a:rPr lang="en-US" altLang="zh-CN" sz="1600" b="1" dirty="0">
                <a:ea typeface="+mn-ea"/>
              </a:rPr>
              <a:t>PM</a:t>
            </a:r>
            <a:r>
              <a:rPr lang="en-US" altLang="zh-TW" sz="1600" b="1" dirty="0">
                <a:ea typeface="+mn-ea"/>
              </a:rPr>
              <a:t>6W3</a:t>
            </a:r>
            <a:endParaRPr lang="en-US" altLang="zh-CN" sz="1600" b="1" dirty="0"/>
          </a:p>
        </p:txBody>
      </p:sp>
      <p:sp>
        <p:nvSpPr>
          <p:cNvPr id="12" name="矩形 11">
            <a:extLst>
              <a:ext uri="{FF2B5EF4-FFF2-40B4-BE49-F238E27FC236}">
                <a16:creationId xmlns:a16="http://schemas.microsoft.com/office/drawing/2014/main" id="{E16BB7D3-835E-405F-BF99-052A7811E792}"/>
              </a:ext>
            </a:extLst>
          </p:cNvPr>
          <p:cNvSpPr/>
          <p:nvPr/>
        </p:nvSpPr>
        <p:spPr>
          <a:xfrm>
            <a:off x="2315034" y="4461485"/>
            <a:ext cx="2223101" cy="338554"/>
          </a:xfrm>
          <a:prstGeom prst="rect">
            <a:avLst/>
          </a:prstGeom>
        </p:spPr>
        <p:txBody>
          <a:bodyPr wrap="square">
            <a:spAutoFit/>
          </a:bodyPr>
          <a:lstStyle/>
          <a:p>
            <a:pPr lvl="0" defTabSz="914354">
              <a:spcBef>
                <a:spcPts val="1000"/>
              </a:spcBef>
              <a:buClr>
                <a:srgbClr val="0087DC"/>
              </a:buClr>
            </a:pPr>
            <a:r>
              <a:rPr lang="en-US" altLang="zh-CN" sz="1600" b="1" dirty="0"/>
              <a:t>2024/12/31</a:t>
            </a:r>
          </a:p>
        </p:txBody>
      </p:sp>
      <p:sp>
        <p:nvSpPr>
          <p:cNvPr id="13" name="矩形 12">
            <a:extLst>
              <a:ext uri="{FF2B5EF4-FFF2-40B4-BE49-F238E27FC236}">
                <a16:creationId xmlns:a16="http://schemas.microsoft.com/office/drawing/2014/main" id="{91ECD410-6677-43D4-B8C8-DC7655266650}"/>
              </a:ext>
            </a:extLst>
          </p:cNvPr>
          <p:cNvSpPr/>
          <p:nvPr/>
        </p:nvSpPr>
        <p:spPr>
          <a:xfrm>
            <a:off x="2315034" y="4748229"/>
            <a:ext cx="2699728" cy="338554"/>
          </a:xfrm>
          <a:prstGeom prst="rect">
            <a:avLst/>
          </a:prstGeom>
        </p:spPr>
        <p:txBody>
          <a:bodyPr wrap="square">
            <a:spAutoFit/>
          </a:bodyPr>
          <a:lstStyle/>
          <a:p>
            <a:pPr defTabSz="914354">
              <a:spcBef>
                <a:spcPts val="1000"/>
              </a:spcBef>
              <a:buClr>
                <a:srgbClr val="0087DC"/>
              </a:buClr>
            </a:pPr>
            <a:r>
              <a:rPr lang="en-US" altLang="zh-TW" sz="1600" b="1" dirty="0"/>
              <a:t>SHARON.CS.LIN </a:t>
            </a:r>
            <a:r>
              <a:rPr lang="zh-TW" altLang="en-US" sz="1600" b="1" dirty="0"/>
              <a:t>林采馨</a:t>
            </a:r>
            <a:r>
              <a:rPr lang="en-US" altLang="zh-TW" sz="1600" b="1" dirty="0"/>
              <a:t> </a:t>
            </a:r>
            <a:endParaRPr lang="en-US" altLang="zh-TW" sz="1600" b="1" i="0" u="none" strike="noStrike" dirty="0">
              <a:effectLst/>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B9514FAC-EA4E-4731-92B7-8B35856F6EF6}"/>
              </a:ext>
            </a:extLst>
          </p:cNvPr>
          <p:cNvSpPr/>
          <p:nvPr/>
        </p:nvSpPr>
        <p:spPr>
          <a:xfrm>
            <a:off x="2315034" y="5086114"/>
            <a:ext cx="2223101" cy="713016"/>
          </a:xfrm>
          <a:prstGeom prst="rect">
            <a:avLst/>
          </a:prstGeom>
        </p:spPr>
        <p:txBody>
          <a:bodyPr wrap="square">
            <a:spAutoFit/>
          </a:bodyPr>
          <a:lstStyle/>
          <a:p>
            <a:pPr defTabSz="914354">
              <a:spcBef>
                <a:spcPts val="1000"/>
              </a:spcBef>
              <a:buClr>
                <a:srgbClr val="0087DC"/>
              </a:buClr>
            </a:pPr>
            <a:r>
              <a:rPr lang="en-US" altLang="zh-TW" sz="1600" b="1" dirty="0"/>
              <a:t>CHUCK.SUN </a:t>
            </a:r>
            <a:r>
              <a:rPr lang="zh-TW" altLang="en-US" sz="1600" b="1" dirty="0"/>
              <a:t>孫得皓</a:t>
            </a:r>
            <a:endParaRPr lang="en-US" altLang="zh-TW" sz="1600" b="1" i="0" u="none" strike="noStrike" dirty="0">
              <a:effectLst/>
              <a:latin typeface="微软雅黑" panose="020B0503020204020204" pitchFamily="34" charset="-122"/>
              <a:ea typeface="微软雅黑" panose="020B0503020204020204" pitchFamily="34" charset="-122"/>
            </a:endParaRPr>
          </a:p>
          <a:p>
            <a:pPr lvl="0" defTabSz="914354">
              <a:spcBef>
                <a:spcPts val="1000"/>
              </a:spcBef>
              <a:buClr>
                <a:srgbClr val="0087DC"/>
              </a:buClr>
            </a:pPr>
            <a:endParaRPr lang="en-US" altLang="zh-CN" sz="1600" b="1" dirty="0">
              <a:solidFill>
                <a:schemeClr val="bg1">
                  <a:lumMod val="50000"/>
                </a:schemeClr>
              </a:solidFill>
            </a:endParaRPr>
          </a:p>
        </p:txBody>
      </p:sp>
      <p:sp>
        <p:nvSpPr>
          <p:cNvPr id="15" name="矩形 14">
            <a:extLst>
              <a:ext uri="{FF2B5EF4-FFF2-40B4-BE49-F238E27FC236}">
                <a16:creationId xmlns:a16="http://schemas.microsoft.com/office/drawing/2014/main" id="{5FCA2824-A1EE-467E-BB7D-B67ADA8FA96E}"/>
              </a:ext>
            </a:extLst>
          </p:cNvPr>
          <p:cNvSpPr/>
          <p:nvPr/>
        </p:nvSpPr>
        <p:spPr>
          <a:xfrm>
            <a:off x="2315034" y="5414409"/>
            <a:ext cx="2223101" cy="338554"/>
          </a:xfrm>
          <a:prstGeom prst="rect">
            <a:avLst/>
          </a:prstGeom>
        </p:spPr>
        <p:txBody>
          <a:bodyPr wrap="square">
            <a:spAutoFit/>
          </a:bodyPr>
          <a:lstStyle/>
          <a:p>
            <a:pPr fontAlgn="ctr"/>
            <a:r>
              <a:rPr lang="en-US" altLang="zh-TW" sz="1600" b="1" dirty="0"/>
              <a:t>CHUCK.SUN </a:t>
            </a:r>
            <a:r>
              <a:rPr lang="zh-TW" altLang="en-US" sz="1600" b="1" dirty="0"/>
              <a:t>孫得皓</a:t>
            </a:r>
            <a:endParaRPr lang="en-US" altLang="zh-TW" sz="1600" b="1" i="0" u="none" strike="noStrike" dirty="0">
              <a:effectLst/>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CCAC9C08-8A6D-4D99-97AF-4F3143B3D781}"/>
              </a:ext>
            </a:extLst>
          </p:cNvPr>
          <p:cNvSpPr/>
          <p:nvPr/>
        </p:nvSpPr>
        <p:spPr>
          <a:xfrm>
            <a:off x="2315034" y="5742035"/>
            <a:ext cx="2223101" cy="338554"/>
          </a:xfrm>
          <a:prstGeom prst="rect">
            <a:avLst/>
          </a:prstGeom>
        </p:spPr>
        <p:txBody>
          <a:bodyPr wrap="square">
            <a:spAutoFit/>
          </a:bodyPr>
          <a:lstStyle/>
          <a:p>
            <a:pPr lvl="0" defTabSz="914354">
              <a:spcBef>
                <a:spcPts val="1000"/>
              </a:spcBef>
              <a:buClr>
                <a:srgbClr val="0087DC"/>
              </a:buClr>
            </a:pPr>
            <a:r>
              <a:rPr lang="en-US" altLang="zh-CN" sz="1600" b="1" dirty="0"/>
              <a:t>2024/12/20</a:t>
            </a:r>
          </a:p>
        </p:txBody>
      </p:sp>
    </p:spTree>
    <p:extLst>
      <p:ext uri="{BB962C8B-B14F-4D97-AF65-F5344CB8AC3E}">
        <p14:creationId xmlns:p14="http://schemas.microsoft.com/office/powerpoint/2010/main" val="4289649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標題 1">
            <a:extLst>
              <a:ext uri="{FF2B5EF4-FFF2-40B4-BE49-F238E27FC236}">
                <a16:creationId xmlns:a16="http://schemas.microsoft.com/office/drawing/2014/main" id="{485B37FE-B419-FDAC-FEA0-029772B73F69}"/>
              </a:ext>
            </a:extLst>
          </p:cNvPr>
          <p:cNvSpPr txBox="1">
            <a:spLocks/>
          </p:cNvSpPr>
          <p:nvPr/>
        </p:nvSpPr>
        <p:spPr>
          <a:xfrm>
            <a:off x="2416189" y="0"/>
            <a:ext cx="7200000" cy="679396"/>
          </a:xfrm>
          <a:prstGeom prst="rect">
            <a:avLst/>
          </a:prstGeom>
        </p:spPr>
        <p:txBody>
          <a:bodyPr vert="horz" lIns="0" tIns="45720" rIns="0" bIns="45720" rtlCol="0" anchor="b">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zh-TW" altLang="en-US" sz="2800" b="1" i="0" u="none" strike="noStrike" kern="1200" cap="none" spc="0" normalizeH="0" baseline="0" noProof="0" dirty="0">
                <a:ln>
                  <a:noFill/>
                </a:ln>
                <a:solidFill>
                  <a:srgbClr val="0087DC"/>
                </a:solidFill>
                <a:effectLst/>
                <a:uLnTx/>
                <a:uFillTx/>
                <a:latin typeface="Arial"/>
                <a:ea typeface="Microsoft JhengHei"/>
                <a:cs typeface="+mj-cs"/>
              </a:rPr>
              <a:t>數據中台</a:t>
            </a:r>
            <a:r>
              <a:rPr kumimoji="0" lang="en-US" altLang="zh-TW" sz="2800" b="1" i="0" u="none" strike="noStrike" kern="1200" cap="none" spc="0" normalizeH="0" baseline="0" noProof="0" dirty="0">
                <a:ln>
                  <a:noFill/>
                </a:ln>
                <a:solidFill>
                  <a:srgbClr val="0087DC"/>
                </a:solidFill>
                <a:effectLst/>
                <a:uLnTx/>
                <a:uFillTx/>
                <a:latin typeface="Arial"/>
                <a:ea typeface="Microsoft JhengHei"/>
                <a:cs typeface="+mj-cs"/>
              </a:rPr>
              <a:t>POC1</a:t>
            </a:r>
            <a:endParaRPr kumimoji="0" lang="zh-TW" altLang="en-US" sz="2800" b="1" i="0" u="none" strike="noStrike" kern="1200" cap="none" spc="0" normalizeH="0" baseline="0" noProof="0" dirty="0">
              <a:ln>
                <a:noFill/>
              </a:ln>
              <a:solidFill>
                <a:srgbClr val="0087DC"/>
              </a:solidFill>
              <a:effectLst/>
              <a:uLnTx/>
              <a:uFillTx/>
              <a:latin typeface="Arial"/>
              <a:ea typeface="Microsoft JhengHei"/>
              <a:cs typeface="+mj-cs"/>
            </a:endParaRPr>
          </a:p>
        </p:txBody>
      </p:sp>
      <p:sp>
        <p:nvSpPr>
          <p:cNvPr id="46" name="標題 1">
            <a:extLst>
              <a:ext uri="{FF2B5EF4-FFF2-40B4-BE49-F238E27FC236}">
                <a16:creationId xmlns:a16="http://schemas.microsoft.com/office/drawing/2014/main" id="{187F4E4E-DCA3-E6B3-C3C4-80507FE13763}"/>
              </a:ext>
            </a:extLst>
          </p:cNvPr>
          <p:cNvSpPr txBox="1">
            <a:spLocks/>
          </p:cNvSpPr>
          <p:nvPr/>
        </p:nvSpPr>
        <p:spPr>
          <a:xfrm>
            <a:off x="9616189" y="186908"/>
            <a:ext cx="2271011" cy="492488"/>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lnSpc>
                <a:spcPct val="100000"/>
              </a:lnSpc>
            </a:pPr>
            <a:r>
              <a:rPr lang="zh-CN" altLang="en-US" sz="1200" dirty="0">
                <a:solidFill>
                  <a:schemeClr val="tx1"/>
                </a:solidFill>
                <a:latin typeface="+mn-ea"/>
                <a:ea typeface="+mn-ea"/>
              </a:rPr>
              <a:t>專案屬性：</a:t>
            </a:r>
            <a:r>
              <a:rPr lang="en-US" altLang="zh-CN" sz="1200" b="0" dirty="0">
                <a:solidFill>
                  <a:srgbClr val="C00000"/>
                </a:solidFill>
                <a:ea typeface="+mn-ea"/>
              </a:rPr>
              <a:t>General Solution</a:t>
            </a:r>
          </a:p>
          <a:p>
            <a:pPr algn="l">
              <a:lnSpc>
                <a:spcPct val="100000"/>
              </a:lnSpc>
            </a:pPr>
            <a:r>
              <a:rPr lang="zh-CN" altLang="en-US" sz="1200" dirty="0">
                <a:solidFill>
                  <a:schemeClr val="tx1"/>
                </a:solidFill>
                <a:latin typeface="+mn-ea"/>
                <a:ea typeface="+mn-ea"/>
              </a:rPr>
              <a:t>專案編號：</a:t>
            </a:r>
            <a:r>
              <a:rPr lang="en-US" altLang="zh-CN" sz="1200" b="0" dirty="0">
                <a:solidFill>
                  <a:srgbClr val="C00000"/>
                </a:solidFill>
                <a:ea typeface="+mn-ea"/>
              </a:rPr>
              <a:t>PM</a:t>
            </a:r>
            <a:r>
              <a:rPr lang="en-US" altLang="zh-TW" sz="1200" b="0" dirty="0">
                <a:solidFill>
                  <a:srgbClr val="C00000"/>
                </a:solidFill>
                <a:ea typeface="+mn-ea"/>
              </a:rPr>
              <a:t>6W3</a:t>
            </a:r>
            <a:endParaRPr lang="en-US" sz="1200" b="0" dirty="0">
              <a:solidFill>
                <a:srgbClr val="C00000"/>
              </a:solidFill>
              <a:ea typeface="+mn-ea"/>
            </a:endParaRPr>
          </a:p>
        </p:txBody>
      </p:sp>
      <p:sp>
        <p:nvSpPr>
          <p:cNvPr id="47" name="標題 1">
            <a:extLst>
              <a:ext uri="{FF2B5EF4-FFF2-40B4-BE49-F238E27FC236}">
                <a16:creationId xmlns:a16="http://schemas.microsoft.com/office/drawing/2014/main" id="{3ECED9ED-A611-4F10-5239-1A016A0A9FF2}"/>
              </a:ext>
            </a:extLst>
          </p:cNvPr>
          <p:cNvSpPr txBox="1">
            <a:spLocks/>
          </p:cNvSpPr>
          <p:nvPr/>
        </p:nvSpPr>
        <p:spPr>
          <a:xfrm>
            <a:off x="392185" y="301369"/>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dirty="0">
                <a:solidFill>
                  <a:schemeClr val="tx1"/>
                </a:solidFill>
                <a:latin typeface="+mj-lt"/>
                <a:ea typeface="+mn-ea"/>
              </a:rPr>
              <a:t>PO/PM</a:t>
            </a:r>
            <a:r>
              <a:rPr lang="zh-CN" altLang="en-US" sz="1400" dirty="0">
                <a:solidFill>
                  <a:schemeClr val="tx1"/>
                </a:solidFill>
                <a:latin typeface="+mj-lt"/>
                <a:ea typeface="+mn-ea"/>
              </a:rPr>
              <a:t>：</a:t>
            </a:r>
            <a:r>
              <a:rPr lang="zh-TW" altLang="en-US" sz="1400" dirty="0">
                <a:solidFill>
                  <a:srgbClr val="C00000"/>
                </a:solidFill>
                <a:latin typeface="+mj-lt"/>
                <a:ea typeface="+mn-ea"/>
              </a:rPr>
              <a:t>孫得皓</a:t>
            </a:r>
            <a:endParaRPr lang="en-US" sz="1400" dirty="0">
              <a:solidFill>
                <a:srgbClr val="C00000"/>
              </a:solidFill>
              <a:latin typeface="+mj-lt"/>
              <a:ea typeface="+mn-ea"/>
            </a:endParaRPr>
          </a:p>
        </p:txBody>
      </p:sp>
      <p:sp>
        <p:nvSpPr>
          <p:cNvPr id="48" name="文字方塊 47">
            <a:extLst>
              <a:ext uri="{FF2B5EF4-FFF2-40B4-BE49-F238E27FC236}">
                <a16:creationId xmlns:a16="http://schemas.microsoft.com/office/drawing/2014/main" id="{93CB214D-76AA-7201-6E93-A96D3F0EE216}"/>
              </a:ext>
            </a:extLst>
          </p:cNvPr>
          <p:cNvSpPr txBox="1"/>
          <p:nvPr/>
        </p:nvSpPr>
        <p:spPr>
          <a:xfrm>
            <a:off x="347135" y="863598"/>
            <a:ext cx="3268133" cy="461665"/>
          </a:xfrm>
          <a:prstGeom prst="rect">
            <a:avLst/>
          </a:prstGeom>
          <a:noFill/>
        </p:spPr>
        <p:txBody>
          <a:bodyPr wrap="square" rtlCol="0">
            <a:spAutoFit/>
          </a:bodyPr>
          <a:lstStyle/>
          <a:p>
            <a:r>
              <a:rPr lang="en-US" altLang="zh-TW" sz="1200" b="1" dirty="0">
                <a:solidFill>
                  <a:srgbClr val="0070C0"/>
                </a:solidFill>
              </a:rPr>
              <a:t>D</a:t>
            </a:r>
            <a:r>
              <a:rPr lang="en-US" altLang="zh-CN" sz="1200" b="1" dirty="0">
                <a:solidFill>
                  <a:srgbClr val="0070C0"/>
                </a:solidFill>
              </a:rPr>
              <a:t>escription of Project / Product</a:t>
            </a:r>
            <a:br>
              <a:rPr lang="en-US" altLang="zh-CN" sz="1200" b="1" dirty="0">
                <a:solidFill>
                  <a:srgbClr val="0070C0"/>
                </a:solidFill>
              </a:rPr>
            </a:br>
            <a:r>
              <a:rPr lang="zh-CN" altLang="en-US" sz="1200" b="1" dirty="0">
                <a:solidFill>
                  <a:srgbClr val="0070C0"/>
                </a:solidFill>
                <a:latin typeface="+mn-ea"/>
              </a:rPr>
              <a:t>專案</a:t>
            </a:r>
            <a:r>
              <a:rPr lang="en-US" altLang="zh-CN" sz="1200" b="1" dirty="0">
                <a:solidFill>
                  <a:srgbClr val="0070C0"/>
                </a:solidFill>
                <a:latin typeface="+mn-ea"/>
              </a:rPr>
              <a:t>/</a:t>
            </a:r>
            <a:r>
              <a:rPr lang="zh-CN" altLang="en-US" sz="1200" b="1" dirty="0">
                <a:solidFill>
                  <a:srgbClr val="0070C0"/>
                </a:solidFill>
                <a:latin typeface="+mn-ea"/>
              </a:rPr>
              <a:t>產品描述 </a:t>
            </a:r>
            <a:r>
              <a:rPr lang="en-US" altLang="zh-CN" sz="1200" b="1" dirty="0">
                <a:solidFill>
                  <a:srgbClr val="0070C0"/>
                </a:solidFill>
                <a:latin typeface="+mn-ea"/>
              </a:rPr>
              <a:t> </a:t>
            </a:r>
            <a:endParaRPr lang="zh-TW" altLang="en-US" sz="1200" b="1" dirty="0">
              <a:solidFill>
                <a:srgbClr val="0070C0"/>
              </a:solidFill>
              <a:latin typeface="+mn-ea"/>
            </a:endParaRPr>
          </a:p>
        </p:txBody>
      </p:sp>
      <p:sp>
        <p:nvSpPr>
          <p:cNvPr id="49" name="文字方塊 48">
            <a:extLst>
              <a:ext uri="{FF2B5EF4-FFF2-40B4-BE49-F238E27FC236}">
                <a16:creationId xmlns:a16="http://schemas.microsoft.com/office/drawing/2014/main" id="{7379A869-7EC9-13D9-9195-91A33E31BA44}"/>
              </a:ext>
            </a:extLst>
          </p:cNvPr>
          <p:cNvSpPr txBox="1"/>
          <p:nvPr/>
        </p:nvSpPr>
        <p:spPr>
          <a:xfrm>
            <a:off x="4284132" y="863598"/>
            <a:ext cx="4021668" cy="461665"/>
          </a:xfrm>
          <a:prstGeom prst="rect">
            <a:avLst/>
          </a:prstGeom>
          <a:noFill/>
        </p:spPr>
        <p:txBody>
          <a:bodyPr wrap="square" rtlCol="0">
            <a:spAutoFit/>
          </a:bodyPr>
          <a:lstStyle/>
          <a:p>
            <a:r>
              <a:rPr lang="en-US" altLang="zh-CN" sz="1200" b="1" dirty="0">
                <a:solidFill>
                  <a:srgbClr val="0070C0"/>
                </a:solidFill>
              </a:rPr>
              <a:t>Technology / </a:t>
            </a:r>
            <a:r>
              <a:rPr lang="en-US" altLang="zh-TW" sz="1200" b="1" dirty="0">
                <a:solidFill>
                  <a:srgbClr val="0070C0"/>
                </a:solidFill>
              </a:rPr>
              <a:t>S</a:t>
            </a:r>
            <a:r>
              <a:rPr lang="en-US" altLang="zh-CN" sz="1200" b="1" dirty="0">
                <a:solidFill>
                  <a:srgbClr val="0070C0"/>
                </a:solidFill>
              </a:rPr>
              <a:t>olution</a:t>
            </a:r>
          </a:p>
          <a:p>
            <a:r>
              <a:rPr lang="zh-CN" altLang="en-US" sz="1200" b="1" dirty="0">
                <a:solidFill>
                  <a:srgbClr val="0070C0"/>
                </a:solidFill>
                <a:latin typeface="+mn-ea"/>
              </a:rPr>
              <a:t>技術 </a:t>
            </a:r>
            <a:r>
              <a:rPr lang="en-US" altLang="zh-CN" sz="1200" b="1" dirty="0">
                <a:solidFill>
                  <a:srgbClr val="0070C0"/>
                </a:solidFill>
                <a:latin typeface="+mn-ea"/>
              </a:rPr>
              <a:t>/ </a:t>
            </a:r>
            <a:r>
              <a:rPr lang="zh-CN" altLang="en-US" sz="1200" b="1" dirty="0">
                <a:solidFill>
                  <a:srgbClr val="0070C0"/>
                </a:solidFill>
                <a:latin typeface="+mn-ea"/>
              </a:rPr>
              <a:t>解決方案</a:t>
            </a:r>
            <a:endParaRPr lang="zh-TW" altLang="en-US" sz="1200" b="1" dirty="0">
              <a:solidFill>
                <a:srgbClr val="0070C0"/>
              </a:solidFill>
              <a:latin typeface="+mn-ea"/>
            </a:endParaRPr>
          </a:p>
        </p:txBody>
      </p:sp>
      <p:cxnSp>
        <p:nvCxnSpPr>
          <p:cNvPr id="50" name="直接连接符 73">
            <a:extLst>
              <a:ext uri="{FF2B5EF4-FFF2-40B4-BE49-F238E27FC236}">
                <a16:creationId xmlns:a16="http://schemas.microsoft.com/office/drawing/2014/main" id="{DF565059-2CD4-581E-79F3-A6D864B868C3}"/>
              </a:ext>
            </a:extLst>
          </p:cNvPr>
          <p:cNvCxnSpPr>
            <a:cxnSpLocks/>
          </p:cNvCxnSpPr>
          <p:nvPr/>
        </p:nvCxnSpPr>
        <p:spPr>
          <a:xfrm flipH="1">
            <a:off x="372534" y="1321687"/>
            <a:ext cx="3456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1" name="直接连接符 73">
            <a:extLst>
              <a:ext uri="{FF2B5EF4-FFF2-40B4-BE49-F238E27FC236}">
                <a16:creationId xmlns:a16="http://schemas.microsoft.com/office/drawing/2014/main" id="{6ED214C7-754B-8AF2-C326-FDCB9B3E7DD6}"/>
              </a:ext>
            </a:extLst>
          </p:cNvPr>
          <p:cNvCxnSpPr>
            <a:cxnSpLocks/>
          </p:cNvCxnSpPr>
          <p:nvPr/>
        </p:nvCxnSpPr>
        <p:spPr>
          <a:xfrm flipH="1">
            <a:off x="4356099" y="1321687"/>
            <a:ext cx="3168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7AEAF42F-1964-F9DD-CCE9-E0745D9A6931}"/>
              </a:ext>
            </a:extLst>
          </p:cNvPr>
          <p:cNvSpPr txBox="1"/>
          <p:nvPr/>
        </p:nvSpPr>
        <p:spPr>
          <a:xfrm>
            <a:off x="8178799" y="863598"/>
            <a:ext cx="3191934" cy="461665"/>
          </a:xfrm>
          <a:prstGeom prst="rect">
            <a:avLst/>
          </a:prstGeom>
          <a:noFill/>
        </p:spPr>
        <p:txBody>
          <a:bodyPr wrap="square" rtlCol="0">
            <a:spAutoFit/>
          </a:bodyPr>
          <a:lstStyle/>
          <a:p>
            <a:r>
              <a:rPr lang="en-US" altLang="zh-CN" sz="1200" b="1" dirty="0">
                <a:solidFill>
                  <a:srgbClr val="0070C0"/>
                </a:solidFill>
              </a:rPr>
              <a:t>Current Progress</a:t>
            </a:r>
            <a:br>
              <a:rPr lang="en-US" altLang="zh-CN" sz="1200" b="1" dirty="0">
                <a:solidFill>
                  <a:srgbClr val="0070C0"/>
                </a:solidFill>
              </a:rPr>
            </a:br>
            <a:r>
              <a:rPr lang="zh-CN" altLang="en-US" sz="1200" b="1" dirty="0">
                <a:solidFill>
                  <a:srgbClr val="0070C0"/>
                </a:solidFill>
              </a:rPr>
              <a:t>當前進度</a:t>
            </a:r>
            <a:endParaRPr lang="zh-TW" altLang="en-US" sz="1200" b="1" dirty="0">
              <a:solidFill>
                <a:srgbClr val="0070C0"/>
              </a:solidFill>
            </a:endParaRPr>
          </a:p>
        </p:txBody>
      </p:sp>
      <p:cxnSp>
        <p:nvCxnSpPr>
          <p:cNvPr id="53" name="直接连接符 73">
            <a:extLst>
              <a:ext uri="{FF2B5EF4-FFF2-40B4-BE49-F238E27FC236}">
                <a16:creationId xmlns:a16="http://schemas.microsoft.com/office/drawing/2014/main" id="{5DBB90DC-3D67-E1ED-ABFD-430B4F3A84C4}"/>
              </a:ext>
            </a:extLst>
          </p:cNvPr>
          <p:cNvCxnSpPr>
            <a:cxnSpLocks/>
          </p:cNvCxnSpPr>
          <p:nvPr/>
        </p:nvCxnSpPr>
        <p:spPr>
          <a:xfrm flipH="1">
            <a:off x="8250766" y="1321687"/>
            <a:ext cx="2921002"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4" name="文字方塊 53">
            <a:extLst>
              <a:ext uri="{FF2B5EF4-FFF2-40B4-BE49-F238E27FC236}">
                <a16:creationId xmlns:a16="http://schemas.microsoft.com/office/drawing/2014/main" id="{B90803F6-C37C-A02A-1714-6E5A70170556}"/>
              </a:ext>
            </a:extLst>
          </p:cNvPr>
          <p:cNvSpPr txBox="1"/>
          <p:nvPr/>
        </p:nvSpPr>
        <p:spPr>
          <a:xfrm>
            <a:off x="4191138" y="4317998"/>
            <a:ext cx="3268133" cy="461665"/>
          </a:xfrm>
          <a:prstGeom prst="rect">
            <a:avLst/>
          </a:prstGeom>
          <a:noFill/>
        </p:spPr>
        <p:txBody>
          <a:bodyPr wrap="square" rtlCol="0">
            <a:spAutoFit/>
          </a:bodyPr>
          <a:lstStyle/>
          <a:p>
            <a:r>
              <a:rPr lang="en-US" altLang="zh-TW" sz="1200" b="1" dirty="0">
                <a:solidFill>
                  <a:srgbClr val="0070C0"/>
                </a:solidFill>
              </a:rPr>
              <a:t>0~1 / 1~N</a:t>
            </a:r>
            <a:r>
              <a:rPr lang="en-US" altLang="zh-CN" sz="1200" b="1" dirty="0">
                <a:solidFill>
                  <a:srgbClr val="0070C0"/>
                </a:solidFill>
              </a:rPr>
              <a:t>  Scope &amp; Progress</a:t>
            </a:r>
            <a:br>
              <a:rPr lang="en-US" altLang="zh-CN" sz="1200" b="1" dirty="0">
                <a:solidFill>
                  <a:srgbClr val="0070C0"/>
                </a:solidFill>
              </a:rPr>
            </a:br>
            <a:r>
              <a:rPr lang="zh-CN" altLang="en-US" sz="1200" b="1" dirty="0">
                <a:solidFill>
                  <a:srgbClr val="0070C0"/>
                </a:solidFill>
                <a:latin typeface="+mn-ea"/>
              </a:rPr>
              <a:t>推廣範疇及進度 </a:t>
            </a:r>
            <a:r>
              <a:rPr lang="en-US" altLang="zh-CN" sz="1200" b="1" dirty="0">
                <a:solidFill>
                  <a:srgbClr val="0070C0"/>
                </a:solidFill>
                <a:latin typeface="+mn-ea"/>
              </a:rPr>
              <a:t> </a:t>
            </a:r>
            <a:endParaRPr lang="zh-TW" altLang="en-US" sz="1200" b="1" dirty="0">
              <a:solidFill>
                <a:srgbClr val="0070C0"/>
              </a:solidFill>
              <a:latin typeface="+mn-ea"/>
            </a:endParaRPr>
          </a:p>
        </p:txBody>
      </p:sp>
      <p:sp>
        <p:nvSpPr>
          <p:cNvPr id="55" name="文字方塊 54">
            <a:extLst>
              <a:ext uri="{FF2B5EF4-FFF2-40B4-BE49-F238E27FC236}">
                <a16:creationId xmlns:a16="http://schemas.microsoft.com/office/drawing/2014/main" id="{31DA5FE9-A78B-4FFE-00F7-D713722A4219}"/>
              </a:ext>
            </a:extLst>
          </p:cNvPr>
          <p:cNvSpPr txBox="1"/>
          <p:nvPr/>
        </p:nvSpPr>
        <p:spPr>
          <a:xfrm>
            <a:off x="8128135" y="3591425"/>
            <a:ext cx="4021668" cy="461665"/>
          </a:xfrm>
          <a:prstGeom prst="rect">
            <a:avLst/>
          </a:prstGeom>
          <a:noFill/>
        </p:spPr>
        <p:txBody>
          <a:bodyPr wrap="square" rtlCol="0">
            <a:spAutoFit/>
          </a:bodyPr>
          <a:lstStyle/>
          <a:p>
            <a:r>
              <a:rPr lang="en-US" altLang="zh-CN" sz="1200" b="1" dirty="0">
                <a:solidFill>
                  <a:srgbClr val="0070C0"/>
                </a:solidFill>
              </a:rPr>
              <a:t>Impact / Benefit </a:t>
            </a:r>
          </a:p>
          <a:p>
            <a:r>
              <a:rPr lang="zh-CN" altLang="en-US" sz="1200" b="1" dirty="0">
                <a:solidFill>
                  <a:srgbClr val="0070C0"/>
                </a:solidFill>
                <a:latin typeface="+mn-ea"/>
              </a:rPr>
              <a:t>產生的影響</a:t>
            </a:r>
            <a:r>
              <a:rPr lang="en-US" altLang="zh-CN" sz="1200" b="1" dirty="0">
                <a:solidFill>
                  <a:srgbClr val="0070C0"/>
                </a:solidFill>
                <a:latin typeface="+mn-ea"/>
              </a:rPr>
              <a:t>/</a:t>
            </a:r>
            <a:r>
              <a:rPr lang="zh-CN" altLang="en-US" sz="1200" b="1" dirty="0">
                <a:solidFill>
                  <a:srgbClr val="0070C0"/>
                </a:solidFill>
                <a:latin typeface="+mn-ea"/>
              </a:rPr>
              <a:t>收益</a:t>
            </a:r>
            <a:endParaRPr lang="zh-TW" altLang="en-US" sz="1200" b="1" dirty="0">
              <a:solidFill>
                <a:srgbClr val="0070C0"/>
              </a:solidFill>
              <a:latin typeface="+mn-ea"/>
            </a:endParaRPr>
          </a:p>
        </p:txBody>
      </p:sp>
      <p:cxnSp>
        <p:nvCxnSpPr>
          <p:cNvPr id="56" name="直接连接符 73">
            <a:extLst>
              <a:ext uri="{FF2B5EF4-FFF2-40B4-BE49-F238E27FC236}">
                <a16:creationId xmlns:a16="http://schemas.microsoft.com/office/drawing/2014/main" id="{786F0158-95C3-FA76-E0C5-D8C8E0A7D8F7}"/>
              </a:ext>
            </a:extLst>
          </p:cNvPr>
          <p:cNvCxnSpPr>
            <a:cxnSpLocks/>
          </p:cNvCxnSpPr>
          <p:nvPr/>
        </p:nvCxnSpPr>
        <p:spPr>
          <a:xfrm flipH="1">
            <a:off x="4216537" y="4776087"/>
            <a:ext cx="3456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直接连接符 73">
            <a:extLst>
              <a:ext uri="{FF2B5EF4-FFF2-40B4-BE49-F238E27FC236}">
                <a16:creationId xmlns:a16="http://schemas.microsoft.com/office/drawing/2014/main" id="{D49CA74B-C7CF-CBA3-CDCD-3242C77D30FC}"/>
              </a:ext>
            </a:extLst>
          </p:cNvPr>
          <p:cNvCxnSpPr>
            <a:cxnSpLocks/>
          </p:cNvCxnSpPr>
          <p:nvPr/>
        </p:nvCxnSpPr>
        <p:spPr>
          <a:xfrm flipH="1">
            <a:off x="8200102" y="4049514"/>
            <a:ext cx="3168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46C73908-6702-974D-BDCF-58585618D753}"/>
              </a:ext>
            </a:extLst>
          </p:cNvPr>
          <p:cNvSpPr txBox="1"/>
          <p:nvPr/>
        </p:nvSpPr>
        <p:spPr>
          <a:xfrm>
            <a:off x="430108" y="4381762"/>
            <a:ext cx="3191934" cy="461665"/>
          </a:xfrm>
          <a:prstGeom prst="rect">
            <a:avLst/>
          </a:prstGeom>
          <a:noFill/>
        </p:spPr>
        <p:txBody>
          <a:bodyPr wrap="square" rtlCol="0">
            <a:spAutoFit/>
          </a:bodyPr>
          <a:lstStyle/>
          <a:p>
            <a:r>
              <a:rPr lang="en-US" altLang="zh-CN" sz="1200" b="1" dirty="0">
                <a:solidFill>
                  <a:srgbClr val="0070C0"/>
                </a:solidFill>
              </a:rPr>
              <a:t>Team</a:t>
            </a:r>
            <a:br>
              <a:rPr lang="en-US" altLang="zh-CN" sz="1200" b="1" dirty="0">
                <a:solidFill>
                  <a:srgbClr val="0070C0"/>
                </a:solidFill>
              </a:rPr>
            </a:br>
            <a:r>
              <a:rPr lang="zh-CN" altLang="en-US" sz="1200" b="1" dirty="0">
                <a:solidFill>
                  <a:srgbClr val="0070C0"/>
                </a:solidFill>
              </a:rPr>
              <a:t>團隊</a:t>
            </a:r>
            <a:endParaRPr lang="zh-TW" altLang="en-US" sz="1200" b="1" dirty="0">
              <a:solidFill>
                <a:srgbClr val="0070C0"/>
              </a:solidFill>
            </a:endParaRPr>
          </a:p>
        </p:txBody>
      </p:sp>
      <p:cxnSp>
        <p:nvCxnSpPr>
          <p:cNvPr id="59" name="直接连接符 73">
            <a:extLst>
              <a:ext uri="{FF2B5EF4-FFF2-40B4-BE49-F238E27FC236}">
                <a16:creationId xmlns:a16="http://schemas.microsoft.com/office/drawing/2014/main" id="{0C0DDE11-1652-FA65-AD52-568513F97689}"/>
              </a:ext>
            </a:extLst>
          </p:cNvPr>
          <p:cNvCxnSpPr>
            <a:cxnSpLocks/>
          </p:cNvCxnSpPr>
          <p:nvPr/>
        </p:nvCxnSpPr>
        <p:spPr>
          <a:xfrm flipH="1">
            <a:off x="379308" y="4839851"/>
            <a:ext cx="2921002"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60" name="表格 59">
            <a:extLst>
              <a:ext uri="{FF2B5EF4-FFF2-40B4-BE49-F238E27FC236}">
                <a16:creationId xmlns:a16="http://schemas.microsoft.com/office/drawing/2014/main" id="{A678E1AF-2757-7F76-B524-57F52ED01512}"/>
              </a:ext>
            </a:extLst>
          </p:cNvPr>
          <p:cNvGraphicFramePr>
            <a:graphicFrameLocks noGrp="1"/>
          </p:cNvGraphicFramePr>
          <p:nvPr/>
        </p:nvGraphicFramePr>
        <p:xfrm>
          <a:off x="8250766" y="4693380"/>
          <a:ext cx="3216925" cy="1573560"/>
        </p:xfrm>
        <a:graphic>
          <a:graphicData uri="http://schemas.openxmlformats.org/drawingml/2006/table">
            <a:tbl>
              <a:tblPr firstRow="1" bandCol="1">
                <a:tableStyleId>{3B4B98B0-60AC-42C2-AFA5-B58CD77FA1E5}</a:tableStyleId>
              </a:tblPr>
              <a:tblGrid>
                <a:gridCol w="2356138">
                  <a:extLst>
                    <a:ext uri="{9D8B030D-6E8A-4147-A177-3AD203B41FA5}">
                      <a16:colId xmlns:a16="http://schemas.microsoft.com/office/drawing/2014/main" val="3601475834"/>
                    </a:ext>
                  </a:extLst>
                </a:gridCol>
                <a:gridCol w="860787">
                  <a:extLst>
                    <a:ext uri="{9D8B030D-6E8A-4147-A177-3AD203B41FA5}">
                      <a16:colId xmlns:a16="http://schemas.microsoft.com/office/drawing/2014/main" val="3963661121"/>
                    </a:ext>
                  </a:extLst>
                </a:gridCol>
              </a:tblGrid>
              <a:tr h="375360">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1" kern="1200" baseline="0" dirty="0">
                          <a:solidFill>
                            <a:schemeClr val="tx1"/>
                          </a:solidFill>
                          <a:latin typeface="Arial" panose="020B0604020202020204" pitchFamily="34" charset="0"/>
                          <a:ea typeface="+mn-ea"/>
                          <a:cs typeface="Arial" panose="020B0604020202020204" pitchFamily="34" charset="0"/>
                        </a:rPr>
                        <a:t>項目</a:t>
                      </a:r>
                    </a:p>
                  </a:txBody>
                  <a:tcPr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algn="ctr"/>
                      <a:r>
                        <a:rPr lang="zh-CN" altLang="en-US" sz="1200" b="1" kern="1200" baseline="0" dirty="0">
                          <a:solidFill>
                            <a:schemeClr val="tx1"/>
                          </a:solidFill>
                          <a:latin typeface="Arial" panose="020B0604020202020204" pitchFamily="34" charset="0"/>
                          <a:ea typeface="+mn-ea"/>
                          <a:cs typeface="Arial" panose="020B0604020202020204" pitchFamily="34" charset="0"/>
                        </a:rPr>
                        <a:t>效益 </a:t>
                      </a:r>
                      <a:r>
                        <a:rPr lang="en-US" altLang="zh-CN" sz="1000" b="0" kern="1200" baseline="0" dirty="0">
                          <a:solidFill>
                            <a:schemeClr val="tx1"/>
                          </a:solidFill>
                          <a:latin typeface="Arial" panose="020B0604020202020204" pitchFamily="34" charset="0"/>
                          <a:ea typeface="+mn-ea"/>
                          <a:cs typeface="Arial" panose="020B0604020202020204" pitchFamily="34" charset="0"/>
                        </a:rPr>
                        <a:t>(KUSD)</a:t>
                      </a:r>
                      <a:endParaRPr lang="zh-CN" altLang="en-US" sz="1200" b="0" kern="1200" baseline="0" dirty="0">
                        <a:solidFill>
                          <a:schemeClr val="tx1"/>
                        </a:solidFill>
                        <a:latin typeface="Arial" panose="020B0604020202020204" pitchFamily="34" charset="0"/>
                        <a:ea typeface="+mn-ea"/>
                        <a:cs typeface="Arial" panose="020B0604020202020204" pitchFamily="34" charset="0"/>
                      </a:endParaRPr>
                    </a:p>
                  </a:txBody>
                  <a:tcPr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451199163"/>
                  </a:ext>
                </a:extLst>
              </a:tr>
              <a:tr h="210797">
                <a:tc>
                  <a:txBody>
                    <a:bodyPr/>
                    <a:lstStyle/>
                    <a:p>
                      <a:pPr marL="171450" indent="-171450" algn="l">
                        <a:buFont typeface="Arial" panose="020B0604020202020204" pitchFamily="34" charset="0"/>
                        <a:buChar char="•"/>
                      </a:pPr>
                      <a:r>
                        <a:rPr lang="zh-TW" altLang="en-US" sz="1100" b="0" kern="1200" baseline="0" dirty="0">
                          <a:solidFill>
                            <a:srgbClr val="0000CC"/>
                          </a:solidFill>
                          <a:latin typeface="+mj-lt"/>
                          <a:ea typeface="微软雅黑" panose="020B0503020204020204" pitchFamily="34" charset="-122"/>
                          <a:cs typeface="+mn-cs"/>
                        </a:rPr>
                        <a:t>每</a:t>
                      </a:r>
                      <a:r>
                        <a:rPr lang="en-US" altLang="zh-TW" sz="1100" b="0" kern="1200" baseline="0" dirty="0">
                          <a:solidFill>
                            <a:srgbClr val="0000CC"/>
                          </a:solidFill>
                          <a:latin typeface="+mj-lt"/>
                          <a:ea typeface="微软雅黑" panose="020B0503020204020204" pitchFamily="34" charset="-122"/>
                          <a:cs typeface="+mn-cs"/>
                        </a:rPr>
                        <a:t>Regin</a:t>
                      </a:r>
                      <a:r>
                        <a:rPr lang="zh-TW" altLang="en-US" sz="1100" b="0" kern="1200" baseline="0" dirty="0">
                          <a:solidFill>
                            <a:srgbClr val="0000CC"/>
                          </a:solidFill>
                          <a:latin typeface="+mj-lt"/>
                          <a:ea typeface="微软雅黑" panose="020B0503020204020204" pitchFamily="34" charset="-122"/>
                          <a:cs typeface="+mn-cs"/>
                        </a:rPr>
                        <a:t>建置</a:t>
                      </a:r>
                      <a:r>
                        <a:rPr lang="en-US" altLang="zh-TW" sz="1100" b="0" kern="1200" baseline="0" dirty="0">
                          <a:solidFill>
                            <a:srgbClr val="0000CC"/>
                          </a:solidFill>
                          <a:latin typeface="+mj-lt"/>
                          <a:ea typeface="微软雅黑" panose="020B0503020204020204" pitchFamily="34" charset="-122"/>
                          <a:cs typeface="+mn-cs"/>
                        </a:rPr>
                        <a:t>+</a:t>
                      </a:r>
                      <a:r>
                        <a:rPr lang="zh-TW" altLang="en-US" sz="1100" b="0" kern="1200" baseline="0" dirty="0">
                          <a:solidFill>
                            <a:srgbClr val="0000CC"/>
                          </a:solidFill>
                          <a:latin typeface="+mj-lt"/>
                          <a:ea typeface="微软雅黑" panose="020B0503020204020204" pitchFamily="34" charset="-122"/>
                          <a:cs typeface="+mn-cs"/>
                        </a:rPr>
                        <a:t>運行五年省下費用</a:t>
                      </a:r>
                      <a:r>
                        <a:rPr lang="en-US" altLang="zh-TW" sz="1100" b="0" kern="1200" baseline="0" dirty="0">
                          <a:solidFill>
                            <a:srgbClr val="0000CC"/>
                          </a:solidFill>
                          <a:latin typeface="+mj-lt"/>
                          <a:ea typeface="微软雅黑" panose="020B0503020204020204" pitchFamily="34" charset="-122"/>
                          <a:cs typeface="+mn-cs"/>
                        </a:rPr>
                        <a:t>*</a:t>
                      </a:r>
                      <a:endParaRPr lang="zh-CN" altLang="en-US" sz="1100" b="0" kern="1200" baseline="0" dirty="0">
                        <a:solidFill>
                          <a:srgbClr val="0000CC"/>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r>
                        <a:rPr lang="en-US" altLang="zh-TW" sz="1100" b="0" kern="1200" baseline="0" dirty="0">
                          <a:solidFill>
                            <a:srgbClr val="0000CC"/>
                          </a:solidFill>
                          <a:latin typeface="+mj-lt"/>
                          <a:ea typeface="微软雅黑" panose="020B0503020204020204" pitchFamily="34" charset="-122"/>
                          <a:cs typeface="+mn-cs"/>
                        </a:rPr>
                        <a:t>1,500</a:t>
                      </a:r>
                      <a:endParaRPr lang="zh-CN" altLang="en-US" sz="1100" b="0" kern="1200" baseline="0" dirty="0">
                        <a:solidFill>
                          <a:srgbClr val="0000CC"/>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450875191"/>
                  </a:ext>
                </a:extLst>
              </a:tr>
              <a:tr h="21079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zh-TW" altLang="en-US" sz="1100" b="1" kern="1200" dirty="0">
                        <a:solidFill>
                          <a:srgbClr val="C00000"/>
                        </a:solidFill>
                        <a:latin typeface="+mn-lt"/>
                        <a:ea typeface="+mn-ea"/>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dirty="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986226349"/>
                  </a:ext>
                </a:extLst>
              </a:tr>
              <a:tr h="210797">
                <a:tc>
                  <a:txBody>
                    <a:bodyPr/>
                    <a:lstStyle/>
                    <a:p>
                      <a:pPr algn="l"/>
                      <a:endParaRPr lang="zh-CN" altLang="en-US" sz="1100" b="0" kern="1200" baseline="0" dirty="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dirty="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835902117"/>
                  </a:ext>
                </a:extLst>
              </a:tr>
              <a:tr h="210797">
                <a:tc>
                  <a:txBody>
                    <a:bodyPr/>
                    <a:lstStyle/>
                    <a:p>
                      <a:pPr algn="l"/>
                      <a:endParaRPr lang="zh-CN" altLang="en-US" sz="1100" b="0" kern="1200" baseline="0" dirty="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dirty="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180464210"/>
                  </a:ext>
                </a:extLst>
              </a:tr>
              <a:tr h="210797">
                <a:tc>
                  <a:txBody>
                    <a:bodyPr/>
                    <a:lstStyle/>
                    <a:p>
                      <a:pPr algn="l"/>
                      <a:endParaRPr lang="zh-CN" altLang="en-US" sz="1100" b="0" kern="1200" baseline="0" dirty="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dirty="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40761946"/>
                  </a:ext>
                </a:extLst>
              </a:tr>
            </a:tbl>
          </a:graphicData>
        </a:graphic>
      </p:graphicFrame>
      <p:graphicFrame>
        <p:nvGraphicFramePr>
          <p:cNvPr id="61" name="表格 60">
            <a:extLst>
              <a:ext uri="{FF2B5EF4-FFF2-40B4-BE49-F238E27FC236}">
                <a16:creationId xmlns:a16="http://schemas.microsoft.com/office/drawing/2014/main" id="{5D992D1C-3019-B58E-FFAD-D5C51B302508}"/>
              </a:ext>
            </a:extLst>
          </p:cNvPr>
          <p:cNvGraphicFramePr>
            <a:graphicFrameLocks noGrp="1"/>
          </p:cNvGraphicFramePr>
          <p:nvPr/>
        </p:nvGraphicFramePr>
        <p:xfrm>
          <a:off x="8118704" y="4339157"/>
          <a:ext cx="578271" cy="255079"/>
        </p:xfrm>
        <a:graphic>
          <a:graphicData uri="http://schemas.openxmlformats.org/drawingml/2006/table">
            <a:tbl>
              <a:tblPr firstRow="1">
                <a:tableStyleId>{5C22544A-7EE6-4342-B048-85BDC9FD1C3A}</a:tableStyleId>
              </a:tblPr>
              <a:tblGrid>
                <a:gridCol w="578271">
                  <a:extLst>
                    <a:ext uri="{9D8B030D-6E8A-4147-A177-3AD203B41FA5}">
                      <a16:colId xmlns:a16="http://schemas.microsoft.com/office/drawing/2014/main" val="1190386732"/>
                    </a:ext>
                  </a:extLst>
                </a:gridCol>
              </a:tblGrid>
              <a:tr h="255079">
                <a:tc>
                  <a:txBody>
                    <a:bodyPr/>
                    <a:lstStyle/>
                    <a:p>
                      <a:pPr algn="ctr">
                        <a:lnSpc>
                          <a:spcPct val="100000"/>
                        </a:lnSpc>
                      </a:pPr>
                      <a:r>
                        <a:rPr lang="en-US" altLang="zh-CN" sz="1200" b="1" dirty="0">
                          <a:solidFill>
                            <a:srgbClr val="0000CC"/>
                          </a:solidFill>
                          <a:latin typeface="+mj-lt"/>
                        </a:rPr>
                        <a:t>300</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2176631"/>
                  </a:ext>
                </a:extLst>
              </a:tr>
            </a:tbl>
          </a:graphicData>
        </a:graphic>
      </p:graphicFrame>
      <p:graphicFrame>
        <p:nvGraphicFramePr>
          <p:cNvPr id="62" name="表格 61">
            <a:extLst>
              <a:ext uri="{FF2B5EF4-FFF2-40B4-BE49-F238E27FC236}">
                <a16:creationId xmlns:a16="http://schemas.microsoft.com/office/drawing/2014/main" id="{46A35911-9FEC-056C-C184-34DAAE20CE97}"/>
              </a:ext>
            </a:extLst>
          </p:cNvPr>
          <p:cNvGraphicFramePr>
            <a:graphicFrameLocks noGrp="1"/>
          </p:cNvGraphicFramePr>
          <p:nvPr/>
        </p:nvGraphicFramePr>
        <p:xfrm>
          <a:off x="10428453" y="4360600"/>
          <a:ext cx="551305" cy="248997"/>
        </p:xfrm>
        <a:graphic>
          <a:graphicData uri="http://schemas.openxmlformats.org/drawingml/2006/table">
            <a:tbl>
              <a:tblPr firstRow="1">
                <a:tableStyleId>{5C22544A-7EE6-4342-B048-85BDC9FD1C3A}</a:tableStyleId>
              </a:tblPr>
              <a:tblGrid>
                <a:gridCol w="551305">
                  <a:extLst>
                    <a:ext uri="{9D8B030D-6E8A-4147-A177-3AD203B41FA5}">
                      <a16:colId xmlns:a16="http://schemas.microsoft.com/office/drawing/2014/main" val="1190386732"/>
                    </a:ext>
                  </a:extLst>
                </a:gridCol>
              </a:tblGrid>
              <a:tr h="248997">
                <a:tc>
                  <a:txBody>
                    <a:bodyPr/>
                    <a:lstStyle/>
                    <a:p>
                      <a:pPr algn="ctr">
                        <a:lnSpc>
                          <a:spcPct val="100000"/>
                        </a:lnSpc>
                      </a:pPr>
                      <a:endParaRPr lang="en-US" altLang="zh-CN" sz="1200" b="1" dirty="0">
                        <a:solidFill>
                          <a:srgbClr val="0000CC"/>
                        </a:solidFill>
                        <a:latin typeface="+mj-lt"/>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2176631"/>
                  </a:ext>
                </a:extLst>
              </a:tr>
            </a:tbl>
          </a:graphicData>
        </a:graphic>
      </p:graphicFrame>
      <p:sp>
        <p:nvSpPr>
          <p:cNvPr id="63" name="文本框 75">
            <a:extLst>
              <a:ext uri="{FF2B5EF4-FFF2-40B4-BE49-F238E27FC236}">
                <a16:creationId xmlns:a16="http://schemas.microsoft.com/office/drawing/2014/main" id="{23297034-0169-ADD4-0744-69F3BE3B256F}"/>
              </a:ext>
            </a:extLst>
          </p:cNvPr>
          <p:cNvSpPr txBox="1"/>
          <p:nvPr/>
        </p:nvSpPr>
        <p:spPr>
          <a:xfrm>
            <a:off x="9979690" y="4360734"/>
            <a:ext cx="603188" cy="332646"/>
          </a:xfrm>
          <a:prstGeom prst="rect">
            <a:avLst/>
          </a:prstGeom>
          <a:noFill/>
          <a:ln>
            <a:noFill/>
          </a:ln>
        </p:spPr>
        <p:txBody>
          <a:bodyPr wrap="square" rtlCol="0" anchor="t">
            <a:noAutofit/>
          </a:bodyPr>
          <a:lstStyle/>
          <a:p>
            <a:pPr>
              <a:lnSpc>
                <a:spcPct val="100000"/>
              </a:lnSpc>
            </a:pPr>
            <a:r>
              <a:rPr lang="en-US" altLang="zh-CN" sz="1200" b="1" kern="1200" baseline="0" dirty="0">
                <a:solidFill>
                  <a:schemeClr val="tx1"/>
                </a:solidFill>
                <a:latin typeface="+mj-lt"/>
                <a:ea typeface="微软雅黑" panose="020B0503020204020204" pitchFamily="34" charset="-122"/>
                <a:cs typeface="+mn-cs"/>
              </a:rPr>
              <a:t>ROI</a:t>
            </a:r>
            <a:r>
              <a:rPr lang="zh-CN" altLang="en-US" sz="1200" b="1" kern="1200" baseline="0" dirty="0">
                <a:solidFill>
                  <a:schemeClr val="tx1"/>
                </a:solidFill>
                <a:latin typeface="+mj-lt"/>
                <a:ea typeface="微软雅黑" panose="020B0503020204020204" pitchFamily="34" charset="-122"/>
                <a:cs typeface="+mn-cs"/>
              </a:rPr>
              <a:t>：</a:t>
            </a:r>
            <a:endParaRPr lang="en-US" altLang="zh-CN" sz="1200" b="1" kern="1200" baseline="0" dirty="0">
              <a:solidFill>
                <a:schemeClr val="tx1"/>
              </a:solidFill>
              <a:latin typeface="+mj-lt"/>
              <a:ea typeface="微软雅黑" panose="020B0503020204020204" pitchFamily="34" charset="-122"/>
              <a:cs typeface="+mn-cs"/>
            </a:endParaRPr>
          </a:p>
        </p:txBody>
      </p:sp>
      <p:sp>
        <p:nvSpPr>
          <p:cNvPr id="64" name="矩形 63">
            <a:extLst>
              <a:ext uri="{FF2B5EF4-FFF2-40B4-BE49-F238E27FC236}">
                <a16:creationId xmlns:a16="http://schemas.microsoft.com/office/drawing/2014/main" id="{908FC143-BB3A-DEF5-428C-280E3C815A49}"/>
              </a:ext>
            </a:extLst>
          </p:cNvPr>
          <p:cNvSpPr/>
          <p:nvPr/>
        </p:nvSpPr>
        <p:spPr>
          <a:xfrm>
            <a:off x="8652619" y="4333065"/>
            <a:ext cx="1500283" cy="276999"/>
          </a:xfrm>
          <a:prstGeom prst="rect">
            <a:avLst/>
          </a:prstGeom>
        </p:spPr>
        <p:txBody>
          <a:bodyPr wrap="non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KUSD/Year</a:t>
            </a:r>
            <a:r>
              <a:rPr lang="en-US" altLang="zh-CN" sz="1200" b="1" dirty="0">
                <a:ea typeface="微软雅黑" panose="020B0503020204020204" pitchFamily="34" charset="-122"/>
              </a:rPr>
              <a:t>/Regin</a:t>
            </a:r>
            <a:r>
              <a:rPr kumimoji="0" lang="en-US" altLang="zh-CN" sz="12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a:t>
            </a:r>
          </a:p>
        </p:txBody>
      </p:sp>
      <p:sp>
        <p:nvSpPr>
          <p:cNvPr id="65" name="矩形 64">
            <a:extLst>
              <a:ext uri="{FF2B5EF4-FFF2-40B4-BE49-F238E27FC236}">
                <a16:creationId xmlns:a16="http://schemas.microsoft.com/office/drawing/2014/main" id="{3656035A-9CBB-A7E3-7AC8-2A7963CB4C36}"/>
              </a:ext>
            </a:extLst>
          </p:cNvPr>
          <p:cNvSpPr/>
          <p:nvPr/>
        </p:nvSpPr>
        <p:spPr>
          <a:xfrm>
            <a:off x="10916387" y="4347027"/>
            <a:ext cx="551305" cy="276999"/>
          </a:xfrm>
          <a:prstGeom prst="rect">
            <a:avLst/>
          </a:prstGeom>
        </p:spPr>
        <p:txBody>
          <a:bodyPr wrap="none">
            <a:spAutoFit/>
          </a:bodyPr>
          <a:lstStyle/>
          <a:p>
            <a:r>
              <a:rPr kumimoji="0" lang="en-US" altLang="zh-CN" sz="1200" b="1"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Year</a:t>
            </a:r>
            <a:r>
              <a:rPr kumimoji="0" lang="en-US" altLang="zh-CN" sz="1200" b="0" i="0" u="none" strike="noStrike" kern="1200" cap="none" spc="0" normalizeH="0" baseline="0" noProof="0" dirty="0">
                <a:ln>
                  <a:noFill/>
                </a:ln>
                <a:solidFill>
                  <a:schemeClr val="tx1"/>
                </a:solidFill>
                <a:effectLst/>
                <a:uLnTx/>
                <a:uFillTx/>
                <a:latin typeface="+mn-lt"/>
                <a:ea typeface="微软雅黑" panose="020B0503020204020204" pitchFamily="34" charset="-122"/>
                <a:cs typeface="+mn-cs"/>
              </a:rPr>
              <a:t> </a:t>
            </a:r>
            <a:endParaRPr lang="zh-TW" altLang="en-US" b="0" dirty="0">
              <a:solidFill>
                <a:schemeClr val="tx1"/>
              </a:solidFill>
            </a:endParaRPr>
          </a:p>
        </p:txBody>
      </p:sp>
      <p:graphicFrame>
        <p:nvGraphicFramePr>
          <p:cNvPr id="66" name="表格 65">
            <a:extLst>
              <a:ext uri="{FF2B5EF4-FFF2-40B4-BE49-F238E27FC236}">
                <a16:creationId xmlns:a16="http://schemas.microsoft.com/office/drawing/2014/main" id="{54BAD7B0-BC60-2904-706C-D307A5385210}"/>
              </a:ext>
            </a:extLst>
          </p:cNvPr>
          <p:cNvGraphicFramePr>
            <a:graphicFrameLocks noGrp="1"/>
          </p:cNvGraphicFramePr>
          <p:nvPr>
            <p:extLst>
              <p:ext uri="{D42A27DB-BD31-4B8C-83A1-F6EECF244321}">
                <p14:modId xmlns:p14="http://schemas.microsoft.com/office/powerpoint/2010/main" val="3203233745"/>
              </p:ext>
            </p:extLst>
          </p:nvPr>
        </p:nvGraphicFramePr>
        <p:xfrm>
          <a:off x="270441" y="4848176"/>
          <a:ext cx="3242734" cy="1376274"/>
        </p:xfrm>
        <a:graphic>
          <a:graphicData uri="http://schemas.openxmlformats.org/drawingml/2006/table">
            <a:tbl>
              <a:tblPr firstRow="1">
                <a:tableStyleId>{3B4B98B0-60AC-42C2-AFA5-B58CD77FA1E5}</a:tableStyleId>
              </a:tblPr>
              <a:tblGrid>
                <a:gridCol w="671612">
                  <a:extLst>
                    <a:ext uri="{9D8B030D-6E8A-4147-A177-3AD203B41FA5}">
                      <a16:colId xmlns:a16="http://schemas.microsoft.com/office/drawing/2014/main" val="598168328"/>
                    </a:ext>
                  </a:extLst>
                </a:gridCol>
                <a:gridCol w="711266">
                  <a:extLst>
                    <a:ext uri="{9D8B030D-6E8A-4147-A177-3AD203B41FA5}">
                      <a16:colId xmlns:a16="http://schemas.microsoft.com/office/drawing/2014/main" val="4205264334"/>
                    </a:ext>
                  </a:extLst>
                </a:gridCol>
                <a:gridCol w="1859856">
                  <a:extLst>
                    <a:ext uri="{9D8B030D-6E8A-4147-A177-3AD203B41FA5}">
                      <a16:colId xmlns:a16="http://schemas.microsoft.com/office/drawing/2014/main" val="3996203012"/>
                    </a:ext>
                  </a:extLst>
                </a:gridCol>
              </a:tblGrid>
              <a:tr h="330748">
                <a:tc>
                  <a:txBody>
                    <a:bodyPr/>
                    <a:lstStyle/>
                    <a:p>
                      <a:pPr marL="0" algn="ctr" defTabSz="914377" rtl="0" eaLnBrk="1" latinLnBrk="0" hangingPunct="1"/>
                      <a:r>
                        <a:rPr lang="zh-CN" altLang="en-US" sz="1200" b="1" kern="1200" dirty="0">
                          <a:solidFill>
                            <a:schemeClr val="tx1"/>
                          </a:solidFill>
                          <a:latin typeface="+mn-ea"/>
                          <a:ea typeface="+mn-ea"/>
                          <a:cs typeface="+mn-cs"/>
                        </a:rPr>
                        <a:t>成員</a:t>
                      </a:r>
                      <a:endParaRPr lang="en-US" altLang="zh-TW" sz="1200" b="1" kern="1200" dirty="0">
                        <a:solidFill>
                          <a:schemeClr val="tx1"/>
                        </a:solidFill>
                        <a:latin typeface="+mn-ea"/>
                        <a:ea typeface="+mn-ea"/>
                        <a:cs typeface="+mn-cs"/>
                      </a:endParaRPr>
                    </a:p>
                  </a:txBody>
                  <a:tcPr marL="0" marR="0" marT="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gridSpan="2">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TW" sz="1200" b="1" kern="1200" dirty="0">
                          <a:solidFill>
                            <a:schemeClr val="tx1"/>
                          </a:solidFill>
                          <a:latin typeface="Arial" panose="020B0604020202020204" pitchFamily="34" charset="0"/>
                          <a:ea typeface="+mn-ea"/>
                          <a:cs typeface="Arial" panose="020B0604020202020204" pitchFamily="34" charset="0"/>
                        </a:rPr>
                        <a:t>R&amp;R</a:t>
                      </a:r>
                      <a:endParaRPr lang="zh-TW" altLang="en-US" sz="1200" b="1" kern="1200" dirty="0">
                        <a:solidFill>
                          <a:schemeClr val="tx1"/>
                        </a:solidFill>
                        <a:latin typeface="Arial" panose="020B0604020202020204" pitchFamily="34" charset="0"/>
                        <a:ea typeface="+mn-ea"/>
                        <a:cs typeface="Arial" panose="020B0604020202020204" pitchFamily="34" charset="0"/>
                      </a:endParaRPr>
                    </a:p>
                  </a:txBody>
                  <a:tcPr marL="72000" marR="0" marT="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hMerge="1">
                  <a:txBody>
                    <a:bodyPr/>
                    <a:lstStyle/>
                    <a:p>
                      <a:pPr marL="0" marR="0" indent="0" algn="l" defTabSz="914377" rtl="0" eaLnBrk="1" fontAlgn="auto" latinLnBrk="0" hangingPunct="1">
                        <a:lnSpc>
                          <a:spcPct val="100000"/>
                        </a:lnSpc>
                        <a:spcBef>
                          <a:spcPts val="0"/>
                        </a:spcBef>
                        <a:spcAft>
                          <a:spcPts val="0"/>
                        </a:spcAft>
                        <a:buClrTx/>
                        <a:buSzTx/>
                        <a:buFontTx/>
                        <a:buNone/>
                        <a:tabLst/>
                        <a:defRPr/>
                      </a:pPr>
                      <a:endParaRPr lang="zh-TW"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0" marT="0" marB="3600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324693731"/>
                  </a:ext>
                </a:extLst>
              </a:tr>
              <a:tr h="330748">
                <a:tc>
                  <a:txBody>
                    <a:bodyPr/>
                    <a:lstStyle/>
                    <a:p>
                      <a:pPr algn="ctr"/>
                      <a:r>
                        <a:rPr lang="zh-TW" altLang="en-US" sz="1050" b="1" dirty="0">
                          <a:solidFill>
                            <a:srgbClr val="0000CC"/>
                          </a:solidFill>
                          <a:latin typeface="+mn-ea"/>
                          <a:ea typeface="+mn-ea"/>
                        </a:rPr>
                        <a:t>孫得皓</a:t>
                      </a:r>
                      <a:endParaRPr lang="zh-CN" altLang="en-US" sz="1050" b="1" dirty="0">
                        <a:solidFill>
                          <a:srgbClr val="0000CC"/>
                        </a:solidFill>
                        <a:latin typeface="+mn-ea"/>
                        <a:ea typeface="+mn-ea"/>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TW" sz="1050" b="1" dirty="0">
                          <a:solidFill>
                            <a:schemeClr val="tx1"/>
                          </a:solidFill>
                          <a:latin typeface="+mn-ea"/>
                          <a:ea typeface="+mn-ea"/>
                        </a:rPr>
                        <a:t>PM/</a:t>
                      </a:r>
                      <a:r>
                        <a:rPr lang="zh-TW" altLang="en-US" sz="1050" b="0" dirty="0">
                          <a:solidFill>
                            <a:schemeClr val="tx1"/>
                          </a:solidFill>
                          <a:latin typeface="+mn-ea"/>
                          <a:ea typeface="+mn-ea"/>
                        </a:rPr>
                        <a:t>技術架構</a:t>
                      </a:r>
                      <a:endParaRPr lang="zh-CN" altLang="en-US" sz="1050" b="0" dirty="0">
                        <a:solidFill>
                          <a:schemeClr val="tx1"/>
                        </a:solidFill>
                        <a:latin typeface="+mn-ea"/>
                        <a:ea typeface="+mn-ea"/>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algn="l"/>
                      <a:r>
                        <a:rPr lang="zh-TW" altLang="en-US" sz="1050" b="1" dirty="0">
                          <a:solidFill>
                            <a:srgbClr val="0000CC"/>
                          </a:solidFill>
                          <a:latin typeface="+mn-ea"/>
                          <a:ea typeface="+mn-ea"/>
                        </a:rPr>
                        <a:t>專案推展及架構規劃</a:t>
                      </a:r>
                      <a:endParaRPr lang="en-US" altLang="zh-CN" sz="1050" b="1" dirty="0">
                        <a:solidFill>
                          <a:srgbClr val="0000CC"/>
                        </a:solidFill>
                        <a:latin typeface="+mn-ea"/>
                        <a:ea typeface="+mn-ea"/>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24082158"/>
                  </a:ext>
                </a:extLst>
              </a:tr>
              <a:tr h="384030">
                <a:tc>
                  <a:txBody>
                    <a:bodyPr/>
                    <a:lstStyle/>
                    <a:p>
                      <a:pPr marL="0" algn="ctr" defTabSz="914377" rtl="0" eaLnBrk="1" latinLnBrk="0" hangingPunct="1"/>
                      <a:r>
                        <a:rPr lang="zh-TW" altLang="en-US" sz="1050" b="1" kern="1200" dirty="0">
                          <a:solidFill>
                            <a:srgbClr val="0000CC"/>
                          </a:solidFill>
                          <a:latin typeface="+mn-ea"/>
                          <a:ea typeface="+mn-ea"/>
                          <a:cs typeface="+mn-cs"/>
                        </a:rPr>
                        <a:t>賴詩涵</a:t>
                      </a:r>
                      <a:endParaRPr lang="zh-CN" altLang="en-US" sz="1050" b="1" kern="1200" dirty="0">
                        <a:solidFill>
                          <a:srgbClr val="0000CC"/>
                        </a:solidFill>
                        <a:latin typeface="+mn-ea"/>
                        <a:ea typeface="+mn-ea"/>
                        <a:cs typeface="+mn-cs"/>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zh-TW" altLang="en-US" sz="1050" b="0" i="0" u="none" strike="noStrike" kern="1200" cap="none" spc="0" normalizeH="0" baseline="0" noProof="0" dirty="0">
                          <a:ln>
                            <a:noFill/>
                          </a:ln>
                          <a:solidFill>
                            <a:prstClr val="black"/>
                          </a:solidFill>
                          <a:effectLst/>
                          <a:uLnTx/>
                          <a:uFillTx/>
                          <a:latin typeface="+mn-ea"/>
                          <a:ea typeface="+mn-ea"/>
                          <a:cs typeface="+mn-cs"/>
                        </a:rPr>
                        <a:t>執行</a:t>
                      </a:r>
                      <a:endParaRPr kumimoji="0" lang="zh-CN" altLang="en-US" sz="1050" b="0" i="0" u="none" strike="noStrike" kern="1200" cap="none" spc="0" normalizeH="0" baseline="0" noProof="0" dirty="0">
                        <a:ln>
                          <a:noFill/>
                        </a:ln>
                        <a:solidFill>
                          <a:prstClr val="black"/>
                        </a:solidFill>
                        <a:effectLst/>
                        <a:uLnTx/>
                        <a:uFillTx/>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050" b="1" kern="1200" dirty="0">
                          <a:solidFill>
                            <a:srgbClr val="0000CC"/>
                          </a:solidFill>
                          <a:latin typeface="+mn-ea"/>
                          <a:ea typeface="+mn-ea"/>
                          <a:cs typeface="+mn-cs"/>
                        </a:rPr>
                        <a:t>執行各解決方案測試</a:t>
                      </a:r>
                      <a:endParaRPr lang="zh-CN" altLang="en-US" sz="1050" b="1" kern="1200" dirty="0">
                        <a:solidFill>
                          <a:srgbClr val="0000CC"/>
                        </a:solidFill>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8872308"/>
                  </a:ext>
                </a:extLst>
              </a:tr>
              <a:tr h="330748">
                <a:tc>
                  <a:txBody>
                    <a:bodyPr/>
                    <a:lstStyle/>
                    <a:p>
                      <a:pPr marL="0" algn="ctr" defTabSz="914377" rtl="0" eaLnBrk="1" latinLnBrk="0" hangingPunct="1"/>
                      <a:r>
                        <a:rPr lang="zh-TW" altLang="en-US" sz="1050" b="1" kern="1200" dirty="0">
                          <a:solidFill>
                            <a:srgbClr val="0000CC"/>
                          </a:solidFill>
                          <a:latin typeface="+mn-ea"/>
                          <a:ea typeface="+mn-ea"/>
                          <a:cs typeface="+mn-cs"/>
                        </a:rPr>
                        <a:t>林采馨</a:t>
                      </a:r>
                      <a:endParaRPr lang="zh-CN" altLang="en-US" sz="1050" b="1" kern="1200" dirty="0">
                        <a:solidFill>
                          <a:srgbClr val="0000CC"/>
                        </a:solidFill>
                        <a:latin typeface="+mn-ea"/>
                        <a:ea typeface="+mn-ea"/>
                        <a:cs typeface="+mn-cs"/>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zh-TW" altLang="en-US" sz="1050" b="0" i="0" u="none" strike="noStrike" kern="1200" cap="none" spc="0" normalizeH="0" baseline="0" noProof="0" dirty="0">
                          <a:ln>
                            <a:noFill/>
                          </a:ln>
                          <a:solidFill>
                            <a:prstClr val="black"/>
                          </a:solidFill>
                          <a:effectLst/>
                          <a:uLnTx/>
                          <a:uFillTx/>
                          <a:latin typeface="+mn-ea"/>
                          <a:ea typeface="+mn-ea"/>
                          <a:cs typeface="+mn-cs"/>
                        </a:rPr>
                        <a:t>執行</a:t>
                      </a:r>
                      <a:endParaRPr kumimoji="0" lang="zh-CN" altLang="en-US" sz="1050" b="0" i="0" u="none" strike="noStrike" kern="1200" cap="none" spc="0" normalizeH="0" baseline="0" noProof="0" dirty="0">
                        <a:ln>
                          <a:noFill/>
                        </a:ln>
                        <a:solidFill>
                          <a:prstClr val="black"/>
                        </a:solidFill>
                        <a:effectLst/>
                        <a:uLnTx/>
                        <a:uFillTx/>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050" b="1" kern="1200" dirty="0">
                          <a:solidFill>
                            <a:srgbClr val="0000CC"/>
                          </a:solidFill>
                          <a:latin typeface="+mn-ea"/>
                          <a:ea typeface="+mn-ea"/>
                          <a:cs typeface="+mn-cs"/>
                        </a:rPr>
                        <a:t>執行各解決方案測試</a:t>
                      </a:r>
                      <a:endParaRPr lang="zh-CN" altLang="en-US" sz="1050" b="1" kern="1200" dirty="0">
                        <a:solidFill>
                          <a:srgbClr val="0000CC"/>
                        </a:solidFill>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1874143"/>
                  </a:ext>
                </a:extLst>
              </a:tr>
            </a:tbl>
          </a:graphicData>
        </a:graphic>
      </p:graphicFrame>
      <p:pic>
        <p:nvPicPr>
          <p:cNvPr id="67" name="圖片 66">
            <a:extLst>
              <a:ext uri="{FF2B5EF4-FFF2-40B4-BE49-F238E27FC236}">
                <a16:creationId xmlns:a16="http://schemas.microsoft.com/office/drawing/2014/main" id="{570E3DDB-059F-0D80-9C00-B1179C395464}"/>
              </a:ext>
            </a:extLst>
          </p:cNvPr>
          <p:cNvPicPr>
            <a:picLocks noChangeAspect="1"/>
          </p:cNvPicPr>
          <p:nvPr/>
        </p:nvPicPr>
        <p:blipFill>
          <a:blip r:embed="rId3"/>
          <a:stretch>
            <a:fillRect/>
          </a:stretch>
        </p:blipFill>
        <p:spPr>
          <a:xfrm>
            <a:off x="446941" y="3042718"/>
            <a:ext cx="3066234" cy="1342702"/>
          </a:xfrm>
          <a:prstGeom prst="rect">
            <a:avLst/>
          </a:prstGeom>
        </p:spPr>
      </p:pic>
      <p:pic>
        <p:nvPicPr>
          <p:cNvPr id="68" name="圖片 67">
            <a:extLst>
              <a:ext uri="{FF2B5EF4-FFF2-40B4-BE49-F238E27FC236}">
                <a16:creationId xmlns:a16="http://schemas.microsoft.com/office/drawing/2014/main" id="{2F5338FA-3524-83CC-5C23-9411DD91F477}"/>
              </a:ext>
            </a:extLst>
          </p:cNvPr>
          <p:cNvPicPr>
            <a:picLocks noChangeAspect="1"/>
          </p:cNvPicPr>
          <p:nvPr/>
        </p:nvPicPr>
        <p:blipFill>
          <a:blip r:embed="rId4"/>
          <a:stretch>
            <a:fillRect/>
          </a:stretch>
        </p:blipFill>
        <p:spPr>
          <a:xfrm>
            <a:off x="4333098" y="2801427"/>
            <a:ext cx="1705594" cy="1247995"/>
          </a:xfrm>
          <a:prstGeom prst="rect">
            <a:avLst/>
          </a:prstGeom>
        </p:spPr>
      </p:pic>
      <p:grpSp>
        <p:nvGrpSpPr>
          <p:cNvPr id="69" name="群組 68">
            <a:extLst>
              <a:ext uri="{FF2B5EF4-FFF2-40B4-BE49-F238E27FC236}">
                <a16:creationId xmlns:a16="http://schemas.microsoft.com/office/drawing/2014/main" id="{B62597A7-D0F6-0298-0A03-8086C4F84496}"/>
              </a:ext>
            </a:extLst>
          </p:cNvPr>
          <p:cNvGrpSpPr/>
          <p:nvPr/>
        </p:nvGrpSpPr>
        <p:grpSpPr>
          <a:xfrm>
            <a:off x="6149186" y="2878902"/>
            <a:ext cx="1761903" cy="1093044"/>
            <a:chOff x="-400982" y="3058831"/>
            <a:chExt cx="2353514" cy="1460066"/>
          </a:xfrm>
        </p:grpSpPr>
        <p:pic>
          <p:nvPicPr>
            <p:cNvPr id="70" name="Picture 16" descr="upload.wikimedia.org/wikipedia/commons/thumb/3/39/...">
              <a:extLst>
                <a:ext uri="{FF2B5EF4-FFF2-40B4-BE49-F238E27FC236}">
                  <a16:creationId xmlns:a16="http://schemas.microsoft.com/office/drawing/2014/main" id="{C807CA21-509C-3B00-4E9D-1A5955365A1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0494" y="3520531"/>
              <a:ext cx="502704" cy="487270"/>
            </a:xfrm>
            <a:prstGeom prst="rect">
              <a:avLst/>
            </a:prstGeom>
            <a:noFill/>
            <a:extLst>
              <a:ext uri="{909E8E84-426E-40DD-AFC4-6F175D3DCCD1}">
                <a14:hiddenFill xmlns:a14="http://schemas.microsoft.com/office/drawing/2010/main">
                  <a:solidFill>
                    <a:srgbClr val="FFFFFF"/>
                  </a:solidFill>
                </a14:hiddenFill>
              </a:ext>
            </a:extLst>
          </p:spPr>
        </p:pic>
        <p:pic>
          <p:nvPicPr>
            <p:cNvPr id="71" name="圖片 70">
              <a:extLst>
                <a:ext uri="{FF2B5EF4-FFF2-40B4-BE49-F238E27FC236}">
                  <a16:creationId xmlns:a16="http://schemas.microsoft.com/office/drawing/2014/main" id="{17064E6E-8FDD-B79B-B08F-E8B4DC04AF0D}"/>
                </a:ext>
              </a:extLst>
            </p:cNvPr>
            <p:cNvPicPr>
              <a:picLocks noChangeAspect="1"/>
            </p:cNvPicPr>
            <p:nvPr/>
          </p:nvPicPr>
          <p:blipFill>
            <a:blip r:embed="rId6"/>
            <a:stretch>
              <a:fillRect/>
            </a:stretch>
          </p:blipFill>
          <p:spPr>
            <a:xfrm>
              <a:off x="244800" y="3523537"/>
              <a:ext cx="454470" cy="505235"/>
            </a:xfrm>
            <a:prstGeom prst="rect">
              <a:avLst/>
            </a:prstGeom>
          </p:spPr>
        </p:pic>
        <p:pic>
          <p:nvPicPr>
            <p:cNvPr id="72" name="圖片 71">
              <a:extLst>
                <a:ext uri="{FF2B5EF4-FFF2-40B4-BE49-F238E27FC236}">
                  <a16:creationId xmlns:a16="http://schemas.microsoft.com/office/drawing/2014/main" id="{C199E509-222E-B265-F8D5-AB77CD7481F9}"/>
                </a:ext>
              </a:extLst>
            </p:cNvPr>
            <p:cNvPicPr>
              <a:picLocks noChangeAspect="1"/>
            </p:cNvPicPr>
            <p:nvPr/>
          </p:nvPicPr>
          <p:blipFill>
            <a:blip r:embed="rId7"/>
            <a:stretch>
              <a:fillRect/>
            </a:stretch>
          </p:blipFill>
          <p:spPr>
            <a:xfrm>
              <a:off x="-59227" y="4007801"/>
              <a:ext cx="447704" cy="511096"/>
            </a:xfrm>
            <a:prstGeom prst="rect">
              <a:avLst/>
            </a:prstGeom>
          </p:spPr>
        </p:pic>
        <p:pic>
          <p:nvPicPr>
            <p:cNvPr id="73" name="圖片 72">
              <a:extLst>
                <a:ext uri="{FF2B5EF4-FFF2-40B4-BE49-F238E27FC236}">
                  <a16:creationId xmlns:a16="http://schemas.microsoft.com/office/drawing/2014/main" id="{1ED425A8-6705-20F1-E73E-B882B4AB9032}"/>
                </a:ext>
              </a:extLst>
            </p:cNvPr>
            <p:cNvPicPr>
              <a:picLocks noChangeAspect="1"/>
            </p:cNvPicPr>
            <p:nvPr/>
          </p:nvPicPr>
          <p:blipFill>
            <a:blip r:embed="rId8"/>
            <a:stretch>
              <a:fillRect/>
            </a:stretch>
          </p:blipFill>
          <p:spPr>
            <a:xfrm>
              <a:off x="-400982" y="3564568"/>
              <a:ext cx="458760" cy="446016"/>
            </a:xfrm>
            <a:prstGeom prst="rect">
              <a:avLst/>
            </a:prstGeom>
          </p:spPr>
        </p:pic>
        <p:pic>
          <p:nvPicPr>
            <p:cNvPr id="74" name="圖片 73">
              <a:extLst>
                <a:ext uri="{FF2B5EF4-FFF2-40B4-BE49-F238E27FC236}">
                  <a16:creationId xmlns:a16="http://schemas.microsoft.com/office/drawing/2014/main" id="{9F1B38B5-5AFA-01C1-FA11-62CD0366DE89}"/>
                </a:ext>
              </a:extLst>
            </p:cNvPr>
            <p:cNvPicPr>
              <a:picLocks noChangeAspect="1"/>
            </p:cNvPicPr>
            <p:nvPr/>
          </p:nvPicPr>
          <p:blipFill>
            <a:blip r:embed="rId9"/>
            <a:stretch>
              <a:fillRect/>
            </a:stretch>
          </p:blipFill>
          <p:spPr>
            <a:xfrm>
              <a:off x="-48958" y="3067050"/>
              <a:ext cx="431629" cy="446016"/>
            </a:xfrm>
            <a:prstGeom prst="rect">
              <a:avLst/>
            </a:prstGeom>
            <a:ln>
              <a:solidFill>
                <a:schemeClr val="tx1"/>
              </a:solidFill>
            </a:ln>
          </p:spPr>
        </p:pic>
        <p:pic>
          <p:nvPicPr>
            <p:cNvPr id="75" name="Picture 10" descr="Compare Apache Doris vs Snowflake">
              <a:extLst>
                <a:ext uri="{FF2B5EF4-FFF2-40B4-BE49-F238E27FC236}">
                  <a16:creationId xmlns:a16="http://schemas.microsoft.com/office/drawing/2014/main" id="{37E3F8AB-6AF1-CD73-FB84-4861BB16701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3479" t="3429" r="6838" b="3151"/>
            <a:stretch/>
          </p:blipFill>
          <p:spPr bwMode="auto">
            <a:xfrm>
              <a:off x="543479" y="3067050"/>
              <a:ext cx="431629" cy="44961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76" name="Picture 12" descr="Dremio raises $30 million from Cisco Investments and others to streamline  data management | VentureBeat">
              <a:extLst>
                <a:ext uri="{FF2B5EF4-FFF2-40B4-BE49-F238E27FC236}">
                  <a16:creationId xmlns:a16="http://schemas.microsoft.com/office/drawing/2014/main" id="{667C44EE-82E3-5108-C490-D1CEFF6023B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06278" y="3058831"/>
              <a:ext cx="462226" cy="44601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77" name="圖片 76">
              <a:extLst>
                <a:ext uri="{FF2B5EF4-FFF2-40B4-BE49-F238E27FC236}">
                  <a16:creationId xmlns:a16="http://schemas.microsoft.com/office/drawing/2014/main" id="{7835B8A1-7BF3-D0CB-A99E-556053E8612A}"/>
                </a:ext>
              </a:extLst>
            </p:cNvPr>
            <p:cNvPicPr>
              <a:picLocks noChangeAspect="1"/>
            </p:cNvPicPr>
            <p:nvPr/>
          </p:nvPicPr>
          <p:blipFill>
            <a:blip r:embed="rId12"/>
            <a:stretch>
              <a:fillRect/>
            </a:stretch>
          </p:blipFill>
          <p:spPr>
            <a:xfrm>
              <a:off x="1213263" y="4022178"/>
              <a:ext cx="419136" cy="413913"/>
            </a:xfrm>
            <a:prstGeom prst="rect">
              <a:avLst/>
            </a:prstGeom>
          </p:spPr>
        </p:pic>
        <p:pic>
          <p:nvPicPr>
            <p:cNvPr id="78" name="圖片 77">
              <a:extLst>
                <a:ext uri="{FF2B5EF4-FFF2-40B4-BE49-F238E27FC236}">
                  <a16:creationId xmlns:a16="http://schemas.microsoft.com/office/drawing/2014/main" id="{D8AEDAB3-3AF5-8A52-725E-5DD1AE5FD7FA}"/>
                </a:ext>
              </a:extLst>
            </p:cNvPr>
            <p:cNvPicPr>
              <a:picLocks noChangeAspect="1"/>
            </p:cNvPicPr>
            <p:nvPr/>
          </p:nvPicPr>
          <p:blipFill>
            <a:blip r:embed="rId13"/>
            <a:stretch>
              <a:fillRect/>
            </a:stretch>
          </p:blipFill>
          <p:spPr>
            <a:xfrm>
              <a:off x="1499200" y="3560185"/>
              <a:ext cx="453332" cy="411486"/>
            </a:xfrm>
            <a:prstGeom prst="rect">
              <a:avLst/>
            </a:prstGeom>
            <a:ln>
              <a:solidFill>
                <a:schemeClr val="tx1"/>
              </a:solidFill>
            </a:ln>
          </p:spPr>
        </p:pic>
        <p:pic>
          <p:nvPicPr>
            <p:cNvPr id="79" name="Picture 6" descr="Logopond - Logo, Brand &amp; Identity Inspiration (Airbyte Octopus)">
              <a:extLst>
                <a:ext uri="{FF2B5EF4-FFF2-40B4-BE49-F238E27FC236}">
                  <a16:creationId xmlns:a16="http://schemas.microsoft.com/office/drawing/2014/main" id="{B55EB5CF-1295-7A6E-8DEC-B34F5C10693A}"/>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37626" t="18026" r="36126" b="48361"/>
            <a:stretch/>
          </p:blipFill>
          <p:spPr bwMode="auto">
            <a:xfrm>
              <a:off x="578848" y="4036449"/>
              <a:ext cx="434920" cy="407462"/>
            </a:xfrm>
            <a:prstGeom prst="rect">
              <a:avLst/>
            </a:prstGeom>
            <a:noFill/>
            <a:extLst>
              <a:ext uri="{909E8E84-426E-40DD-AFC4-6F175D3DCCD1}">
                <a14:hiddenFill xmlns:a14="http://schemas.microsoft.com/office/drawing/2010/main">
                  <a:solidFill>
                    <a:srgbClr val="FFFFFF"/>
                  </a:solidFill>
                </a14:hiddenFill>
              </a:ext>
            </a:extLst>
          </p:spPr>
        </p:pic>
      </p:grpSp>
      <p:sp>
        <p:nvSpPr>
          <p:cNvPr id="80" name="文字方塊 79">
            <a:extLst>
              <a:ext uri="{FF2B5EF4-FFF2-40B4-BE49-F238E27FC236}">
                <a16:creationId xmlns:a16="http://schemas.microsoft.com/office/drawing/2014/main" id="{3A675EAF-5236-091D-EF15-23F2250E22FD}"/>
              </a:ext>
            </a:extLst>
          </p:cNvPr>
          <p:cNvSpPr txBox="1"/>
          <p:nvPr/>
        </p:nvSpPr>
        <p:spPr>
          <a:xfrm>
            <a:off x="8142962" y="6266940"/>
            <a:ext cx="3704860" cy="261610"/>
          </a:xfrm>
          <a:prstGeom prst="rect">
            <a:avLst/>
          </a:prstGeom>
          <a:noFill/>
        </p:spPr>
        <p:txBody>
          <a:bodyPr wrap="none" rtlCol="0">
            <a:spAutoFit/>
          </a:bodyPr>
          <a:lstStyle/>
          <a:p>
            <a:r>
              <a:rPr lang="en-US" altLang="zh-TW" sz="1100" dirty="0"/>
              <a:t>*</a:t>
            </a:r>
            <a:r>
              <a:rPr lang="zh-TW" altLang="en-US" sz="1100" dirty="0"/>
              <a:t>依照</a:t>
            </a:r>
            <a:r>
              <a:rPr lang="en-US" altLang="zh-TW" sz="1100" dirty="0"/>
              <a:t>Oracle DW(32core)+EL(8core)</a:t>
            </a:r>
            <a:r>
              <a:rPr lang="zh-TW" altLang="en-US" sz="1100" dirty="0"/>
              <a:t>整合方案保守評估</a:t>
            </a:r>
          </a:p>
        </p:txBody>
      </p:sp>
      <p:sp>
        <p:nvSpPr>
          <p:cNvPr id="81" name="文字方塊 80">
            <a:extLst>
              <a:ext uri="{FF2B5EF4-FFF2-40B4-BE49-F238E27FC236}">
                <a16:creationId xmlns:a16="http://schemas.microsoft.com/office/drawing/2014/main" id="{C71944D4-F74F-1CF6-E617-085D38D7E382}"/>
              </a:ext>
            </a:extLst>
          </p:cNvPr>
          <p:cNvSpPr txBox="1"/>
          <p:nvPr/>
        </p:nvSpPr>
        <p:spPr>
          <a:xfrm>
            <a:off x="347135" y="1381148"/>
            <a:ext cx="3456000" cy="1631216"/>
          </a:xfrm>
          <a:prstGeom prst="rect">
            <a:avLst/>
          </a:prstGeom>
          <a:noFill/>
        </p:spPr>
        <p:txBody>
          <a:bodyPr wrap="square" rtlCol="0">
            <a:spAutoFit/>
          </a:bodyPr>
          <a:lstStyle/>
          <a:p>
            <a:pPr defTabSz="609523">
              <a:lnSpc>
                <a:spcPct val="100000"/>
              </a:lnSpc>
            </a:pPr>
            <a:r>
              <a:rPr lang="zh-TW" altLang="en-US" sz="1000" dirty="0">
                <a:solidFill>
                  <a:prstClr val="black"/>
                </a:solidFill>
                <a:latin typeface="Arial"/>
                <a:ea typeface=""/>
                <a:cs typeface=""/>
              </a:rPr>
              <a:t>數據中台每模組提出至少兩個開源解決方案</a:t>
            </a:r>
            <a:r>
              <a:rPr lang="en-US" altLang="zh-TW" sz="1000" dirty="0">
                <a:solidFill>
                  <a:prstClr val="black"/>
                </a:solidFill>
                <a:latin typeface="Arial"/>
                <a:ea typeface=""/>
                <a:cs typeface=""/>
              </a:rPr>
              <a:t>, </a:t>
            </a:r>
            <a:r>
              <a:rPr lang="zh-TW" altLang="en-US" sz="1000" dirty="0">
                <a:solidFill>
                  <a:prstClr val="black"/>
                </a:solidFill>
                <a:latin typeface="Arial"/>
                <a:ea typeface=""/>
                <a:cs typeface=""/>
              </a:rPr>
              <a:t>在</a:t>
            </a:r>
            <a:r>
              <a:rPr lang="en-US" altLang="zh-TW" sz="1000" dirty="0">
                <a:solidFill>
                  <a:prstClr val="black"/>
                </a:solidFill>
                <a:latin typeface="Arial"/>
                <a:ea typeface=""/>
                <a:cs typeface=""/>
              </a:rPr>
              <a:t>POC</a:t>
            </a:r>
            <a:r>
              <a:rPr lang="zh-TW" altLang="en-US" sz="1000" dirty="0">
                <a:solidFill>
                  <a:prstClr val="black"/>
                </a:solidFill>
                <a:latin typeface="Arial"/>
                <a:ea typeface=""/>
                <a:cs typeface=""/>
              </a:rPr>
              <a:t>過程中評估最終解決方案</a:t>
            </a:r>
            <a:r>
              <a:rPr lang="en-US" altLang="zh-TW" sz="1000" dirty="0">
                <a:solidFill>
                  <a:prstClr val="black"/>
                </a:solidFill>
                <a:latin typeface="Arial"/>
                <a:ea typeface=""/>
                <a:cs typeface=""/>
              </a:rPr>
              <a:t>, POC</a:t>
            </a:r>
            <a:r>
              <a:rPr lang="zh-TW" altLang="en-US" sz="1000" dirty="0">
                <a:solidFill>
                  <a:prstClr val="black"/>
                </a:solidFill>
                <a:latin typeface="Arial"/>
                <a:ea typeface=""/>
                <a:cs typeface=""/>
              </a:rPr>
              <a:t>使用者故事</a:t>
            </a:r>
            <a:r>
              <a:rPr lang="en-US" altLang="zh-TW" sz="1000" dirty="0">
                <a:solidFill>
                  <a:prstClr val="black"/>
                </a:solidFill>
                <a:latin typeface="Arial"/>
                <a:ea typeface=""/>
                <a:cs typeface=""/>
              </a:rPr>
              <a:t>:</a:t>
            </a:r>
            <a:r>
              <a:rPr lang="zh-TW" altLang="en-US" sz="1000" dirty="0">
                <a:solidFill>
                  <a:prstClr val="black"/>
                </a:solidFill>
                <a:latin typeface="Arial"/>
                <a:ea typeface=""/>
                <a:cs typeface=""/>
              </a:rPr>
              <a:t>整合</a:t>
            </a:r>
            <a:r>
              <a:rPr lang="en-US" altLang="zh-TW" sz="1000" dirty="0">
                <a:solidFill>
                  <a:prstClr val="black"/>
                </a:solidFill>
                <a:latin typeface="Arial"/>
                <a:ea typeface=""/>
                <a:cs typeface=""/>
              </a:rPr>
              <a:t>MES</a:t>
            </a:r>
            <a:r>
              <a:rPr lang="zh-TW" altLang="en-US" sz="1000" dirty="0">
                <a:solidFill>
                  <a:prstClr val="black"/>
                </a:solidFill>
                <a:latin typeface="Arial"/>
                <a:ea typeface=""/>
                <a:cs typeface=""/>
              </a:rPr>
              <a:t>主檔與機連數據產生對比報表符合最終數據中台可以達到目標 </a:t>
            </a:r>
            <a:r>
              <a:rPr lang="en-US" altLang="zh-TW" sz="1000" dirty="0">
                <a:solidFill>
                  <a:prstClr val="black"/>
                </a:solidFill>
                <a:latin typeface="Arial"/>
                <a:ea typeface=""/>
                <a:cs typeface=""/>
              </a:rPr>
              <a:t>:</a:t>
            </a:r>
          </a:p>
          <a:p>
            <a:pPr defTabSz="609523">
              <a:lnSpc>
                <a:spcPct val="100000"/>
              </a:lnSpc>
            </a:pPr>
            <a:endParaRPr lang="en-US" altLang="zh-TW" sz="1000" dirty="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dirty="0">
                <a:solidFill>
                  <a:prstClr val="black"/>
                </a:solidFill>
                <a:latin typeface="Arial"/>
                <a:ea typeface=""/>
                <a:cs typeface=""/>
              </a:rPr>
              <a:t>統合所有數據源並精煉</a:t>
            </a:r>
            <a:r>
              <a:rPr lang="en-US" altLang="zh-TW" sz="1000" dirty="0">
                <a:solidFill>
                  <a:prstClr val="black"/>
                </a:solidFill>
                <a:latin typeface="Arial"/>
                <a:ea typeface=""/>
                <a:cs typeface=""/>
              </a:rPr>
              <a:t>, </a:t>
            </a:r>
            <a:r>
              <a:rPr lang="zh-TW" altLang="en-US" sz="1000" dirty="0">
                <a:solidFill>
                  <a:prstClr val="black"/>
                </a:solidFill>
                <a:latin typeface="Arial"/>
                <a:ea typeface=""/>
                <a:cs typeface=""/>
              </a:rPr>
              <a:t>成為單一數據入口點</a:t>
            </a:r>
            <a:endParaRPr lang="en-US" altLang="zh-TW" sz="1000" dirty="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dirty="0">
                <a:solidFill>
                  <a:prstClr val="black"/>
                </a:solidFill>
                <a:latin typeface="Arial"/>
                <a:ea typeface=""/>
                <a:cs typeface=""/>
              </a:rPr>
              <a:t>遵循公司數據治理規範</a:t>
            </a:r>
            <a:r>
              <a:rPr lang="en-US" altLang="zh-TW" sz="1000" dirty="0">
                <a:solidFill>
                  <a:prstClr val="black"/>
                </a:solidFill>
                <a:latin typeface="Arial"/>
                <a:ea typeface=""/>
                <a:cs typeface=""/>
              </a:rPr>
              <a:t>, </a:t>
            </a:r>
            <a:r>
              <a:rPr lang="zh-TW" altLang="en-US" sz="1000" dirty="0">
                <a:solidFill>
                  <a:prstClr val="black"/>
                </a:solidFill>
                <a:latin typeface="Arial"/>
                <a:ea typeface=""/>
                <a:cs typeface=""/>
              </a:rPr>
              <a:t>實行數據管理與數據質量檢測</a:t>
            </a:r>
            <a:endParaRPr lang="en-US" altLang="zh-TW" sz="1000" dirty="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dirty="0">
                <a:solidFill>
                  <a:prstClr val="black"/>
                </a:solidFill>
                <a:latin typeface="Arial"/>
                <a:ea typeface=""/>
                <a:cs typeface=""/>
              </a:rPr>
              <a:t>嚴謹落實數據安全管控</a:t>
            </a:r>
            <a:r>
              <a:rPr lang="en-US" altLang="zh-TW" sz="1000" dirty="0">
                <a:solidFill>
                  <a:prstClr val="black"/>
                </a:solidFill>
                <a:latin typeface="Arial"/>
                <a:ea typeface=""/>
                <a:cs typeface=""/>
              </a:rPr>
              <a:t>, </a:t>
            </a:r>
            <a:r>
              <a:rPr lang="zh-TW" altLang="en-US" sz="1000" dirty="0">
                <a:solidFill>
                  <a:prstClr val="black"/>
                </a:solidFill>
                <a:latin typeface="Arial"/>
                <a:ea typeface=""/>
                <a:cs typeface=""/>
              </a:rPr>
              <a:t>限制使用者僅能取得權限內之數據</a:t>
            </a:r>
            <a:endParaRPr lang="en-US" altLang="zh-TW" sz="1000" dirty="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dirty="0">
                <a:solidFill>
                  <a:prstClr val="black"/>
                </a:solidFill>
                <a:latin typeface="Arial"/>
                <a:ea typeface=""/>
                <a:cs typeface=""/>
              </a:rPr>
              <a:t>支持多樣數據接口</a:t>
            </a:r>
            <a:r>
              <a:rPr lang="en-US" altLang="zh-TW" sz="1000" dirty="0">
                <a:solidFill>
                  <a:prstClr val="black"/>
                </a:solidFill>
                <a:latin typeface="Arial"/>
                <a:ea typeface=""/>
                <a:cs typeface=""/>
              </a:rPr>
              <a:t>, </a:t>
            </a:r>
            <a:r>
              <a:rPr lang="zh-TW" altLang="en-US" sz="1000" dirty="0">
                <a:solidFill>
                  <a:prstClr val="black"/>
                </a:solidFill>
                <a:latin typeface="Arial"/>
                <a:ea typeface=""/>
                <a:cs typeface=""/>
              </a:rPr>
              <a:t>滿足各式業務需求</a:t>
            </a:r>
            <a:r>
              <a:rPr lang="en-US" altLang="zh-TW" sz="1000" dirty="0">
                <a:solidFill>
                  <a:prstClr val="black"/>
                </a:solidFill>
                <a:latin typeface="Arial"/>
                <a:ea typeface=""/>
                <a:cs typeface=""/>
              </a:rPr>
              <a:t> </a:t>
            </a:r>
          </a:p>
          <a:p>
            <a:endParaRPr lang="zh-TW" altLang="en-US" sz="1000" dirty="0"/>
          </a:p>
        </p:txBody>
      </p:sp>
      <p:sp>
        <p:nvSpPr>
          <p:cNvPr id="82" name="文字方塊 81">
            <a:extLst>
              <a:ext uri="{FF2B5EF4-FFF2-40B4-BE49-F238E27FC236}">
                <a16:creationId xmlns:a16="http://schemas.microsoft.com/office/drawing/2014/main" id="{1452815B-21A3-F450-6DEE-FF21E00BD2C1}"/>
              </a:ext>
            </a:extLst>
          </p:cNvPr>
          <p:cNvSpPr txBox="1"/>
          <p:nvPr/>
        </p:nvSpPr>
        <p:spPr>
          <a:xfrm>
            <a:off x="4284132" y="1428883"/>
            <a:ext cx="3456000" cy="1169551"/>
          </a:xfrm>
          <a:prstGeom prst="rect">
            <a:avLst/>
          </a:prstGeom>
          <a:noFill/>
        </p:spPr>
        <p:txBody>
          <a:bodyPr wrap="square" rtlCol="0">
            <a:spAutoFit/>
          </a:bodyPr>
          <a:lstStyle/>
          <a:p>
            <a:pPr defTabSz="609523">
              <a:lnSpc>
                <a:spcPct val="100000"/>
              </a:lnSpc>
            </a:pPr>
            <a:r>
              <a:rPr lang="zh-TW" altLang="en-US" sz="1000" dirty="0">
                <a:solidFill>
                  <a:prstClr val="black"/>
                </a:solidFill>
                <a:latin typeface="Arial"/>
                <a:ea typeface=""/>
                <a:cs typeface=""/>
              </a:rPr>
              <a:t>數據擷取 </a:t>
            </a:r>
            <a:r>
              <a:rPr lang="en-US" altLang="zh-TW" sz="1000" dirty="0">
                <a:solidFill>
                  <a:prstClr val="black"/>
                </a:solidFill>
                <a:latin typeface="Arial"/>
                <a:ea typeface=""/>
                <a:cs typeface=""/>
              </a:rPr>
              <a:t>:</a:t>
            </a:r>
            <a:r>
              <a:rPr lang="zh-TW" altLang="en-US" sz="1000" dirty="0">
                <a:solidFill>
                  <a:prstClr val="black"/>
                </a:solidFill>
                <a:latin typeface="Arial"/>
                <a:ea typeface=""/>
                <a:cs typeface=""/>
              </a:rPr>
              <a:t> </a:t>
            </a:r>
            <a:r>
              <a:rPr lang="en-US" altLang="zh-TW" sz="1000" dirty="0" err="1">
                <a:solidFill>
                  <a:prstClr val="black"/>
                </a:solidFill>
                <a:latin typeface="Arial"/>
                <a:ea typeface=""/>
                <a:cs typeface=""/>
              </a:rPr>
              <a:t>AirByte</a:t>
            </a:r>
            <a:r>
              <a:rPr lang="en-US" altLang="zh-TW" sz="1000" dirty="0">
                <a:solidFill>
                  <a:prstClr val="black"/>
                </a:solidFill>
                <a:latin typeface="Arial"/>
                <a:ea typeface=""/>
                <a:cs typeface=""/>
              </a:rPr>
              <a:t> </a:t>
            </a:r>
            <a:r>
              <a:rPr lang="zh-TW" altLang="en-US" sz="1000" dirty="0">
                <a:solidFill>
                  <a:prstClr val="black"/>
                </a:solidFill>
                <a:latin typeface="Arial"/>
                <a:ea typeface=""/>
                <a:cs typeface=""/>
              </a:rPr>
              <a:t>與 </a:t>
            </a:r>
            <a:r>
              <a:rPr lang="en-US" altLang="zh-TW" sz="1000" dirty="0" err="1">
                <a:solidFill>
                  <a:prstClr val="black"/>
                </a:solidFill>
                <a:latin typeface="Arial"/>
                <a:ea typeface=""/>
                <a:cs typeface=""/>
              </a:rPr>
              <a:t>SeaTunnel</a:t>
            </a:r>
            <a:endParaRPr lang="en-US" altLang="zh-TW" sz="1000" dirty="0">
              <a:solidFill>
                <a:prstClr val="black"/>
              </a:solidFill>
              <a:latin typeface="Arial"/>
              <a:ea typeface=""/>
              <a:cs typeface=""/>
            </a:endParaRPr>
          </a:p>
          <a:p>
            <a:pPr defTabSz="609523">
              <a:lnSpc>
                <a:spcPct val="100000"/>
              </a:lnSpc>
            </a:pPr>
            <a:r>
              <a:rPr lang="zh-TW" altLang="en-US" sz="1000" dirty="0">
                <a:solidFill>
                  <a:prstClr val="black"/>
                </a:solidFill>
                <a:latin typeface="Arial"/>
              </a:rPr>
              <a:t>結構式數據湖泊 </a:t>
            </a:r>
            <a:r>
              <a:rPr lang="en-US" altLang="zh-TW" sz="1000" dirty="0">
                <a:solidFill>
                  <a:prstClr val="black"/>
                </a:solidFill>
                <a:latin typeface="Arial"/>
              </a:rPr>
              <a:t>:</a:t>
            </a:r>
            <a:r>
              <a:rPr lang="zh-TW" altLang="en-US" sz="1000" dirty="0">
                <a:solidFill>
                  <a:prstClr val="black"/>
                </a:solidFill>
                <a:latin typeface="Arial"/>
              </a:rPr>
              <a:t> </a:t>
            </a:r>
            <a:r>
              <a:rPr lang="en-US" altLang="zh-TW" sz="1000" dirty="0">
                <a:solidFill>
                  <a:prstClr val="black"/>
                </a:solidFill>
                <a:latin typeface="Arial"/>
              </a:rPr>
              <a:t>Apache Doris </a:t>
            </a:r>
            <a:r>
              <a:rPr lang="zh-TW" altLang="en-US" sz="1000" dirty="0">
                <a:solidFill>
                  <a:prstClr val="black"/>
                </a:solidFill>
                <a:latin typeface="Arial"/>
              </a:rPr>
              <a:t>與 </a:t>
            </a:r>
            <a:r>
              <a:rPr lang="en-US" altLang="zh-TW" sz="1000" dirty="0" err="1">
                <a:solidFill>
                  <a:prstClr val="black"/>
                </a:solidFill>
                <a:latin typeface="Arial"/>
              </a:rPr>
              <a:t>ClickHouse</a:t>
            </a:r>
            <a:endParaRPr lang="en-US" altLang="zh-TW" sz="1000" dirty="0">
              <a:solidFill>
                <a:prstClr val="black"/>
              </a:solidFill>
              <a:latin typeface="Arial"/>
            </a:endParaRPr>
          </a:p>
          <a:p>
            <a:pPr defTabSz="609523">
              <a:lnSpc>
                <a:spcPct val="100000"/>
              </a:lnSpc>
            </a:pPr>
            <a:r>
              <a:rPr lang="zh-TW" altLang="en-US" sz="1000" dirty="0">
                <a:solidFill>
                  <a:prstClr val="black"/>
                </a:solidFill>
                <a:latin typeface="Arial"/>
              </a:rPr>
              <a:t>數據處理 </a:t>
            </a:r>
            <a:r>
              <a:rPr lang="en-US" altLang="zh-TW" sz="1000" dirty="0">
                <a:solidFill>
                  <a:prstClr val="black"/>
                </a:solidFill>
                <a:latin typeface="Arial"/>
              </a:rPr>
              <a:t>:</a:t>
            </a:r>
            <a:r>
              <a:rPr lang="zh-TW" altLang="en-US" sz="1000" dirty="0">
                <a:solidFill>
                  <a:prstClr val="black"/>
                </a:solidFill>
                <a:latin typeface="Arial"/>
              </a:rPr>
              <a:t> </a:t>
            </a:r>
            <a:r>
              <a:rPr lang="en-US" altLang="zh-TW" sz="1000" dirty="0" err="1">
                <a:solidFill>
                  <a:prstClr val="black"/>
                </a:solidFill>
                <a:latin typeface="Arial"/>
              </a:rPr>
              <a:t>Nifi</a:t>
            </a:r>
            <a:r>
              <a:rPr lang="en-US" altLang="zh-TW" sz="1000" dirty="0">
                <a:solidFill>
                  <a:prstClr val="black"/>
                </a:solidFill>
                <a:latin typeface="Arial"/>
              </a:rPr>
              <a:t> </a:t>
            </a:r>
            <a:r>
              <a:rPr lang="zh-TW" altLang="en-US" sz="1000" dirty="0">
                <a:solidFill>
                  <a:prstClr val="black"/>
                </a:solidFill>
                <a:latin typeface="Arial"/>
              </a:rPr>
              <a:t>與 </a:t>
            </a:r>
            <a:r>
              <a:rPr lang="en-US" altLang="zh-TW" sz="1000" dirty="0" err="1">
                <a:solidFill>
                  <a:prstClr val="black"/>
                </a:solidFill>
                <a:latin typeface="Arial"/>
              </a:rPr>
              <a:t>Perfet</a:t>
            </a:r>
            <a:endParaRPr lang="en-US" altLang="zh-TW" sz="1000" dirty="0">
              <a:solidFill>
                <a:prstClr val="black"/>
              </a:solidFill>
              <a:latin typeface="Arial"/>
            </a:endParaRPr>
          </a:p>
          <a:p>
            <a:pPr defTabSz="609523">
              <a:lnSpc>
                <a:spcPct val="100000"/>
              </a:lnSpc>
            </a:pPr>
            <a:r>
              <a:rPr lang="zh-TW" altLang="en-US" sz="1000" dirty="0">
                <a:solidFill>
                  <a:prstClr val="black"/>
                </a:solidFill>
                <a:latin typeface="Arial"/>
              </a:rPr>
              <a:t>數據上架 </a:t>
            </a:r>
            <a:r>
              <a:rPr lang="en-US" altLang="zh-TW" sz="1000" dirty="0">
                <a:solidFill>
                  <a:prstClr val="black"/>
                </a:solidFill>
                <a:latin typeface="Arial"/>
              </a:rPr>
              <a:t>:</a:t>
            </a:r>
            <a:r>
              <a:rPr lang="zh-TW" altLang="en-US" sz="1000" dirty="0">
                <a:solidFill>
                  <a:prstClr val="black"/>
                </a:solidFill>
                <a:latin typeface="Arial"/>
              </a:rPr>
              <a:t> </a:t>
            </a:r>
            <a:r>
              <a:rPr lang="en-US" altLang="zh-TW" sz="1000" dirty="0">
                <a:solidFill>
                  <a:prstClr val="black"/>
                </a:solidFill>
                <a:latin typeface="Arial"/>
              </a:rPr>
              <a:t>ROAPI</a:t>
            </a:r>
            <a:r>
              <a:rPr lang="zh-TW" altLang="en-US" sz="1000" dirty="0">
                <a:solidFill>
                  <a:prstClr val="black"/>
                </a:solidFill>
                <a:latin typeface="Arial"/>
              </a:rPr>
              <a:t>與</a:t>
            </a:r>
            <a:r>
              <a:rPr lang="en-US" altLang="zh-TW" sz="1000" dirty="0">
                <a:solidFill>
                  <a:prstClr val="black"/>
                </a:solidFill>
                <a:latin typeface="Arial"/>
              </a:rPr>
              <a:t>Cube JS</a:t>
            </a:r>
          </a:p>
          <a:p>
            <a:pPr defTabSz="609523">
              <a:lnSpc>
                <a:spcPct val="100000"/>
              </a:lnSpc>
            </a:pPr>
            <a:r>
              <a:rPr lang="zh-TW" altLang="en-US" sz="1000" dirty="0">
                <a:solidFill>
                  <a:prstClr val="black"/>
                </a:solidFill>
                <a:latin typeface="Arial"/>
              </a:rPr>
              <a:t>數據權限 </a:t>
            </a:r>
            <a:r>
              <a:rPr lang="en-US" altLang="zh-TW" sz="1000" dirty="0">
                <a:solidFill>
                  <a:prstClr val="black"/>
                </a:solidFill>
                <a:latin typeface="Arial"/>
              </a:rPr>
              <a:t>:</a:t>
            </a:r>
            <a:r>
              <a:rPr lang="zh-TW" altLang="en-US" sz="1000" dirty="0">
                <a:solidFill>
                  <a:prstClr val="black"/>
                </a:solidFill>
                <a:latin typeface="Arial"/>
              </a:rPr>
              <a:t> 依照訂定的角色群組確認各解決方案是否能支援此設計</a:t>
            </a:r>
            <a:endParaRPr lang="en-US" altLang="zh-TW" sz="1000" dirty="0">
              <a:solidFill>
                <a:prstClr val="black"/>
              </a:solidFill>
              <a:latin typeface="Arial"/>
            </a:endParaRPr>
          </a:p>
          <a:p>
            <a:pPr defTabSz="609523">
              <a:lnSpc>
                <a:spcPct val="100000"/>
              </a:lnSpc>
            </a:pPr>
            <a:r>
              <a:rPr lang="zh-TW" altLang="en-US" sz="1000" dirty="0">
                <a:solidFill>
                  <a:prstClr val="black"/>
                </a:solidFill>
                <a:latin typeface="Arial"/>
              </a:rPr>
              <a:t>高擴展性架構 </a:t>
            </a:r>
            <a:r>
              <a:rPr lang="en-US" altLang="zh-TW" sz="1000" dirty="0">
                <a:solidFill>
                  <a:prstClr val="black"/>
                </a:solidFill>
                <a:latin typeface="Arial"/>
              </a:rPr>
              <a:t>: MicroK8S</a:t>
            </a:r>
            <a:endParaRPr lang="zh-TW" altLang="en-US" sz="1000" dirty="0"/>
          </a:p>
        </p:txBody>
      </p:sp>
      <p:graphicFrame>
        <p:nvGraphicFramePr>
          <p:cNvPr id="83" name="圖表 82">
            <a:extLst>
              <a:ext uri="{FF2B5EF4-FFF2-40B4-BE49-F238E27FC236}">
                <a16:creationId xmlns:a16="http://schemas.microsoft.com/office/drawing/2014/main" id="{EACDFEE2-50DC-AC0E-D1D5-183DD1FD8FDE}"/>
              </a:ext>
            </a:extLst>
          </p:cNvPr>
          <p:cNvGraphicFramePr/>
          <p:nvPr>
            <p:extLst>
              <p:ext uri="{D42A27DB-BD31-4B8C-83A1-F6EECF244321}">
                <p14:modId xmlns:p14="http://schemas.microsoft.com/office/powerpoint/2010/main" val="745370785"/>
              </p:ext>
            </p:extLst>
          </p:nvPr>
        </p:nvGraphicFramePr>
        <p:xfrm>
          <a:off x="8739889" y="1665049"/>
          <a:ext cx="1851912" cy="1992552"/>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84" name="表格 83">
            <a:extLst>
              <a:ext uri="{FF2B5EF4-FFF2-40B4-BE49-F238E27FC236}">
                <a16:creationId xmlns:a16="http://schemas.microsoft.com/office/drawing/2014/main" id="{826F1EAD-E8A3-36C3-A4FC-43A39855E58E}"/>
              </a:ext>
            </a:extLst>
          </p:cNvPr>
          <p:cNvGraphicFramePr>
            <a:graphicFrameLocks noGrp="1"/>
          </p:cNvGraphicFramePr>
          <p:nvPr>
            <p:extLst>
              <p:ext uri="{D42A27DB-BD31-4B8C-83A1-F6EECF244321}">
                <p14:modId xmlns:p14="http://schemas.microsoft.com/office/powerpoint/2010/main" val="3946395176"/>
              </p:ext>
            </p:extLst>
          </p:nvPr>
        </p:nvGraphicFramePr>
        <p:xfrm>
          <a:off x="8305798" y="1570633"/>
          <a:ext cx="2865970" cy="259080"/>
        </p:xfrm>
        <a:graphic>
          <a:graphicData uri="http://schemas.openxmlformats.org/drawingml/2006/table">
            <a:tbl>
              <a:tblPr firstRow="1" bandRow="1">
                <a:tableStyleId>{5C22544A-7EE6-4342-B048-85BDC9FD1C3A}</a:tableStyleId>
              </a:tblPr>
              <a:tblGrid>
                <a:gridCol w="573194">
                  <a:extLst>
                    <a:ext uri="{9D8B030D-6E8A-4147-A177-3AD203B41FA5}">
                      <a16:colId xmlns:a16="http://schemas.microsoft.com/office/drawing/2014/main" val="2389258531"/>
                    </a:ext>
                  </a:extLst>
                </a:gridCol>
                <a:gridCol w="573194">
                  <a:extLst>
                    <a:ext uri="{9D8B030D-6E8A-4147-A177-3AD203B41FA5}">
                      <a16:colId xmlns:a16="http://schemas.microsoft.com/office/drawing/2014/main" val="734042488"/>
                    </a:ext>
                  </a:extLst>
                </a:gridCol>
                <a:gridCol w="573194">
                  <a:extLst>
                    <a:ext uri="{9D8B030D-6E8A-4147-A177-3AD203B41FA5}">
                      <a16:colId xmlns:a16="http://schemas.microsoft.com/office/drawing/2014/main" val="4071878471"/>
                    </a:ext>
                  </a:extLst>
                </a:gridCol>
                <a:gridCol w="573194">
                  <a:extLst>
                    <a:ext uri="{9D8B030D-6E8A-4147-A177-3AD203B41FA5}">
                      <a16:colId xmlns:a16="http://schemas.microsoft.com/office/drawing/2014/main" val="1962283870"/>
                    </a:ext>
                  </a:extLst>
                </a:gridCol>
                <a:gridCol w="573194">
                  <a:extLst>
                    <a:ext uri="{9D8B030D-6E8A-4147-A177-3AD203B41FA5}">
                      <a16:colId xmlns:a16="http://schemas.microsoft.com/office/drawing/2014/main" val="2294945033"/>
                    </a:ext>
                  </a:extLst>
                </a:gridCol>
              </a:tblGrid>
              <a:tr h="255613">
                <a:tc>
                  <a:txBody>
                    <a:bodyPr/>
                    <a:lstStyle/>
                    <a:p>
                      <a:pPr algn="ctr"/>
                      <a:r>
                        <a:rPr lang="en-US" altLang="zh-TW" sz="1100" b="0" dirty="0">
                          <a:solidFill>
                            <a:schemeClr val="bg1"/>
                          </a:solidFill>
                        </a:rPr>
                        <a:t>M1</a:t>
                      </a:r>
                      <a:endParaRPr lang="zh-TW" altLang="en-US" sz="1100" b="0" dirty="0">
                        <a:solidFill>
                          <a:schemeClr val="bg1"/>
                        </a:solidFill>
                      </a:endParaRPr>
                    </a:p>
                  </a:txBody>
                  <a:tcPr>
                    <a:solidFill>
                      <a:srgbClr val="00B050"/>
                    </a:solidFill>
                  </a:tcPr>
                </a:tc>
                <a:tc>
                  <a:txBody>
                    <a:bodyPr/>
                    <a:lstStyle/>
                    <a:p>
                      <a:pPr algn="ctr"/>
                      <a:r>
                        <a:rPr lang="en-US" altLang="zh-TW" sz="1100" b="0" dirty="0">
                          <a:solidFill>
                            <a:schemeClr val="bg1"/>
                          </a:solidFill>
                        </a:rPr>
                        <a:t>M2</a:t>
                      </a:r>
                      <a:endParaRPr lang="zh-TW" altLang="en-US" sz="1100" b="0" dirty="0">
                        <a:solidFill>
                          <a:schemeClr val="bg1"/>
                        </a:solidFill>
                      </a:endParaRPr>
                    </a:p>
                  </a:txBody>
                  <a:tcPr>
                    <a:solidFill>
                      <a:srgbClr val="00B050"/>
                    </a:solidFill>
                  </a:tcPr>
                </a:tc>
                <a:tc>
                  <a:txBody>
                    <a:bodyPr/>
                    <a:lstStyle/>
                    <a:p>
                      <a:pPr algn="ctr"/>
                      <a:r>
                        <a:rPr lang="en-US" altLang="zh-TW" sz="1100" b="0" dirty="0">
                          <a:solidFill>
                            <a:schemeClr val="bg1"/>
                          </a:solidFill>
                        </a:rPr>
                        <a:t>M3</a:t>
                      </a:r>
                      <a:endParaRPr lang="zh-TW" altLang="en-US" sz="1100" b="0" dirty="0">
                        <a:solidFill>
                          <a:schemeClr val="bg1"/>
                        </a:solidFill>
                      </a:endParaRPr>
                    </a:p>
                  </a:txBody>
                  <a:tcPr>
                    <a:solidFill>
                      <a:srgbClr val="00B050"/>
                    </a:solidFill>
                  </a:tcPr>
                </a:tc>
                <a:tc>
                  <a:txBody>
                    <a:bodyPr/>
                    <a:lstStyle/>
                    <a:p>
                      <a:pPr algn="ctr"/>
                      <a:r>
                        <a:rPr lang="en-US" altLang="zh-TW" sz="1100" b="0" dirty="0">
                          <a:solidFill>
                            <a:schemeClr val="bg1"/>
                          </a:solidFill>
                        </a:rPr>
                        <a:t>M4</a:t>
                      </a:r>
                      <a:endParaRPr lang="zh-TW" altLang="en-US" sz="1100" b="0" dirty="0">
                        <a:solidFill>
                          <a:schemeClr val="bg1"/>
                        </a:solidFill>
                      </a:endParaRPr>
                    </a:p>
                  </a:txBody>
                  <a:tcPr>
                    <a:solidFill>
                      <a:srgbClr val="00B050"/>
                    </a:solidFill>
                  </a:tcPr>
                </a:tc>
                <a:tc>
                  <a:txBody>
                    <a:bodyPr/>
                    <a:lstStyle/>
                    <a:p>
                      <a:pPr algn="ctr"/>
                      <a:r>
                        <a:rPr lang="en-US" altLang="zh-TW" sz="1100" b="0" dirty="0">
                          <a:solidFill>
                            <a:schemeClr val="tx1"/>
                          </a:solidFill>
                        </a:rPr>
                        <a:t>M5</a:t>
                      </a:r>
                      <a:endParaRPr lang="zh-TW" altLang="en-US" sz="1100" b="0" dirty="0">
                        <a:solidFill>
                          <a:schemeClr val="tx1"/>
                        </a:solidFill>
                      </a:endParaRPr>
                    </a:p>
                  </a:txBody>
                  <a:tcPr>
                    <a:gradFill>
                      <a:gsLst>
                        <a:gs pos="35000">
                          <a:srgbClr val="00B050"/>
                        </a:gs>
                        <a:gs pos="58000">
                          <a:schemeClr val="bg1">
                            <a:lumMod val="85000"/>
                          </a:schemeClr>
                        </a:gs>
                        <a:gs pos="100000">
                          <a:schemeClr val="bg1">
                            <a:lumMod val="85000"/>
                          </a:schemeClr>
                        </a:gs>
                      </a:gsLst>
                      <a:lin ang="0" scaled="1"/>
                    </a:gradFill>
                  </a:tcPr>
                </a:tc>
                <a:extLst>
                  <a:ext uri="{0D108BD9-81ED-4DB2-BD59-A6C34878D82A}">
                    <a16:rowId xmlns:a16="http://schemas.microsoft.com/office/drawing/2014/main" val="2409848180"/>
                  </a:ext>
                </a:extLst>
              </a:tr>
            </a:tbl>
          </a:graphicData>
        </a:graphic>
      </p:graphicFrame>
      <mc:AlternateContent xmlns:mc="http://schemas.openxmlformats.org/markup-compatibility/2006" xmlns:pslz="http://schemas.microsoft.com/office/powerpoint/2016/slidezoom">
        <mc:Choice Requires="pslz">
          <p:graphicFrame>
            <p:nvGraphicFramePr>
              <p:cNvPr id="3" name="投影片縮放 2">
                <a:extLst>
                  <a:ext uri="{FF2B5EF4-FFF2-40B4-BE49-F238E27FC236}">
                    <a16:creationId xmlns:a16="http://schemas.microsoft.com/office/drawing/2014/main" id="{B5EDE21F-99A2-390F-8A8A-ED639FC58759}"/>
                  </a:ext>
                </a:extLst>
              </p:cNvPr>
              <p:cNvGraphicFramePr>
                <a:graphicFrameLocks noChangeAspect="1"/>
              </p:cNvGraphicFramePr>
              <p:nvPr>
                <p:extLst>
                  <p:ext uri="{D42A27DB-BD31-4B8C-83A1-F6EECF244321}">
                    <p14:modId xmlns:p14="http://schemas.microsoft.com/office/powerpoint/2010/main" val="908681338"/>
                  </p:ext>
                </p:extLst>
              </p:nvPr>
            </p:nvGraphicFramePr>
            <p:xfrm>
              <a:off x="1071832" y="2821697"/>
              <a:ext cx="3048000" cy="1714500"/>
            </p:xfrm>
            <a:graphic>
              <a:graphicData uri="http://schemas.microsoft.com/office/powerpoint/2016/slidezoom">
                <pslz:sldZm>
                  <pslz:sldZmObj sldId="2147478315" cId="1744991392">
                    <pslz:zmPr id="{5CB36A7A-14EB-4858-9617-084E6743C53A}" returnToParent="0" transitionDur="1000">
                      <p166:blipFill xmlns:p166="http://schemas.microsoft.com/office/powerpoint/2016/6/main">
                        <a:blip r:embed="rId16"/>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3" name="投影片縮放 2">
                <a:hlinkClick r:id="rId17" action="ppaction://hlinksldjump"/>
                <a:extLst>
                  <a:ext uri="{FF2B5EF4-FFF2-40B4-BE49-F238E27FC236}">
                    <a16:creationId xmlns:a16="http://schemas.microsoft.com/office/drawing/2014/main" id="{B5EDE21F-99A2-390F-8A8A-ED639FC58759}"/>
                  </a:ext>
                </a:extLst>
              </p:cNvPr>
              <p:cNvPicPr>
                <a:picLocks noGrp="1" noRot="1" noChangeAspect="1" noMove="1" noResize="1" noEditPoints="1" noAdjustHandles="1" noChangeArrowheads="1" noChangeShapeType="1"/>
              </p:cNvPicPr>
              <p:nvPr/>
            </p:nvPicPr>
            <p:blipFill>
              <a:blip r:embed="rId18"/>
              <a:stretch>
                <a:fillRect/>
              </a:stretch>
            </p:blipFill>
            <p:spPr>
              <a:xfrm>
                <a:off x="1071832" y="2821697"/>
                <a:ext cx="3048000" cy="1714500"/>
              </a:xfrm>
              <a:prstGeom prst="rect">
                <a:avLst/>
              </a:prstGeom>
              <a:ln w="3175">
                <a:solidFill>
                  <a:prstClr val="ltGray"/>
                </a:solidFill>
              </a:ln>
            </p:spPr>
          </p:pic>
        </mc:Fallback>
      </mc:AlternateContent>
      <p:sp>
        <p:nvSpPr>
          <p:cNvPr id="2" name="文字方塊 1">
            <a:extLst>
              <a:ext uri="{FF2B5EF4-FFF2-40B4-BE49-F238E27FC236}">
                <a16:creationId xmlns:a16="http://schemas.microsoft.com/office/drawing/2014/main" id="{00357B3F-88BE-E68E-7EDE-F60F1A6F48E2}"/>
              </a:ext>
            </a:extLst>
          </p:cNvPr>
          <p:cNvSpPr txBox="1"/>
          <p:nvPr/>
        </p:nvSpPr>
        <p:spPr>
          <a:xfrm>
            <a:off x="8250766" y="3295231"/>
            <a:ext cx="3191934" cy="215444"/>
          </a:xfrm>
          <a:prstGeom prst="rect">
            <a:avLst/>
          </a:prstGeom>
          <a:noFill/>
        </p:spPr>
        <p:txBody>
          <a:bodyPr wrap="square" rtlCol="0">
            <a:spAutoFit/>
          </a:bodyPr>
          <a:lstStyle/>
          <a:p>
            <a:pPr marL="171450" indent="-171450">
              <a:buFont typeface="Arial" panose="020B0604020202020204" pitchFamily="34" charset="0"/>
              <a:buChar char="•"/>
            </a:pPr>
            <a:r>
              <a:rPr lang="zh-TW" altLang="en-US" sz="800" dirty="0">
                <a:solidFill>
                  <a:srgbClr val="404040"/>
                </a:solidFill>
                <a:latin typeface="Arial" panose="020B0604020202020204" pitchFamily="34" charset="0"/>
                <a:ea typeface="微軟正黑體" panose="020B0604030504040204" pitchFamily="34" charset="-120"/>
              </a:rPr>
              <a:t>完成中台的開源工具選型，並串接</a:t>
            </a:r>
            <a:r>
              <a:rPr lang="en-US" altLang="zh-TW" sz="800" dirty="0">
                <a:solidFill>
                  <a:srgbClr val="404040"/>
                </a:solidFill>
                <a:latin typeface="Arial" panose="020B0604020202020204" pitchFamily="34" charset="0"/>
                <a:ea typeface="微軟正黑體" panose="020B0604030504040204" pitchFamily="34" charset="-120"/>
              </a:rPr>
              <a:t>3+</a:t>
            </a:r>
            <a:r>
              <a:rPr lang="zh-TW" altLang="en-US" sz="800" dirty="0">
                <a:solidFill>
                  <a:srgbClr val="404040"/>
                </a:solidFill>
                <a:latin typeface="Arial" panose="020B0604020202020204" pitchFamily="34" charset="0"/>
                <a:ea typeface="微軟正黑體" panose="020B0604030504040204" pitchFamily="34" charset="-120"/>
              </a:rPr>
              <a:t>以上製造域數據源</a:t>
            </a:r>
          </a:p>
        </p:txBody>
      </p:sp>
      <p:sp>
        <p:nvSpPr>
          <p:cNvPr id="5" name="文字方塊 4">
            <a:extLst>
              <a:ext uri="{FF2B5EF4-FFF2-40B4-BE49-F238E27FC236}">
                <a16:creationId xmlns:a16="http://schemas.microsoft.com/office/drawing/2014/main" id="{6C673FD4-62BC-FB0C-F4B7-8569BEC7F795}"/>
              </a:ext>
            </a:extLst>
          </p:cNvPr>
          <p:cNvSpPr txBox="1"/>
          <p:nvPr/>
        </p:nvSpPr>
        <p:spPr>
          <a:xfrm>
            <a:off x="8247417" y="3452981"/>
            <a:ext cx="3497641" cy="215444"/>
          </a:xfrm>
          <a:prstGeom prst="rect">
            <a:avLst/>
          </a:prstGeom>
          <a:noFill/>
        </p:spPr>
        <p:txBody>
          <a:bodyPr wrap="square" rtlCol="0">
            <a:spAutoFit/>
          </a:bodyPr>
          <a:lstStyle/>
          <a:p>
            <a:pPr marL="171450" indent="-171450">
              <a:buFont typeface="Arial" panose="020B0604020202020204" pitchFamily="34" charset="0"/>
              <a:buChar char="•"/>
            </a:pPr>
            <a:r>
              <a:rPr lang="zh-TW" altLang="en-US" sz="800" dirty="0">
                <a:solidFill>
                  <a:srgbClr val="404040"/>
                </a:solidFill>
                <a:latin typeface="Arial" panose="020B0604020202020204" pitchFamily="34" charset="0"/>
                <a:ea typeface="微軟正黑體" panose="020B0604030504040204" pitchFamily="34" charset="-120"/>
              </a:rPr>
              <a:t>確認建置中台的硬體資源和架構</a:t>
            </a:r>
            <a:r>
              <a:rPr lang="zh-TW" altLang="en-US" sz="800">
                <a:solidFill>
                  <a:srgbClr val="404040"/>
                </a:solidFill>
                <a:latin typeface="Arial" panose="020B0604020202020204" pitchFamily="34" charset="0"/>
                <a:ea typeface="微軟正黑體" panose="020B0604030504040204" pitchFamily="34" charset="-120"/>
              </a:rPr>
              <a:t>設計，開發串聯</a:t>
            </a:r>
            <a:r>
              <a:rPr lang="en-US" altLang="zh-TW" sz="800" dirty="0">
                <a:solidFill>
                  <a:srgbClr val="404040"/>
                </a:solidFill>
                <a:latin typeface="Arial" panose="020B0604020202020204" pitchFamily="34" charset="0"/>
                <a:ea typeface="微軟正黑體" panose="020B0604030504040204" pitchFamily="34" charset="-120"/>
              </a:rPr>
              <a:t>POC1 </a:t>
            </a:r>
            <a:r>
              <a:rPr lang="zh-TW" altLang="en-US" sz="800" dirty="0">
                <a:solidFill>
                  <a:srgbClr val="404040"/>
                </a:solidFill>
                <a:latin typeface="Arial" panose="020B0604020202020204" pitchFamily="34" charset="0"/>
                <a:ea typeface="微軟正黑體" panose="020B0604030504040204" pitchFamily="34" charset="-120"/>
              </a:rPr>
              <a:t>使用者情境</a:t>
            </a:r>
          </a:p>
        </p:txBody>
      </p:sp>
      <p:sp>
        <p:nvSpPr>
          <p:cNvPr id="7" name="文字方塊 6">
            <a:extLst>
              <a:ext uri="{FF2B5EF4-FFF2-40B4-BE49-F238E27FC236}">
                <a16:creationId xmlns:a16="http://schemas.microsoft.com/office/drawing/2014/main" id="{4A08931C-8350-0CBA-E6F7-4B29A882991E}"/>
              </a:ext>
            </a:extLst>
          </p:cNvPr>
          <p:cNvSpPr txBox="1"/>
          <p:nvPr/>
        </p:nvSpPr>
        <p:spPr>
          <a:xfrm>
            <a:off x="4142386" y="4960290"/>
            <a:ext cx="3597746" cy="553998"/>
          </a:xfrm>
          <a:prstGeom prst="rect">
            <a:avLst/>
          </a:prstGeom>
          <a:noFill/>
        </p:spPr>
        <p:txBody>
          <a:bodyPr wrap="square" rtlCol="0">
            <a:spAutoFit/>
          </a:bodyPr>
          <a:lstStyle/>
          <a:p>
            <a:pPr marL="171450" indent="-171450" defTabSz="609523">
              <a:lnSpc>
                <a:spcPct val="100000"/>
              </a:lnSpc>
              <a:buFont typeface="Arial" panose="020B0604020202020204" pitchFamily="34" charset="0"/>
              <a:buChar char="•"/>
            </a:pPr>
            <a:r>
              <a:rPr lang="zh-TW" altLang="en-US" sz="1000" dirty="0">
                <a:latin typeface="Arial" panose="020B0604020202020204" pitchFamily="34" charset="0"/>
                <a:ea typeface="微軟正黑體" panose="020B0604030504040204" pitchFamily="34" charset="-120"/>
              </a:rPr>
              <a:t>提供各種選型結論報告給 </a:t>
            </a:r>
            <a:r>
              <a:rPr lang="en-US" altLang="zh-TW" sz="1000" dirty="0">
                <a:latin typeface="Arial" panose="020B0604020202020204" pitchFamily="34" charset="0"/>
                <a:ea typeface="微軟正黑體" panose="020B0604030504040204" pitchFamily="34" charset="-120"/>
              </a:rPr>
              <a:t>Corp.IT , </a:t>
            </a:r>
            <a:r>
              <a:rPr lang="zh-TW" altLang="en-US" sz="1000" dirty="0">
                <a:latin typeface="Arial" panose="020B0604020202020204" pitchFamily="34" charset="0"/>
                <a:ea typeface="微軟正黑體" panose="020B0604030504040204" pitchFamily="34" charset="-120"/>
              </a:rPr>
              <a:t>做為後續部署建置參考</a:t>
            </a:r>
            <a:endParaRPr lang="en-US" altLang="zh-TW" sz="1000" dirty="0">
              <a:latin typeface="Arial" panose="020B0604020202020204" pitchFamily="34" charset="0"/>
              <a:ea typeface="微軟正黑體" panose="020B0604030504040204" pitchFamily="34" charset="-120"/>
            </a:endParaRPr>
          </a:p>
          <a:p>
            <a:pPr marL="171450" indent="-171450" defTabSz="609523">
              <a:lnSpc>
                <a:spcPct val="100000"/>
              </a:lnSpc>
              <a:buFont typeface="Arial" panose="020B0604020202020204" pitchFamily="34" charset="0"/>
              <a:buChar char="•"/>
            </a:pPr>
            <a:r>
              <a:rPr lang="zh-TW" altLang="en-US" sz="1000" dirty="0">
                <a:latin typeface="Arial" panose="020B0604020202020204" pitchFamily="34" charset="0"/>
                <a:ea typeface="微軟正黑體" panose="020B0604030504040204" pitchFamily="34" charset="-120"/>
              </a:rPr>
              <a:t>預計</a:t>
            </a:r>
            <a:r>
              <a:rPr lang="zh-TW" altLang="en-US" sz="1000" dirty="0"/>
              <a:t>配合 </a:t>
            </a:r>
            <a:r>
              <a:rPr lang="en-US" altLang="zh-TW" sz="1000" dirty="0"/>
              <a:t>DMP</a:t>
            </a:r>
            <a:r>
              <a:rPr lang="zh-TW" altLang="en-US" sz="1000" dirty="0"/>
              <a:t> 整體架構 </a:t>
            </a:r>
            <a:r>
              <a:rPr lang="en-US" altLang="zh-TW" sz="1000" dirty="0"/>
              <a:t>, </a:t>
            </a:r>
            <a:r>
              <a:rPr lang="zh-TW" altLang="en-US" sz="1000" dirty="0"/>
              <a:t>推廣時彙整並支持製造需求進行規劃開發</a:t>
            </a:r>
          </a:p>
        </p:txBody>
      </p:sp>
    </p:spTree>
    <p:extLst>
      <p:ext uri="{BB962C8B-B14F-4D97-AF65-F5344CB8AC3E}">
        <p14:creationId xmlns:p14="http://schemas.microsoft.com/office/powerpoint/2010/main" val="1744991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標題 1">
            <a:extLst>
              <a:ext uri="{FF2B5EF4-FFF2-40B4-BE49-F238E27FC236}">
                <a16:creationId xmlns:a16="http://schemas.microsoft.com/office/drawing/2014/main" id="{D1347FD2-6529-495A-9E8C-6D2EC8C3291B}"/>
              </a:ext>
            </a:extLst>
          </p:cNvPr>
          <p:cNvSpPr txBox="1">
            <a:spLocks/>
          </p:cNvSpPr>
          <p:nvPr/>
        </p:nvSpPr>
        <p:spPr>
          <a:xfrm>
            <a:off x="2496000" y="0"/>
            <a:ext cx="7200000" cy="679396"/>
          </a:xfrm>
          <a:prstGeom prst="rect">
            <a:avLst/>
          </a:prstGeom>
        </p:spPr>
        <p:txBody>
          <a:bodyPr vert="horz" lIns="0" tIns="45720" rIns="0" bIns="45720" rtlCol="0" anchor="b">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r>
              <a:rPr lang="zh-CN" altLang="en-US" sz="2800" dirty="0"/>
              <a:t>需求描述</a:t>
            </a:r>
            <a:endParaRPr lang="zh-TW" altLang="en-US" sz="2800" dirty="0"/>
          </a:p>
        </p:txBody>
      </p:sp>
      <p:cxnSp>
        <p:nvCxnSpPr>
          <p:cNvPr id="49" name="直接连接符 73">
            <a:extLst>
              <a:ext uri="{FF2B5EF4-FFF2-40B4-BE49-F238E27FC236}">
                <a16:creationId xmlns:a16="http://schemas.microsoft.com/office/drawing/2014/main" id="{F9462D22-B562-419A-813E-D651749EA82C}"/>
              </a:ext>
            </a:extLst>
          </p:cNvPr>
          <p:cNvCxnSpPr/>
          <p:nvPr/>
        </p:nvCxnSpPr>
        <p:spPr>
          <a:xfrm flipH="1">
            <a:off x="-2"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3" name="表格 2">
            <a:extLst>
              <a:ext uri="{FF2B5EF4-FFF2-40B4-BE49-F238E27FC236}">
                <a16:creationId xmlns:a16="http://schemas.microsoft.com/office/drawing/2014/main" id="{22DB867C-AD9C-43B6-9B90-6E68710A6189}"/>
              </a:ext>
            </a:extLst>
          </p:cNvPr>
          <p:cNvGraphicFramePr>
            <a:graphicFrameLocks noGrp="1"/>
          </p:cNvGraphicFramePr>
          <p:nvPr>
            <p:extLst>
              <p:ext uri="{D42A27DB-BD31-4B8C-83A1-F6EECF244321}">
                <p14:modId xmlns:p14="http://schemas.microsoft.com/office/powerpoint/2010/main" val="494172000"/>
              </p:ext>
            </p:extLst>
          </p:nvPr>
        </p:nvGraphicFramePr>
        <p:xfrm>
          <a:off x="1162639" y="1143584"/>
          <a:ext cx="9994899" cy="3695751"/>
        </p:xfrm>
        <a:graphic>
          <a:graphicData uri="http://schemas.openxmlformats.org/drawingml/2006/table">
            <a:tbl>
              <a:tblPr/>
              <a:tblGrid>
                <a:gridCol w="1163528">
                  <a:extLst>
                    <a:ext uri="{9D8B030D-6E8A-4147-A177-3AD203B41FA5}">
                      <a16:colId xmlns:a16="http://schemas.microsoft.com/office/drawing/2014/main" val="1343790195"/>
                    </a:ext>
                  </a:extLst>
                </a:gridCol>
                <a:gridCol w="1268437">
                  <a:extLst>
                    <a:ext uri="{9D8B030D-6E8A-4147-A177-3AD203B41FA5}">
                      <a16:colId xmlns:a16="http://schemas.microsoft.com/office/drawing/2014/main" val="1457932300"/>
                    </a:ext>
                  </a:extLst>
                </a:gridCol>
                <a:gridCol w="1335197">
                  <a:extLst>
                    <a:ext uri="{9D8B030D-6E8A-4147-A177-3AD203B41FA5}">
                      <a16:colId xmlns:a16="http://schemas.microsoft.com/office/drawing/2014/main" val="3344570183"/>
                    </a:ext>
                  </a:extLst>
                </a:gridCol>
                <a:gridCol w="1306585">
                  <a:extLst>
                    <a:ext uri="{9D8B030D-6E8A-4147-A177-3AD203B41FA5}">
                      <a16:colId xmlns:a16="http://schemas.microsoft.com/office/drawing/2014/main" val="39232124"/>
                    </a:ext>
                  </a:extLst>
                </a:gridCol>
                <a:gridCol w="1325659">
                  <a:extLst>
                    <a:ext uri="{9D8B030D-6E8A-4147-A177-3AD203B41FA5}">
                      <a16:colId xmlns:a16="http://schemas.microsoft.com/office/drawing/2014/main" val="1702887677"/>
                    </a:ext>
                  </a:extLst>
                </a:gridCol>
                <a:gridCol w="1077694">
                  <a:extLst>
                    <a:ext uri="{9D8B030D-6E8A-4147-A177-3AD203B41FA5}">
                      <a16:colId xmlns:a16="http://schemas.microsoft.com/office/drawing/2014/main" val="3086734526"/>
                    </a:ext>
                  </a:extLst>
                </a:gridCol>
                <a:gridCol w="1287511">
                  <a:extLst>
                    <a:ext uri="{9D8B030D-6E8A-4147-A177-3AD203B41FA5}">
                      <a16:colId xmlns:a16="http://schemas.microsoft.com/office/drawing/2014/main" val="2538623724"/>
                    </a:ext>
                  </a:extLst>
                </a:gridCol>
                <a:gridCol w="1230288">
                  <a:extLst>
                    <a:ext uri="{9D8B030D-6E8A-4147-A177-3AD203B41FA5}">
                      <a16:colId xmlns:a16="http://schemas.microsoft.com/office/drawing/2014/main" val="2877674468"/>
                    </a:ext>
                  </a:extLst>
                </a:gridCol>
              </a:tblGrid>
              <a:tr h="200025">
                <a:tc gridSpan="8">
                  <a:txBody>
                    <a:bodyPr/>
                    <a:lstStyle/>
                    <a:p>
                      <a:pPr algn="l" fontAlgn="ctr"/>
                      <a:r>
                        <a:rPr lang="en-US" altLang="zh-TW" sz="1200" b="1" i="0" u="none" strike="noStrike">
                          <a:solidFill>
                            <a:srgbClr val="FFFFFF"/>
                          </a:solidFill>
                          <a:effectLst/>
                          <a:latin typeface="Arial" panose="020B0604020202020204" pitchFamily="34" charset="0"/>
                        </a:rPr>
                        <a:t>1. </a:t>
                      </a:r>
                      <a:r>
                        <a:rPr lang="zh-TW" altLang="en-US" sz="1200" b="1" i="0" u="none" strike="noStrike">
                          <a:solidFill>
                            <a:srgbClr val="FFFFFF"/>
                          </a:solidFill>
                          <a:effectLst/>
                          <a:latin typeface="Arial" panose="020B0604020202020204" pitchFamily="34" charset="0"/>
                        </a:rPr>
                        <a:t>基本需求資訊</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D85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58898826"/>
                  </a:ext>
                </a:extLst>
              </a:tr>
              <a:tr h="200025">
                <a:tc>
                  <a:txBody>
                    <a:bodyPr/>
                    <a:lstStyle/>
                    <a:p>
                      <a:pPr algn="ctr" fontAlgn="ctr"/>
                      <a:r>
                        <a:rPr lang="zh-CN" altLang="en-US" sz="1000" b="0" i="0" u="none" strike="noStrike">
                          <a:solidFill>
                            <a:srgbClr val="000000"/>
                          </a:solidFill>
                          <a:effectLst/>
                          <a:latin typeface="Arial" panose="020B0604020202020204" pitchFamily="34" charset="0"/>
                        </a:rPr>
                        <a:t>需求編號</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r>
                        <a:rPr lang="zh-CN" altLang="en-US" sz="1000" b="0" i="0" u="none" strike="noStrike">
                          <a:solidFill>
                            <a:srgbClr val="000000"/>
                          </a:solidFill>
                          <a:effectLst/>
                          <a:latin typeface="Arial" panose="020B06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CN" altLang="en-US" sz="1000" b="0" i="0" u="none" strike="noStrike">
                          <a:solidFill>
                            <a:srgbClr val="000000"/>
                          </a:solidFill>
                          <a:effectLst/>
                          <a:latin typeface="Arial" panose="020B0604020202020204" pitchFamily="34" charset="0"/>
                        </a:rPr>
                        <a:t>需求部門</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en-US" sz="10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effectLst/>
                          <a:latin typeface="Arial" panose="020B0604020202020204" pitchFamily="34" charset="0"/>
                        </a:rPr>
                        <a:t>申請日期</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en-US" altLang="zh-CN" sz="10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a:solidFill>
                            <a:srgbClr val="000000"/>
                          </a:solidFill>
                          <a:effectLst/>
                          <a:latin typeface="Arial" panose="020B0604020202020204" pitchFamily="34" charset="0"/>
                        </a:rPr>
                        <a:t>期望實現日期</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zh-CN" altLang="en-US" sz="10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8327478"/>
                  </a:ext>
                </a:extLst>
              </a:tr>
              <a:tr h="200025">
                <a:tc>
                  <a:txBody>
                    <a:bodyPr/>
                    <a:lstStyle/>
                    <a:p>
                      <a:pPr algn="ctr" fontAlgn="ctr"/>
                      <a:r>
                        <a:rPr lang="zh-CN" altLang="en-US" sz="1000" b="0" i="0" u="none" strike="noStrike" dirty="0">
                          <a:solidFill>
                            <a:srgbClr val="000000"/>
                          </a:solidFill>
                          <a:effectLst/>
                          <a:latin typeface="Arial" panose="020B0604020202020204" pitchFamily="34" charset="0"/>
                        </a:rPr>
                        <a:t>需求地區</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en-US" sz="10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effectLst/>
                          <a:latin typeface="Arial" panose="020B0604020202020204" pitchFamily="34" charset="0"/>
                        </a:rPr>
                        <a:t>需求廠區</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en-US" sz="10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effectLst/>
                          <a:latin typeface="Arial" panose="020B0604020202020204" pitchFamily="34" charset="0"/>
                        </a:rPr>
                        <a:t>產品厰</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en-US" sz="10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000" b="0" i="0" u="none" strike="noStrike">
                          <a:solidFill>
                            <a:srgbClr val="000000"/>
                          </a:solidFill>
                          <a:effectLst/>
                          <a:latin typeface="Arial" panose="020B0604020202020204" pitchFamily="34" charset="0"/>
                        </a:rPr>
                        <a:t>綫別</a:t>
                      </a:r>
                      <a:r>
                        <a:rPr lang="en-US" altLang="zh-CN" sz="1000" b="0" i="0" u="none" strike="noStrike">
                          <a:solidFill>
                            <a:srgbClr val="000000"/>
                          </a:solidFill>
                          <a:effectLst/>
                          <a:latin typeface="Arial" panose="020B0604020202020204" pitchFamily="34" charset="0"/>
                        </a:rPr>
                        <a:t>/</a:t>
                      </a:r>
                      <a:r>
                        <a:rPr lang="zh-CN" altLang="en-US" sz="1000" b="0" i="0" u="none" strike="noStrike">
                          <a:solidFill>
                            <a:srgbClr val="000000"/>
                          </a:solidFill>
                          <a:effectLst/>
                          <a:latin typeface="Arial" panose="020B0604020202020204" pitchFamily="34" charset="0"/>
                        </a:rPr>
                        <a:t>站別</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en-US" sz="1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395101"/>
                  </a:ext>
                </a:extLst>
              </a:tr>
              <a:tr h="200025">
                <a:tc>
                  <a:txBody>
                    <a:bodyPr/>
                    <a:lstStyle/>
                    <a:p>
                      <a:pPr algn="ctr" fontAlgn="ctr"/>
                      <a:r>
                        <a:rPr lang="zh-CN" altLang="en-US" sz="1000" b="0" i="0" u="none" strike="noStrike">
                          <a:solidFill>
                            <a:srgbClr val="000000"/>
                          </a:solidFill>
                          <a:effectLst/>
                          <a:latin typeface="Arial" panose="020B0604020202020204" pitchFamily="34" charset="0"/>
                        </a:rPr>
                        <a:t>需求人</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zh-CN" altLang="en-US" sz="1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a:solidFill>
                            <a:srgbClr val="000000"/>
                          </a:solidFill>
                          <a:effectLst/>
                          <a:latin typeface="Arial" panose="020B0604020202020204" pitchFamily="34" charset="0"/>
                        </a:rPr>
                        <a:t>需求單位主管核准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ctr"/>
                      <a:endParaRPr lang="zh-CN" altLang="en-US" sz="1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000" b="0" i="0" u="none" strike="noStrike">
                          <a:solidFill>
                            <a:srgbClr val="000000"/>
                          </a:solidFill>
                          <a:effectLst/>
                          <a:latin typeface="Arial" panose="020B0604020202020204" pitchFamily="34" charset="0"/>
                        </a:rPr>
                        <a:t>廠區廠長核准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b"/>
                      <a:endParaRPr lang="zh-CN" altLang="en-US" sz="1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zh-TW" altLang="en-US" sz="1000" b="0" i="0" u="none" strike="noStrike">
                          <a:solidFill>
                            <a:srgbClr val="000000"/>
                          </a:solidFill>
                          <a:effectLst/>
                          <a:latin typeface="Arial" panose="020B0604020202020204" pitchFamily="34" charset="0"/>
                        </a:rPr>
                        <a:t>廠區需求管理人</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ctr" fontAlgn="b"/>
                      <a:endParaRPr lang="zh-CN" altLang="en-US" sz="1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06016565"/>
                  </a:ext>
                </a:extLst>
              </a:tr>
              <a:tr h="200025">
                <a:tc>
                  <a:txBody>
                    <a:bodyPr/>
                    <a:lstStyle/>
                    <a:p>
                      <a:pPr algn="ctr" fontAlgn="ctr"/>
                      <a:r>
                        <a:rPr lang="zh-TW" altLang="en-US" sz="1000" b="0" i="0" u="none" strike="noStrike">
                          <a:solidFill>
                            <a:srgbClr val="000000"/>
                          </a:solidFill>
                          <a:effectLst/>
                          <a:latin typeface="Arial" panose="020B0604020202020204" pitchFamily="34" charset="0"/>
                        </a:rPr>
                        <a:t>需求原因類型</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5">
                  <a:txBody>
                    <a:bodyPr/>
                    <a:lstStyle/>
                    <a:p>
                      <a:pPr algn="l" fontAlgn="ctr"/>
                      <a:endParaRPr lang="zh-CN" altLang="en-US" sz="10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zh-TW" altLang="en-US" sz="1000" b="0" i="0" u="none" strike="noStrike">
                          <a:solidFill>
                            <a:srgbClr val="000000"/>
                          </a:solidFill>
                          <a:effectLst/>
                          <a:latin typeface="Arial" panose="020B0604020202020204" pitchFamily="34" charset="0"/>
                        </a:rPr>
                        <a:t>其他需求類型描述</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l" fontAlgn="ctr"/>
                      <a:r>
                        <a:rPr lang="zh-CN" altLang="en-US" sz="1000" b="0" i="0" u="none" strike="noStrike">
                          <a:solidFill>
                            <a:srgbClr val="000000"/>
                          </a:solidFill>
                          <a:effectLst/>
                          <a:latin typeface="Arial" panose="020B0604020202020204" pitchFamily="34" charset="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2363065"/>
                  </a:ext>
                </a:extLst>
              </a:tr>
              <a:tr h="200025">
                <a:tc>
                  <a:txBody>
                    <a:bodyPr/>
                    <a:lstStyle/>
                    <a:p>
                      <a:pPr algn="ctr" fontAlgn="ctr"/>
                      <a:r>
                        <a:rPr lang="zh-CN" altLang="en-US" sz="1000" b="0" i="0" u="none" strike="noStrike">
                          <a:solidFill>
                            <a:srgbClr val="000000"/>
                          </a:solidFill>
                          <a:effectLst/>
                          <a:latin typeface="Arial" panose="020B0604020202020204" pitchFamily="34" charset="0"/>
                        </a:rPr>
                        <a:t>需求名稱</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7">
                  <a:txBody>
                    <a:bodyPr/>
                    <a:lstStyle/>
                    <a:p>
                      <a:pPr algn="l" fontAlgn="ctr"/>
                      <a:endParaRPr lang="zh-CN" altLang="en-US" sz="1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252001872"/>
                  </a:ext>
                </a:extLst>
              </a:tr>
              <a:tr h="200025">
                <a:tc>
                  <a:txBody>
                    <a:bodyPr/>
                    <a:lstStyle/>
                    <a:p>
                      <a:pPr algn="ctr" fontAlgn="ctr"/>
                      <a:r>
                        <a:rPr lang="zh-CN" altLang="en-US" sz="1000" b="0" i="0" u="none" strike="noStrike">
                          <a:solidFill>
                            <a:srgbClr val="000000"/>
                          </a:solidFill>
                          <a:effectLst/>
                          <a:latin typeface="Arial" panose="020B0604020202020204" pitchFamily="34" charset="0"/>
                        </a:rPr>
                        <a:t>需求說明</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7">
                  <a:txBody>
                    <a:bodyPr/>
                    <a:lstStyle/>
                    <a:p>
                      <a:pPr algn="l" fontAlgn="ctr"/>
                      <a:endParaRPr lang="zh-TW" altLang="en-US" sz="1000" b="0" i="0" u="none" strike="noStrike" dirty="0">
                        <a:solidFill>
                          <a:srgbClr val="000000"/>
                        </a:solidFill>
                        <a:effectLst/>
                        <a:latin typeface="宋体" panose="02010600030101010101" pitchFamily="2" charset="-122"/>
                        <a:ea typeface="宋体" panose="02010600030101010101" pitchFamily="2"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66932208"/>
                  </a:ext>
                </a:extLst>
              </a:tr>
              <a:tr h="200025">
                <a:tc gridSpan="8">
                  <a:txBody>
                    <a:bodyPr/>
                    <a:lstStyle/>
                    <a:p>
                      <a:pPr algn="l" fontAlgn="ctr"/>
                      <a:r>
                        <a:rPr lang="en-US" altLang="zh-CN" sz="1200" b="1" i="0" u="none" strike="noStrike" dirty="0">
                          <a:solidFill>
                            <a:srgbClr val="FFFFFF"/>
                          </a:solidFill>
                          <a:effectLst/>
                          <a:latin typeface="Arial" panose="020B0604020202020204" pitchFamily="34" charset="0"/>
                        </a:rPr>
                        <a:t>2. </a:t>
                      </a:r>
                      <a:r>
                        <a:rPr lang="zh-CN" altLang="en-US" sz="1200" b="1" i="0" u="none" strike="noStrike" dirty="0">
                          <a:solidFill>
                            <a:srgbClr val="FFFFFF"/>
                          </a:solidFill>
                          <a:effectLst/>
                          <a:latin typeface="Arial" panose="020B0604020202020204" pitchFamily="34" charset="0"/>
                        </a:rPr>
                        <a:t>用戶故事</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D85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62589771"/>
                  </a:ext>
                </a:extLst>
              </a:tr>
              <a:tr h="533400">
                <a:tc>
                  <a:txBody>
                    <a:bodyPr/>
                    <a:lstStyle/>
                    <a:p>
                      <a:pPr algn="ctr" fontAlgn="ctr"/>
                      <a:r>
                        <a:rPr lang="zh-TW" altLang="en-US" sz="1000" b="0" i="0" u="none" strike="noStrike" dirty="0">
                          <a:solidFill>
                            <a:srgbClr val="000000"/>
                          </a:solidFill>
                          <a:effectLst/>
                          <a:latin typeface="&quot;Microsoft JhengHei&quot;"/>
                        </a:rPr>
                        <a:t>需求背景</a:t>
                      </a:r>
                      <a:r>
                        <a:rPr lang="en-US" altLang="zh-TW" sz="1000" b="0" i="0" u="none" strike="noStrike" dirty="0">
                          <a:solidFill>
                            <a:srgbClr val="000000"/>
                          </a:solidFill>
                          <a:effectLst/>
                          <a:latin typeface="&quot;Microsoft JhengHei&quot;"/>
                        </a:rPr>
                        <a:t>/</a:t>
                      </a:r>
                      <a:r>
                        <a:rPr lang="zh-TW" altLang="en-US" sz="1000" b="0" i="0" u="none" strike="noStrike" dirty="0">
                          <a:solidFill>
                            <a:srgbClr val="000000"/>
                          </a:solidFill>
                          <a:effectLst/>
                          <a:latin typeface="&quot;Microsoft JhengHei&quot;"/>
                        </a:rPr>
                        <a:t>痛點</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7">
                  <a:txBody>
                    <a:bodyPr/>
                    <a:lstStyle/>
                    <a:p>
                      <a:pPr algn="l" fontAlgn="ctr"/>
                      <a:r>
                        <a:rPr lang="zh-TW" altLang="zh-TW" sz="1050" kern="1200" dirty="0">
                          <a:solidFill>
                            <a:schemeClr val="tx1"/>
                          </a:solidFill>
                          <a:effectLst/>
                          <a:latin typeface="+mn-lt"/>
                          <a:ea typeface="+mn-ea"/>
                          <a:cs typeface="+mn-cs"/>
                        </a:rPr>
                        <a:t>目前台達製造域相關系統之間存在數據孤島，缺乏一個統一的數據管理和共享機制，容易導致數據重覆並缺乏數據重用性，從而影響整體數據供應鏈的效率。</a:t>
                      </a:r>
                      <a:endParaRPr lang="zh-TW" altLang="en-US" sz="105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54279385"/>
                  </a:ext>
                </a:extLst>
              </a:tr>
              <a:tr h="275641">
                <a:tc>
                  <a:txBody>
                    <a:bodyPr/>
                    <a:lstStyle/>
                    <a:p>
                      <a:pPr algn="ctr" fontAlgn="ctr"/>
                      <a:r>
                        <a:rPr lang="zh-TW" altLang="en-US" sz="1000" b="0" i="0" u="none" strike="noStrike" dirty="0">
                          <a:solidFill>
                            <a:srgbClr val="000000"/>
                          </a:solidFill>
                          <a:effectLst/>
                          <a:latin typeface="&quot;Microsoft JhengHei&quot;"/>
                        </a:rPr>
                        <a:t>實現後的效果</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7">
                  <a:txBody>
                    <a:bodyPr/>
                    <a:lstStyle/>
                    <a:p>
                      <a:pPr marL="0" marR="0" lvl="0" indent="0" algn="l" defTabSz="914354" rtl="0" eaLnBrk="1" fontAlgn="ctr" latinLnBrk="0" hangingPunct="1">
                        <a:lnSpc>
                          <a:spcPct val="100000"/>
                        </a:lnSpc>
                        <a:spcBef>
                          <a:spcPts val="0"/>
                        </a:spcBef>
                        <a:spcAft>
                          <a:spcPts val="0"/>
                        </a:spcAft>
                        <a:buClrTx/>
                        <a:buSzTx/>
                        <a:buFontTx/>
                        <a:buNone/>
                        <a:tabLst/>
                        <a:defRPr/>
                      </a:pPr>
                      <a:r>
                        <a:rPr lang="zh-TW" altLang="en-US" sz="1050" kern="1200" dirty="0">
                          <a:solidFill>
                            <a:schemeClr val="tx1"/>
                          </a:solidFill>
                          <a:effectLst/>
                          <a:latin typeface="+mn-lt"/>
                          <a:ea typeface="+mn-ea"/>
                          <a:cs typeface="+mn-cs"/>
                        </a:rPr>
                        <a:t>透過統一的數據入口點，簡化數據訪問並提高數據的可用性和一致性，進而提升整體數據供應鏈的效率。</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64909596"/>
                  </a:ext>
                </a:extLst>
              </a:tr>
              <a:tr h="74981">
                <a:tc>
                  <a:txBody>
                    <a:bodyPr/>
                    <a:lstStyle/>
                    <a:p>
                      <a:pPr algn="ctr" fontAlgn="ctr"/>
                      <a:r>
                        <a:rPr lang="zh-TW" altLang="en-US" sz="1000" b="0" i="0" u="none" strike="noStrike" dirty="0">
                          <a:solidFill>
                            <a:srgbClr val="000000"/>
                          </a:solidFill>
                          <a:effectLst/>
                          <a:latin typeface="&quot;Microsoft JhengHei&quot;"/>
                        </a:rPr>
                        <a:t>建議的解決方案</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7">
                  <a:txBody>
                    <a:bodyPr/>
                    <a:lstStyle/>
                    <a:p>
                      <a:pPr marL="0" marR="0" lvl="0" indent="0" algn="l" defTabSz="914354" rtl="0" eaLnBrk="1" fontAlgn="ctr" latinLnBrk="0" hangingPunct="1">
                        <a:lnSpc>
                          <a:spcPct val="100000"/>
                        </a:lnSpc>
                        <a:spcBef>
                          <a:spcPts val="0"/>
                        </a:spcBef>
                        <a:spcAft>
                          <a:spcPts val="0"/>
                        </a:spcAft>
                        <a:buClrTx/>
                        <a:buSzTx/>
                        <a:buFontTx/>
                        <a:buNone/>
                        <a:tabLst/>
                        <a:defRPr/>
                      </a:pPr>
                      <a:r>
                        <a:rPr lang="zh-TW" altLang="zh-TW" sz="1050" kern="1200" dirty="0">
                          <a:solidFill>
                            <a:schemeClr val="tx1"/>
                          </a:solidFill>
                          <a:effectLst/>
                          <a:latin typeface="+mn-lt"/>
                          <a:ea typeface="+mn-ea"/>
                          <a:cs typeface="+mn-cs"/>
                        </a:rPr>
                        <a:t>規劃建置製造域數據中台</a:t>
                      </a:r>
                      <a:r>
                        <a:rPr lang="zh-TW" altLang="en-US" sz="1050" kern="1200" dirty="0">
                          <a:solidFill>
                            <a:schemeClr val="tx1"/>
                          </a:solidFill>
                          <a:effectLst/>
                          <a:latin typeface="+mn-lt"/>
                          <a:ea typeface="+mn-ea"/>
                          <a:cs typeface="+mn-cs"/>
                        </a:rPr>
                        <a:t>，並</a:t>
                      </a:r>
                      <a:r>
                        <a:rPr lang="zh-TW" altLang="zh-TW" sz="1050" kern="1200" dirty="0">
                          <a:solidFill>
                            <a:schemeClr val="tx1"/>
                          </a:solidFill>
                          <a:effectLst/>
                          <a:latin typeface="+mn-lt"/>
                          <a:ea typeface="+mn-ea"/>
                          <a:cs typeface="+mn-cs"/>
                        </a:rPr>
                        <a:t>整合來自多個來源的數據，通過標準化處理，</a:t>
                      </a:r>
                      <a:r>
                        <a:rPr lang="zh-TW" altLang="en-US" sz="1050" kern="1200" dirty="0">
                          <a:solidFill>
                            <a:schemeClr val="tx1"/>
                          </a:solidFill>
                          <a:effectLst/>
                          <a:latin typeface="+mn-lt"/>
                          <a:ea typeface="+mn-ea"/>
                          <a:cs typeface="+mn-cs"/>
                        </a:rPr>
                        <a:t>完成</a:t>
                      </a:r>
                      <a:r>
                        <a:rPr lang="zh-TW" altLang="zh-TW" sz="1050" kern="1200" dirty="0">
                          <a:solidFill>
                            <a:schemeClr val="tx1"/>
                          </a:solidFill>
                          <a:effectLst/>
                          <a:latin typeface="+mn-lt"/>
                          <a:ea typeface="+mn-ea"/>
                          <a:cs typeface="+mn-cs"/>
                        </a:rPr>
                        <a:t>統一的數據入口點</a:t>
                      </a:r>
                      <a:r>
                        <a:rPr lang="zh-TW" altLang="en-US" sz="1050" kern="1200" dirty="0">
                          <a:solidFill>
                            <a:schemeClr val="tx1"/>
                          </a:solidFill>
                          <a:effectLst/>
                          <a:latin typeface="+mn-lt"/>
                          <a:ea typeface="+mn-ea"/>
                          <a:cs typeface="+mn-cs"/>
                        </a:rPr>
                        <a:t>。並規劃提</a:t>
                      </a:r>
                      <a:r>
                        <a:rPr lang="zh-TW" altLang="zh-TW" sz="1050" kern="1200" dirty="0">
                          <a:solidFill>
                            <a:schemeClr val="tx1"/>
                          </a:solidFill>
                          <a:effectLst/>
                          <a:latin typeface="+mn-lt"/>
                          <a:ea typeface="+mn-ea"/>
                          <a:cs typeface="+mn-cs"/>
                        </a:rPr>
                        <a:t>供多種數據接口，以滿足不同業務部門和應用的需求。這些接口將涵蓋</a:t>
                      </a:r>
                      <a:r>
                        <a:rPr lang="zh-TW" altLang="en-US" sz="1050" kern="1200" dirty="0">
                          <a:solidFill>
                            <a:schemeClr val="tx1"/>
                          </a:solidFill>
                          <a:effectLst/>
                          <a:latin typeface="+mn-lt"/>
                          <a:ea typeface="+mn-ea"/>
                          <a:cs typeface="+mn-cs"/>
                        </a:rPr>
                        <a:t> </a:t>
                      </a:r>
                      <a:r>
                        <a:rPr lang="en-US" altLang="zh-TW" sz="1050" kern="1200" dirty="0">
                          <a:solidFill>
                            <a:schemeClr val="tx1"/>
                          </a:solidFill>
                          <a:effectLst/>
                          <a:latin typeface="+mn-lt"/>
                          <a:ea typeface="+mn-ea"/>
                          <a:cs typeface="+mn-cs"/>
                        </a:rPr>
                        <a:t>API</a:t>
                      </a:r>
                      <a:r>
                        <a:rPr lang="zh-TW" altLang="zh-TW" sz="1050" kern="1200" dirty="0">
                          <a:solidFill>
                            <a:schemeClr val="tx1"/>
                          </a:solidFill>
                          <a:effectLst/>
                          <a:latin typeface="+mn-lt"/>
                          <a:ea typeface="+mn-ea"/>
                          <a:cs typeface="+mn-cs"/>
                        </a:rPr>
                        <a:t>、數據庫連接、文件匯入匯出等方式，確保數據能夠靈活地被各種業務系統所使用。</a:t>
                      </a:r>
                      <a:endParaRPr lang="en-US" altLang="zh-TW" sz="1050" kern="1200" dirty="0">
                        <a:solidFill>
                          <a:schemeClr val="tx1"/>
                        </a:solidFill>
                        <a:effectLst/>
                        <a:latin typeface="+mn-lt"/>
                        <a:ea typeface="+mn-ea"/>
                        <a:cs typeface="+mn-cs"/>
                      </a:endParaRPr>
                    </a:p>
                    <a:p>
                      <a:pPr marL="0" marR="0" lvl="0" indent="0" algn="l" defTabSz="914354" rtl="0" eaLnBrk="1" fontAlgn="ctr" latinLnBrk="0" hangingPunct="1">
                        <a:lnSpc>
                          <a:spcPct val="100000"/>
                        </a:lnSpc>
                        <a:spcBef>
                          <a:spcPts val="0"/>
                        </a:spcBef>
                        <a:spcAft>
                          <a:spcPts val="0"/>
                        </a:spcAft>
                        <a:buClrTx/>
                        <a:buSzTx/>
                        <a:buFontTx/>
                        <a:buNone/>
                        <a:tabLst/>
                        <a:defRPr/>
                      </a:pPr>
                      <a:endParaRPr lang="zh-TW" altLang="en-US" sz="1050" kern="1200" dirty="0">
                        <a:solidFill>
                          <a:schemeClr val="tx1"/>
                        </a:solidFill>
                        <a:effectLst/>
                        <a:latin typeface="+mn-lt"/>
                        <a:ea typeface="+mn-ea"/>
                        <a:cs typeface="+mn-c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811523761"/>
                  </a:ext>
                </a:extLst>
              </a:tr>
              <a:tr h="200025">
                <a:tc gridSpan="8">
                  <a:txBody>
                    <a:bodyPr/>
                    <a:lstStyle/>
                    <a:p>
                      <a:pPr algn="l" fontAlgn="ctr"/>
                      <a:r>
                        <a:rPr lang="en-US" altLang="zh-TW" sz="1050" b="1" i="0" u="none" strike="noStrike" dirty="0">
                          <a:solidFill>
                            <a:srgbClr val="FFFFFF"/>
                          </a:solidFill>
                          <a:effectLst/>
                          <a:latin typeface="Arial" panose="020B0604020202020204" pitchFamily="34" charset="0"/>
                        </a:rPr>
                        <a:t>3. </a:t>
                      </a:r>
                      <a:r>
                        <a:rPr lang="zh-TW" altLang="en-US" sz="1050" b="1" i="0" u="none" strike="noStrike" dirty="0">
                          <a:solidFill>
                            <a:srgbClr val="FFFFFF"/>
                          </a:solidFill>
                          <a:effectLst/>
                          <a:latin typeface="Arial" panose="020B0604020202020204" pitchFamily="34" charset="0"/>
                        </a:rPr>
                        <a:t>流程架構描述</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D85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967163126"/>
                  </a:ext>
                </a:extLst>
              </a:tr>
              <a:tr h="200025">
                <a:tc>
                  <a:txBody>
                    <a:bodyPr/>
                    <a:lstStyle/>
                    <a:p>
                      <a:pPr algn="ctr" fontAlgn="ctr"/>
                      <a:r>
                        <a:rPr lang="zh-TW" altLang="en-US" sz="1000" b="0" i="0" u="none" strike="noStrike" dirty="0">
                          <a:solidFill>
                            <a:srgbClr val="000000"/>
                          </a:solidFill>
                          <a:effectLst/>
                          <a:latin typeface="&quot;Microsoft YaHei UI&quot;"/>
                        </a:rPr>
                        <a:t>流程架構分類</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7">
                  <a:txBody>
                    <a:bodyPr/>
                    <a:lstStyle/>
                    <a:p>
                      <a:pPr algn="l" fontAlgn="ctr"/>
                      <a:r>
                        <a:rPr lang="zh-TW" altLang="en-US" sz="1050" b="0" i="0" u="none" strike="noStrike" dirty="0">
                          <a:solidFill>
                            <a:srgbClr val="000000"/>
                          </a:solidFill>
                          <a:effectLst/>
                          <a:latin typeface="微軟正黑體" panose="020B0604030504040204" pitchFamily="34" charset="-120"/>
                          <a:ea typeface="微軟正黑體" panose="020B0604030504040204" pitchFamily="34" charset="-120"/>
                        </a:rPr>
                        <a:t> </a:t>
                      </a:r>
                      <a:r>
                        <a:rPr lang="en-US" altLang="zh-TW" sz="1050" b="0" i="0" u="none" strike="noStrike" dirty="0">
                          <a:solidFill>
                            <a:srgbClr val="000000"/>
                          </a:solidFill>
                          <a:effectLst/>
                          <a:latin typeface="微軟正黑體" panose="020B0604030504040204" pitchFamily="34" charset="-120"/>
                          <a:ea typeface="微軟正黑體" panose="020B0604030504040204" pitchFamily="34" charset="-120"/>
                        </a:rPr>
                        <a:t>NA</a:t>
                      </a:r>
                      <a:endParaRPr lang="zh-CN" altLang="en-US" sz="105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81098512"/>
                  </a:ext>
                </a:extLst>
              </a:tr>
              <a:tr h="200025">
                <a:tc>
                  <a:txBody>
                    <a:bodyPr/>
                    <a:lstStyle/>
                    <a:p>
                      <a:pPr algn="ctr" fontAlgn="ctr"/>
                      <a:r>
                        <a:rPr lang="zh-CN" altLang="en-US" sz="1000" b="0" i="0" u="none" strike="noStrike" dirty="0">
                          <a:solidFill>
                            <a:srgbClr val="000000"/>
                          </a:solidFill>
                          <a:effectLst/>
                          <a:latin typeface="Arial" panose="020B0604020202020204" pitchFamily="34" charset="0"/>
                        </a:rPr>
                        <a:t>現有流程</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7">
                  <a:txBody>
                    <a:bodyPr/>
                    <a:lstStyle/>
                    <a:p>
                      <a:pPr algn="l" fontAlgn="ctr"/>
                      <a:r>
                        <a:rPr lang="zh-TW" altLang="en-US" sz="1050" b="0" i="0" u="none" strike="noStrike" dirty="0">
                          <a:solidFill>
                            <a:srgbClr val="000000"/>
                          </a:solidFill>
                          <a:effectLst/>
                          <a:latin typeface="微軟正黑體" panose="020B0604030504040204" pitchFamily="34" charset="-120"/>
                          <a:ea typeface="微軟正黑體" panose="020B0604030504040204" pitchFamily="34" charset="-120"/>
                        </a:rPr>
                        <a:t>各系統控管數據資料，缺乏標準化導致數據質量不一；並各系統數據獨立導致數據孤島，難以共享缺乏重用性，造成整體數據供應鏈效率低落。</a:t>
                      </a:r>
                      <a:endParaRPr lang="zh-CN" altLang="en-US" sz="105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66054777"/>
                  </a:ext>
                </a:extLst>
              </a:tr>
              <a:tr h="200025">
                <a:tc>
                  <a:txBody>
                    <a:bodyPr/>
                    <a:lstStyle/>
                    <a:p>
                      <a:pPr algn="ctr" fontAlgn="ctr"/>
                      <a:r>
                        <a:rPr lang="zh-CN" altLang="en-US" sz="1000" b="0" i="0" u="none" strike="noStrike">
                          <a:solidFill>
                            <a:srgbClr val="000000"/>
                          </a:solidFill>
                          <a:effectLst/>
                          <a:latin typeface="Arial" panose="020B0604020202020204" pitchFamily="34" charset="0"/>
                        </a:rPr>
                        <a:t>期望流程</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gridSpan="7">
                  <a:txBody>
                    <a:bodyPr/>
                    <a:lstStyle/>
                    <a:p>
                      <a:pPr algn="l" fontAlgn="ctr"/>
                      <a:r>
                        <a:rPr lang="zh-TW" altLang="en-US" sz="1050" b="0" i="0" u="none" strike="noStrike" dirty="0">
                          <a:solidFill>
                            <a:srgbClr val="000000"/>
                          </a:solidFill>
                          <a:effectLst/>
                          <a:latin typeface="微軟正黑體" panose="020B0604030504040204" pitchFamily="34" charset="-120"/>
                          <a:ea typeface="微軟正黑體" panose="020B0604030504040204" pitchFamily="34" charset="-120"/>
                        </a:rPr>
                        <a:t>數據中台可將製造場域端的數據通過</a:t>
                      </a:r>
                      <a:r>
                        <a:rPr lang="en-US" altLang="zh-TW" sz="1050" b="0" i="0" u="none" strike="noStrike" dirty="0">
                          <a:solidFill>
                            <a:srgbClr val="000000"/>
                          </a:solidFill>
                          <a:effectLst/>
                          <a:latin typeface="微軟正黑體" panose="020B0604030504040204" pitchFamily="34" charset="-120"/>
                          <a:ea typeface="微軟正黑體" panose="020B0604030504040204" pitchFamily="34" charset="-120"/>
                        </a:rPr>
                        <a:t>ETL </a:t>
                      </a:r>
                      <a:r>
                        <a:rPr lang="zh-TW" altLang="en-US" sz="1050" b="0" i="0" u="none" strike="noStrike" dirty="0">
                          <a:solidFill>
                            <a:srgbClr val="000000"/>
                          </a:solidFill>
                          <a:effectLst/>
                          <a:latin typeface="微軟正黑體" panose="020B0604030504040204" pitchFamily="34" charset="-120"/>
                          <a:ea typeface="微軟正黑體" panose="020B0604030504040204" pitchFamily="34" charset="-120"/>
                        </a:rPr>
                        <a:t>工具收集到數據中台，提供數據接口達到數據共享；並執行數據治理達到數據標準化，提升數據質量。</a:t>
                      </a:r>
                      <a:endParaRPr lang="zh-CN" altLang="en-US" sz="105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2417211"/>
                  </a:ext>
                </a:extLst>
              </a:tr>
            </a:tbl>
          </a:graphicData>
        </a:graphic>
      </p:graphicFrame>
      <p:sp>
        <p:nvSpPr>
          <p:cNvPr id="10" name="矩形 9">
            <a:extLst>
              <a:ext uri="{FF2B5EF4-FFF2-40B4-BE49-F238E27FC236}">
                <a16:creationId xmlns:a16="http://schemas.microsoft.com/office/drawing/2014/main" id="{FF02F269-E6F9-4055-8BA5-854EBC71128D}"/>
              </a:ext>
            </a:extLst>
          </p:cNvPr>
          <p:cNvSpPr/>
          <p:nvPr/>
        </p:nvSpPr>
        <p:spPr>
          <a:xfrm>
            <a:off x="-8467" y="4850612"/>
            <a:ext cx="974785" cy="618849"/>
          </a:xfrm>
          <a:prstGeom prst="rect">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增列：</a:t>
            </a:r>
            <a:endParaRPr lang="en-US" altLang="zh-CN" sz="1400" dirty="0">
              <a:solidFill>
                <a:schemeClr val="tx1"/>
              </a:solidFill>
            </a:endParaRPr>
          </a:p>
          <a:p>
            <a:pPr algn="ctr"/>
            <a:r>
              <a:rPr lang="zh-CN" altLang="en-US" sz="1400" dirty="0">
                <a:solidFill>
                  <a:schemeClr val="tx1"/>
                </a:solidFill>
              </a:rPr>
              <a:t>需求</a:t>
            </a:r>
            <a:r>
              <a:rPr lang="en-US" altLang="zh-CN" sz="1400" dirty="0">
                <a:solidFill>
                  <a:schemeClr val="tx1"/>
                </a:solidFill>
              </a:rPr>
              <a:t>/</a:t>
            </a:r>
            <a:r>
              <a:rPr lang="zh-CN" altLang="en-US" sz="1400" dirty="0">
                <a:solidFill>
                  <a:schemeClr val="tx1"/>
                </a:solidFill>
              </a:rPr>
              <a:t>架構評審結果</a:t>
            </a:r>
          </a:p>
        </p:txBody>
      </p:sp>
      <p:sp>
        <p:nvSpPr>
          <p:cNvPr id="5" name="星形: 五角 4">
            <a:extLst>
              <a:ext uri="{FF2B5EF4-FFF2-40B4-BE49-F238E27FC236}">
                <a16:creationId xmlns:a16="http://schemas.microsoft.com/office/drawing/2014/main" id="{43FBEF47-EAA2-4DA1-9A78-6985E556ACFD}"/>
              </a:ext>
            </a:extLst>
          </p:cNvPr>
          <p:cNvSpPr/>
          <p:nvPr/>
        </p:nvSpPr>
        <p:spPr>
          <a:xfrm>
            <a:off x="1008653" y="2573866"/>
            <a:ext cx="125882" cy="143933"/>
          </a:xfrm>
          <a:prstGeom prst="star5">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星形: 五角 15">
            <a:extLst>
              <a:ext uri="{FF2B5EF4-FFF2-40B4-BE49-F238E27FC236}">
                <a16:creationId xmlns:a16="http://schemas.microsoft.com/office/drawing/2014/main" id="{FFA9D877-0B8B-4CDF-A294-3D9A5E47E85D}"/>
              </a:ext>
            </a:extLst>
          </p:cNvPr>
          <p:cNvSpPr/>
          <p:nvPr/>
        </p:nvSpPr>
        <p:spPr>
          <a:xfrm>
            <a:off x="1005771" y="3666066"/>
            <a:ext cx="125882" cy="143933"/>
          </a:xfrm>
          <a:prstGeom prst="star5">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星形: 五角 16">
            <a:extLst>
              <a:ext uri="{FF2B5EF4-FFF2-40B4-BE49-F238E27FC236}">
                <a16:creationId xmlns:a16="http://schemas.microsoft.com/office/drawing/2014/main" id="{C175E85A-6D8C-487E-903D-A42EB3A6775F}"/>
              </a:ext>
            </a:extLst>
          </p:cNvPr>
          <p:cNvSpPr/>
          <p:nvPr/>
        </p:nvSpPr>
        <p:spPr>
          <a:xfrm>
            <a:off x="1012151" y="4824693"/>
            <a:ext cx="125882" cy="143933"/>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表格 17">
            <a:extLst>
              <a:ext uri="{FF2B5EF4-FFF2-40B4-BE49-F238E27FC236}">
                <a16:creationId xmlns:a16="http://schemas.microsoft.com/office/drawing/2014/main" id="{09C1DB51-DDFF-426D-9CAB-2903C0C0AE74}"/>
              </a:ext>
            </a:extLst>
          </p:cNvPr>
          <p:cNvGraphicFramePr>
            <a:graphicFrameLocks noGrp="1"/>
          </p:cNvGraphicFramePr>
          <p:nvPr>
            <p:extLst>
              <p:ext uri="{D42A27DB-BD31-4B8C-83A1-F6EECF244321}">
                <p14:modId xmlns:p14="http://schemas.microsoft.com/office/powerpoint/2010/main" val="3724861195"/>
              </p:ext>
            </p:extLst>
          </p:nvPr>
        </p:nvGraphicFramePr>
        <p:xfrm>
          <a:off x="1162638" y="4977677"/>
          <a:ext cx="9994899" cy="800100"/>
        </p:xfrm>
        <a:graphic>
          <a:graphicData uri="http://schemas.openxmlformats.org/drawingml/2006/table">
            <a:tbl>
              <a:tblPr/>
              <a:tblGrid>
                <a:gridCol w="1163528">
                  <a:extLst>
                    <a:ext uri="{9D8B030D-6E8A-4147-A177-3AD203B41FA5}">
                      <a16:colId xmlns:a16="http://schemas.microsoft.com/office/drawing/2014/main" val="1343790195"/>
                    </a:ext>
                  </a:extLst>
                </a:gridCol>
                <a:gridCol w="8831371">
                  <a:extLst>
                    <a:ext uri="{9D8B030D-6E8A-4147-A177-3AD203B41FA5}">
                      <a16:colId xmlns:a16="http://schemas.microsoft.com/office/drawing/2014/main" val="1457932300"/>
                    </a:ext>
                  </a:extLst>
                </a:gridCol>
              </a:tblGrid>
              <a:tr h="200025">
                <a:tc gridSpan="2">
                  <a:txBody>
                    <a:bodyPr/>
                    <a:lstStyle/>
                    <a:p>
                      <a:pPr algn="l" fontAlgn="ctr"/>
                      <a:r>
                        <a:rPr lang="en-US" altLang="zh-TW" sz="1200" b="1" i="0" u="none" strike="noStrike" dirty="0">
                          <a:solidFill>
                            <a:srgbClr val="FFFFFF"/>
                          </a:solidFill>
                          <a:effectLst/>
                          <a:latin typeface="Arial" panose="020B0604020202020204" pitchFamily="34" charset="0"/>
                        </a:rPr>
                        <a:t>4. </a:t>
                      </a:r>
                      <a:r>
                        <a:rPr lang="zh-CN" altLang="en-US" sz="1200" b="1" i="0" u="none" strike="noStrike" dirty="0">
                          <a:solidFill>
                            <a:srgbClr val="FFFFFF"/>
                          </a:solidFill>
                          <a:effectLst/>
                          <a:latin typeface="Arial" panose="020B0604020202020204" pitchFamily="34" charset="0"/>
                        </a:rPr>
                        <a:t>需求</a:t>
                      </a:r>
                      <a:r>
                        <a:rPr lang="en-US" altLang="zh-CN" sz="1200" b="1" i="0" u="none" strike="noStrike" dirty="0">
                          <a:solidFill>
                            <a:srgbClr val="FFFFFF"/>
                          </a:solidFill>
                          <a:effectLst/>
                          <a:latin typeface="Arial" panose="020B0604020202020204" pitchFamily="34" charset="0"/>
                        </a:rPr>
                        <a:t>/</a:t>
                      </a:r>
                      <a:r>
                        <a:rPr lang="zh-CN" altLang="en-US" sz="1200" b="1" i="0" u="none" strike="noStrike" dirty="0">
                          <a:solidFill>
                            <a:srgbClr val="FFFFFF"/>
                          </a:solidFill>
                          <a:effectLst/>
                          <a:latin typeface="Arial" panose="020B0604020202020204" pitchFamily="34" charset="0"/>
                        </a:rPr>
                        <a:t>架構評審結果</a:t>
                      </a:r>
                      <a:endParaRPr lang="zh-TW" altLang="en-US" sz="1200" b="1" i="0" u="none" strike="noStrike" dirty="0">
                        <a:solidFill>
                          <a:srgbClr val="FFFFFF"/>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D85C6"/>
                    </a:solidFill>
                  </a:tcPr>
                </a:tc>
                <a:tc hMerge="1">
                  <a:txBody>
                    <a:bodyPr/>
                    <a:lstStyle/>
                    <a:p>
                      <a:endParaRPr lang="zh-CN" altLang="en-US"/>
                    </a:p>
                  </a:txBody>
                  <a:tcPr/>
                </a:tc>
                <a:extLst>
                  <a:ext uri="{0D108BD9-81ED-4DB2-BD59-A6C34878D82A}">
                    <a16:rowId xmlns:a16="http://schemas.microsoft.com/office/drawing/2014/main" val="3967163126"/>
                  </a:ext>
                </a:extLst>
              </a:tr>
              <a:tr h="200025">
                <a:tc>
                  <a:txBody>
                    <a:bodyPr/>
                    <a:lstStyle/>
                    <a:p>
                      <a:pPr algn="ctr" fontAlgn="ctr"/>
                      <a:r>
                        <a:rPr lang="zh-CN" altLang="en-US" sz="1000" b="0" i="0" u="none" strike="noStrike" dirty="0">
                          <a:solidFill>
                            <a:srgbClr val="000000"/>
                          </a:solidFill>
                          <a:effectLst/>
                          <a:latin typeface="&quot;Microsoft YaHei UI&quot;"/>
                        </a:rPr>
                        <a:t>結果</a:t>
                      </a:r>
                      <a:endParaRPr lang="zh-TW" altLang="en-US" sz="1000" b="0" i="0" u="none" strike="noStrike" dirty="0">
                        <a:solidFill>
                          <a:srgbClr val="000000"/>
                        </a:solidFill>
                        <a:effectLst/>
                        <a:latin typeface="&quot;Microsoft YaHei UI&quot;"/>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l" fontAlgn="ctr"/>
                      <a:r>
                        <a:rPr lang="zh-CN" altLang="en-US" sz="1000" b="0" i="0" u="none" strike="noStrike" dirty="0">
                          <a:solidFill>
                            <a:srgbClr val="000000"/>
                          </a:solidFill>
                          <a:effectLst/>
                          <a:latin typeface="微軟正黑體" panose="020B0604030504040204" pitchFamily="34" charset="-120"/>
                          <a:ea typeface="微軟正黑體" panose="020B0604030504040204" pitchFamily="34" charset="-120"/>
                        </a:rPr>
                        <a:t>　通過</a:t>
                      </a:r>
                      <a:r>
                        <a:rPr lang="en-US" altLang="zh-CN"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CN" altLang="en-US" sz="1000" b="0" i="0" u="none" strike="noStrike" dirty="0">
                          <a:solidFill>
                            <a:srgbClr val="000000"/>
                          </a:solidFill>
                          <a:effectLst/>
                          <a:latin typeface="微軟正黑體" panose="020B0604030504040204" pitchFamily="34" charset="-120"/>
                          <a:ea typeface="微軟正黑體" panose="020B0604030504040204" pitchFamily="34" charset="-120"/>
                        </a:rPr>
                        <a:t>不通過</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1098512"/>
                  </a:ext>
                </a:extLst>
              </a:tr>
              <a:tr h="200025">
                <a:tc>
                  <a:txBody>
                    <a:bodyPr/>
                    <a:lstStyle/>
                    <a:p>
                      <a:pPr algn="ctr" fontAlgn="ctr"/>
                      <a:r>
                        <a:rPr lang="zh-CN" altLang="en-US" sz="1000" b="0" i="0" u="none" strike="noStrike" dirty="0">
                          <a:solidFill>
                            <a:srgbClr val="000000"/>
                          </a:solidFill>
                          <a:effectLst/>
                          <a:latin typeface="Arial" panose="020B0604020202020204" pitchFamily="34" charset="0"/>
                        </a:rPr>
                        <a:t>評審日期</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l" fontAlgn="ctr"/>
                      <a:r>
                        <a:rPr lang="zh-CN" altLang="en-US" sz="10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6054777"/>
                  </a:ext>
                </a:extLst>
              </a:tr>
              <a:tr h="200025">
                <a:tc>
                  <a:txBody>
                    <a:bodyPr/>
                    <a:lstStyle/>
                    <a:p>
                      <a:pPr algn="ctr" fontAlgn="ctr"/>
                      <a:r>
                        <a:rPr lang="zh-CN" altLang="en-US" sz="1000" b="0" i="0" u="none" strike="noStrike" dirty="0">
                          <a:solidFill>
                            <a:srgbClr val="000000"/>
                          </a:solidFill>
                          <a:effectLst/>
                          <a:latin typeface="Arial" panose="020B0604020202020204" pitchFamily="34" charset="0"/>
                        </a:rPr>
                        <a:t>評審小組成員</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7FD"/>
                    </a:solidFill>
                  </a:tcPr>
                </a:tc>
                <a:tc>
                  <a:txBody>
                    <a:bodyPr/>
                    <a:lstStyle/>
                    <a:p>
                      <a:pPr algn="l" fontAlgn="ctr"/>
                      <a:r>
                        <a:rPr lang="zh-CN" altLang="en-US" sz="10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417211"/>
                  </a:ext>
                </a:extLst>
              </a:tr>
            </a:tbl>
          </a:graphicData>
        </a:graphic>
      </p:graphicFrame>
      <p:sp>
        <p:nvSpPr>
          <p:cNvPr id="20" name="星形: 五角 19">
            <a:extLst>
              <a:ext uri="{FF2B5EF4-FFF2-40B4-BE49-F238E27FC236}">
                <a16:creationId xmlns:a16="http://schemas.microsoft.com/office/drawing/2014/main" id="{8A8D2083-D3F8-44F4-8015-B290DA7F1032}"/>
              </a:ext>
            </a:extLst>
          </p:cNvPr>
          <p:cNvSpPr/>
          <p:nvPr/>
        </p:nvSpPr>
        <p:spPr>
          <a:xfrm>
            <a:off x="1008095" y="2565400"/>
            <a:ext cx="125882" cy="143933"/>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星形: 五角 20">
            <a:extLst>
              <a:ext uri="{FF2B5EF4-FFF2-40B4-BE49-F238E27FC236}">
                <a16:creationId xmlns:a16="http://schemas.microsoft.com/office/drawing/2014/main" id="{CF129A48-4475-4F80-BC8B-4446E7912E1A}"/>
              </a:ext>
            </a:extLst>
          </p:cNvPr>
          <p:cNvSpPr/>
          <p:nvPr/>
        </p:nvSpPr>
        <p:spPr>
          <a:xfrm>
            <a:off x="1005213" y="3657600"/>
            <a:ext cx="125882" cy="143933"/>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9953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矩形 90">
            <a:extLst>
              <a:ext uri="{FF2B5EF4-FFF2-40B4-BE49-F238E27FC236}">
                <a16:creationId xmlns:a16="http://schemas.microsoft.com/office/drawing/2014/main" id="{7EC9B456-6006-38D5-B21B-89BD2A8A913E}"/>
              </a:ext>
            </a:extLst>
          </p:cNvPr>
          <p:cNvSpPr/>
          <p:nvPr/>
        </p:nvSpPr>
        <p:spPr>
          <a:xfrm>
            <a:off x="3567319" y="2541739"/>
            <a:ext cx="4999563" cy="2296426"/>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1C8EE743-A2FD-4E0E-9F3F-BA09462AAC24}"/>
              </a:ext>
            </a:extLst>
          </p:cNvPr>
          <p:cNvSpPr>
            <a:spLocks noGrp="1"/>
          </p:cNvSpPr>
          <p:nvPr>
            <p:ph type="title"/>
          </p:nvPr>
        </p:nvSpPr>
        <p:spPr>
          <a:xfrm>
            <a:off x="406400" y="323684"/>
            <a:ext cx="11379200" cy="679396"/>
          </a:xfrm>
        </p:spPr>
        <p:txBody>
          <a:bodyPr/>
          <a:lstStyle/>
          <a:p>
            <a:pPr marL="0" marR="0" lvl="0" indent="0" algn="ctr" defTabSz="914377" rtl="0" eaLnBrk="1" fontAlgn="auto" latinLnBrk="0" hangingPunct="1">
              <a:lnSpc>
                <a:spcPct val="90000"/>
              </a:lnSpc>
              <a:spcBef>
                <a:spcPct val="0"/>
              </a:spcBef>
              <a:spcAft>
                <a:spcPts val="0"/>
              </a:spcAft>
              <a:buClrTx/>
              <a:buSzTx/>
              <a:buFontTx/>
              <a:buNone/>
              <a:tabLst/>
              <a:defRPr/>
            </a:pPr>
            <a:r>
              <a:rPr lang="zh-CN" altLang="en-US" sz="2800" dirty="0">
                <a:solidFill>
                  <a:srgbClr val="0087DC"/>
                </a:solidFill>
                <a:latin typeface="Arial"/>
                <a:ea typeface="Microsoft JhengHei"/>
              </a:rPr>
              <a:t>專案範疇 </a:t>
            </a:r>
            <a:r>
              <a:rPr lang="en-US" altLang="zh-CN" sz="2800" dirty="0">
                <a:solidFill>
                  <a:srgbClr val="0087DC"/>
                </a:solidFill>
                <a:latin typeface="Arial"/>
                <a:ea typeface="Microsoft JhengHei"/>
              </a:rPr>
              <a:t>vs </a:t>
            </a:r>
            <a:r>
              <a:rPr lang="zh-CN" altLang="en-US" sz="2800" dirty="0">
                <a:solidFill>
                  <a:srgbClr val="0087DC"/>
                </a:solidFill>
                <a:latin typeface="Arial"/>
                <a:ea typeface="Microsoft JhengHei"/>
              </a:rPr>
              <a:t>整體架構圖</a:t>
            </a:r>
            <a:endParaRPr kumimoji="0" lang="zh-TW" altLang="en-US" sz="2800" b="1" i="0" u="none" strike="noStrike" kern="1200" cap="none" spc="0" normalizeH="0" baseline="0" noProof="0" dirty="0">
              <a:ln>
                <a:noFill/>
              </a:ln>
              <a:solidFill>
                <a:srgbClr val="0087DC"/>
              </a:solidFill>
              <a:effectLst/>
              <a:uLnTx/>
              <a:uFillTx/>
              <a:latin typeface="Arial"/>
              <a:ea typeface="Microsoft JhengHei"/>
              <a:cs typeface="+mj-cs"/>
            </a:endParaRPr>
          </a:p>
        </p:txBody>
      </p:sp>
      <p:pic>
        <p:nvPicPr>
          <p:cNvPr id="10" name="圖片 9">
            <a:extLst>
              <a:ext uri="{FF2B5EF4-FFF2-40B4-BE49-F238E27FC236}">
                <a16:creationId xmlns:a16="http://schemas.microsoft.com/office/drawing/2014/main" id="{051EEBFB-0035-6A6D-2A90-43324D7E4326}"/>
              </a:ext>
            </a:extLst>
          </p:cNvPr>
          <p:cNvPicPr>
            <a:picLocks noChangeAspect="1"/>
          </p:cNvPicPr>
          <p:nvPr/>
        </p:nvPicPr>
        <p:blipFill>
          <a:blip r:embed="rId3"/>
          <a:stretch>
            <a:fillRect/>
          </a:stretch>
        </p:blipFill>
        <p:spPr>
          <a:xfrm>
            <a:off x="5802951" y="3155780"/>
            <a:ext cx="2034947" cy="1205008"/>
          </a:xfrm>
          <a:prstGeom prst="rect">
            <a:avLst/>
          </a:prstGeom>
        </p:spPr>
      </p:pic>
      <p:sp>
        <p:nvSpPr>
          <p:cNvPr id="16" name="矩形: 圓角 15">
            <a:extLst>
              <a:ext uri="{FF2B5EF4-FFF2-40B4-BE49-F238E27FC236}">
                <a16:creationId xmlns:a16="http://schemas.microsoft.com/office/drawing/2014/main" id="{B3CFF6CB-46A9-75A2-A740-7556B64F5685}"/>
              </a:ext>
            </a:extLst>
          </p:cNvPr>
          <p:cNvSpPr/>
          <p:nvPr/>
        </p:nvSpPr>
        <p:spPr>
          <a:xfrm>
            <a:off x="1097337" y="1849884"/>
            <a:ext cx="9294438" cy="36377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Domain Service</a:t>
            </a:r>
            <a:endParaRPr lang="zh-TW" altLang="en-US" dirty="0"/>
          </a:p>
        </p:txBody>
      </p:sp>
      <p:sp>
        <p:nvSpPr>
          <p:cNvPr id="17" name="矩形 16">
            <a:extLst>
              <a:ext uri="{FF2B5EF4-FFF2-40B4-BE49-F238E27FC236}">
                <a16:creationId xmlns:a16="http://schemas.microsoft.com/office/drawing/2014/main" id="{60800545-2FBF-CC77-5A5B-D3E4C74A46C9}"/>
              </a:ext>
            </a:extLst>
          </p:cNvPr>
          <p:cNvSpPr/>
          <p:nvPr/>
        </p:nvSpPr>
        <p:spPr>
          <a:xfrm>
            <a:off x="991474" y="5478705"/>
            <a:ext cx="10610311" cy="1022890"/>
          </a:xfrm>
          <a:prstGeom prst="rect">
            <a:avLst/>
          </a:prstGeom>
          <a:solidFill>
            <a:sysClr val="window" lastClr="FFFFFF"/>
          </a:solidFill>
          <a:ln w="12700" cap="flat" cmpd="sng" algn="ctr">
            <a:solidFill>
              <a:sysClr val="window" lastClr="FFFFFF">
                <a:lumMod val="75000"/>
              </a:sysClr>
            </a:solidFill>
            <a:prstDash val="solid"/>
            <a:miter lim="800000"/>
          </a:ln>
          <a:effectLst>
            <a:outerShdw blurRad="50800" dist="38100" algn="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軟正黑體"/>
              <a:cs typeface="+mn-cs"/>
            </a:endParaRPr>
          </a:p>
        </p:txBody>
      </p:sp>
      <p:sp>
        <p:nvSpPr>
          <p:cNvPr id="18" name="矩形 17">
            <a:extLst>
              <a:ext uri="{FF2B5EF4-FFF2-40B4-BE49-F238E27FC236}">
                <a16:creationId xmlns:a16="http://schemas.microsoft.com/office/drawing/2014/main" id="{E8F20213-E029-B447-5DA4-C65815FEAE33}"/>
              </a:ext>
            </a:extLst>
          </p:cNvPr>
          <p:cNvSpPr/>
          <p:nvPr/>
        </p:nvSpPr>
        <p:spPr>
          <a:xfrm>
            <a:off x="245483" y="5478705"/>
            <a:ext cx="573696" cy="1033578"/>
          </a:xfrm>
          <a:prstGeom prst="rect">
            <a:avLst/>
          </a:prstGeom>
          <a:solidFill>
            <a:srgbClr val="0087DC"/>
          </a:solidFill>
          <a:ln w="12700" cap="flat" cmpd="sng" algn="ctr">
            <a:solidFill>
              <a:sysClr val="window" lastClr="FFFFFF">
                <a:lumMod val="65000"/>
              </a:sysClr>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prstClr val="white"/>
                </a:solidFill>
                <a:effectLst/>
                <a:uLnTx/>
                <a:uFillTx/>
                <a:latin typeface="Arial"/>
                <a:ea typeface="微軟正黑體"/>
                <a:cs typeface="+mn-cs"/>
              </a:rPr>
              <a:t>數據源</a:t>
            </a:r>
          </a:p>
        </p:txBody>
      </p:sp>
      <p:pic>
        <p:nvPicPr>
          <p:cNvPr id="19" name="圖形 18" descr="工作流程">
            <a:extLst>
              <a:ext uri="{FF2B5EF4-FFF2-40B4-BE49-F238E27FC236}">
                <a16:creationId xmlns:a16="http://schemas.microsoft.com/office/drawing/2014/main" id="{BDD689DF-D34E-B393-F3BD-F15B04826A2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6131" y="5513893"/>
            <a:ext cx="421177" cy="353264"/>
          </a:xfrm>
          <a:prstGeom prst="rect">
            <a:avLst/>
          </a:prstGeom>
        </p:spPr>
      </p:pic>
      <p:sp>
        <p:nvSpPr>
          <p:cNvPr id="20" name="矩形 19">
            <a:extLst>
              <a:ext uri="{FF2B5EF4-FFF2-40B4-BE49-F238E27FC236}">
                <a16:creationId xmlns:a16="http://schemas.microsoft.com/office/drawing/2014/main" id="{6FB16633-0642-A7B6-CC52-4D8AB4E2AAA8}"/>
              </a:ext>
            </a:extLst>
          </p:cNvPr>
          <p:cNvSpPr/>
          <p:nvPr/>
        </p:nvSpPr>
        <p:spPr>
          <a:xfrm>
            <a:off x="1427319" y="5532949"/>
            <a:ext cx="10040779" cy="430179"/>
          </a:xfrm>
          <a:prstGeom prst="rect">
            <a:avLst/>
          </a:prstGeom>
          <a:solidFill>
            <a:srgbClr val="00BE50">
              <a:lumMod val="20000"/>
              <a:lumOff val="80000"/>
            </a:srgbClr>
          </a:solidFill>
          <a:ln w="12700" cap="flat" cmpd="sng" algn="ctr">
            <a:no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0" cap="none" spc="0" normalizeH="0" baseline="0" noProof="0">
              <a:ln>
                <a:noFill/>
              </a:ln>
              <a:solidFill>
                <a:prstClr val="white"/>
              </a:solidFill>
              <a:effectLst/>
              <a:uLnTx/>
              <a:uFillTx/>
              <a:latin typeface="Arial"/>
              <a:ea typeface="微軟正黑體"/>
              <a:cs typeface="+mn-cs"/>
            </a:endParaRPr>
          </a:p>
        </p:txBody>
      </p:sp>
      <p:sp>
        <p:nvSpPr>
          <p:cNvPr id="21" name="矩形 20">
            <a:extLst>
              <a:ext uri="{FF2B5EF4-FFF2-40B4-BE49-F238E27FC236}">
                <a16:creationId xmlns:a16="http://schemas.microsoft.com/office/drawing/2014/main" id="{82FFB916-F966-E1F8-95AB-435DF57DB13E}"/>
              </a:ext>
            </a:extLst>
          </p:cNvPr>
          <p:cNvSpPr/>
          <p:nvPr/>
        </p:nvSpPr>
        <p:spPr>
          <a:xfrm>
            <a:off x="1427319" y="6020371"/>
            <a:ext cx="10061272" cy="430179"/>
          </a:xfrm>
          <a:prstGeom prst="rect">
            <a:avLst/>
          </a:prstGeom>
          <a:solidFill>
            <a:srgbClr val="00BE50">
              <a:lumMod val="20000"/>
              <a:lumOff val="80000"/>
            </a:srgbClr>
          </a:solidFill>
          <a:ln w="12700" cap="flat" cmpd="sng" algn="ctr">
            <a:no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zh-TW" altLang="en-US" sz="2400" b="0" i="0" u="none" strike="noStrike" kern="0" cap="none" spc="0" normalizeH="0" baseline="0" noProof="0">
              <a:ln>
                <a:noFill/>
              </a:ln>
              <a:solidFill>
                <a:prstClr val="white"/>
              </a:solidFill>
              <a:effectLst/>
              <a:uLnTx/>
              <a:uFillTx/>
              <a:latin typeface="Arial"/>
              <a:ea typeface="微軟正黑體"/>
              <a:cs typeface="+mn-cs"/>
            </a:endParaRPr>
          </a:p>
        </p:txBody>
      </p:sp>
      <p:sp>
        <p:nvSpPr>
          <p:cNvPr id="22" name="文字方塊 21">
            <a:extLst>
              <a:ext uri="{FF2B5EF4-FFF2-40B4-BE49-F238E27FC236}">
                <a16:creationId xmlns:a16="http://schemas.microsoft.com/office/drawing/2014/main" id="{F0C2EC1B-6985-FE06-BA5B-B8FA38D1992D}"/>
              </a:ext>
            </a:extLst>
          </p:cNvPr>
          <p:cNvSpPr txBox="1"/>
          <p:nvPr/>
        </p:nvSpPr>
        <p:spPr>
          <a:xfrm>
            <a:off x="1546560" y="5643141"/>
            <a:ext cx="663316" cy="240468"/>
          </a:xfrm>
          <a:prstGeom prst="rect">
            <a:avLst/>
          </a:prstGeom>
          <a:noFill/>
        </p:spPr>
        <p:txBody>
          <a:bodyPr wrap="square" rtlCol="0">
            <a:spAutoFit/>
          </a:bodyPr>
          <a:lstStyle>
            <a:defPPr>
              <a:defRPr lang="en-US"/>
            </a:defPPr>
            <a:lvl1pPr>
              <a:defRPr sz="1100" b="1">
                <a:solidFill>
                  <a:srgbClr val="7030A0"/>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en-US" sz="1100" b="1" i="0" u="none" strike="noStrike" kern="0" cap="none" spc="0" normalizeH="0" baseline="0" noProof="0" dirty="0">
                <a:ln>
                  <a:noFill/>
                </a:ln>
                <a:solidFill>
                  <a:srgbClr val="7030A0"/>
                </a:solidFill>
                <a:effectLst/>
                <a:uLnTx/>
                <a:uFillTx/>
                <a:latin typeface="Arial"/>
                <a:ea typeface="微軟正黑體"/>
                <a:cs typeface="+mn-cs"/>
              </a:rPr>
              <a:t>製造域</a:t>
            </a:r>
          </a:p>
        </p:txBody>
      </p:sp>
      <p:pic>
        <p:nvPicPr>
          <p:cNvPr id="23" name="圖形 281" descr="工作流程">
            <a:extLst>
              <a:ext uri="{FF2B5EF4-FFF2-40B4-BE49-F238E27FC236}">
                <a16:creationId xmlns:a16="http://schemas.microsoft.com/office/drawing/2014/main" id="{2B9448A5-16C7-D8DD-19DE-64ACDA940CE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98024" y="5509304"/>
            <a:ext cx="255680" cy="185352"/>
          </a:xfrm>
          <a:prstGeom prst="rect">
            <a:avLst/>
          </a:prstGeom>
        </p:spPr>
      </p:pic>
      <p:pic>
        <p:nvPicPr>
          <p:cNvPr id="24" name="圖形 291" descr="工作流程">
            <a:extLst>
              <a:ext uri="{FF2B5EF4-FFF2-40B4-BE49-F238E27FC236}">
                <a16:creationId xmlns:a16="http://schemas.microsoft.com/office/drawing/2014/main" id="{19D034EE-325E-866E-F232-4D97425FC30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09996" y="6032731"/>
            <a:ext cx="226412" cy="164135"/>
          </a:xfrm>
          <a:prstGeom prst="rect">
            <a:avLst/>
          </a:prstGeom>
        </p:spPr>
      </p:pic>
      <p:sp>
        <p:nvSpPr>
          <p:cNvPr id="25" name="文字方塊 24">
            <a:extLst>
              <a:ext uri="{FF2B5EF4-FFF2-40B4-BE49-F238E27FC236}">
                <a16:creationId xmlns:a16="http://schemas.microsoft.com/office/drawing/2014/main" id="{83D902D1-0F3F-1EE9-0ED9-C771C7FCA611}"/>
              </a:ext>
            </a:extLst>
          </p:cNvPr>
          <p:cNvSpPr txBox="1"/>
          <p:nvPr/>
        </p:nvSpPr>
        <p:spPr>
          <a:xfrm>
            <a:off x="1561378" y="6116418"/>
            <a:ext cx="694866" cy="240468"/>
          </a:xfrm>
          <a:prstGeom prst="rect">
            <a:avLst/>
          </a:prstGeom>
          <a:noFill/>
        </p:spPr>
        <p:txBody>
          <a:bodyPr wrap="square" rtlCol="0">
            <a:spAutoFit/>
          </a:bodyPr>
          <a:lstStyle>
            <a:defPPr>
              <a:defRPr lang="en-US"/>
            </a:defPPr>
            <a:lvl1pPr>
              <a:defRPr sz="1100" b="1">
                <a:solidFill>
                  <a:srgbClr val="7030A0"/>
                </a:solidFill>
              </a:defRPr>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en-US" sz="1100" b="1" i="0" u="none" strike="noStrike" kern="0" cap="none" spc="0" normalizeH="0" baseline="0" noProof="0" dirty="0">
                <a:ln>
                  <a:noFill/>
                </a:ln>
                <a:solidFill>
                  <a:srgbClr val="7030A0"/>
                </a:solidFill>
                <a:effectLst/>
                <a:uLnTx/>
                <a:uFillTx/>
                <a:latin typeface="Arial"/>
                <a:ea typeface="微軟正黑體"/>
                <a:cs typeface="+mn-cs"/>
              </a:rPr>
              <a:t>企業域</a:t>
            </a:r>
          </a:p>
        </p:txBody>
      </p:sp>
      <p:sp>
        <p:nvSpPr>
          <p:cNvPr id="26" name="圓柱形 1">
            <a:extLst>
              <a:ext uri="{FF2B5EF4-FFF2-40B4-BE49-F238E27FC236}">
                <a16:creationId xmlns:a16="http://schemas.microsoft.com/office/drawing/2014/main" id="{450A28A5-854C-CF1A-0552-7069B29B3A18}"/>
              </a:ext>
            </a:extLst>
          </p:cNvPr>
          <p:cNvSpPr/>
          <p:nvPr/>
        </p:nvSpPr>
        <p:spPr>
          <a:xfrm>
            <a:off x="2993313" y="5576552"/>
            <a:ext cx="611513"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設備數據 </a:t>
            </a:r>
            <a:endParaRPr kumimoji="0" lang="en-US" altLang="zh-TW" sz="800" b="0" i="0" u="none" strike="noStrike" kern="0" cap="none" spc="0" normalizeH="0" baseline="0" noProof="0" dirty="0">
              <a:ln>
                <a:noFill/>
              </a:ln>
              <a:solidFill>
                <a:prstClr val="white"/>
              </a:solidFill>
              <a:effectLst/>
              <a:uLnTx/>
              <a:uFillTx/>
              <a:latin typeface="Arial"/>
              <a:ea typeface="微軟正黑體"/>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(MES/IoT)</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27" name="圓柱形 202">
            <a:extLst>
              <a:ext uri="{FF2B5EF4-FFF2-40B4-BE49-F238E27FC236}">
                <a16:creationId xmlns:a16="http://schemas.microsoft.com/office/drawing/2014/main" id="{5CE6F663-5348-A7A4-BF68-D63837C48B33}"/>
              </a:ext>
            </a:extLst>
          </p:cNvPr>
          <p:cNvSpPr/>
          <p:nvPr/>
        </p:nvSpPr>
        <p:spPr>
          <a:xfrm>
            <a:off x="2171915" y="5576552"/>
            <a:ext cx="703649"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人力數據</a:t>
            </a:r>
            <a:endParaRPr kumimoji="0" lang="en-US" altLang="zh-TW" sz="800" b="0" i="0" u="none" strike="noStrike" kern="0" cap="none" spc="0" normalizeH="0" baseline="0" noProof="0" dirty="0">
              <a:ln>
                <a:noFill/>
              </a:ln>
              <a:solidFill>
                <a:prstClr val="white"/>
              </a:solidFill>
              <a:effectLst/>
              <a:uLnTx/>
              <a:uFillTx/>
              <a:latin typeface="Arial"/>
              <a:ea typeface="微軟正黑體"/>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(HRIS)</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28" name="圓柱形 204">
            <a:extLst>
              <a:ext uri="{FF2B5EF4-FFF2-40B4-BE49-F238E27FC236}">
                <a16:creationId xmlns:a16="http://schemas.microsoft.com/office/drawing/2014/main" id="{2C816BAE-C287-D6F0-8706-B5163C24429D}"/>
              </a:ext>
            </a:extLst>
          </p:cNvPr>
          <p:cNvSpPr/>
          <p:nvPr/>
        </p:nvSpPr>
        <p:spPr>
          <a:xfrm>
            <a:off x="3722575" y="5576552"/>
            <a:ext cx="671720" cy="30705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物料數據 </a:t>
            </a: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(ERP/MES)</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29" name="圓柱形 205">
            <a:extLst>
              <a:ext uri="{FF2B5EF4-FFF2-40B4-BE49-F238E27FC236}">
                <a16:creationId xmlns:a16="http://schemas.microsoft.com/office/drawing/2014/main" id="{4E9DF459-4C08-4834-D39D-BC02812B3AC2}"/>
              </a:ext>
            </a:extLst>
          </p:cNvPr>
          <p:cNvSpPr/>
          <p:nvPr/>
        </p:nvSpPr>
        <p:spPr>
          <a:xfrm>
            <a:off x="4512044" y="5576552"/>
            <a:ext cx="671720"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生產數據</a:t>
            </a:r>
            <a:endParaRPr kumimoji="0" lang="en-US" altLang="zh-TW" sz="800" b="0" i="0" u="none" strike="noStrike" kern="0" cap="none" spc="0" normalizeH="0" baseline="0" noProof="0" dirty="0">
              <a:ln>
                <a:noFill/>
              </a:ln>
              <a:solidFill>
                <a:prstClr val="white"/>
              </a:solidFill>
              <a:effectLst/>
              <a:uLnTx/>
              <a:uFillTx/>
              <a:latin typeface="Arial"/>
              <a:ea typeface="微軟正黑體"/>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(MES)</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31" name="圓柱形 211">
            <a:extLst>
              <a:ext uri="{FF2B5EF4-FFF2-40B4-BE49-F238E27FC236}">
                <a16:creationId xmlns:a16="http://schemas.microsoft.com/office/drawing/2014/main" id="{E2E514F9-3768-E171-BDC0-51516262E636}"/>
              </a:ext>
            </a:extLst>
          </p:cNvPr>
          <p:cNvSpPr/>
          <p:nvPr/>
        </p:nvSpPr>
        <p:spPr>
          <a:xfrm>
            <a:off x="2982632" y="6068782"/>
            <a:ext cx="592482"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產品數據 </a:t>
            </a:r>
            <a:endParaRPr kumimoji="0" lang="en-US" altLang="zh-TW" sz="800" b="0" i="0" u="none" strike="noStrike" kern="0" cap="none" spc="0" normalizeH="0" baseline="0" noProof="0" dirty="0">
              <a:ln>
                <a:noFill/>
              </a:ln>
              <a:solidFill>
                <a:prstClr val="white"/>
              </a:solidFill>
              <a:effectLst/>
              <a:uLnTx/>
              <a:uFillTx/>
              <a:latin typeface="Arial"/>
              <a:ea typeface="微軟正黑體"/>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(PLM/DDP)</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32" name="圓柱形 215">
            <a:extLst>
              <a:ext uri="{FF2B5EF4-FFF2-40B4-BE49-F238E27FC236}">
                <a16:creationId xmlns:a16="http://schemas.microsoft.com/office/drawing/2014/main" id="{E5A329DA-B23F-89A7-B31F-B91B33576258}"/>
              </a:ext>
            </a:extLst>
          </p:cNvPr>
          <p:cNvSpPr/>
          <p:nvPr/>
        </p:nvSpPr>
        <p:spPr>
          <a:xfrm>
            <a:off x="3701231" y="6068782"/>
            <a:ext cx="655701"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訂單數據</a:t>
            </a:r>
            <a:endParaRPr kumimoji="0" lang="en-US" altLang="zh-TW" sz="800" b="0" i="0" u="none" strike="noStrike" kern="0" cap="none" spc="0" normalizeH="0" baseline="0" noProof="0" dirty="0">
              <a:ln>
                <a:noFill/>
              </a:ln>
              <a:solidFill>
                <a:prstClr val="white"/>
              </a:solidFill>
              <a:effectLst/>
              <a:uLnTx/>
              <a:uFillTx/>
              <a:latin typeface="Arial"/>
              <a:ea typeface="微軟正黑體"/>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(ERP/EC)</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33" name="圓柱形 248">
            <a:extLst>
              <a:ext uri="{FF2B5EF4-FFF2-40B4-BE49-F238E27FC236}">
                <a16:creationId xmlns:a16="http://schemas.microsoft.com/office/drawing/2014/main" id="{568CA8E8-FAD2-BC6D-0246-3BF6B0929B79}"/>
              </a:ext>
            </a:extLst>
          </p:cNvPr>
          <p:cNvSpPr/>
          <p:nvPr/>
        </p:nvSpPr>
        <p:spPr>
          <a:xfrm>
            <a:off x="2161649" y="6068782"/>
            <a:ext cx="694866"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供應商數據 </a:t>
            </a: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(ERP/EC/MRO)</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34" name="圓柱形 255">
            <a:extLst>
              <a:ext uri="{FF2B5EF4-FFF2-40B4-BE49-F238E27FC236}">
                <a16:creationId xmlns:a16="http://schemas.microsoft.com/office/drawing/2014/main" id="{C670EC08-7561-A9A4-4D09-631E1C5F2487}"/>
              </a:ext>
            </a:extLst>
          </p:cNvPr>
          <p:cNvSpPr/>
          <p:nvPr/>
        </p:nvSpPr>
        <p:spPr>
          <a:xfrm>
            <a:off x="4483049" y="6068782"/>
            <a:ext cx="655702"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客戶數據</a:t>
            </a:r>
            <a:endParaRPr kumimoji="0" lang="en-US" altLang="zh-TW" sz="800" b="0" i="0" u="none" strike="noStrike" kern="0" cap="none" spc="0" normalizeH="0" baseline="0" noProof="0" dirty="0">
              <a:ln>
                <a:noFill/>
              </a:ln>
              <a:solidFill>
                <a:prstClr val="white"/>
              </a:solidFill>
              <a:effectLst/>
              <a:uLnTx/>
              <a:uFillTx/>
              <a:latin typeface="Arial"/>
              <a:ea typeface="微軟正黑體"/>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(ERP/CRM)</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35" name="圓柱形 263">
            <a:extLst>
              <a:ext uri="{FF2B5EF4-FFF2-40B4-BE49-F238E27FC236}">
                <a16:creationId xmlns:a16="http://schemas.microsoft.com/office/drawing/2014/main" id="{FE00DBB0-B475-1409-21DC-363BFCF63529}"/>
              </a:ext>
            </a:extLst>
          </p:cNvPr>
          <p:cNvSpPr/>
          <p:nvPr/>
        </p:nvSpPr>
        <p:spPr>
          <a:xfrm>
            <a:off x="5264869" y="6068782"/>
            <a:ext cx="643945"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800" b="0" i="0" u="none" strike="noStrike" kern="0" cap="none" spc="0" normalizeH="0" baseline="0" noProof="0" dirty="0">
                <a:ln>
                  <a:noFill/>
                </a:ln>
                <a:solidFill>
                  <a:prstClr val="white"/>
                </a:solidFill>
                <a:effectLst/>
                <a:uLnTx/>
                <a:uFillTx/>
                <a:latin typeface="Arial"/>
                <a:ea typeface="微軟正黑體"/>
                <a:cs typeface="+mn-cs"/>
              </a:rPr>
              <a:t>財務數據</a:t>
            </a:r>
            <a:endParaRPr kumimoji="0" lang="en-US" altLang="zh-TW" sz="800" b="0" i="0" u="none" strike="noStrike" kern="0" cap="none" spc="0" normalizeH="0" baseline="0" noProof="0" dirty="0">
              <a:ln>
                <a:noFill/>
              </a:ln>
              <a:solidFill>
                <a:prstClr val="white"/>
              </a:solidFill>
              <a:effectLst/>
              <a:uLnTx/>
              <a:uFillTx/>
              <a:latin typeface="Arial"/>
              <a:ea typeface="微軟正黑體"/>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(ERP)</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sp>
        <p:nvSpPr>
          <p:cNvPr id="37" name="圓柱形 264">
            <a:extLst>
              <a:ext uri="{FF2B5EF4-FFF2-40B4-BE49-F238E27FC236}">
                <a16:creationId xmlns:a16="http://schemas.microsoft.com/office/drawing/2014/main" id="{025EE0BD-D462-AA23-DB4A-B1555034B302}"/>
              </a:ext>
            </a:extLst>
          </p:cNvPr>
          <p:cNvSpPr/>
          <p:nvPr/>
        </p:nvSpPr>
        <p:spPr>
          <a:xfrm>
            <a:off x="5301515" y="5576552"/>
            <a:ext cx="696080" cy="330907"/>
          </a:xfrm>
          <a:prstGeom prst="can">
            <a:avLst/>
          </a:prstGeom>
          <a:solidFill>
            <a:srgbClr val="0087DC"/>
          </a:solidFill>
          <a:ln w="12700" cap="flat" cmpd="sng" algn="ctr">
            <a:solidFill>
              <a:srgbClr val="0087DC">
                <a:shade val="50000"/>
              </a:srgbClr>
            </a:solidFill>
            <a:prstDash val="solid"/>
            <a:miter lim="800000"/>
          </a:ln>
          <a:effectLst/>
        </p:spPr>
        <p:txBody>
          <a:bodyPr lIns="0" tIns="36000" rIns="0" bIns="3600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altLang="zh-TW" sz="800" b="0" i="0" u="none" strike="noStrike" kern="0" cap="none" spc="0" normalizeH="0" baseline="0" noProof="0" dirty="0">
                <a:ln>
                  <a:noFill/>
                </a:ln>
                <a:solidFill>
                  <a:prstClr val="white"/>
                </a:solidFill>
                <a:effectLst/>
                <a:uLnTx/>
                <a:uFillTx/>
                <a:latin typeface="Arial"/>
                <a:ea typeface="微軟正黑體"/>
                <a:cs typeface="+mn-cs"/>
              </a:rPr>
              <a:t>Line manager</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altLang="zh-TW" sz="800" kern="0" dirty="0">
                <a:solidFill>
                  <a:prstClr val="white"/>
                </a:solidFill>
                <a:latin typeface="Arial"/>
                <a:ea typeface="微軟正黑體"/>
              </a:rPr>
              <a:t>(</a:t>
            </a:r>
            <a:r>
              <a:rPr lang="en-US" altLang="zh-TW" sz="800" kern="0" dirty="0" err="1">
                <a:solidFill>
                  <a:prstClr val="white"/>
                </a:solidFill>
                <a:latin typeface="Arial"/>
                <a:ea typeface="微軟正黑體"/>
              </a:rPr>
              <a:t>IIoT</a:t>
            </a:r>
            <a:r>
              <a:rPr lang="en-US" altLang="zh-TW" sz="800" kern="0" dirty="0">
                <a:solidFill>
                  <a:prstClr val="white"/>
                </a:solidFill>
                <a:latin typeface="Arial"/>
                <a:ea typeface="微軟正黑體"/>
              </a:rPr>
              <a:t>)</a:t>
            </a:r>
            <a:endParaRPr kumimoji="0" lang="zh-TW" altLang="en-US" sz="800" b="0" i="0" u="none" strike="noStrike" kern="0" cap="none" spc="0" normalizeH="0" baseline="0" noProof="0" dirty="0">
              <a:ln>
                <a:noFill/>
              </a:ln>
              <a:solidFill>
                <a:prstClr val="white"/>
              </a:solidFill>
              <a:effectLst/>
              <a:uLnTx/>
              <a:uFillTx/>
              <a:latin typeface="Arial"/>
              <a:ea typeface="微軟正黑體"/>
              <a:cs typeface="+mn-cs"/>
            </a:endParaRPr>
          </a:p>
        </p:txBody>
      </p:sp>
      <p:grpSp>
        <p:nvGrpSpPr>
          <p:cNvPr id="7" name="群組 6">
            <a:extLst>
              <a:ext uri="{FF2B5EF4-FFF2-40B4-BE49-F238E27FC236}">
                <a16:creationId xmlns:a16="http://schemas.microsoft.com/office/drawing/2014/main" id="{59E953BD-1976-E1E5-2141-5C66C8322B9A}"/>
              </a:ext>
            </a:extLst>
          </p:cNvPr>
          <p:cNvGrpSpPr/>
          <p:nvPr/>
        </p:nvGrpSpPr>
        <p:grpSpPr>
          <a:xfrm>
            <a:off x="9601887" y="80893"/>
            <a:ext cx="2490957" cy="1315642"/>
            <a:chOff x="13047980" y="-12058"/>
            <a:chExt cx="2490957" cy="1315642"/>
          </a:xfrm>
        </p:grpSpPr>
        <p:pic>
          <p:nvPicPr>
            <p:cNvPr id="54" name="圖片 53">
              <a:extLst>
                <a:ext uri="{FF2B5EF4-FFF2-40B4-BE49-F238E27FC236}">
                  <a16:creationId xmlns:a16="http://schemas.microsoft.com/office/drawing/2014/main" id="{4715CC72-B5EC-3728-CCD9-EE8C0E453566}"/>
                </a:ext>
              </a:extLst>
            </p:cNvPr>
            <p:cNvPicPr>
              <a:picLocks noChangeAspect="1"/>
            </p:cNvPicPr>
            <p:nvPr/>
          </p:nvPicPr>
          <p:blipFill>
            <a:blip r:embed="rId5"/>
            <a:stretch>
              <a:fillRect/>
            </a:stretch>
          </p:blipFill>
          <p:spPr>
            <a:xfrm>
              <a:off x="13047980" y="-12058"/>
              <a:ext cx="2490957" cy="1230102"/>
            </a:xfrm>
            <a:prstGeom prst="rect">
              <a:avLst/>
            </a:prstGeom>
          </p:spPr>
        </p:pic>
        <p:pic>
          <p:nvPicPr>
            <p:cNvPr id="57" name="圖片 56">
              <a:extLst>
                <a:ext uri="{FF2B5EF4-FFF2-40B4-BE49-F238E27FC236}">
                  <a16:creationId xmlns:a16="http://schemas.microsoft.com/office/drawing/2014/main" id="{B9AF39A3-E8CB-85DF-8CCE-AFBC09D48DAA}"/>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3985168" y="376302"/>
              <a:ext cx="1361522" cy="927282"/>
            </a:xfrm>
            <a:prstGeom prst="rect">
              <a:avLst/>
            </a:prstGeom>
          </p:spPr>
        </p:pic>
      </p:grpSp>
      <p:pic>
        <p:nvPicPr>
          <p:cNvPr id="9" name="圖片 8">
            <a:extLst>
              <a:ext uri="{FF2B5EF4-FFF2-40B4-BE49-F238E27FC236}">
                <a16:creationId xmlns:a16="http://schemas.microsoft.com/office/drawing/2014/main" id="{74E9019E-8B5B-1F28-97AA-F94945CAE038}"/>
              </a:ext>
            </a:extLst>
          </p:cNvPr>
          <p:cNvPicPr>
            <a:picLocks noChangeAspect="1"/>
          </p:cNvPicPr>
          <p:nvPr/>
        </p:nvPicPr>
        <p:blipFill>
          <a:blip r:embed="rId3"/>
          <a:stretch>
            <a:fillRect/>
          </a:stretch>
        </p:blipFill>
        <p:spPr>
          <a:xfrm>
            <a:off x="6382939" y="5906992"/>
            <a:ext cx="921630" cy="545749"/>
          </a:xfrm>
          <a:prstGeom prst="rect">
            <a:avLst/>
          </a:prstGeom>
          <a:solidFill>
            <a:schemeClr val="bg1">
              <a:lumMod val="75000"/>
            </a:schemeClr>
          </a:solidFill>
        </p:spPr>
      </p:pic>
      <p:grpSp>
        <p:nvGrpSpPr>
          <p:cNvPr id="79" name="群組 78">
            <a:extLst>
              <a:ext uri="{FF2B5EF4-FFF2-40B4-BE49-F238E27FC236}">
                <a16:creationId xmlns:a16="http://schemas.microsoft.com/office/drawing/2014/main" id="{B0E3B52F-98A7-BEC0-4718-2FDA254E2DAA}"/>
              </a:ext>
            </a:extLst>
          </p:cNvPr>
          <p:cNvGrpSpPr/>
          <p:nvPr/>
        </p:nvGrpSpPr>
        <p:grpSpPr>
          <a:xfrm>
            <a:off x="904773" y="2343113"/>
            <a:ext cx="1926127" cy="2296426"/>
            <a:chOff x="2257323" y="2962238"/>
            <a:chExt cx="1926127" cy="2296426"/>
          </a:xfrm>
        </p:grpSpPr>
        <p:sp>
          <p:nvSpPr>
            <p:cNvPr id="3" name="箭號: 向上 2">
              <a:extLst>
                <a:ext uri="{FF2B5EF4-FFF2-40B4-BE49-F238E27FC236}">
                  <a16:creationId xmlns:a16="http://schemas.microsoft.com/office/drawing/2014/main" id="{E87939DC-3C4C-4177-7721-D445F53EA290}"/>
                </a:ext>
              </a:extLst>
            </p:cNvPr>
            <p:cNvSpPr/>
            <p:nvPr/>
          </p:nvSpPr>
          <p:spPr>
            <a:xfrm>
              <a:off x="3773864" y="2962238"/>
              <a:ext cx="409586" cy="2296426"/>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a:extLst>
                <a:ext uri="{FF2B5EF4-FFF2-40B4-BE49-F238E27FC236}">
                  <a16:creationId xmlns:a16="http://schemas.microsoft.com/office/drawing/2014/main" id="{8F5C55C0-6387-3CD4-6E4E-F8BDA7B801A2}"/>
                </a:ext>
              </a:extLst>
            </p:cNvPr>
            <p:cNvSpPr txBox="1"/>
            <p:nvPr/>
          </p:nvSpPr>
          <p:spPr>
            <a:xfrm>
              <a:off x="2257323" y="3912046"/>
              <a:ext cx="1630575" cy="584775"/>
            </a:xfrm>
            <a:prstGeom prst="rect">
              <a:avLst/>
            </a:prstGeom>
            <a:noFill/>
          </p:spPr>
          <p:txBody>
            <a:bodyPr wrap="none" rtlCol="0">
              <a:spAutoFit/>
            </a:bodyPr>
            <a:lstStyle/>
            <a:p>
              <a:r>
                <a:rPr lang="zh-TW" altLang="en-US" sz="1600" b="1" dirty="0">
                  <a:solidFill>
                    <a:srgbClr val="FF0000"/>
                  </a:solidFill>
                </a:rPr>
                <a:t>各數據源</a:t>
              </a:r>
              <a:r>
                <a:rPr lang="zh-TW" altLang="en-US" sz="1600" b="1" dirty="0"/>
                <a:t>支持</a:t>
              </a:r>
              <a:endParaRPr lang="en-US" altLang="zh-TW" sz="1600" dirty="0"/>
            </a:p>
            <a:p>
              <a:r>
                <a:rPr lang="en-US" altLang="zh-TW" sz="1600" dirty="0"/>
                <a:t>Domain Service</a:t>
              </a:r>
              <a:endParaRPr lang="zh-TW" altLang="en-US" sz="1600" dirty="0"/>
            </a:p>
          </p:txBody>
        </p:sp>
      </p:grpSp>
      <p:sp>
        <p:nvSpPr>
          <p:cNvPr id="8" name="箭號: 向上 7">
            <a:extLst>
              <a:ext uri="{FF2B5EF4-FFF2-40B4-BE49-F238E27FC236}">
                <a16:creationId xmlns:a16="http://schemas.microsoft.com/office/drawing/2014/main" id="{C1CA91DB-46E9-1BFB-9E04-014BEF7689AC}"/>
              </a:ext>
            </a:extLst>
          </p:cNvPr>
          <p:cNvSpPr/>
          <p:nvPr/>
        </p:nvSpPr>
        <p:spPr>
          <a:xfrm rot="10800000">
            <a:off x="2415774" y="2538150"/>
            <a:ext cx="409586" cy="2889509"/>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8" name="矩形: 圓角 67">
            <a:extLst>
              <a:ext uri="{FF2B5EF4-FFF2-40B4-BE49-F238E27FC236}">
                <a16:creationId xmlns:a16="http://schemas.microsoft.com/office/drawing/2014/main" id="{61181CE3-900F-1AE1-44D8-CB1ED2838523}"/>
              </a:ext>
            </a:extLst>
          </p:cNvPr>
          <p:cNvSpPr/>
          <p:nvPr/>
        </p:nvSpPr>
        <p:spPr>
          <a:xfrm>
            <a:off x="1097337" y="1349512"/>
            <a:ext cx="9294438" cy="363771"/>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t>DMP</a:t>
            </a:r>
            <a:r>
              <a:rPr lang="zh-TW" altLang="en-US" dirty="0"/>
              <a:t> </a:t>
            </a:r>
            <a:r>
              <a:rPr lang="en-US" altLang="zh-TW" dirty="0"/>
              <a:t>Workplace </a:t>
            </a:r>
            <a:endParaRPr lang="zh-TW" altLang="en-US" dirty="0"/>
          </a:p>
        </p:txBody>
      </p:sp>
      <p:sp>
        <p:nvSpPr>
          <p:cNvPr id="71" name="文字方塊 6">
            <a:extLst>
              <a:ext uri="{FF2B5EF4-FFF2-40B4-BE49-F238E27FC236}">
                <a16:creationId xmlns:a16="http://schemas.microsoft.com/office/drawing/2014/main" id="{B3B3CA6E-4722-798A-9AC9-D89AAEC2B2C6}"/>
              </a:ext>
            </a:extLst>
          </p:cNvPr>
          <p:cNvSpPr txBox="1"/>
          <p:nvPr/>
        </p:nvSpPr>
        <p:spPr>
          <a:xfrm>
            <a:off x="7621245" y="5925028"/>
            <a:ext cx="1671379" cy="600164"/>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ltLang="zh-TW" sz="1100" u="sng" dirty="0"/>
              <a:t>Corp</a:t>
            </a:r>
            <a:r>
              <a:rPr lang="zh-TW" altLang="en-US" sz="1100" u="sng" dirty="0"/>
              <a:t> </a:t>
            </a:r>
            <a:r>
              <a:rPr lang="en-US" altLang="zh-TW" sz="1100" u="sng" dirty="0"/>
              <a:t>Level</a:t>
            </a:r>
          </a:p>
          <a:p>
            <a:r>
              <a:rPr lang="zh-TW" altLang="en-US" sz="1100" dirty="0"/>
              <a:t>彙整各</a:t>
            </a:r>
            <a:r>
              <a:rPr lang="en-US" altLang="zh-TW" sz="1100" dirty="0"/>
              <a:t>Domain</a:t>
            </a:r>
            <a:r>
              <a:rPr lang="zh-TW" altLang="en-US" sz="1100" dirty="0"/>
              <a:t>價值數據</a:t>
            </a:r>
            <a:endParaRPr lang="en-US" altLang="zh-TW" sz="1100" dirty="0"/>
          </a:p>
          <a:p>
            <a:r>
              <a:rPr lang="zh-TW" altLang="en-US" sz="1100" dirty="0"/>
              <a:t>如</a:t>
            </a:r>
            <a:r>
              <a:rPr lang="en-US" altLang="zh-TW" sz="1100" dirty="0"/>
              <a:t>HR/ERP/CRM</a:t>
            </a:r>
          </a:p>
        </p:txBody>
      </p:sp>
      <p:grpSp>
        <p:nvGrpSpPr>
          <p:cNvPr id="40" name="群組 39">
            <a:extLst>
              <a:ext uri="{FF2B5EF4-FFF2-40B4-BE49-F238E27FC236}">
                <a16:creationId xmlns:a16="http://schemas.microsoft.com/office/drawing/2014/main" id="{1A748D4D-E49B-4C71-E31E-0C58F57BA413}"/>
              </a:ext>
            </a:extLst>
          </p:cNvPr>
          <p:cNvGrpSpPr/>
          <p:nvPr/>
        </p:nvGrpSpPr>
        <p:grpSpPr>
          <a:xfrm>
            <a:off x="5724309" y="3173662"/>
            <a:ext cx="2119485" cy="1168385"/>
            <a:chOff x="5718412" y="2913413"/>
            <a:chExt cx="2119485" cy="1216504"/>
          </a:xfrm>
        </p:grpSpPr>
        <p:sp>
          <p:nvSpPr>
            <p:cNvPr id="13" name="矩形: 圓角 12">
              <a:extLst>
                <a:ext uri="{FF2B5EF4-FFF2-40B4-BE49-F238E27FC236}">
                  <a16:creationId xmlns:a16="http://schemas.microsoft.com/office/drawing/2014/main" id="{34703E6C-DC7F-F8E1-CE4F-B41F5F73C265}"/>
                </a:ext>
              </a:extLst>
            </p:cNvPr>
            <p:cNvSpPr/>
            <p:nvPr/>
          </p:nvSpPr>
          <p:spPr>
            <a:xfrm>
              <a:off x="5718412" y="2913413"/>
              <a:ext cx="2119485" cy="1216504"/>
            </a:xfrm>
            <a:prstGeom prst="roundRect">
              <a:avLst>
                <a:gd name="adj" fmla="val 7859"/>
              </a:avLst>
            </a:prstGeom>
            <a:solidFill>
              <a:schemeClr val="bg1">
                <a:lumMod val="8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文字方塊 14">
              <a:extLst>
                <a:ext uri="{FF2B5EF4-FFF2-40B4-BE49-F238E27FC236}">
                  <a16:creationId xmlns:a16="http://schemas.microsoft.com/office/drawing/2014/main" id="{5B71F9F8-0D26-6290-C4A4-0495DFCAB896}"/>
                </a:ext>
              </a:extLst>
            </p:cNvPr>
            <p:cNvSpPr txBox="1"/>
            <p:nvPr/>
          </p:nvSpPr>
          <p:spPr>
            <a:xfrm>
              <a:off x="6229987" y="3183843"/>
              <a:ext cx="1107996" cy="646331"/>
            </a:xfrm>
            <a:prstGeom prst="rect">
              <a:avLst/>
            </a:prstGeom>
            <a:noFill/>
          </p:spPr>
          <p:txBody>
            <a:bodyPr wrap="none" rtlCol="0">
              <a:spAutoFit/>
            </a:bodyPr>
            <a:lstStyle/>
            <a:p>
              <a:pPr algn="ctr"/>
              <a:r>
                <a:rPr lang="en-US" altLang="zh-TW" b="1" dirty="0">
                  <a:solidFill>
                    <a:srgbClr val="0087DC"/>
                  </a:solidFill>
                  <a:effectLst>
                    <a:glow rad="127000">
                      <a:schemeClr val="bg1">
                        <a:alpha val="91000"/>
                      </a:schemeClr>
                    </a:glow>
                  </a:effectLst>
                </a:rPr>
                <a:t>MFG</a:t>
              </a:r>
            </a:p>
            <a:p>
              <a:pPr algn="ctr"/>
              <a:r>
                <a:rPr lang="zh-TW" altLang="en-US" b="1" dirty="0">
                  <a:solidFill>
                    <a:srgbClr val="0087DC"/>
                  </a:solidFill>
                  <a:effectLst>
                    <a:glow rad="127000">
                      <a:schemeClr val="bg1">
                        <a:alpha val="91000"/>
                      </a:schemeClr>
                    </a:glow>
                  </a:effectLst>
                </a:rPr>
                <a:t>數據中台</a:t>
              </a:r>
            </a:p>
          </p:txBody>
        </p:sp>
      </p:grpSp>
      <p:sp>
        <p:nvSpPr>
          <p:cNvPr id="50" name="文字方塊 49">
            <a:extLst>
              <a:ext uri="{FF2B5EF4-FFF2-40B4-BE49-F238E27FC236}">
                <a16:creationId xmlns:a16="http://schemas.microsoft.com/office/drawing/2014/main" id="{73420F0D-5F81-FD9D-C56A-CC690325A699}"/>
              </a:ext>
            </a:extLst>
          </p:cNvPr>
          <p:cNvSpPr txBox="1"/>
          <p:nvPr/>
        </p:nvSpPr>
        <p:spPr>
          <a:xfrm>
            <a:off x="5718412" y="2593593"/>
            <a:ext cx="2347117" cy="523220"/>
          </a:xfrm>
          <a:prstGeom prst="rect">
            <a:avLst/>
          </a:prstGeom>
          <a:noFill/>
        </p:spPr>
        <p:txBody>
          <a:bodyPr wrap="square" rtlCol="0">
            <a:spAutoFit/>
          </a:bodyPr>
          <a:lstStyle/>
          <a:p>
            <a:r>
              <a:rPr lang="zh-TW" altLang="en-US" sz="1400" dirty="0"/>
              <a:t>作為製造域</a:t>
            </a:r>
            <a:r>
              <a:rPr lang="zh-TW" altLang="en-US" sz="1400" b="1" dirty="0">
                <a:solidFill>
                  <a:srgbClr val="FF0000"/>
                </a:solidFill>
              </a:rPr>
              <a:t>分析式數據源</a:t>
            </a:r>
            <a:endParaRPr lang="en-US" altLang="zh-TW" sz="1400" b="1" dirty="0">
              <a:solidFill>
                <a:srgbClr val="FF0000"/>
              </a:solidFill>
            </a:endParaRPr>
          </a:p>
          <a:p>
            <a:r>
              <a:rPr lang="zh-TW" altLang="en-US" sz="1400" dirty="0"/>
              <a:t>提供讀取予</a:t>
            </a:r>
            <a:r>
              <a:rPr lang="en-US" altLang="zh-TW" sz="1400" dirty="0"/>
              <a:t>Domain Service</a:t>
            </a:r>
            <a:endParaRPr lang="zh-TW" altLang="en-US" sz="1400" dirty="0"/>
          </a:p>
        </p:txBody>
      </p:sp>
      <p:sp>
        <p:nvSpPr>
          <p:cNvPr id="12" name="矩形: 圓角 11">
            <a:extLst>
              <a:ext uri="{FF2B5EF4-FFF2-40B4-BE49-F238E27FC236}">
                <a16:creationId xmlns:a16="http://schemas.microsoft.com/office/drawing/2014/main" id="{B9F89774-F0D1-E843-84D2-0023BC413E75}"/>
              </a:ext>
            </a:extLst>
          </p:cNvPr>
          <p:cNvSpPr/>
          <p:nvPr/>
        </p:nvSpPr>
        <p:spPr>
          <a:xfrm>
            <a:off x="6125155" y="5879720"/>
            <a:ext cx="1499763" cy="623038"/>
          </a:xfrm>
          <a:prstGeom prst="roundRect">
            <a:avLst>
              <a:gd name="adj" fmla="val 7859"/>
            </a:avLst>
          </a:prstGeom>
          <a:solidFill>
            <a:schemeClr val="bg1">
              <a:lumMod val="8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文字方塊 13">
            <a:extLst>
              <a:ext uri="{FF2B5EF4-FFF2-40B4-BE49-F238E27FC236}">
                <a16:creationId xmlns:a16="http://schemas.microsoft.com/office/drawing/2014/main" id="{4FC59E57-29C4-B12C-3F69-49F6F84AE363}"/>
              </a:ext>
            </a:extLst>
          </p:cNvPr>
          <p:cNvSpPr txBox="1"/>
          <p:nvPr/>
        </p:nvSpPr>
        <p:spPr>
          <a:xfrm>
            <a:off x="6228757" y="5964762"/>
            <a:ext cx="1183337" cy="461665"/>
          </a:xfrm>
          <a:prstGeom prst="rect">
            <a:avLst/>
          </a:prstGeom>
          <a:noFill/>
        </p:spPr>
        <p:txBody>
          <a:bodyPr wrap="none" rtlCol="0">
            <a:spAutoFit/>
          </a:bodyPr>
          <a:lstStyle/>
          <a:p>
            <a:pPr algn="ctr"/>
            <a:r>
              <a:rPr lang="en-US" altLang="zh-TW" sz="1200" b="1" dirty="0">
                <a:solidFill>
                  <a:srgbClr val="0087DC"/>
                </a:solidFill>
                <a:effectLst>
                  <a:glow rad="127000">
                    <a:schemeClr val="bg1"/>
                  </a:glow>
                </a:effectLst>
              </a:rPr>
              <a:t>Corp</a:t>
            </a:r>
          </a:p>
          <a:p>
            <a:pPr algn="ctr"/>
            <a:r>
              <a:rPr lang="en-US" altLang="zh-TW" sz="1200" b="1" dirty="0">
                <a:solidFill>
                  <a:srgbClr val="0087DC"/>
                </a:solidFill>
                <a:effectLst>
                  <a:glow rad="127000">
                    <a:schemeClr val="bg1"/>
                  </a:glow>
                </a:effectLst>
              </a:rPr>
              <a:t>Data Platform</a:t>
            </a:r>
            <a:endParaRPr lang="zh-TW" altLang="en-US" sz="1200" b="1" dirty="0">
              <a:solidFill>
                <a:srgbClr val="0087DC"/>
              </a:solidFill>
              <a:effectLst>
                <a:glow rad="127000">
                  <a:schemeClr val="bg1"/>
                </a:glow>
              </a:effectLst>
            </a:endParaRPr>
          </a:p>
        </p:txBody>
      </p:sp>
      <p:sp>
        <p:nvSpPr>
          <p:cNvPr id="4" name="箭號: 向上 3">
            <a:extLst>
              <a:ext uri="{FF2B5EF4-FFF2-40B4-BE49-F238E27FC236}">
                <a16:creationId xmlns:a16="http://schemas.microsoft.com/office/drawing/2014/main" id="{24E5B4FF-819D-A6AF-6604-A74C778752DC}"/>
              </a:ext>
            </a:extLst>
          </p:cNvPr>
          <p:cNvSpPr/>
          <p:nvPr/>
        </p:nvSpPr>
        <p:spPr>
          <a:xfrm>
            <a:off x="5147730" y="2318329"/>
            <a:ext cx="409586" cy="524419"/>
          </a:xfrm>
          <a:prstGeom prs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BCB557E2-DC33-BD6D-49A2-41BCD870364B}"/>
              </a:ext>
            </a:extLst>
          </p:cNvPr>
          <p:cNvSpPr txBox="1"/>
          <p:nvPr/>
        </p:nvSpPr>
        <p:spPr>
          <a:xfrm>
            <a:off x="3604826" y="3124645"/>
            <a:ext cx="2529304" cy="1046440"/>
          </a:xfrm>
          <a:prstGeom prst="rect">
            <a:avLst/>
          </a:prstGeom>
          <a:noFill/>
        </p:spPr>
        <p:txBody>
          <a:bodyPr wrap="square" rtlCol="0">
            <a:spAutoFit/>
          </a:bodyPr>
          <a:lstStyle/>
          <a:p>
            <a:r>
              <a:rPr lang="en-US" altLang="zh-TW" sz="1400" u="sng" dirty="0"/>
              <a:t>Domain</a:t>
            </a:r>
            <a:r>
              <a:rPr lang="zh-TW" altLang="en-US" sz="1400" u="sng" dirty="0"/>
              <a:t> </a:t>
            </a:r>
            <a:r>
              <a:rPr lang="en-US" altLang="zh-TW" sz="1400" u="sng" dirty="0"/>
              <a:t>Level</a:t>
            </a:r>
          </a:p>
          <a:p>
            <a:r>
              <a:rPr lang="zh-TW" altLang="en-US" sz="1200" dirty="0"/>
              <a:t>著重製造域數據</a:t>
            </a:r>
            <a:endParaRPr lang="en-US" altLang="zh-TW" sz="1200" dirty="0"/>
          </a:p>
          <a:p>
            <a:r>
              <a:rPr lang="zh-TW" altLang="en-US" sz="1200" dirty="0"/>
              <a:t>彙整並支持製造需求</a:t>
            </a:r>
            <a:endParaRPr lang="en-US" altLang="zh-TW" sz="1200" dirty="0"/>
          </a:p>
          <a:p>
            <a:r>
              <a:rPr lang="zh-TW" altLang="en-US" sz="1200" dirty="0"/>
              <a:t>如生產</a:t>
            </a:r>
            <a:r>
              <a:rPr lang="en-US" altLang="zh-TW" sz="1200" dirty="0"/>
              <a:t>/</a:t>
            </a:r>
            <a:r>
              <a:rPr lang="zh-TW" altLang="en-US" sz="1200" dirty="0"/>
              <a:t>設備</a:t>
            </a:r>
            <a:r>
              <a:rPr lang="en-US" altLang="zh-TW" sz="1200" dirty="0"/>
              <a:t>/</a:t>
            </a:r>
            <a:r>
              <a:rPr lang="zh-TW" altLang="en-US" sz="1200" dirty="0"/>
              <a:t>機聯</a:t>
            </a:r>
            <a:endParaRPr lang="en-US" altLang="zh-TW" sz="1200" dirty="0"/>
          </a:p>
          <a:p>
            <a:pPr marL="171450" indent="-171450">
              <a:buFont typeface="Arial" panose="020B0604020202020204" pitchFamily="34" charset="0"/>
              <a:buChar char="•"/>
            </a:pPr>
            <a:r>
              <a:rPr lang="zh-TW" altLang="en-US" sz="1200" dirty="0"/>
              <a:t>額外提供基於機聯的大數據儲存</a:t>
            </a:r>
          </a:p>
        </p:txBody>
      </p:sp>
      <p:grpSp>
        <p:nvGrpSpPr>
          <p:cNvPr id="43" name="群組 42">
            <a:extLst>
              <a:ext uri="{FF2B5EF4-FFF2-40B4-BE49-F238E27FC236}">
                <a16:creationId xmlns:a16="http://schemas.microsoft.com/office/drawing/2014/main" id="{A4CD940C-837A-5FF2-0410-D1E65298E81C}"/>
              </a:ext>
            </a:extLst>
          </p:cNvPr>
          <p:cNvGrpSpPr/>
          <p:nvPr/>
        </p:nvGrpSpPr>
        <p:grpSpPr>
          <a:xfrm>
            <a:off x="6207243" y="4298741"/>
            <a:ext cx="426387" cy="1568416"/>
            <a:chOff x="6073893" y="4298741"/>
            <a:chExt cx="426387" cy="1568416"/>
          </a:xfrm>
        </p:grpSpPr>
        <p:cxnSp>
          <p:nvCxnSpPr>
            <p:cNvPr id="72" name="直線單箭頭接點 71">
              <a:extLst>
                <a:ext uri="{FF2B5EF4-FFF2-40B4-BE49-F238E27FC236}">
                  <a16:creationId xmlns:a16="http://schemas.microsoft.com/office/drawing/2014/main" id="{02700DC9-AFCC-EDE9-52C9-40BD2A9C5717}"/>
                </a:ext>
              </a:extLst>
            </p:cNvPr>
            <p:cNvCxnSpPr>
              <a:cxnSpLocks/>
            </p:cNvCxnSpPr>
            <p:nvPr/>
          </p:nvCxnSpPr>
          <p:spPr>
            <a:xfrm>
              <a:off x="6500280" y="4298741"/>
              <a:ext cx="0" cy="1568416"/>
            </a:xfrm>
            <a:prstGeom prst="straightConnector1">
              <a:avLst/>
            </a:prstGeom>
            <a:ln w="53975">
              <a:solidFill>
                <a:srgbClr val="0087DC"/>
              </a:solidFill>
              <a:headEnd w="sm" len="sm"/>
              <a:tailEnd type="triangle" w="med" len="med"/>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71C35036-93DB-2DBD-3856-15E6A43D660A}"/>
                </a:ext>
              </a:extLst>
            </p:cNvPr>
            <p:cNvSpPr txBox="1"/>
            <p:nvPr/>
          </p:nvSpPr>
          <p:spPr>
            <a:xfrm>
              <a:off x="6073893" y="4567287"/>
              <a:ext cx="400110" cy="810478"/>
            </a:xfrm>
            <a:prstGeom prst="rect">
              <a:avLst/>
            </a:prstGeom>
            <a:noFill/>
          </p:spPr>
          <p:txBody>
            <a:bodyPr vert="eaVert" wrap="none" rtlCol="0">
              <a:spAutoFit/>
            </a:bodyPr>
            <a:lstStyle/>
            <a:p>
              <a:r>
                <a:rPr lang="zh-TW" altLang="en-US" sz="1400" b="1" dirty="0"/>
                <a:t>彙總價值</a:t>
              </a:r>
            </a:p>
          </p:txBody>
        </p:sp>
      </p:grpSp>
      <p:sp>
        <p:nvSpPr>
          <p:cNvPr id="75" name="文字方塊 74">
            <a:extLst>
              <a:ext uri="{FF2B5EF4-FFF2-40B4-BE49-F238E27FC236}">
                <a16:creationId xmlns:a16="http://schemas.microsoft.com/office/drawing/2014/main" id="{5B079CA6-EF1A-22EA-8606-232B7B529B82}"/>
              </a:ext>
            </a:extLst>
          </p:cNvPr>
          <p:cNvSpPr txBox="1"/>
          <p:nvPr/>
        </p:nvSpPr>
        <p:spPr>
          <a:xfrm>
            <a:off x="6952945" y="4586418"/>
            <a:ext cx="400110" cy="810478"/>
          </a:xfrm>
          <a:prstGeom prst="rect">
            <a:avLst/>
          </a:prstGeom>
          <a:noFill/>
        </p:spPr>
        <p:txBody>
          <a:bodyPr vert="eaVert" wrap="none" rtlCol="0">
            <a:spAutoFit/>
          </a:bodyPr>
          <a:lstStyle/>
          <a:p>
            <a:r>
              <a:rPr lang="zh-TW" altLang="en-US" sz="1400" b="1" dirty="0"/>
              <a:t>跨域引用</a:t>
            </a:r>
          </a:p>
        </p:txBody>
      </p:sp>
      <p:sp>
        <p:nvSpPr>
          <p:cNvPr id="80" name="矩形: 圓角 19">
            <a:extLst>
              <a:ext uri="{FF2B5EF4-FFF2-40B4-BE49-F238E27FC236}">
                <a16:creationId xmlns:a16="http://schemas.microsoft.com/office/drawing/2014/main" id="{13413BAB-DBC7-BF32-C48A-51F896DBBCBD}"/>
              </a:ext>
            </a:extLst>
          </p:cNvPr>
          <p:cNvSpPr/>
          <p:nvPr/>
        </p:nvSpPr>
        <p:spPr>
          <a:xfrm>
            <a:off x="2227820" y="865775"/>
            <a:ext cx="1549882" cy="214577"/>
          </a:xfrm>
          <a:prstGeom prst="roundRect">
            <a:avLst>
              <a:gd name="adj" fmla="val 6934"/>
            </a:avLst>
          </a:prstGeom>
          <a:solidFill>
            <a:schemeClr val="bg1"/>
          </a:solidFill>
          <a:ln w="12700" cap="flat" cmpd="sng" algn="ctr">
            <a:solidFill>
              <a:schemeClr val="tx1"/>
            </a:solidFill>
            <a:prstDash val="solid"/>
            <a:miter lim="800000"/>
          </a:ln>
          <a:effectLst/>
        </p:spPr>
        <p:txBody>
          <a:bodyPr lIns="48000" rIns="48000" rtlCol="0" anchor="ctr" anchorCtr="0"/>
          <a:lstStyle/>
          <a:p>
            <a:pPr algn="ctr" defTabSz="914377">
              <a:defRPr/>
            </a:pPr>
            <a:r>
              <a:rPr lang="en-US" altLang="zh-CN" sz="1000" b="1" kern="0" dirty="0">
                <a:latin typeface="微软雅黑"/>
                <a:ea typeface="微软雅黑"/>
              </a:rPr>
              <a:t>Wearable Device App</a:t>
            </a:r>
          </a:p>
        </p:txBody>
      </p:sp>
      <p:sp>
        <p:nvSpPr>
          <p:cNvPr id="81" name="矩形: 圓角 19">
            <a:extLst>
              <a:ext uri="{FF2B5EF4-FFF2-40B4-BE49-F238E27FC236}">
                <a16:creationId xmlns:a16="http://schemas.microsoft.com/office/drawing/2014/main" id="{5F533580-C520-DB7B-EE03-7D85989881B5}"/>
              </a:ext>
            </a:extLst>
          </p:cNvPr>
          <p:cNvSpPr/>
          <p:nvPr/>
        </p:nvSpPr>
        <p:spPr>
          <a:xfrm>
            <a:off x="3904563" y="859366"/>
            <a:ext cx="1549882" cy="214577"/>
          </a:xfrm>
          <a:prstGeom prst="roundRect">
            <a:avLst>
              <a:gd name="adj" fmla="val 6934"/>
            </a:avLst>
          </a:prstGeom>
          <a:solidFill>
            <a:schemeClr val="bg1"/>
          </a:solidFill>
          <a:ln w="12700" cap="flat" cmpd="sng" algn="ctr">
            <a:solidFill>
              <a:schemeClr val="tx1"/>
            </a:solidFill>
            <a:prstDash val="solid"/>
            <a:miter lim="800000"/>
          </a:ln>
          <a:effectLst/>
        </p:spPr>
        <p:txBody>
          <a:bodyPr lIns="48000" rIns="48000" rtlCol="0" anchor="ctr" anchorCtr="0"/>
          <a:lstStyle/>
          <a:p>
            <a:pPr algn="ctr" defTabSz="914377">
              <a:defRPr/>
            </a:pPr>
            <a:r>
              <a:rPr lang="en-US" altLang="zh-CN" sz="1000" b="1" kern="0" dirty="0">
                <a:latin typeface="微软雅黑"/>
                <a:ea typeface="微软雅黑"/>
              </a:rPr>
              <a:t>Mobile Device App</a:t>
            </a:r>
          </a:p>
        </p:txBody>
      </p:sp>
      <p:sp>
        <p:nvSpPr>
          <p:cNvPr id="82" name="矩形: 圓角 19">
            <a:extLst>
              <a:ext uri="{FF2B5EF4-FFF2-40B4-BE49-F238E27FC236}">
                <a16:creationId xmlns:a16="http://schemas.microsoft.com/office/drawing/2014/main" id="{C27884B3-0689-58B9-EFCA-89B70067E2B4}"/>
              </a:ext>
            </a:extLst>
          </p:cNvPr>
          <p:cNvSpPr/>
          <p:nvPr/>
        </p:nvSpPr>
        <p:spPr>
          <a:xfrm>
            <a:off x="5581306" y="867005"/>
            <a:ext cx="1549882" cy="214577"/>
          </a:xfrm>
          <a:prstGeom prst="roundRect">
            <a:avLst>
              <a:gd name="adj" fmla="val 6934"/>
            </a:avLst>
          </a:prstGeom>
          <a:solidFill>
            <a:schemeClr val="bg1"/>
          </a:solidFill>
          <a:ln w="12700" cap="flat" cmpd="sng" algn="ctr">
            <a:solidFill>
              <a:schemeClr val="tx1"/>
            </a:solidFill>
            <a:prstDash val="solid"/>
            <a:miter lim="800000"/>
          </a:ln>
          <a:effectLst/>
        </p:spPr>
        <p:txBody>
          <a:bodyPr lIns="48000" rIns="48000" rtlCol="0" anchor="ctr" anchorCtr="0"/>
          <a:lstStyle/>
          <a:p>
            <a:pPr algn="ctr" defTabSz="914377">
              <a:defRPr/>
            </a:pPr>
            <a:r>
              <a:rPr lang="en-US" altLang="zh-CN" sz="1000" b="1" kern="0" dirty="0">
                <a:latin typeface="微软雅黑"/>
                <a:ea typeface="微软雅黑"/>
              </a:rPr>
              <a:t>Web App</a:t>
            </a:r>
          </a:p>
        </p:txBody>
      </p:sp>
      <p:sp>
        <p:nvSpPr>
          <p:cNvPr id="83" name="矩形: 圓角 19">
            <a:extLst>
              <a:ext uri="{FF2B5EF4-FFF2-40B4-BE49-F238E27FC236}">
                <a16:creationId xmlns:a16="http://schemas.microsoft.com/office/drawing/2014/main" id="{22AC31BE-22F6-FD37-F52D-C43EAB65C707}"/>
              </a:ext>
            </a:extLst>
          </p:cNvPr>
          <p:cNvSpPr/>
          <p:nvPr/>
        </p:nvSpPr>
        <p:spPr>
          <a:xfrm>
            <a:off x="7258050" y="864287"/>
            <a:ext cx="1549882" cy="214577"/>
          </a:xfrm>
          <a:prstGeom prst="roundRect">
            <a:avLst>
              <a:gd name="adj" fmla="val 6934"/>
            </a:avLst>
          </a:prstGeom>
          <a:solidFill>
            <a:schemeClr val="bg1"/>
          </a:solidFill>
          <a:ln w="12700" cap="flat" cmpd="sng" algn="ctr">
            <a:solidFill>
              <a:schemeClr val="tx1"/>
            </a:solidFill>
            <a:prstDash val="solid"/>
            <a:miter lim="800000"/>
          </a:ln>
          <a:effectLst/>
        </p:spPr>
        <p:txBody>
          <a:bodyPr lIns="48000" rIns="48000" rtlCol="0" anchor="ctr" anchorCtr="0"/>
          <a:lstStyle/>
          <a:p>
            <a:pPr algn="ctr" defTabSz="914377">
              <a:defRPr/>
            </a:pPr>
            <a:r>
              <a:rPr lang="en-US" altLang="zh-CN" sz="1000" b="1" kern="0" dirty="0">
                <a:latin typeface="微软雅黑"/>
                <a:ea typeface="微软雅黑"/>
              </a:rPr>
              <a:t>Desktop App (VDI)</a:t>
            </a:r>
          </a:p>
        </p:txBody>
      </p:sp>
      <p:sp>
        <p:nvSpPr>
          <p:cNvPr id="84" name="矩形 83">
            <a:extLst>
              <a:ext uri="{FF2B5EF4-FFF2-40B4-BE49-F238E27FC236}">
                <a16:creationId xmlns:a16="http://schemas.microsoft.com/office/drawing/2014/main" id="{B546EA2F-0D80-2FB6-29E9-D176AE1BB94A}"/>
              </a:ext>
            </a:extLst>
          </p:cNvPr>
          <p:cNvSpPr/>
          <p:nvPr/>
        </p:nvSpPr>
        <p:spPr>
          <a:xfrm>
            <a:off x="245483" y="2549764"/>
            <a:ext cx="573696" cy="2703036"/>
          </a:xfrm>
          <a:prstGeom prst="rect">
            <a:avLst/>
          </a:prstGeom>
          <a:solidFill>
            <a:srgbClr val="0087DC"/>
          </a:solidFill>
          <a:ln w="12700" cap="flat" cmpd="sng" algn="ctr">
            <a:solidFill>
              <a:sysClr val="window" lastClr="FFFFFF">
                <a:lumMod val="65000"/>
              </a:sysClr>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prstClr val="white"/>
                </a:solidFill>
                <a:effectLst/>
                <a:uLnTx/>
                <a:uFillTx/>
                <a:latin typeface="Arial"/>
                <a:ea typeface="微軟正黑體"/>
                <a:cs typeface="+mn-cs"/>
              </a:rPr>
              <a:t>中台</a:t>
            </a:r>
          </a:p>
        </p:txBody>
      </p:sp>
      <p:sp>
        <p:nvSpPr>
          <p:cNvPr id="85" name="矩形 84">
            <a:extLst>
              <a:ext uri="{FF2B5EF4-FFF2-40B4-BE49-F238E27FC236}">
                <a16:creationId xmlns:a16="http://schemas.microsoft.com/office/drawing/2014/main" id="{9434A015-4ACB-FCEE-78E3-A80E6A2F7ACF}"/>
              </a:ext>
            </a:extLst>
          </p:cNvPr>
          <p:cNvSpPr/>
          <p:nvPr/>
        </p:nvSpPr>
        <p:spPr>
          <a:xfrm>
            <a:off x="245483" y="728235"/>
            <a:ext cx="573696" cy="1595623"/>
          </a:xfrm>
          <a:prstGeom prst="rect">
            <a:avLst/>
          </a:prstGeom>
          <a:solidFill>
            <a:srgbClr val="0087DC"/>
          </a:solidFill>
          <a:ln w="12700" cap="flat" cmpd="sng" algn="ctr">
            <a:solidFill>
              <a:sysClr val="window" lastClr="FFFFFF">
                <a:lumMod val="65000"/>
              </a:sysClr>
            </a:solidFill>
            <a:prstDash val="solid"/>
            <a:miter lim="800000"/>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prstClr val="white"/>
                </a:solidFill>
                <a:effectLst/>
                <a:uLnTx/>
                <a:uFillTx/>
                <a:latin typeface="Arial"/>
                <a:ea typeface="微軟正黑體"/>
                <a:cs typeface="+mn-cs"/>
              </a:rPr>
              <a:t>應用端</a:t>
            </a:r>
          </a:p>
        </p:txBody>
      </p:sp>
      <p:cxnSp>
        <p:nvCxnSpPr>
          <p:cNvPr id="86" name="直線接點 85">
            <a:extLst>
              <a:ext uri="{FF2B5EF4-FFF2-40B4-BE49-F238E27FC236}">
                <a16:creationId xmlns:a16="http://schemas.microsoft.com/office/drawing/2014/main" id="{36D10BCF-0268-D03A-FB7A-C9614AA41D9E}"/>
              </a:ext>
            </a:extLst>
          </p:cNvPr>
          <p:cNvCxnSpPr>
            <a:cxnSpLocks/>
          </p:cNvCxnSpPr>
          <p:nvPr/>
        </p:nvCxnSpPr>
        <p:spPr>
          <a:xfrm>
            <a:off x="1082842" y="1236144"/>
            <a:ext cx="8209782"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8" name="直線接點 87">
            <a:extLst>
              <a:ext uri="{FF2B5EF4-FFF2-40B4-BE49-F238E27FC236}">
                <a16:creationId xmlns:a16="http://schemas.microsoft.com/office/drawing/2014/main" id="{77633336-E545-135F-5AE3-48C71D9978C0}"/>
              </a:ext>
            </a:extLst>
          </p:cNvPr>
          <p:cNvCxnSpPr>
            <a:cxnSpLocks/>
          </p:cNvCxnSpPr>
          <p:nvPr/>
        </p:nvCxnSpPr>
        <p:spPr>
          <a:xfrm>
            <a:off x="1094874" y="2290358"/>
            <a:ext cx="819775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0745341A-37A1-B57A-27A3-7D35F97E443A}"/>
              </a:ext>
            </a:extLst>
          </p:cNvPr>
          <p:cNvCxnSpPr>
            <a:cxnSpLocks/>
          </p:cNvCxnSpPr>
          <p:nvPr/>
        </p:nvCxnSpPr>
        <p:spPr>
          <a:xfrm flipV="1">
            <a:off x="6952945" y="4298741"/>
            <a:ext cx="0" cy="1529794"/>
          </a:xfrm>
          <a:prstGeom prst="straightConnector1">
            <a:avLst/>
          </a:prstGeom>
          <a:ln w="53975">
            <a:solidFill>
              <a:srgbClr val="0087DC"/>
            </a:solidFill>
            <a:headEnd w="sm" len="sm"/>
            <a:tailEnd type="triangle" w="med" len="med"/>
          </a:ln>
        </p:spPr>
        <p:style>
          <a:lnRef idx="1">
            <a:schemeClr val="accent1"/>
          </a:lnRef>
          <a:fillRef idx="0">
            <a:schemeClr val="accent1"/>
          </a:fillRef>
          <a:effectRef idx="0">
            <a:schemeClr val="accent1"/>
          </a:effectRef>
          <a:fontRef idx="minor">
            <a:schemeClr val="tx1"/>
          </a:fontRef>
        </p:style>
      </p:cxnSp>
      <p:pic>
        <p:nvPicPr>
          <p:cNvPr id="41" name="圖片 40">
            <a:extLst>
              <a:ext uri="{FF2B5EF4-FFF2-40B4-BE49-F238E27FC236}">
                <a16:creationId xmlns:a16="http://schemas.microsoft.com/office/drawing/2014/main" id="{4F737536-29DD-85C0-EA05-86ABC7B7E124}"/>
              </a:ext>
            </a:extLst>
          </p:cNvPr>
          <p:cNvPicPr>
            <a:picLocks noChangeAspect="1"/>
          </p:cNvPicPr>
          <p:nvPr/>
        </p:nvPicPr>
        <p:blipFill>
          <a:blip r:embed="rId7"/>
          <a:stretch>
            <a:fillRect/>
          </a:stretch>
        </p:blipFill>
        <p:spPr>
          <a:xfrm>
            <a:off x="7967926" y="3245124"/>
            <a:ext cx="4097400" cy="1053617"/>
          </a:xfrm>
          <a:prstGeom prst="rect">
            <a:avLst/>
          </a:prstGeom>
        </p:spPr>
      </p:pic>
      <p:sp>
        <p:nvSpPr>
          <p:cNvPr id="42" name="文字方塊 41">
            <a:extLst>
              <a:ext uri="{FF2B5EF4-FFF2-40B4-BE49-F238E27FC236}">
                <a16:creationId xmlns:a16="http://schemas.microsoft.com/office/drawing/2014/main" id="{8B843235-B84B-11B6-1225-F367793EA032}"/>
              </a:ext>
            </a:extLst>
          </p:cNvPr>
          <p:cNvSpPr txBox="1"/>
          <p:nvPr/>
        </p:nvSpPr>
        <p:spPr>
          <a:xfrm>
            <a:off x="8861505" y="2539670"/>
            <a:ext cx="2924095" cy="523220"/>
          </a:xfrm>
          <a:prstGeom prst="rect">
            <a:avLst/>
          </a:prstGeom>
          <a:noFill/>
        </p:spPr>
        <p:txBody>
          <a:bodyPr wrap="square" rtlCol="0">
            <a:spAutoFit/>
          </a:bodyPr>
          <a:lstStyle/>
          <a:p>
            <a:r>
              <a:rPr lang="zh-TW" altLang="en-US" sz="1400" dirty="0"/>
              <a:t>數據中台功能模組彙整製造域數據並匯集數據提供給 </a:t>
            </a:r>
            <a:r>
              <a:rPr lang="en-US" altLang="zh-TW" sz="1400" dirty="0"/>
              <a:t>BI</a:t>
            </a:r>
            <a:r>
              <a:rPr lang="zh-TW" altLang="en-US" sz="1400"/>
              <a:t>工具分析</a:t>
            </a:r>
            <a:endParaRPr lang="en-US" altLang="zh-TW" sz="1400" dirty="0"/>
          </a:p>
        </p:txBody>
      </p:sp>
    </p:spTree>
    <p:extLst>
      <p:ext uri="{BB962C8B-B14F-4D97-AF65-F5344CB8AC3E}">
        <p14:creationId xmlns:p14="http://schemas.microsoft.com/office/powerpoint/2010/main" val="423503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DC9C87-CCF9-6190-C3C2-0CB6F19896A0}"/>
              </a:ext>
            </a:extLst>
          </p:cNvPr>
          <p:cNvSpPr>
            <a:spLocks noGrp="1"/>
          </p:cNvSpPr>
          <p:nvPr>
            <p:ph type="title"/>
          </p:nvPr>
        </p:nvSpPr>
        <p:spPr/>
        <p:txBody>
          <a:bodyPr/>
          <a:lstStyle/>
          <a:p>
            <a:pPr algn="ctr"/>
            <a:r>
              <a:rPr lang="zh-TW" altLang="en-US" dirty="0"/>
              <a:t>專案背景 </a:t>
            </a:r>
            <a:r>
              <a:rPr lang="en-US" altLang="zh-TW" dirty="0"/>
              <a:t>- </a:t>
            </a:r>
            <a:r>
              <a:rPr lang="zh-TW" altLang="en-US" dirty="0"/>
              <a:t>數據中台建製各階段說明</a:t>
            </a:r>
          </a:p>
        </p:txBody>
      </p:sp>
      <p:cxnSp>
        <p:nvCxnSpPr>
          <p:cNvPr id="111" name="直線接點 110">
            <a:extLst>
              <a:ext uri="{FF2B5EF4-FFF2-40B4-BE49-F238E27FC236}">
                <a16:creationId xmlns:a16="http://schemas.microsoft.com/office/drawing/2014/main" id="{C739CE87-BBA7-A579-D40E-EC3BE3E57BD9}"/>
              </a:ext>
            </a:extLst>
          </p:cNvPr>
          <p:cNvCxnSpPr>
            <a:cxnSpLocks/>
          </p:cNvCxnSpPr>
          <p:nvPr/>
        </p:nvCxnSpPr>
        <p:spPr>
          <a:xfrm>
            <a:off x="899160" y="1766603"/>
            <a:ext cx="1023450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3" name="群組 112">
            <a:extLst>
              <a:ext uri="{FF2B5EF4-FFF2-40B4-BE49-F238E27FC236}">
                <a16:creationId xmlns:a16="http://schemas.microsoft.com/office/drawing/2014/main" id="{43252185-12BD-2862-B339-D3EF3FCCB560}"/>
              </a:ext>
            </a:extLst>
          </p:cNvPr>
          <p:cNvGrpSpPr/>
          <p:nvPr/>
        </p:nvGrpSpPr>
        <p:grpSpPr>
          <a:xfrm>
            <a:off x="10846495" y="1502389"/>
            <a:ext cx="460686" cy="461922"/>
            <a:chOff x="3557699" y="437632"/>
            <a:chExt cx="1827434" cy="1832338"/>
          </a:xfrm>
        </p:grpSpPr>
        <p:sp>
          <p:nvSpPr>
            <p:cNvPr id="114" name="橢圓 113">
              <a:extLst>
                <a:ext uri="{FF2B5EF4-FFF2-40B4-BE49-F238E27FC236}">
                  <a16:creationId xmlns:a16="http://schemas.microsoft.com/office/drawing/2014/main" id="{A1E70F3F-0096-2019-5356-440B5DAF0BFF}"/>
                </a:ext>
              </a:extLst>
            </p:cNvPr>
            <p:cNvSpPr/>
            <p:nvPr/>
          </p:nvSpPr>
          <p:spPr>
            <a:xfrm>
              <a:off x="3557699" y="713125"/>
              <a:ext cx="1556845" cy="155684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5" name="圖片 114">
              <a:extLst>
                <a:ext uri="{FF2B5EF4-FFF2-40B4-BE49-F238E27FC236}">
                  <a16:creationId xmlns:a16="http://schemas.microsoft.com/office/drawing/2014/main" id="{07FB639C-B13A-5A27-1CC5-18F5709733B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563795" y="437632"/>
              <a:ext cx="1821338" cy="1821338"/>
            </a:xfrm>
            <a:prstGeom prst="rect">
              <a:avLst/>
            </a:prstGeom>
          </p:spPr>
        </p:pic>
      </p:grpSp>
      <p:grpSp>
        <p:nvGrpSpPr>
          <p:cNvPr id="116" name="群組 115">
            <a:extLst>
              <a:ext uri="{FF2B5EF4-FFF2-40B4-BE49-F238E27FC236}">
                <a16:creationId xmlns:a16="http://schemas.microsoft.com/office/drawing/2014/main" id="{B309755D-3AF4-FB5C-0AB5-8FBB34FDE16D}"/>
              </a:ext>
            </a:extLst>
          </p:cNvPr>
          <p:cNvGrpSpPr/>
          <p:nvPr/>
        </p:nvGrpSpPr>
        <p:grpSpPr>
          <a:xfrm>
            <a:off x="4084615" y="1493108"/>
            <a:ext cx="460686" cy="461922"/>
            <a:chOff x="3557699" y="437632"/>
            <a:chExt cx="1827434" cy="1832338"/>
          </a:xfrm>
        </p:grpSpPr>
        <p:sp>
          <p:nvSpPr>
            <p:cNvPr id="117" name="橢圓 116">
              <a:extLst>
                <a:ext uri="{FF2B5EF4-FFF2-40B4-BE49-F238E27FC236}">
                  <a16:creationId xmlns:a16="http://schemas.microsoft.com/office/drawing/2014/main" id="{CFDFF37C-87CC-D061-973C-183FA3160F74}"/>
                </a:ext>
              </a:extLst>
            </p:cNvPr>
            <p:cNvSpPr/>
            <p:nvPr/>
          </p:nvSpPr>
          <p:spPr>
            <a:xfrm>
              <a:off x="3557699" y="713125"/>
              <a:ext cx="1556845" cy="155684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8" name="圖片 117">
              <a:extLst>
                <a:ext uri="{FF2B5EF4-FFF2-40B4-BE49-F238E27FC236}">
                  <a16:creationId xmlns:a16="http://schemas.microsoft.com/office/drawing/2014/main" id="{A35117D1-141F-99B7-33BB-A3E72B6AA03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563795" y="437632"/>
              <a:ext cx="1821338" cy="1821338"/>
            </a:xfrm>
            <a:prstGeom prst="rect">
              <a:avLst/>
            </a:prstGeom>
          </p:spPr>
        </p:pic>
      </p:grpSp>
      <p:sp>
        <p:nvSpPr>
          <p:cNvPr id="119" name="文字方塊 118">
            <a:extLst>
              <a:ext uri="{FF2B5EF4-FFF2-40B4-BE49-F238E27FC236}">
                <a16:creationId xmlns:a16="http://schemas.microsoft.com/office/drawing/2014/main" id="{A11FA3BB-3463-0DA3-66FE-4197D88DED80}"/>
              </a:ext>
            </a:extLst>
          </p:cNvPr>
          <p:cNvSpPr txBox="1"/>
          <p:nvPr/>
        </p:nvSpPr>
        <p:spPr>
          <a:xfrm>
            <a:off x="10317702" y="994678"/>
            <a:ext cx="1353256" cy="400110"/>
          </a:xfrm>
          <a:prstGeom prst="rect">
            <a:avLst/>
          </a:prstGeom>
          <a:noFill/>
        </p:spPr>
        <p:txBody>
          <a:bodyPr wrap="none" rtlCol="0">
            <a:spAutoFit/>
          </a:bodyPr>
          <a:lstStyle/>
          <a:p>
            <a:r>
              <a:rPr lang="en-US" altLang="zh-TW" sz="2000" dirty="0"/>
              <a:t>Dec. 2025</a:t>
            </a:r>
            <a:endParaRPr lang="zh-TW" altLang="en-US" sz="2000" dirty="0"/>
          </a:p>
        </p:txBody>
      </p:sp>
      <p:sp>
        <p:nvSpPr>
          <p:cNvPr id="120" name="文字方塊 119">
            <a:extLst>
              <a:ext uri="{FF2B5EF4-FFF2-40B4-BE49-F238E27FC236}">
                <a16:creationId xmlns:a16="http://schemas.microsoft.com/office/drawing/2014/main" id="{450FF251-B4E4-F79C-9136-18B0830C2344}"/>
              </a:ext>
            </a:extLst>
          </p:cNvPr>
          <p:cNvSpPr txBox="1"/>
          <p:nvPr/>
        </p:nvSpPr>
        <p:spPr>
          <a:xfrm>
            <a:off x="3639098" y="1016288"/>
            <a:ext cx="1353256" cy="400110"/>
          </a:xfrm>
          <a:prstGeom prst="rect">
            <a:avLst/>
          </a:prstGeom>
          <a:noFill/>
        </p:spPr>
        <p:txBody>
          <a:bodyPr wrap="none" rtlCol="0">
            <a:spAutoFit/>
          </a:bodyPr>
          <a:lstStyle/>
          <a:p>
            <a:r>
              <a:rPr lang="en-US" altLang="zh-TW" sz="2000" dirty="0"/>
              <a:t>Dec. 2024</a:t>
            </a:r>
            <a:endParaRPr lang="zh-TW" altLang="en-US" sz="2000" dirty="0"/>
          </a:p>
        </p:txBody>
      </p:sp>
      <p:grpSp>
        <p:nvGrpSpPr>
          <p:cNvPr id="121" name="群組 120">
            <a:extLst>
              <a:ext uri="{FF2B5EF4-FFF2-40B4-BE49-F238E27FC236}">
                <a16:creationId xmlns:a16="http://schemas.microsoft.com/office/drawing/2014/main" id="{5B80C359-6425-D56C-CF05-3798C3E1E2E5}"/>
              </a:ext>
            </a:extLst>
          </p:cNvPr>
          <p:cNvGrpSpPr/>
          <p:nvPr/>
        </p:nvGrpSpPr>
        <p:grpSpPr>
          <a:xfrm>
            <a:off x="722690" y="1505925"/>
            <a:ext cx="460686" cy="461922"/>
            <a:chOff x="3557699" y="437632"/>
            <a:chExt cx="1827434" cy="1832338"/>
          </a:xfrm>
        </p:grpSpPr>
        <p:sp>
          <p:nvSpPr>
            <p:cNvPr id="122" name="橢圓 121">
              <a:extLst>
                <a:ext uri="{FF2B5EF4-FFF2-40B4-BE49-F238E27FC236}">
                  <a16:creationId xmlns:a16="http://schemas.microsoft.com/office/drawing/2014/main" id="{5C323B93-8BE4-980A-5765-E58DBD1891C1}"/>
                </a:ext>
              </a:extLst>
            </p:cNvPr>
            <p:cNvSpPr/>
            <p:nvPr/>
          </p:nvSpPr>
          <p:spPr>
            <a:xfrm>
              <a:off x="3557699" y="713125"/>
              <a:ext cx="1556845" cy="155684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3" name="圖片 122">
              <a:extLst>
                <a:ext uri="{FF2B5EF4-FFF2-40B4-BE49-F238E27FC236}">
                  <a16:creationId xmlns:a16="http://schemas.microsoft.com/office/drawing/2014/main" id="{63913BB5-EE80-860F-2894-E52E1BCE74B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563795" y="437632"/>
              <a:ext cx="1821338" cy="1821338"/>
            </a:xfrm>
            <a:prstGeom prst="rect">
              <a:avLst/>
            </a:prstGeom>
          </p:spPr>
        </p:pic>
      </p:grpSp>
      <p:grpSp>
        <p:nvGrpSpPr>
          <p:cNvPr id="125" name="群組 124">
            <a:extLst>
              <a:ext uri="{FF2B5EF4-FFF2-40B4-BE49-F238E27FC236}">
                <a16:creationId xmlns:a16="http://schemas.microsoft.com/office/drawing/2014/main" id="{5A1390EA-A4ED-0006-980B-5DC491DD5582}"/>
              </a:ext>
            </a:extLst>
          </p:cNvPr>
          <p:cNvGrpSpPr/>
          <p:nvPr/>
        </p:nvGrpSpPr>
        <p:grpSpPr>
          <a:xfrm>
            <a:off x="7663792" y="1424206"/>
            <a:ext cx="460686" cy="461922"/>
            <a:chOff x="3557699" y="437632"/>
            <a:chExt cx="1827434" cy="1832338"/>
          </a:xfrm>
        </p:grpSpPr>
        <p:sp>
          <p:nvSpPr>
            <p:cNvPr id="126" name="橢圓 125">
              <a:extLst>
                <a:ext uri="{FF2B5EF4-FFF2-40B4-BE49-F238E27FC236}">
                  <a16:creationId xmlns:a16="http://schemas.microsoft.com/office/drawing/2014/main" id="{79789CCA-8D04-1C71-029A-47C4AF1228A4}"/>
                </a:ext>
              </a:extLst>
            </p:cNvPr>
            <p:cNvSpPr/>
            <p:nvPr/>
          </p:nvSpPr>
          <p:spPr>
            <a:xfrm>
              <a:off x="3557699" y="713125"/>
              <a:ext cx="1556845" cy="155684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7" name="圖片 126">
              <a:extLst>
                <a:ext uri="{FF2B5EF4-FFF2-40B4-BE49-F238E27FC236}">
                  <a16:creationId xmlns:a16="http://schemas.microsoft.com/office/drawing/2014/main" id="{8341615F-FE2B-D27F-3F3E-7C02F8781F0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563795" y="437632"/>
              <a:ext cx="1821338" cy="1821338"/>
            </a:xfrm>
            <a:prstGeom prst="rect">
              <a:avLst/>
            </a:prstGeom>
          </p:spPr>
        </p:pic>
      </p:grpSp>
      <p:sp>
        <p:nvSpPr>
          <p:cNvPr id="128" name="文字方塊 127">
            <a:extLst>
              <a:ext uri="{FF2B5EF4-FFF2-40B4-BE49-F238E27FC236}">
                <a16:creationId xmlns:a16="http://schemas.microsoft.com/office/drawing/2014/main" id="{C2375DEE-9832-42C9-79DB-362080BDEA70}"/>
              </a:ext>
            </a:extLst>
          </p:cNvPr>
          <p:cNvSpPr txBox="1"/>
          <p:nvPr/>
        </p:nvSpPr>
        <p:spPr>
          <a:xfrm>
            <a:off x="1183376" y="2151177"/>
            <a:ext cx="2031325" cy="369332"/>
          </a:xfrm>
          <a:prstGeom prst="rect">
            <a:avLst/>
          </a:prstGeom>
          <a:noFill/>
        </p:spPr>
        <p:txBody>
          <a:bodyPr wrap="none" rtlCol="0">
            <a:spAutoFit/>
          </a:bodyPr>
          <a:lstStyle/>
          <a:p>
            <a:r>
              <a:rPr lang="zh-TW" altLang="en-US" b="1" dirty="0"/>
              <a:t>數據中台架構設計</a:t>
            </a:r>
          </a:p>
        </p:txBody>
      </p:sp>
      <p:sp>
        <p:nvSpPr>
          <p:cNvPr id="129" name="文字方塊 128">
            <a:extLst>
              <a:ext uri="{FF2B5EF4-FFF2-40B4-BE49-F238E27FC236}">
                <a16:creationId xmlns:a16="http://schemas.microsoft.com/office/drawing/2014/main" id="{450D7AD6-CF5E-6279-9149-BD37542436D8}"/>
              </a:ext>
            </a:extLst>
          </p:cNvPr>
          <p:cNvSpPr txBox="1"/>
          <p:nvPr/>
        </p:nvSpPr>
        <p:spPr>
          <a:xfrm>
            <a:off x="1183376" y="2607001"/>
            <a:ext cx="1800493" cy="369332"/>
          </a:xfrm>
          <a:prstGeom prst="rect">
            <a:avLst/>
          </a:prstGeom>
          <a:noFill/>
        </p:spPr>
        <p:txBody>
          <a:bodyPr wrap="none" rtlCol="0">
            <a:spAutoFit/>
          </a:bodyPr>
          <a:lstStyle/>
          <a:p>
            <a:r>
              <a:rPr lang="zh-TW" altLang="en-US" b="1" dirty="0"/>
              <a:t>各模組工具選型</a:t>
            </a:r>
          </a:p>
        </p:txBody>
      </p:sp>
      <p:sp>
        <p:nvSpPr>
          <p:cNvPr id="130" name="文字方塊 129">
            <a:extLst>
              <a:ext uri="{FF2B5EF4-FFF2-40B4-BE49-F238E27FC236}">
                <a16:creationId xmlns:a16="http://schemas.microsoft.com/office/drawing/2014/main" id="{0B35B403-C087-6335-1CD9-D2EF967CA5FF}"/>
              </a:ext>
            </a:extLst>
          </p:cNvPr>
          <p:cNvSpPr txBox="1"/>
          <p:nvPr/>
        </p:nvSpPr>
        <p:spPr>
          <a:xfrm>
            <a:off x="1183376" y="3062825"/>
            <a:ext cx="2031325" cy="369332"/>
          </a:xfrm>
          <a:prstGeom prst="rect">
            <a:avLst/>
          </a:prstGeom>
          <a:noFill/>
        </p:spPr>
        <p:txBody>
          <a:bodyPr wrap="none" rtlCol="0">
            <a:spAutoFit/>
          </a:bodyPr>
          <a:lstStyle/>
          <a:p>
            <a:r>
              <a:rPr lang="zh-TW" altLang="en-US" b="1" dirty="0"/>
              <a:t>串接製造域數據源</a:t>
            </a:r>
          </a:p>
        </p:txBody>
      </p:sp>
      <p:pic>
        <p:nvPicPr>
          <p:cNvPr id="131" name="圖片 130">
            <a:extLst>
              <a:ext uri="{FF2B5EF4-FFF2-40B4-BE49-F238E27FC236}">
                <a16:creationId xmlns:a16="http://schemas.microsoft.com/office/drawing/2014/main" id="{3C9852F3-3902-125F-3569-23A70837B59A}"/>
              </a:ext>
            </a:extLst>
          </p:cNvPr>
          <p:cNvPicPr>
            <a:picLocks noChangeAspect="1"/>
          </p:cNvPicPr>
          <p:nvPr/>
        </p:nvPicPr>
        <p:blipFill>
          <a:blip r:embed="rId4"/>
          <a:stretch>
            <a:fillRect/>
          </a:stretch>
        </p:blipFill>
        <p:spPr>
          <a:xfrm>
            <a:off x="953801" y="4175487"/>
            <a:ext cx="2845882" cy="2082353"/>
          </a:xfrm>
          <a:prstGeom prst="rect">
            <a:avLst/>
          </a:prstGeom>
        </p:spPr>
      </p:pic>
      <p:sp>
        <p:nvSpPr>
          <p:cNvPr id="132" name="文字方塊 131">
            <a:extLst>
              <a:ext uri="{FF2B5EF4-FFF2-40B4-BE49-F238E27FC236}">
                <a16:creationId xmlns:a16="http://schemas.microsoft.com/office/drawing/2014/main" id="{DD9C0BE0-D7D4-3564-8D55-792C860224F3}"/>
              </a:ext>
            </a:extLst>
          </p:cNvPr>
          <p:cNvSpPr txBox="1"/>
          <p:nvPr/>
        </p:nvSpPr>
        <p:spPr>
          <a:xfrm>
            <a:off x="1183376" y="3518649"/>
            <a:ext cx="2492990" cy="369332"/>
          </a:xfrm>
          <a:prstGeom prst="rect">
            <a:avLst/>
          </a:prstGeom>
          <a:noFill/>
        </p:spPr>
        <p:txBody>
          <a:bodyPr wrap="none" rtlCol="0">
            <a:spAutoFit/>
          </a:bodyPr>
          <a:lstStyle/>
          <a:p>
            <a:r>
              <a:rPr lang="en-US" altLang="zh-TW" b="1" dirty="0"/>
              <a:t>POC1</a:t>
            </a:r>
            <a:r>
              <a:rPr lang="zh-TW" altLang="en-US" b="1" dirty="0"/>
              <a:t> 情境可行性評估</a:t>
            </a:r>
          </a:p>
        </p:txBody>
      </p:sp>
      <p:sp>
        <p:nvSpPr>
          <p:cNvPr id="133" name="文字方塊 132">
            <a:extLst>
              <a:ext uri="{FF2B5EF4-FFF2-40B4-BE49-F238E27FC236}">
                <a16:creationId xmlns:a16="http://schemas.microsoft.com/office/drawing/2014/main" id="{70A739A1-7ECD-6D1F-5732-CBE6C7F2387A}"/>
              </a:ext>
            </a:extLst>
          </p:cNvPr>
          <p:cNvSpPr txBox="1"/>
          <p:nvPr/>
        </p:nvSpPr>
        <p:spPr>
          <a:xfrm>
            <a:off x="4766500" y="2164644"/>
            <a:ext cx="2146742" cy="369332"/>
          </a:xfrm>
          <a:prstGeom prst="rect">
            <a:avLst/>
          </a:prstGeom>
          <a:noFill/>
        </p:spPr>
        <p:txBody>
          <a:bodyPr wrap="none" rtlCol="0">
            <a:spAutoFit/>
          </a:bodyPr>
          <a:lstStyle/>
          <a:p>
            <a:r>
              <a:rPr lang="en-US" altLang="zh-TW" b="1" dirty="0"/>
              <a:t>MFG</a:t>
            </a:r>
            <a:r>
              <a:rPr lang="zh-TW" altLang="en-US" b="1" dirty="0"/>
              <a:t> 數據中台建置</a:t>
            </a:r>
          </a:p>
        </p:txBody>
      </p:sp>
      <p:sp>
        <p:nvSpPr>
          <p:cNvPr id="135" name="文字方塊 134">
            <a:extLst>
              <a:ext uri="{FF2B5EF4-FFF2-40B4-BE49-F238E27FC236}">
                <a16:creationId xmlns:a16="http://schemas.microsoft.com/office/drawing/2014/main" id="{98029A01-74E0-0B37-7ADB-4FF5725AB86D}"/>
              </a:ext>
            </a:extLst>
          </p:cNvPr>
          <p:cNvSpPr txBox="1"/>
          <p:nvPr/>
        </p:nvSpPr>
        <p:spPr>
          <a:xfrm>
            <a:off x="4766500" y="3059668"/>
            <a:ext cx="2954655" cy="369332"/>
          </a:xfrm>
          <a:prstGeom prst="rect">
            <a:avLst/>
          </a:prstGeom>
          <a:noFill/>
        </p:spPr>
        <p:txBody>
          <a:bodyPr wrap="none" rtlCol="0">
            <a:spAutoFit/>
          </a:bodyPr>
          <a:lstStyle/>
          <a:p>
            <a:r>
              <a:rPr lang="zh-TW" altLang="en-US" b="1" dirty="0"/>
              <a:t>數據中台次要模組工具選型</a:t>
            </a:r>
          </a:p>
        </p:txBody>
      </p:sp>
      <p:sp>
        <p:nvSpPr>
          <p:cNvPr id="137" name="文字方塊 136">
            <a:extLst>
              <a:ext uri="{FF2B5EF4-FFF2-40B4-BE49-F238E27FC236}">
                <a16:creationId xmlns:a16="http://schemas.microsoft.com/office/drawing/2014/main" id="{C7FBD199-2D8B-FDA1-2BAB-BAFCD17ACECC}"/>
              </a:ext>
            </a:extLst>
          </p:cNvPr>
          <p:cNvSpPr txBox="1"/>
          <p:nvPr/>
        </p:nvSpPr>
        <p:spPr>
          <a:xfrm>
            <a:off x="7152842" y="996164"/>
            <a:ext cx="1309974" cy="400110"/>
          </a:xfrm>
          <a:prstGeom prst="rect">
            <a:avLst/>
          </a:prstGeom>
          <a:noFill/>
        </p:spPr>
        <p:txBody>
          <a:bodyPr wrap="none" rtlCol="0">
            <a:spAutoFit/>
          </a:bodyPr>
          <a:lstStyle/>
          <a:p>
            <a:r>
              <a:rPr lang="en-US" altLang="zh-TW" sz="2000" dirty="0"/>
              <a:t>Jun. 2025</a:t>
            </a:r>
            <a:endParaRPr lang="zh-TW" altLang="en-US" sz="2000" dirty="0"/>
          </a:p>
        </p:txBody>
      </p:sp>
      <p:grpSp>
        <p:nvGrpSpPr>
          <p:cNvPr id="138" name="群組 137">
            <a:extLst>
              <a:ext uri="{FF2B5EF4-FFF2-40B4-BE49-F238E27FC236}">
                <a16:creationId xmlns:a16="http://schemas.microsoft.com/office/drawing/2014/main" id="{17B7C0BB-9B95-89C8-295C-24AEA377CDA5}"/>
              </a:ext>
            </a:extLst>
          </p:cNvPr>
          <p:cNvGrpSpPr/>
          <p:nvPr/>
        </p:nvGrpSpPr>
        <p:grpSpPr>
          <a:xfrm>
            <a:off x="4906717" y="4003506"/>
            <a:ext cx="2899522" cy="2350114"/>
            <a:chOff x="6439305" y="649354"/>
            <a:chExt cx="2899522" cy="2350114"/>
          </a:xfrm>
        </p:grpSpPr>
        <p:sp>
          <p:nvSpPr>
            <p:cNvPr id="139" name="立方體 138">
              <a:extLst>
                <a:ext uri="{FF2B5EF4-FFF2-40B4-BE49-F238E27FC236}">
                  <a16:creationId xmlns:a16="http://schemas.microsoft.com/office/drawing/2014/main" id="{256783BB-1486-1149-50A6-14DBD7B53BD7}"/>
                </a:ext>
              </a:extLst>
            </p:cNvPr>
            <p:cNvSpPr/>
            <p:nvPr/>
          </p:nvSpPr>
          <p:spPr>
            <a:xfrm>
              <a:off x="6439305" y="763148"/>
              <a:ext cx="2491550" cy="2138259"/>
            </a:xfrm>
            <a:prstGeom prst="cube">
              <a:avLst>
                <a:gd name="adj" fmla="val 33501"/>
              </a:avLst>
            </a:prstGeom>
            <a:solidFill>
              <a:srgbClr val="FFC000"/>
            </a:solidFill>
            <a:ln w="63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140" name="圖片 139">
              <a:extLst>
                <a:ext uri="{FF2B5EF4-FFF2-40B4-BE49-F238E27FC236}">
                  <a16:creationId xmlns:a16="http://schemas.microsoft.com/office/drawing/2014/main" id="{8DA46634-D333-3659-0501-31EBCC732C7E}"/>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958583" y="1098560"/>
              <a:ext cx="1380244" cy="1543593"/>
            </a:xfrm>
            <a:prstGeom prst="rect">
              <a:avLst/>
            </a:prstGeom>
            <a:scene3d>
              <a:camera prst="isometricRightUp">
                <a:rot lat="2147339" lon="17748490" rev="21369855"/>
              </a:camera>
              <a:lightRig rig="threePt" dir="t"/>
            </a:scene3d>
          </p:spPr>
        </p:pic>
        <p:pic>
          <p:nvPicPr>
            <p:cNvPr id="141" name="圖片 140">
              <a:extLst>
                <a:ext uri="{FF2B5EF4-FFF2-40B4-BE49-F238E27FC236}">
                  <a16:creationId xmlns:a16="http://schemas.microsoft.com/office/drawing/2014/main" id="{5ED7C086-44E3-8EEE-0DFC-7C9C287270FB}"/>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6577534" y="1406254"/>
              <a:ext cx="1567309" cy="1593214"/>
            </a:xfrm>
            <a:prstGeom prst="rect">
              <a:avLst/>
            </a:prstGeom>
          </p:spPr>
        </p:pic>
        <p:sp>
          <p:nvSpPr>
            <p:cNvPr id="142" name="文字方塊 141">
              <a:extLst>
                <a:ext uri="{FF2B5EF4-FFF2-40B4-BE49-F238E27FC236}">
                  <a16:creationId xmlns:a16="http://schemas.microsoft.com/office/drawing/2014/main" id="{654AA5B4-CA97-B6B7-F4D8-84DBCDB6D0E8}"/>
                </a:ext>
              </a:extLst>
            </p:cNvPr>
            <p:cNvSpPr txBox="1"/>
            <p:nvPr/>
          </p:nvSpPr>
          <p:spPr>
            <a:xfrm>
              <a:off x="6439305" y="649354"/>
              <a:ext cx="2339102" cy="954107"/>
            </a:xfrm>
            <a:prstGeom prst="rect">
              <a:avLst/>
            </a:prstGeom>
            <a:noFill/>
          </p:spPr>
          <p:txBody>
            <a:bodyPr wrap="none" rtlCol="0">
              <a:spAutoFit/>
            </a:bodyPr>
            <a:lstStyle/>
            <a:p>
              <a:r>
                <a:rPr lang="en-US" altLang="zh-TW" sz="2800" dirty="0">
                  <a:effectLst>
                    <a:glow rad="127000">
                      <a:schemeClr val="bg1"/>
                    </a:glow>
                  </a:effectLst>
                </a:rPr>
                <a:t>WJ</a:t>
              </a:r>
              <a:r>
                <a:rPr lang="zh-TW" altLang="en-US" sz="2800" dirty="0">
                  <a:effectLst>
                    <a:glow rad="127000">
                      <a:schemeClr val="bg1"/>
                    </a:glow>
                  </a:effectLst>
                </a:rPr>
                <a:t> 數據中台</a:t>
              </a:r>
              <a:endParaRPr lang="en-US" altLang="zh-TW" sz="2800" dirty="0">
                <a:effectLst>
                  <a:glow rad="127000">
                    <a:schemeClr val="bg1"/>
                  </a:glow>
                </a:effectLst>
              </a:endParaRPr>
            </a:p>
            <a:p>
              <a:r>
                <a:rPr lang="zh-TW" altLang="en-US" sz="2800" dirty="0">
                  <a:effectLst>
                    <a:glow rad="127000">
                      <a:schemeClr val="bg1"/>
                    </a:glow>
                  </a:effectLst>
                </a:rPr>
                <a:t>第一階段建置</a:t>
              </a:r>
            </a:p>
          </p:txBody>
        </p:sp>
      </p:grpSp>
      <p:sp>
        <p:nvSpPr>
          <p:cNvPr id="143" name="文字方塊 142">
            <a:extLst>
              <a:ext uri="{FF2B5EF4-FFF2-40B4-BE49-F238E27FC236}">
                <a16:creationId xmlns:a16="http://schemas.microsoft.com/office/drawing/2014/main" id="{9F983B20-D09E-C2E8-554D-64A718A71F58}"/>
              </a:ext>
            </a:extLst>
          </p:cNvPr>
          <p:cNvSpPr txBox="1"/>
          <p:nvPr/>
        </p:nvSpPr>
        <p:spPr>
          <a:xfrm>
            <a:off x="8393901" y="3065266"/>
            <a:ext cx="2133918" cy="369332"/>
          </a:xfrm>
          <a:prstGeom prst="rect">
            <a:avLst/>
          </a:prstGeom>
          <a:noFill/>
        </p:spPr>
        <p:txBody>
          <a:bodyPr wrap="none" rtlCol="0">
            <a:spAutoFit/>
          </a:bodyPr>
          <a:lstStyle/>
          <a:p>
            <a:r>
              <a:rPr lang="en-US" altLang="zh-TW" b="1" dirty="0"/>
              <a:t>Pilot </a:t>
            </a:r>
            <a:r>
              <a:rPr lang="zh-TW" altLang="en-US" b="1" dirty="0"/>
              <a:t>專案支援導入</a:t>
            </a:r>
          </a:p>
        </p:txBody>
      </p:sp>
      <p:sp>
        <p:nvSpPr>
          <p:cNvPr id="144" name="文字方塊 143">
            <a:extLst>
              <a:ext uri="{FF2B5EF4-FFF2-40B4-BE49-F238E27FC236}">
                <a16:creationId xmlns:a16="http://schemas.microsoft.com/office/drawing/2014/main" id="{A508877B-1422-A491-774A-D26CC0519BD0}"/>
              </a:ext>
            </a:extLst>
          </p:cNvPr>
          <p:cNvSpPr txBox="1"/>
          <p:nvPr/>
        </p:nvSpPr>
        <p:spPr>
          <a:xfrm>
            <a:off x="8393901" y="2172415"/>
            <a:ext cx="2492990" cy="369332"/>
          </a:xfrm>
          <a:prstGeom prst="rect">
            <a:avLst/>
          </a:prstGeom>
          <a:noFill/>
        </p:spPr>
        <p:txBody>
          <a:bodyPr wrap="none" rtlCol="0">
            <a:spAutoFit/>
          </a:bodyPr>
          <a:lstStyle/>
          <a:p>
            <a:r>
              <a:rPr lang="en-US" altLang="zh-TW" b="1" dirty="0"/>
              <a:t>POC2 </a:t>
            </a:r>
            <a:r>
              <a:rPr lang="zh-TW" altLang="en-US" b="1" dirty="0"/>
              <a:t>情境可行性評估</a:t>
            </a:r>
          </a:p>
        </p:txBody>
      </p:sp>
      <p:pic>
        <p:nvPicPr>
          <p:cNvPr id="145" name="圖片 144">
            <a:extLst>
              <a:ext uri="{FF2B5EF4-FFF2-40B4-BE49-F238E27FC236}">
                <a16:creationId xmlns:a16="http://schemas.microsoft.com/office/drawing/2014/main" id="{1CF29C85-D21D-FCC8-8624-665F98C8C6CC}"/>
              </a:ext>
            </a:extLst>
          </p:cNvPr>
          <p:cNvPicPr>
            <a:picLocks noChangeAspect="1"/>
          </p:cNvPicPr>
          <p:nvPr/>
        </p:nvPicPr>
        <p:blipFill>
          <a:blip r:embed="rId7"/>
          <a:stretch>
            <a:fillRect/>
          </a:stretch>
        </p:blipFill>
        <p:spPr>
          <a:xfrm>
            <a:off x="8352853" y="4081482"/>
            <a:ext cx="3008058" cy="2138258"/>
          </a:xfrm>
          <a:prstGeom prst="rect">
            <a:avLst/>
          </a:prstGeom>
        </p:spPr>
      </p:pic>
      <p:sp>
        <p:nvSpPr>
          <p:cNvPr id="146" name="文字方塊 145">
            <a:extLst>
              <a:ext uri="{FF2B5EF4-FFF2-40B4-BE49-F238E27FC236}">
                <a16:creationId xmlns:a16="http://schemas.microsoft.com/office/drawing/2014/main" id="{C46363E4-998D-9DEF-1D74-FDBA7AA27290}"/>
              </a:ext>
            </a:extLst>
          </p:cNvPr>
          <p:cNvSpPr txBox="1"/>
          <p:nvPr/>
        </p:nvSpPr>
        <p:spPr>
          <a:xfrm>
            <a:off x="8393901" y="2621129"/>
            <a:ext cx="3070071" cy="369332"/>
          </a:xfrm>
          <a:prstGeom prst="rect">
            <a:avLst/>
          </a:prstGeom>
          <a:noFill/>
        </p:spPr>
        <p:txBody>
          <a:bodyPr wrap="none" rtlCol="0">
            <a:spAutoFit/>
          </a:bodyPr>
          <a:lstStyle/>
          <a:p>
            <a:r>
              <a:rPr lang="en-US" altLang="zh-TW" b="1" dirty="0"/>
              <a:t>MFG</a:t>
            </a:r>
            <a:r>
              <a:rPr lang="zh-TW" altLang="en-US" b="1" dirty="0"/>
              <a:t> 數據中台客製功能開發</a:t>
            </a:r>
          </a:p>
        </p:txBody>
      </p:sp>
      <p:sp>
        <p:nvSpPr>
          <p:cNvPr id="147" name="文字方塊 146">
            <a:extLst>
              <a:ext uri="{FF2B5EF4-FFF2-40B4-BE49-F238E27FC236}">
                <a16:creationId xmlns:a16="http://schemas.microsoft.com/office/drawing/2014/main" id="{52AAC3C3-6D63-6BFF-2012-BA8AAB620555}"/>
              </a:ext>
            </a:extLst>
          </p:cNvPr>
          <p:cNvSpPr txBox="1"/>
          <p:nvPr/>
        </p:nvSpPr>
        <p:spPr>
          <a:xfrm>
            <a:off x="4766500" y="2607001"/>
            <a:ext cx="2608406" cy="369332"/>
          </a:xfrm>
          <a:prstGeom prst="rect">
            <a:avLst/>
          </a:prstGeom>
          <a:noFill/>
        </p:spPr>
        <p:txBody>
          <a:bodyPr wrap="none" rtlCol="0">
            <a:spAutoFit/>
          </a:bodyPr>
          <a:lstStyle/>
          <a:p>
            <a:r>
              <a:rPr lang="en-US" altLang="zh-TW" b="1" dirty="0"/>
              <a:t>MFG</a:t>
            </a:r>
            <a:r>
              <a:rPr lang="zh-TW" altLang="en-US" b="1" dirty="0"/>
              <a:t> 數據中台導入輔導</a:t>
            </a:r>
          </a:p>
        </p:txBody>
      </p:sp>
      <p:sp>
        <p:nvSpPr>
          <p:cNvPr id="148" name="文字方塊 147">
            <a:extLst>
              <a:ext uri="{FF2B5EF4-FFF2-40B4-BE49-F238E27FC236}">
                <a16:creationId xmlns:a16="http://schemas.microsoft.com/office/drawing/2014/main" id="{46DFD557-4257-42B3-3F99-572F032BFF0E}"/>
              </a:ext>
            </a:extLst>
          </p:cNvPr>
          <p:cNvSpPr txBox="1"/>
          <p:nvPr/>
        </p:nvSpPr>
        <p:spPr>
          <a:xfrm>
            <a:off x="8393901" y="3547593"/>
            <a:ext cx="2031325" cy="369332"/>
          </a:xfrm>
          <a:prstGeom prst="rect">
            <a:avLst/>
          </a:prstGeom>
          <a:noFill/>
        </p:spPr>
        <p:txBody>
          <a:bodyPr wrap="none" rtlCol="0">
            <a:spAutoFit/>
          </a:bodyPr>
          <a:lstStyle/>
          <a:p>
            <a:r>
              <a:rPr lang="zh-TW" altLang="en-US" b="1" dirty="0"/>
              <a:t>使用者測試和輔導</a:t>
            </a:r>
          </a:p>
        </p:txBody>
      </p:sp>
      <p:sp>
        <p:nvSpPr>
          <p:cNvPr id="3" name="文字方塊 2">
            <a:extLst>
              <a:ext uri="{FF2B5EF4-FFF2-40B4-BE49-F238E27FC236}">
                <a16:creationId xmlns:a16="http://schemas.microsoft.com/office/drawing/2014/main" id="{6CA28996-24D0-1237-AB4D-8C87FCDFF251}"/>
              </a:ext>
            </a:extLst>
          </p:cNvPr>
          <p:cNvSpPr txBox="1"/>
          <p:nvPr/>
        </p:nvSpPr>
        <p:spPr>
          <a:xfrm>
            <a:off x="4798441" y="3488714"/>
            <a:ext cx="1672253" cy="369332"/>
          </a:xfrm>
          <a:prstGeom prst="rect">
            <a:avLst/>
          </a:prstGeom>
          <a:noFill/>
        </p:spPr>
        <p:txBody>
          <a:bodyPr wrap="none" rtlCol="0">
            <a:spAutoFit/>
          </a:bodyPr>
          <a:lstStyle/>
          <a:p>
            <a:r>
              <a:rPr lang="en-US" altLang="zh-TW" b="1" dirty="0"/>
              <a:t>Pilot </a:t>
            </a:r>
            <a:r>
              <a:rPr lang="zh-TW" altLang="en-US" b="1" dirty="0"/>
              <a:t>專案支援</a:t>
            </a:r>
          </a:p>
        </p:txBody>
      </p:sp>
    </p:spTree>
    <p:extLst>
      <p:ext uri="{BB962C8B-B14F-4D97-AF65-F5344CB8AC3E}">
        <p14:creationId xmlns:p14="http://schemas.microsoft.com/office/powerpoint/2010/main" val="3840597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5B2529C-6751-12FA-4E9C-474464440BAD}"/>
              </a:ext>
            </a:extLst>
          </p:cNvPr>
          <p:cNvSpPr>
            <a:spLocks noGrp="1"/>
          </p:cNvSpPr>
          <p:nvPr>
            <p:ph type="title"/>
          </p:nvPr>
        </p:nvSpPr>
        <p:spPr>
          <a:xfrm>
            <a:off x="406400" y="20304"/>
            <a:ext cx="11379200" cy="679396"/>
          </a:xfrm>
        </p:spPr>
        <p:txBody>
          <a:bodyPr/>
          <a:lstStyle/>
          <a:p>
            <a:pPr algn="ctr"/>
            <a:r>
              <a:rPr lang="zh-TW" altLang="en-US" dirty="0"/>
              <a:t>專案組織</a:t>
            </a:r>
          </a:p>
        </p:txBody>
      </p:sp>
      <p:grpSp>
        <p:nvGrpSpPr>
          <p:cNvPr id="6" name="群組 5">
            <a:extLst>
              <a:ext uri="{FF2B5EF4-FFF2-40B4-BE49-F238E27FC236}">
                <a16:creationId xmlns:a16="http://schemas.microsoft.com/office/drawing/2014/main" id="{10C1E2FA-9E52-C461-3BF1-A2C17FE14ECB}"/>
              </a:ext>
            </a:extLst>
          </p:cNvPr>
          <p:cNvGrpSpPr/>
          <p:nvPr/>
        </p:nvGrpSpPr>
        <p:grpSpPr>
          <a:xfrm>
            <a:off x="1979568" y="4636296"/>
            <a:ext cx="2082829" cy="1522004"/>
            <a:chOff x="3606799" y="1989667"/>
            <a:chExt cx="1490134" cy="1522004"/>
          </a:xfrm>
        </p:grpSpPr>
        <p:sp>
          <p:nvSpPr>
            <p:cNvPr id="7" name="矩形 6">
              <a:extLst>
                <a:ext uri="{FF2B5EF4-FFF2-40B4-BE49-F238E27FC236}">
                  <a16:creationId xmlns:a16="http://schemas.microsoft.com/office/drawing/2014/main" id="{2472FB52-15EB-73FC-D80A-23DA135FB3DC}"/>
                </a:ext>
              </a:extLst>
            </p:cNvPr>
            <p:cNvSpPr/>
            <p:nvPr/>
          </p:nvSpPr>
          <p:spPr>
            <a:xfrm>
              <a:off x="3606800" y="1989667"/>
              <a:ext cx="1490133" cy="3556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600" dirty="0"/>
                <a:t>規劃執行組</a:t>
              </a:r>
            </a:p>
          </p:txBody>
        </p:sp>
        <p:sp>
          <p:nvSpPr>
            <p:cNvPr id="8" name="矩形 7">
              <a:extLst>
                <a:ext uri="{FF2B5EF4-FFF2-40B4-BE49-F238E27FC236}">
                  <a16:creationId xmlns:a16="http://schemas.microsoft.com/office/drawing/2014/main" id="{8A5CCFAF-5B27-E9E0-1F97-8CE265F5FFEE}"/>
                </a:ext>
              </a:extLst>
            </p:cNvPr>
            <p:cNvSpPr/>
            <p:nvPr/>
          </p:nvSpPr>
          <p:spPr>
            <a:xfrm>
              <a:off x="3606799" y="2345267"/>
              <a:ext cx="1490133" cy="11664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CHUCK.SUN </a:t>
              </a:r>
              <a:r>
                <a:rPr lang="zh-TW" altLang="en-US" sz="1000" dirty="0">
                  <a:solidFill>
                    <a:schemeClr val="tx1"/>
                  </a:solidFill>
                </a:rPr>
                <a:t>孫得皓</a:t>
              </a:r>
              <a:br>
                <a:rPr lang="en-US" altLang="zh-TW" sz="1000" dirty="0">
                  <a:solidFill>
                    <a:schemeClr val="tx1"/>
                  </a:solidFill>
                </a:rPr>
              </a:br>
              <a:r>
                <a:rPr lang="en-US" altLang="zh-TW" sz="1000" dirty="0">
                  <a:solidFill>
                    <a:schemeClr val="tx1"/>
                  </a:solidFill>
                </a:rPr>
                <a:t>ALBEE.LAI </a:t>
              </a:r>
              <a:r>
                <a:rPr lang="zh-TW" altLang="en-US" sz="1000" dirty="0">
                  <a:solidFill>
                    <a:schemeClr val="tx1"/>
                  </a:solidFill>
                </a:rPr>
                <a:t>賴詩涵</a:t>
              </a:r>
              <a:endParaRPr lang="en-US" altLang="zh-TW" sz="1000" dirty="0">
                <a:solidFill>
                  <a:schemeClr val="tx1"/>
                </a:solidFill>
              </a:endParaRPr>
            </a:p>
            <a:p>
              <a:pPr algn="ctr"/>
              <a:r>
                <a:rPr lang="en-US" altLang="zh-TW" sz="1000" dirty="0">
                  <a:solidFill>
                    <a:schemeClr val="tx1"/>
                  </a:solidFill>
                </a:rPr>
                <a:t>SHARON.CS.LIN </a:t>
              </a:r>
              <a:r>
                <a:rPr lang="zh-TW" altLang="en-US" sz="1000" dirty="0">
                  <a:solidFill>
                    <a:schemeClr val="tx1"/>
                  </a:solidFill>
                </a:rPr>
                <a:t>林采馨</a:t>
              </a:r>
              <a:endParaRPr lang="en-US" altLang="zh-TW" sz="1000" dirty="0">
                <a:solidFill>
                  <a:schemeClr val="tx1"/>
                </a:solidFill>
              </a:endParaRPr>
            </a:p>
            <a:p>
              <a:pPr algn="ctr"/>
              <a:r>
                <a:rPr lang="en-US" altLang="zh-TW" sz="1000" dirty="0">
                  <a:solidFill>
                    <a:srgbClr val="FF0000"/>
                  </a:solidFill>
                </a:rPr>
                <a:t>TBD</a:t>
              </a:r>
              <a:r>
                <a:rPr lang="zh-TW" altLang="en-US" sz="1000" dirty="0">
                  <a:solidFill>
                    <a:srgbClr val="FF0000"/>
                  </a:solidFill>
                </a:rPr>
                <a:t> * </a:t>
              </a:r>
              <a:r>
                <a:rPr lang="en-US" altLang="zh-TW" sz="1000" dirty="0">
                  <a:solidFill>
                    <a:srgbClr val="FF0000"/>
                  </a:solidFill>
                </a:rPr>
                <a:t>2</a:t>
              </a:r>
              <a:endParaRPr lang="zh-TW" altLang="en-US" sz="1000" dirty="0">
                <a:solidFill>
                  <a:srgbClr val="FF0000"/>
                </a:solidFill>
              </a:endParaRPr>
            </a:p>
          </p:txBody>
        </p:sp>
      </p:grpSp>
      <p:grpSp>
        <p:nvGrpSpPr>
          <p:cNvPr id="9" name="群組 8">
            <a:extLst>
              <a:ext uri="{FF2B5EF4-FFF2-40B4-BE49-F238E27FC236}">
                <a16:creationId xmlns:a16="http://schemas.microsoft.com/office/drawing/2014/main" id="{E919C167-57CD-4F09-3636-B81013CA3210}"/>
              </a:ext>
            </a:extLst>
          </p:cNvPr>
          <p:cNvGrpSpPr/>
          <p:nvPr/>
        </p:nvGrpSpPr>
        <p:grpSpPr>
          <a:xfrm>
            <a:off x="2189134" y="755051"/>
            <a:ext cx="1663699" cy="818628"/>
            <a:chOff x="3606799" y="1989667"/>
            <a:chExt cx="1490134" cy="1130949"/>
          </a:xfrm>
        </p:grpSpPr>
        <p:sp>
          <p:nvSpPr>
            <p:cNvPr id="10" name="矩形 9">
              <a:extLst>
                <a:ext uri="{FF2B5EF4-FFF2-40B4-BE49-F238E27FC236}">
                  <a16:creationId xmlns:a16="http://schemas.microsoft.com/office/drawing/2014/main" id="{5E67B9ED-A575-50D1-17FC-97DCBE5A97B6}"/>
                </a:ext>
              </a:extLst>
            </p:cNvPr>
            <p:cNvSpPr/>
            <p:nvPr/>
          </p:nvSpPr>
          <p:spPr>
            <a:xfrm>
              <a:off x="3606800" y="1989667"/>
              <a:ext cx="1490133" cy="3556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ctr"/>
            <a:lstStyle/>
            <a:p>
              <a:pPr algn="ctr"/>
              <a:r>
                <a:rPr lang="zh-TW" altLang="en-US" sz="1600" dirty="0"/>
                <a:t>指導委員會</a:t>
              </a:r>
            </a:p>
          </p:txBody>
        </p:sp>
        <p:sp>
          <p:nvSpPr>
            <p:cNvPr id="11" name="矩形 10">
              <a:extLst>
                <a:ext uri="{FF2B5EF4-FFF2-40B4-BE49-F238E27FC236}">
                  <a16:creationId xmlns:a16="http://schemas.microsoft.com/office/drawing/2014/main" id="{8D2E87B9-A71C-F34F-775C-20B1283AAF30}"/>
                </a:ext>
              </a:extLst>
            </p:cNvPr>
            <p:cNvSpPr/>
            <p:nvPr/>
          </p:nvSpPr>
          <p:spPr>
            <a:xfrm>
              <a:off x="3606799" y="2345267"/>
              <a:ext cx="1490133" cy="77534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0" bIns="0" rtlCol="0" anchor="ctr"/>
            <a:lstStyle/>
            <a:p>
              <a:pPr algn="ctr"/>
              <a:r>
                <a:rPr lang="en-US" altLang="zh-TW" sz="900" dirty="0">
                  <a:solidFill>
                    <a:schemeClr val="tx1"/>
                  </a:solidFill>
                </a:rPr>
                <a:t>WEASLEY.CC.HUNG </a:t>
              </a:r>
              <a:r>
                <a:rPr lang="zh-TW" altLang="en-US" sz="900" dirty="0">
                  <a:solidFill>
                    <a:schemeClr val="tx1"/>
                  </a:solidFill>
                </a:rPr>
                <a:t>洪智強</a:t>
              </a:r>
              <a:endParaRPr lang="en-US" altLang="zh-TW" sz="900" dirty="0">
                <a:solidFill>
                  <a:schemeClr val="tx1"/>
                </a:solidFill>
              </a:endParaRPr>
            </a:p>
            <a:p>
              <a:pPr algn="ctr"/>
              <a:r>
                <a:rPr lang="en-US" altLang="zh-TW" sz="900" dirty="0">
                  <a:solidFill>
                    <a:schemeClr val="tx1"/>
                  </a:solidFill>
                </a:rPr>
                <a:t>PHILIP.DUAN </a:t>
              </a:r>
              <a:r>
                <a:rPr lang="zh-TW" altLang="en-US" sz="900" dirty="0">
                  <a:solidFill>
                    <a:schemeClr val="tx1"/>
                  </a:solidFill>
                </a:rPr>
                <a:t>段仰聖</a:t>
              </a:r>
            </a:p>
          </p:txBody>
        </p:sp>
      </p:grpSp>
      <p:grpSp>
        <p:nvGrpSpPr>
          <p:cNvPr id="12" name="群組 11">
            <a:extLst>
              <a:ext uri="{FF2B5EF4-FFF2-40B4-BE49-F238E27FC236}">
                <a16:creationId xmlns:a16="http://schemas.microsoft.com/office/drawing/2014/main" id="{EDAEE76A-5248-ED4B-22C8-9154798C88B2}"/>
              </a:ext>
            </a:extLst>
          </p:cNvPr>
          <p:cNvGrpSpPr/>
          <p:nvPr/>
        </p:nvGrpSpPr>
        <p:grpSpPr>
          <a:xfrm>
            <a:off x="2189135" y="2598146"/>
            <a:ext cx="1663699" cy="865219"/>
            <a:chOff x="3606799" y="1989667"/>
            <a:chExt cx="1490134" cy="1134925"/>
          </a:xfrm>
        </p:grpSpPr>
        <p:sp>
          <p:nvSpPr>
            <p:cNvPr id="13" name="矩形 12">
              <a:extLst>
                <a:ext uri="{FF2B5EF4-FFF2-40B4-BE49-F238E27FC236}">
                  <a16:creationId xmlns:a16="http://schemas.microsoft.com/office/drawing/2014/main" id="{7B757755-D7F2-9506-4AFC-D35A25F76D77}"/>
                </a:ext>
              </a:extLst>
            </p:cNvPr>
            <p:cNvSpPr/>
            <p:nvPr/>
          </p:nvSpPr>
          <p:spPr>
            <a:xfrm>
              <a:off x="3606800" y="1989667"/>
              <a:ext cx="1490133" cy="3556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a:t>PM</a:t>
              </a:r>
              <a:endParaRPr lang="zh-TW" altLang="en-US" sz="1600" dirty="0"/>
            </a:p>
          </p:txBody>
        </p:sp>
        <p:sp>
          <p:nvSpPr>
            <p:cNvPr id="14" name="矩形 13">
              <a:extLst>
                <a:ext uri="{FF2B5EF4-FFF2-40B4-BE49-F238E27FC236}">
                  <a16:creationId xmlns:a16="http://schemas.microsoft.com/office/drawing/2014/main" id="{49DB6007-6608-001A-95B6-48DAE81B356B}"/>
                </a:ext>
              </a:extLst>
            </p:cNvPr>
            <p:cNvSpPr/>
            <p:nvPr/>
          </p:nvSpPr>
          <p:spPr>
            <a:xfrm>
              <a:off x="3606799" y="2345267"/>
              <a:ext cx="1490133" cy="7793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CHUCK.SUN </a:t>
              </a:r>
              <a:r>
                <a:rPr lang="zh-TW" altLang="en-US" sz="1050" dirty="0">
                  <a:solidFill>
                    <a:schemeClr val="tx1"/>
                  </a:solidFill>
                </a:rPr>
                <a:t>孫得皓</a:t>
              </a:r>
            </a:p>
          </p:txBody>
        </p:sp>
      </p:grpSp>
      <p:grpSp>
        <p:nvGrpSpPr>
          <p:cNvPr id="15" name="群組 14">
            <a:extLst>
              <a:ext uri="{FF2B5EF4-FFF2-40B4-BE49-F238E27FC236}">
                <a16:creationId xmlns:a16="http://schemas.microsoft.com/office/drawing/2014/main" id="{C82882DD-FE67-1B76-2B33-49F6587C355D}"/>
              </a:ext>
            </a:extLst>
          </p:cNvPr>
          <p:cNvGrpSpPr/>
          <p:nvPr/>
        </p:nvGrpSpPr>
        <p:grpSpPr>
          <a:xfrm>
            <a:off x="4014547" y="2598145"/>
            <a:ext cx="1663699" cy="865219"/>
            <a:chOff x="3606799" y="1989667"/>
            <a:chExt cx="1490134" cy="1134925"/>
          </a:xfrm>
        </p:grpSpPr>
        <p:sp>
          <p:nvSpPr>
            <p:cNvPr id="16" name="矩形 15">
              <a:extLst>
                <a:ext uri="{FF2B5EF4-FFF2-40B4-BE49-F238E27FC236}">
                  <a16:creationId xmlns:a16="http://schemas.microsoft.com/office/drawing/2014/main" id="{0D0718E6-B680-E7D9-2543-66A3C18FD59A}"/>
                </a:ext>
              </a:extLst>
            </p:cNvPr>
            <p:cNvSpPr/>
            <p:nvPr/>
          </p:nvSpPr>
          <p:spPr>
            <a:xfrm>
              <a:off x="3606800" y="1989667"/>
              <a:ext cx="1490133" cy="3556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400" dirty="0"/>
                <a:t>架構指導</a:t>
              </a:r>
            </a:p>
          </p:txBody>
        </p:sp>
        <p:sp>
          <p:nvSpPr>
            <p:cNvPr id="17" name="矩形 16">
              <a:extLst>
                <a:ext uri="{FF2B5EF4-FFF2-40B4-BE49-F238E27FC236}">
                  <a16:creationId xmlns:a16="http://schemas.microsoft.com/office/drawing/2014/main" id="{C743FBCB-A08D-74DA-68CD-D4962403BF61}"/>
                </a:ext>
              </a:extLst>
            </p:cNvPr>
            <p:cNvSpPr/>
            <p:nvPr/>
          </p:nvSpPr>
          <p:spPr>
            <a:xfrm>
              <a:off x="3606799" y="2345267"/>
              <a:ext cx="1490133" cy="7793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NORMAN.GONG </a:t>
              </a:r>
              <a:r>
                <a:rPr lang="zh-TW" altLang="en-US" sz="1000" dirty="0">
                  <a:solidFill>
                    <a:schemeClr val="tx1"/>
                  </a:solidFill>
                </a:rPr>
                <a:t>龔彥丞</a:t>
              </a:r>
              <a:endParaRPr lang="en-US" altLang="zh-TW" sz="1000" dirty="0">
                <a:solidFill>
                  <a:schemeClr val="tx1"/>
                </a:solidFill>
              </a:endParaRPr>
            </a:p>
            <a:p>
              <a:pPr algn="ctr"/>
              <a:r>
                <a:rPr lang="en-US" altLang="zh-TW" sz="1000" dirty="0">
                  <a:solidFill>
                    <a:schemeClr val="tx1"/>
                  </a:solidFill>
                </a:rPr>
                <a:t>STEVE.JUNG </a:t>
              </a:r>
              <a:r>
                <a:rPr lang="zh-TW" altLang="en-US" sz="1000" dirty="0">
                  <a:solidFill>
                    <a:schemeClr val="tx1"/>
                  </a:solidFill>
                </a:rPr>
                <a:t>榮道弘</a:t>
              </a:r>
            </a:p>
          </p:txBody>
        </p:sp>
      </p:grpSp>
      <p:cxnSp>
        <p:nvCxnSpPr>
          <p:cNvPr id="18" name="直線接點 17">
            <a:extLst>
              <a:ext uri="{FF2B5EF4-FFF2-40B4-BE49-F238E27FC236}">
                <a16:creationId xmlns:a16="http://schemas.microsoft.com/office/drawing/2014/main" id="{F21232CA-66A9-503D-8F6E-4D91A6EDE07E}"/>
              </a:ext>
            </a:extLst>
          </p:cNvPr>
          <p:cNvCxnSpPr>
            <a:cxnSpLocks/>
            <a:stCxn id="11" idx="2"/>
            <a:endCxn id="13" idx="0"/>
          </p:cNvCxnSpPr>
          <p:nvPr/>
        </p:nvCxnSpPr>
        <p:spPr>
          <a:xfrm>
            <a:off x="3020983" y="1573679"/>
            <a:ext cx="2" cy="10244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接點: 肘形 18">
            <a:extLst>
              <a:ext uri="{FF2B5EF4-FFF2-40B4-BE49-F238E27FC236}">
                <a16:creationId xmlns:a16="http://schemas.microsoft.com/office/drawing/2014/main" id="{16924948-615F-1711-9B41-6EFE8C1999B7}"/>
              </a:ext>
            </a:extLst>
          </p:cNvPr>
          <p:cNvCxnSpPr>
            <a:stCxn id="14" idx="2"/>
            <a:endCxn id="7" idx="0"/>
          </p:cNvCxnSpPr>
          <p:nvPr/>
        </p:nvCxnSpPr>
        <p:spPr>
          <a:xfrm rot="5400000">
            <a:off x="2434519" y="4049830"/>
            <a:ext cx="1172931" cy="1"/>
          </a:xfrm>
          <a:prstGeom prst="bentConnector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群組 19">
            <a:extLst>
              <a:ext uri="{FF2B5EF4-FFF2-40B4-BE49-F238E27FC236}">
                <a16:creationId xmlns:a16="http://schemas.microsoft.com/office/drawing/2014/main" id="{9B464241-0C51-1AD3-0209-AF7D01EA350F}"/>
              </a:ext>
            </a:extLst>
          </p:cNvPr>
          <p:cNvGrpSpPr/>
          <p:nvPr/>
        </p:nvGrpSpPr>
        <p:grpSpPr>
          <a:xfrm>
            <a:off x="405682" y="2598145"/>
            <a:ext cx="1631526" cy="859701"/>
            <a:chOff x="3606799" y="1989667"/>
            <a:chExt cx="1490134" cy="1127687"/>
          </a:xfrm>
        </p:grpSpPr>
        <p:sp>
          <p:nvSpPr>
            <p:cNvPr id="21" name="矩形 20">
              <a:extLst>
                <a:ext uri="{FF2B5EF4-FFF2-40B4-BE49-F238E27FC236}">
                  <a16:creationId xmlns:a16="http://schemas.microsoft.com/office/drawing/2014/main" id="{DD0F013F-C00A-9922-2117-71EE56C762DE}"/>
                </a:ext>
              </a:extLst>
            </p:cNvPr>
            <p:cNvSpPr/>
            <p:nvPr/>
          </p:nvSpPr>
          <p:spPr>
            <a:xfrm>
              <a:off x="3606800" y="1989667"/>
              <a:ext cx="1490133" cy="3556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t>PMO</a:t>
              </a:r>
              <a:endParaRPr lang="zh-TW" altLang="en-US" sz="1600" dirty="0"/>
            </a:p>
          </p:txBody>
        </p:sp>
        <p:sp>
          <p:nvSpPr>
            <p:cNvPr id="22" name="矩形 21">
              <a:extLst>
                <a:ext uri="{FF2B5EF4-FFF2-40B4-BE49-F238E27FC236}">
                  <a16:creationId xmlns:a16="http://schemas.microsoft.com/office/drawing/2014/main" id="{2A5D493D-712D-8094-3817-31E45AE473C1}"/>
                </a:ext>
              </a:extLst>
            </p:cNvPr>
            <p:cNvSpPr/>
            <p:nvPr/>
          </p:nvSpPr>
          <p:spPr>
            <a:xfrm>
              <a:off x="3606799" y="2345267"/>
              <a:ext cx="1490133" cy="77208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DEVIN.SHIH </a:t>
              </a:r>
              <a:r>
                <a:rPr lang="zh-TW" altLang="en-US" sz="1000" dirty="0">
                  <a:solidFill>
                    <a:schemeClr val="tx1"/>
                  </a:solidFill>
                </a:rPr>
                <a:t>施俞安</a:t>
              </a:r>
            </a:p>
          </p:txBody>
        </p:sp>
      </p:grpSp>
      <p:cxnSp>
        <p:nvCxnSpPr>
          <p:cNvPr id="23" name="直線接點 22">
            <a:extLst>
              <a:ext uri="{FF2B5EF4-FFF2-40B4-BE49-F238E27FC236}">
                <a16:creationId xmlns:a16="http://schemas.microsoft.com/office/drawing/2014/main" id="{C8456F33-DEE5-5261-2B83-E4FD7CA68A1D}"/>
              </a:ext>
            </a:extLst>
          </p:cNvPr>
          <p:cNvCxnSpPr>
            <a:cxnSpLocks/>
            <a:stCxn id="22" idx="3"/>
            <a:endCxn id="14" idx="1"/>
          </p:cNvCxnSpPr>
          <p:nvPr/>
        </p:nvCxnSpPr>
        <p:spPr>
          <a:xfrm>
            <a:off x="2037207" y="3163543"/>
            <a:ext cx="151928" cy="27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接點: 肘形 23">
            <a:extLst>
              <a:ext uri="{FF2B5EF4-FFF2-40B4-BE49-F238E27FC236}">
                <a16:creationId xmlns:a16="http://schemas.microsoft.com/office/drawing/2014/main" id="{D18C66B5-9872-6CE4-38DD-5436C9A1EFBD}"/>
              </a:ext>
            </a:extLst>
          </p:cNvPr>
          <p:cNvCxnSpPr>
            <a:cxnSpLocks/>
            <a:stCxn id="17" idx="2"/>
            <a:endCxn id="7" idx="0"/>
          </p:cNvCxnSpPr>
          <p:nvPr/>
        </p:nvCxnSpPr>
        <p:spPr>
          <a:xfrm rot="5400000">
            <a:off x="3347224" y="3137124"/>
            <a:ext cx="1172932" cy="1825413"/>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5" name="表格 56">
            <a:extLst>
              <a:ext uri="{FF2B5EF4-FFF2-40B4-BE49-F238E27FC236}">
                <a16:creationId xmlns:a16="http://schemas.microsoft.com/office/drawing/2014/main" id="{17F82487-96F1-A3A1-0275-7114A988FD04}"/>
              </a:ext>
            </a:extLst>
          </p:cNvPr>
          <p:cNvGraphicFramePr>
            <a:graphicFrameLocks noGrp="1"/>
          </p:cNvGraphicFramePr>
          <p:nvPr>
            <p:extLst>
              <p:ext uri="{D42A27DB-BD31-4B8C-83A1-F6EECF244321}">
                <p14:modId xmlns:p14="http://schemas.microsoft.com/office/powerpoint/2010/main" val="2866166931"/>
              </p:ext>
            </p:extLst>
          </p:nvPr>
        </p:nvGraphicFramePr>
        <p:xfrm>
          <a:off x="5804671" y="1012449"/>
          <a:ext cx="5974502" cy="4979273"/>
        </p:xfrm>
        <a:graphic>
          <a:graphicData uri="http://schemas.openxmlformats.org/drawingml/2006/table">
            <a:tbl>
              <a:tblPr firstRow="1" bandRow="1">
                <a:tableStyleId>{793D81CF-94F2-401A-BA57-92F5A7B2D0C5}</a:tableStyleId>
              </a:tblPr>
              <a:tblGrid>
                <a:gridCol w="1786126">
                  <a:extLst>
                    <a:ext uri="{9D8B030D-6E8A-4147-A177-3AD203B41FA5}">
                      <a16:colId xmlns:a16="http://schemas.microsoft.com/office/drawing/2014/main" val="3421389125"/>
                    </a:ext>
                  </a:extLst>
                </a:gridCol>
                <a:gridCol w="4188376">
                  <a:extLst>
                    <a:ext uri="{9D8B030D-6E8A-4147-A177-3AD203B41FA5}">
                      <a16:colId xmlns:a16="http://schemas.microsoft.com/office/drawing/2014/main" val="4193326523"/>
                    </a:ext>
                  </a:extLst>
                </a:gridCol>
              </a:tblGrid>
              <a:tr h="275758">
                <a:tc>
                  <a:txBody>
                    <a:bodyPr/>
                    <a:lstStyle/>
                    <a:p>
                      <a:pPr algn="ctr"/>
                      <a:r>
                        <a:rPr lang="zh-TW" altLang="en-US" sz="1400" dirty="0"/>
                        <a:t>組織</a:t>
                      </a:r>
                    </a:p>
                  </a:txBody>
                  <a:tcPr>
                    <a:lnR w="12700" cap="flat" cmpd="sng" algn="ctr">
                      <a:solidFill>
                        <a:schemeClr val="tx1"/>
                      </a:solidFill>
                      <a:prstDash val="solid"/>
                      <a:round/>
                      <a:headEnd type="none" w="med" len="med"/>
                      <a:tailEnd type="none" w="med" len="med"/>
                    </a:lnR>
                    <a:solidFill>
                      <a:srgbClr val="0087DC"/>
                    </a:solidFill>
                  </a:tcPr>
                </a:tc>
                <a:tc>
                  <a:txBody>
                    <a:bodyPr/>
                    <a:lstStyle/>
                    <a:p>
                      <a:pPr algn="ctr"/>
                      <a:r>
                        <a:rPr lang="zh-TW" altLang="en-US" sz="1400" dirty="0"/>
                        <a:t>責任</a:t>
                      </a:r>
                    </a:p>
                  </a:txBody>
                  <a:tcPr>
                    <a:lnL w="12700" cap="flat" cmpd="sng" algn="ctr">
                      <a:solidFill>
                        <a:schemeClr val="tx1"/>
                      </a:solidFill>
                      <a:prstDash val="solid"/>
                      <a:round/>
                      <a:headEnd type="none" w="med" len="med"/>
                      <a:tailEnd type="none" w="med" len="med"/>
                    </a:lnL>
                    <a:solidFill>
                      <a:srgbClr val="0087DC"/>
                    </a:solidFill>
                  </a:tcPr>
                </a:tc>
                <a:extLst>
                  <a:ext uri="{0D108BD9-81ED-4DB2-BD59-A6C34878D82A}">
                    <a16:rowId xmlns:a16="http://schemas.microsoft.com/office/drawing/2014/main" val="294816310"/>
                  </a:ext>
                </a:extLst>
              </a:tr>
              <a:tr h="700423">
                <a:tc>
                  <a:txBody>
                    <a:bodyPr/>
                    <a:lstStyle/>
                    <a:p>
                      <a:pPr algn="ctr"/>
                      <a:r>
                        <a:rPr lang="zh-TW" altLang="en-US" sz="1400" dirty="0">
                          <a:solidFill>
                            <a:schemeClr val="bg1"/>
                          </a:solidFill>
                        </a:rPr>
                        <a:t>指導委員會</a:t>
                      </a:r>
                    </a:p>
                  </a:txBody>
                  <a:tcPr anchor="ctr">
                    <a:lnB w="12700" cap="flat" cmpd="sng" algn="ctr">
                      <a:solidFill>
                        <a:schemeClr val="bg1"/>
                      </a:solidFill>
                      <a:prstDash val="solid"/>
                      <a:round/>
                      <a:headEnd type="none" w="med" len="med"/>
                      <a:tailEnd type="none" w="med" len="med"/>
                    </a:lnB>
                    <a:solidFill>
                      <a:schemeClr val="tx1"/>
                    </a:solidFill>
                  </a:tcPr>
                </a:tc>
                <a:tc>
                  <a:txBody>
                    <a:bodyPr/>
                    <a:lstStyle/>
                    <a:p>
                      <a:pPr marL="285750" indent="-285750">
                        <a:buFont typeface="Arial" panose="020B0604020202020204" pitchFamily="34" charset="0"/>
                        <a:buChar char="•"/>
                      </a:pPr>
                      <a:r>
                        <a:rPr lang="zh-TW" altLang="en-US" sz="1400" dirty="0"/>
                        <a:t>審議與核定專案成果</a:t>
                      </a:r>
                      <a:endParaRPr lang="en-US" altLang="zh-TW" sz="1400" dirty="0"/>
                    </a:p>
                    <a:p>
                      <a:pPr marL="285750" indent="-285750">
                        <a:buFont typeface="Arial" panose="020B0604020202020204" pitchFamily="34" charset="0"/>
                        <a:buChar char="•"/>
                      </a:pPr>
                      <a:r>
                        <a:rPr lang="zh-TW" altLang="en-US" sz="1400" dirty="0"/>
                        <a:t>提供專案支持</a:t>
                      </a:r>
                    </a:p>
                  </a:txBody>
                  <a:tcPr anchor="ctr">
                    <a:solidFill>
                      <a:schemeClr val="bg1"/>
                    </a:solidFill>
                  </a:tcPr>
                </a:tc>
                <a:extLst>
                  <a:ext uri="{0D108BD9-81ED-4DB2-BD59-A6C34878D82A}">
                    <a16:rowId xmlns:a16="http://schemas.microsoft.com/office/drawing/2014/main" val="1051430989"/>
                  </a:ext>
                </a:extLst>
              </a:tr>
              <a:tr h="685800">
                <a:tc>
                  <a:txBody>
                    <a:bodyPr/>
                    <a:lstStyle/>
                    <a:p>
                      <a:pPr algn="ctr"/>
                      <a:r>
                        <a:rPr lang="en-US" altLang="zh-TW" sz="1400" dirty="0">
                          <a:solidFill>
                            <a:schemeClr val="bg1"/>
                          </a:solidFill>
                        </a:rPr>
                        <a:t>PMO</a:t>
                      </a:r>
                      <a:endParaRPr lang="zh-TW" altLang="en-US" sz="1400" dirty="0">
                        <a:solidFill>
                          <a:schemeClr val="bg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285750" indent="-285750">
                        <a:buFont typeface="Arial" panose="020B0604020202020204" pitchFamily="34" charset="0"/>
                        <a:buChar char="•"/>
                      </a:pPr>
                      <a:r>
                        <a:rPr lang="zh-TW" altLang="en-US" sz="1400" dirty="0"/>
                        <a:t>提供專案管理規範</a:t>
                      </a:r>
                      <a:endParaRPr lang="en-US" altLang="zh-TW" sz="1400" dirty="0"/>
                    </a:p>
                    <a:p>
                      <a:pPr marL="285750" indent="-285750">
                        <a:buFont typeface="Arial" panose="020B0604020202020204" pitchFamily="34" charset="0"/>
                        <a:buChar char="•"/>
                      </a:pPr>
                      <a:r>
                        <a:rPr lang="zh-TW" altLang="en-US" sz="1400" dirty="0"/>
                        <a:t>提供專案資源資持</a:t>
                      </a:r>
                    </a:p>
                  </a:txBody>
                  <a:tcPr anchor="ctr">
                    <a:solidFill>
                      <a:schemeClr val="bg1"/>
                    </a:solidFill>
                  </a:tcPr>
                </a:tc>
                <a:extLst>
                  <a:ext uri="{0D108BD9-81ED-4DB2-BD59-A6C34878D82A}">
                    <a16:rowId xmlns:a16="http://schemas.microsoft.com/office/drawing/2014/main" val="1107422746"/>
                  </a:ext>
                </a:extLst>
              </a:tr>
              <a:tr h="1054311">
                <a:tc>
                  <a:txBody>
                    <a:bodyPr/>
                    <a:lstStyle/>
                    <a:p>
                      <a:pPr algn="ctr"/>
                      <a:r>
                        <a:rPr lang="en-US" altLang="zh-TW" sz="1400" dirty="0">
                          <a:solidFill>
                            <a:schemeClr val="bg1"/>
                          </a:solidFill>
                        </a:rPr>
                        <a:t>PM</a:t>
                      </a:r>
                      <a:endParaRPr lang="zh-TW" altLang="en-US" sz="1400" dirty="0">
                        <a:solidFill>
                          <a:schemeClr val="bg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285750" indent="-285750">
                        <a:buFont typeface="Arial" panose="020B0604020202020204" pitchFamily="34" charset="0"/>
                        <a:buChar char="•"/>
                      </a:pPr>
                      <a:r>
                        <a:rPr lang="zh-TW" altLang="en-US" sz="1400" dirty="0"/>
                        <a:t>專案之統一窗口</a:t>
                      </a:r>
                      <a:r>
                        <a:rPr lang="en-US" altLang="zh-TW" sz="1400" dirty="0"/>
                        <a:t>, </a:t>
                      </a:r>
                      <a:r>
                        <a:rPr lang="zh-TW" altLang="en-US" sz="1400" dirty="0"/>
                        <a:t>對專案時程負責</a:t>
                      </a:r>
                      <a:endParaRPr lang="en-US" altLang="zh-TW" sz="1400" dirty="0"/>
                    </a:p>
                    <a:p>
                      <a:pPr marL="285750" indent="-285750">
                        <a:buFont typeface="Arial" panose="020B0604020202020204" pitchFamily="34" charset="0"/>
                        <a:buChar char="•"/>
                      </a:pPr>
                      <a:r>
                        <a:rPr lang="zh-TW" altLang="en-US" sz="1400" dirty="0"/>
                        <a:t>負責專案資源規劃與協調問題</a:t>
                      </a:r>
                      <a:r>
                        <a:rPr lang="en-US" altLang="zh-TW" sz="1400" dirty="0"/>
                        <a:t>, </a:t>
                      </a:r>
                      <a:r>
                        <a:rPr lang="zh-TW" altLang="en-US" sz="1400" dirty="0"/>
                        <a:t>確保各項目時程如期運行</a:t>
                      </a:r>
                      <a:endParaRPr lang="en-US" altLang="zh-TW" sz="1400" dirty="0"/>
                    </a:p>
                    <a:p>
                      <a:pPr marL="285750" indent="-285750">
                        <a:buFont typeface="Arial" panose="020B0604020202020204" pitchFamily="34" charset="0"/>
                        <a:buChar char="•"/>
                      </a:pPr>
                      <a:r>
                        <a:rPr lang="zh-TW" altLang="en-US" sz="1400" dirty="0"/>
                        <a:t>招開專案相關會議</a:t>
                      </a:r>
                    </a:p>
                  </a:txBody>
                  <a:tcPr anchor="ctr">
                    <a:solidFill>
                      <a:schemeClr val="bg1"/>
                    </a:solidFill>
                  </a:tcPr>
                </a:tc>
                <a:extLst>
                  <a:ext uri="{0D108BD9-81ED-4DB2-BD59-A6C34878D82A}">
                    <a16:rowId xmlns:a16="http://schemas.microsoft.com/office/drawing/2014/main" val="1549843549"/>
                  </a:ext>
                </a:extLst>
              </a:tr>
              <a:tr h="900228">
                <a:tc>
                  <a:txBody>
                    <a:bodyPr/>
                    <a:lstStyle/>
                    <a:p>
                      <a:pPr algn="ctr"/>
                      <a:r>
                        <a:rPr lang="zh-TW" altLang="en-US" sz="1400" dirty="0">
                          <a:solidFill>
                            <a:schemeClr val="bg1"/>
                          </a:solidFill>
                        </a:rPr>
                        <a:t>架構指導</a:t>
                      </a:r>
                      <a:endParaRPr lang="en-US" altLang="zh-TW" sz="1400" dirty="0">
                        <a:solidFill>
                          <a:schemeClr val="bg1"/>
                        </a:solidFill>
                      </a:endParaRPr>
                    </a:p>
                    <a:p>
                      <a:pPr algn="ctr"/>
                      <a:r>
                        <a:rPr lang="en-US" altLang="zh-TW" sz="1400" dirty="0">
                          <a:solidFill>
                            <a:schemeClr val="bg1"/>
                          </a:solidFill>
                        </a:rPr>
                        <a:t>( Corp IT )</a:t>
                      </a:r>
                      <a:endParaRPr lang="zh-TW" altLang="en-US" sz="1400" dirty="0">
                        <a:solidFill>
                          <a:schemeClr val="bg1"/>
                        </a:solidFill>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285750" indent="-285750">
                        <a:buFont typeface="Arial" panose="020B0604020202020204" pitchFamily="34" charset="0"/>
                        <a:buChar char="•"/>
                      </a:pPr>
                      <a:r>
                        <a:rPr lang="zh-TW" altLang="en-US" sz="1400" dirty="0"/>
                        <a:t>參與技術選型</a:t>
                      </a:r>
                      <a:endParaRPr lang="en-US" altLang="zh-TW" sz="1400" dirty="0"/>
                    </a:p>
                    <a:p>
                      <a:pPr marL="285750" indent="-285750">
                        <a:buFont typeface="Arial" panose="020B0604020202020204" pitchFamily="34" charset="0"/>
                        <a:buChar char="•"/>
                      </a:pPr>
                      <a:r>
                        <a:rPr lang="zh-TW" altLang="en-US" sz="1400" dirty="0"/>
                        <a:t>參與架構設計</a:t>
                      </a:r>
                      <a:endParaRPr lang="en-US" altLang="zh-TW" sz="1400" dirty="0"/>
                    </a:p>
                    <a:p>
                      <a:pPr marL="285750" indent="-285750">
                        <a:buFont typeface="Arial" panose="020B0604020202020204" pitchFamily="34" charset="0"/>
                        <a:buChar char="•"/>
                      </a:pPr>
                      <a:r>
                        <a:rPr lang="zh-TW" altLang="en-US" sz="1400"/>
                        <a:t>確保整體規劃</a:t>
                      </a:r>
                      <a:r>
                        <a:rPr lang="zh-TW" altLang="en-US" sz="1400" dirty="0"/>
                        <a:t>符合公司規範</a:t>
                      </a:r>
                    </a:p>
                  </a:txBody>
                  <a:tcPr anchor="ctr">
                    <a:solidFill>
                      <a:schemeClr val="bg1"/>
                    </a:solidFill>
                  </a:tcPr>
                </a:tc>
                <a:extLst>
                  <a:ext uri="{0D108BD9-81ED-4DB2-BD59-A6C34878D82A}">
                    <a16:rowId xmlns:a16="http://schemas.microsoft.com/office/drawing/2014/main" val="1533518692"/>
                  </a:ext>
                </a:extLst>
              </a:tr>
              <a:tr h="1333711">
                <a:tc>
                  <a:txBody>
                    <a:bodyPr/>
                    <a:lstStyle/>
                    <a:p>
                      <a:pPr algn="ctr"/>
                      <a:r>
                        <a:rPr lang="zh-TW" altLang="en-US" sz="1400" dirty="0">
                          <a:solidFill>
                            <a:schemeClr val="bg1"/>
                          </a:solidFill>
                        </a:rPr>
                        <a:t>規劃執行組</a:t>
                      </a: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285750" indent="-285750">
                        <a:buFont typeface="Arial" panose="020B0604020202020204" pitchFamily="34" charset="0"/>
                        <a:buChar char="•"/>
                      </a:pPr>
                      <a:r>
                        <a:rPr lang="zh-TW" altLang="en-US" sz="1400" dirty="0"/>
                        <a:t>規劃</a:t>
                      </a:r>
                      <a:r>
                        <a:rPr lang="en-US" altLang="zh-TW" sz="1400" dirty="0"/>
                        <a:t>WBS</a:t>
                      </a:r>
                      <a:r>
                        <a:rPr lang="zh-TW" altLang="en-US" sz="1400" dirty="0"/>
                        <a:t>項目與順序</a:t>
                      </a:r>
                      <a:endParaRPr lang="en-US" altLang="zh-TW" sz="1400" dirty="0"/>
                    </a:p>
                    <a:p>
                      <a:pPr marL="285750" indent="-285750">
                        <a:buFont typeface="Arial" panose="020B0604020202020204" pitchFamily="34" charset="0"/>
                        <a:buChar char="•"/>
                      </a:pPr>
                      <a:r>
                        <a:rPr lang="zh-TW" altLang="en-US" sz="1400" dirty="0"/>
                        <a:t>技術選型決策</a:t>
                      </a:r>
                      <a:endParaRPr lang="en-US" altLang="zh-TW" sz="1400" dirty="0"/>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400" dirty="0"/>
                        <a:t>數據中台架構設計</a:t>
                      </a:r>
                      <a:endParaRPr lang="en-US" altLang="zh-TW" sz="1400" dirty="0"/>
                    </a:p>
                    <a:p>
                      <a:pPr marL="285750" indent="-285750">
                        <a:buFont typeface="Arial" panose="020B0604020202020204" pitchFamily="34" charset="0"/>
                        <a:buChar char="•"/>
                      </a:pPr>
                      <a:r>
                        <a:rPr lang="zh-TW" altLang="en-US" sz="1400" dirty="0"/>
                        <a:t>交付專案預計產出</a:t>
                      </a:r>
                      <a:endParaRPr lang="en-US" altLang="zh-TW" sz="1400" dirty="0"/>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1400" dirty="0"/>
                        <a:t>依</a:t>
                      </a:r>
                      <a:r>
                        <a:rPr lang="en-US" altLang="zh-TW" sz="1400" dirty="0"/>
                        <a:t>WBS</a:t>
                      </a:r>
                      <a:r>
                        <a:rPr lang="zh-TW" altLang="en-US" sz="1400" dirty="0"/>
                        <a:t>排定時程執行項目</a:t>
                      </a:r>
                      <a:r>
                        <a:rPr lang="en-US" altLang="zh-TW" sz="1400" dirty="0"/>
                        <a:t>, </a:t>
                      </a:r>
                      <a:r>
                        <a:rPr lang="zh-TW" altLang="en-US" sz="1400" dirty="0"/>
                        <a:t>並產出相對應之成果</a:t>
                      </a:r>
                      <a:endParaRPr lang="en-US" altLang="zh-TW" sz="1400" dirty="0"/>
                    </a:p>
                  </a:txBody>
                  <a:tcPr anchor="ctr">
                    <a:solidFill>
                      <a:schemeClr val="bg1"/>
                    </a:solidFill>
                  </a:tcPr>
                </a:tc>
                <a:extLst>
                  <a:ext uri="{0D108BD9-81ED-4DB2-BD59-A6C34878D82A}">
                    <a16:rowId xmlns:a16="http://schemas.microsoft.com/office/drawing/2014/main" val="3208862104"/>
                  </a:ext>
                </a:extLst>
              </a:tr>
            </a:tbl>
          </a:graphicData>
        </a:graphic>
      </p:graphicFrame>
    </p:spTree>
    <p:extLst>
      <p:ext uri="{BB962C8B-B14F-4D97-AF65-F5344CB8AC3E}">
        <p14:creationId xmlns:p14="http://schemas.microsoft.com/office/powerpoint/2010/main" val="196087548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5103DC-BFF3-9A07-06A9-5CD2E9E1943A}"/>
              </a:ext>
            </a:extLst>
          </p:cNvPr>
          <p:cNvSpPr>
            <a:spLocks noGrp="1"/>
          </p:cNvSpPr>
          <p:nvPr>
            <p:ph type="title"/>
          </p:nvPr>
        </p:nvSpPr>
        <p:spPr/>
        <p:txBody>
          <a:bodyPr/>
          <a:lstStyle/>
          <a:p>
            <a:pPr algn="ctr"/>
            <a:r>
              <a:rPr lang="zh-TW" altLang="en-US" dirty="0"/>
              <a:t>功能模組工具選型與</a:t>
            </a:r>
            <a:r>
              <a:rPr lang="en-US" altLang="zh-TW" dirty="0"/>
              <a:t>Data User Story</a:t>
            </a:r>
            <a:endParaRPr lang="zh-TW" altLang="en-US" dirty="0"/>
          </a:p>
        </p:txBody>
      </p:sp>
      <p:sp>
        <p:nvSpPr>
          <p:cNvPr id="7" name="文字方塊 6">
            <a:extLst>
              <a:ext uri="{FF2B5EF4-FFF2-40B4-BE49-F238E27FC236}">
                <a16:creationId xmlns:a16="http://schemas.microsoft.com/office/drawing/2014/main" id="{A20ADCD4-BAA9-3AB1-2ABA-99F9DC7C62C0}"/>
              </a:ext>
            </a:extLst>
          </p:cNvPr>
          <p:cNvSpPr txBox="1"/>
          <p:nvPr/>
        </p:nvSpPr>
        <p:spPr>
          <a:xfrm>
            <a:off x="406400" y="1119752"/>
            <a:ext cx="3268133" cy="646331"/>
          </a:xfrm>
          <a:prstGeom prst="rect">
            <a:avLst/>
          </a:prstGeom>
          <a:noFill/>
        </p:spPr>
        <p:txBody>
          <a:bodyPr wrap="square" rtlCol="0">
            <a:spAutoFit/>
          </a:bodyPr>
          <a:lstStyle/>
          <a:p>
            <a:r>
              <a:rPr lang="zh-CN" altLang="en-US" b="1" dirty="0">
                <a:solidFill>
                  <a:srgbClr val="0070C0"/>
                </a:solidFill>
                <a:latin typeface="+mn-ea"/>
              </a:rPr>
              <a:t>描述 </a:t>
            </a:r>
            <a:r>
              <a:rPr lang="en-US" altLang="zh-CN" b="1" dirty="0">
                <a:solidFill>
                  <a:srgbClr val="0070C0"/>
                </a:solidFill>
                <a:latin typeface="+mn-ea"/>
              </a:rPr>
              <a:t> </a:t>
            </a:r>
          </a:p>
          <a:p>
            <a:endParaRPr lang="zh-TW" altLang="en-US" b="1" dirty="0">
              <a:solidFill>
                <a:srgbClr val="0070C0"/>
              </a:solidFill>
              <a:latin typeface="+mn-ea"/>
            </a:endParaRPr>
          </a:p>
        </p:txBody>
      </p:sp>
      <p:sp>
        <p:nvSpPr>
          <p:cNvPr id="8" name="文字方塊 7">
            <a:extLst>
              <a:ext uri="{FF2B5EF4-FFF2-40B4-BE49-F238E27FC236}">
                <a16:creationId xmlns:a16="http://schemas.microsoft.com/office/drawing/2014/main" id="{E11ABD0A-2B44-840A-561F-13EA98F65CC2}"/>
              </a:ext>
            </a:extLst>
          </p:cNvPr>
          <p:cNvSpPr txBox="1"/>
          <p:nvPr/>
        </p:nvSpPr>
        <p:spPr>
          <a:xfrm>
            <a:off x="406401" y="1629871"/>
            <a:ext cx="2850606" cy="1384995"/>
          </a:xfrm>
          <a:prstGeom prst="rect">
            <a:avLst/>
          </a:prstGeom>
          <a:noFill/>
        </p:spPr>
        <p:txBody>
          <a:bodyPr wrap="square" rtlCol="0">
            <a:spAutoFit/>
          </a:bodyPr>
          <a:lstStyle/>
          <a:p>
            <a:pPr defTabSz="609523">
              <a:lnSpc>
                <a:spcPct val="100000"/>
              </a:lnSpc>
            </a:pPr>
            <a:r>
              <a:rPr lang="en-US" altLang="zh-TW" sz="1400" dirty="0">
                <a:solidFill>
                  <a:prstClr val="black"/>
                </a:solidFill>
                <a:latin typeface="Arial"/>
                <a:ea typeface=""/>
                <a:cs typeface=""/>
              </a:rPr>
              <a:t>POC1 </a:t>
            </a:r>
            <a:r>
              <a:rPr lang="zh-TW" altLang="en-US" sz="1400" dirty="0">
                <a:solidFill>
                  <a:prstClr val="black"/>
                </a:solidFill>
                <a:latin typeface="Arial"/>
                <a:ea typeface=""/>
                <a:cs typeface=""/>
              </a:rPr>
              <a:t>彙整 </a:t>
            </a:r>
            <a:r>
              <a:rPr lang="en-US" altLang="zh-TW" sz="1400" dirty="0">
                <a:latin typeface="Arial"/>
                <a:ea typeface=""/>
                <a:cs typeface=""/>
              </a:rPr>
              <a:t>3+</a:t>
            </a:r>
            <a:r>
              <a:rPr lang="zh-TW" altLang="en-US" sz="1400" dirty="0">
                <a:latin typeface="Arial"/>
                <a:ea typeface=""/>
                <a:cs typeface=""/>
              </a:rPr>
              <a:t> </a:t>
            </a:r>
            <a:r>
              <a:rPr lang="zh-TW" altLang="en-US" sz="1400" dirty="0">
                <a:solidFill>
                  <a:prstClr val="black"/>
                </a:solidFill>
                <a:latin typeface="Arial"/>
                <a:ea typeface=""/>
                <a:cs typeface=""/>
              </a:rPr>
              <a:t>以上數據源：</a:t>
            </a:r>
            <a:endParaRPr lang="en-US" altLang="zh-TW" sz="1400" dirty="0">
              <a:solidFill>
                <a:prstClr val="black"/>
              </a:solidFill>
              <a:latin typeface="Arial"/>
              <a:ea typeface=""/>
              <a:cs typeface=""/>
            </a:endParaRPr>
          </a:p>
          <a:p>
            <a:pPr marL="285750" indent="-285750" defTabSz="609523">
              <a:lnSpc>
                <a:spcPct val="100000"/>
              </a:lnSpc>
              <a:buFont typeface="Arial" panose="020B0604020202020204" pitchFamily="34" charset="0"/>
              <a:buChar char="•"/>
            </a:pPr>
            <a:r>
              <a:rPr lang="zh-TW" altLang="en-US" sz="1400" dirty="0"/>
              <a:t>機聯：設備產出檔以取得機況、產出數等資訊</a:t>
            </a:r>
            <a:endParaRPr lang="en-US" altLang="zh-TW" sz="1400" dirty="0"/>
          </a:p>
          <a:p>
            <a:pPr marL="285750" indent="-285750" defTabSz="609523">
              <a:buFont typeface="Arial" panose="020B0604020202020204" pitchFamily="34" charset="0"/>
              <a:buChar char="•"/>
            </a:pPr>
            <a:r>
              <a:rPr lang="en-US" altLang="zh-TW" sz="1400" dirty="0"/>
              <a:t>MES</a:t>
            </a:r>
            <a:r>
              <a:rPr lang="zh-TW" altLang="en-US" sz="1400" dirty="0"/>
              <a:t> </a:t>
            </a:r>
            <a:r>
              <a:rPr lang="en-US" altLang="zh-TW" sz="1400" dirty="0"/>
              <a:t>:</a:t>
            </a:r>
            <a:r>
              <a:rPr lang="zh-TW" altLang="en-US" sz="1400" dirty="0"/>
              <a:t> 由</a:t>
            </a:r>
            <a:r>
              <a:rPr lang="en-US" altLang="zh-TW" sz="1400" dirty="0"/>
              <a:t>MES </a:t>
            </a:r>
            <a:r>
              <a:rPr lang="zh-TW" altLang="en-US" sz="1400" dirty="0"/>
              <a:t>資訊取得線別主檔和工單資訊</a:t>
            </a:r>
            <a:endParaRPr lang="en-US" altLang="zh-TW" sz="1400" dirty="0"/>
          </a:p>
          <a:p>
            <a:pPr marL="285750" indent="-285750" defTabSz="609523">
              <a:buFont typeface="Arial" panose="020B0604020202020204" pitchFamily="34" charset="0"/>
              <a:buChar char="•"/>
            </a:pPr>
            <a:r>
              <a:rPr lang="en-US" altLang="zh-TW" sz="1400" dirty="0"/>
              <a:t>PLM : </a:t>
            </a:r>
            <a:r>
              <a:rPr lang="zh-TW" altLang="en-US" sz="1400" dirty="0"/>
              <a:t>產品數據</a:t>
            </a:r>
          </a:p>
        </p:txBody>
      </p:sp>
      <p:sp>
        <p:nvSpPr>
          <p:cNvPr id="9" name="文字方塊 8">
            <a:extLst>
              <a:ext uri="{FF2B5EF4-FFF2-40B4-BE49-F238E27FC236}">
                <a16:creationId xmlns:a16="http://schemas.microsoft.com/office/drawing/2014/main" id="{15553D33-00C4-E8B0-C9AB-5669C6CE23B9}"/>
              </a:ext>
            </a:extLst>
          </p:cNvPr>
          <p:cNvSpPr txBox="1"/>
          <p:nvPr/>
        </p:nvSpPr>
        <p:spPr>
          <a:xfrm>
            <a:off x="406400" y="3159910"/>
            <a:ext cx="3000691" cy="2954655"/>
          </a:xfrm>
          <a:prstGeom prst="rect">
            <a:avLst/>
          </a:prstGeom>
          <a:noFill/>
        </p:spPr>
        <p:txBody>
          <a:bodyPr wrap="square" rtlCol="0">
            <a:spAutoFit/>
          </a:bodyPr>
          <a:lstStyle/>
          <a:p>
            <a:pPr defTabSz="609523">
              <a:lnSpc>
                <a:spcPct val="100000"/>
              </a:lnSpc>
            </a:pPr>
            <a:r>
              <a:rPr lang="zh-TW" altLang="en-US" sz="1400" dirty="0">
                <a:solidFill>
                  <a:prstClr val="black"/>
                </a:solidFill>
                <a:latin typeface="Arial"/>
                <a:ea typeface=""/>
                <a:cs typeface=""/>
              </a:rPr>
              <a:t>功能模組選型測試：比較</a:t>
            </a:r>
            <a:r>
              <a:rPr lang="en-US" altLang="zh-TW" sz="1400" dirty="0">
                <a:latin typeface="Arial"/>
                <a:ea typeface=""/>
                <a:cs typeface=""/>
              </a:rPr>
              <a:t>9</a:t>
            </a:r>
            <a:r>
              <a:rPr lang="zh-TW" altLang="en-US" sz="1400" dirty="0">
                <a:solidFill>
                  <a:prstClr val="black"/>
                </a:solidFill>
                <a:latin typeface="Arial"/>
                <a:ea typeface=""/>
                <a:cs typeface=""/>
              </a:rPr>
              <a:t>組開源工具</a:t>
            </a:r>
            <a:endParaRPr lang="en-US" altLang="zh-TW" sz="1400" dirty="0">
              <a:solidFill>
                <a:prstClr val="black"/>
              </a:solidFill>
              <a:latin typeface="Arial"/>
              <a:ea typeface=""/>
              <a:cs typeface=""/>
            </a:endParaRPr>
          </a:p>
          <a:p>
            <a:pPr marL="285750" indent="-285750" defTabSz="609523">
              <a:lnSpc>
                <a:spcPct val="100000"/>
              </a:lnSpc>
              <a:buFont typeface="Arial" panose="020B0604020202020204" pitchFamily="34" charset="0"/>
              <a:buChar char="•"/>
            </a:pPr>
            <a:r>
              <a:rPr lang="zh-TW" altLang="en-US" sz="1400" dirty="0"/>
              <a:t>數據匯流 </a:t>
            </a:r>
            <a:r>
              <a:rPr lang="en-US" altLang="zh-TW" sz="1400" dirty="0"/>
              <a:t>:</a:t>
            </a:r>
            <a:r>
              <a:rPr lang="zh-TW" altLang="en-US" sz="1400" dirty="0"/>
              <a:t> </a:t>
            </a:r>
            <a:endParaRPr lang="en-US" altLang="zh-TW" sz="1400" dirty="0"/>
          </a:p>
          <a:p>
            <a:pPr marL="742950" lvl="1" indent="-285750" defTabSz="609523">
              <a:buFont typeface="Wingdings" panose="05000000000000000000" pitchFamily="2" charset="2"/>
              <a:buChar char="Ø"/>
            </a:pPr>
            <a:r>
              <a:rPr lang="en-US" altLang="zh-TW" sz="1100" dirty="0"/>
              <a:t>Apache </a:t>
            </a:r>
            <a:r>
              <a:rPr lang="en-US" altLang="zh-TW" sz="1100" dirty="0" err="1"/>
              <a:t>Seatunnel</a:t>
            </a:r>
            <a:r>
              <a:rPr lang="en-US" altLang="zh-TW" sz="1100" dirty="0"/>
              <a:t> vs. </a:t>
            </a:r>
            <a:r>
              <a:rPr lang="en-US" altLang="zh-TW" sz="1100" dirty="0" err="1"/>
              <a:t>Airbyte</a:t>
            </a:r>
            <a:endParaRPr lang="en-US" altLang="zh-TW" sz="1100" dirty="0"/>
          </a:p>
          <a:p>
            <a:pPr marL="285750" indent="-285750" defTabSz="609523">
              <a:lnSpc>
                <a:spcPct val="100000"/>
              </a:lnSpc>
              <a:buFont typeface="Arial" panose="020B0604020202020204" pitchFamily="34" charset="0"/>
              <a:buChar char="•"/>
            </a:pPr>
            <a:r>
              <a:rPr lang="zh-TW" altLang="en-US" sz="1400" dirty="0"/>
              <a:t>排程控制 </a:t>
            </a:r>
            <a:r>
              <a:rPr lang="en-US" altLang="zh-TW" sz="1400" dirty="0"/>
              <a:t>:</a:t>
            </a:r>
            <a:r>
              <a:rPr lang="zh-TW" altLang="en-US" sz="1400" dirty="0"/>
              <a:t> </a:t>
            </a:r>
            <a:endParaRPr lang="en-US" altLang="zh-TW" sz="1400" dirty="0"/>
          </a:p>
          <a:p>
            <a:pPr marL="742950" lvl="1" indent="-285750" defTabSz="609523">
              <a:buFont typeface="Wingdings" panose="05000000000000000000" pitchFamily="2" charset="2"/>
              <a:buChar char="Ø"/>
            </a:pPr>
            <a:r>
              <a:rPr lang="en-US" altLang="zh-TW" sz="1100" dirty="0"/>
              <a:t>Dolphin Scheduler vs. Prefect</a:t>
            </a:r>
          </a:p>
          <a:p>
            <a:pPr marL="285750" indent="-285750" defTabSz="609523">
              <a:buFont typeface="Arial" panose="020B0604020202020204" pitchFamily="34" charset="0"/>
              <a:buChar char="•"/>
            </a:pPr>
            <a:r>
              <a:rPr lang="zh-TW" altLang="en-US" sz="1400" dirty="0"/>
              <a:t>數據上架：</a:t>
            </a:r>
            <a:endParaRPr lang="en-US" altLang="zh-TW" sz="1400" dirty="0"/>
          </a:p>
          <a:p>
            <a:pPr marL="742950" lvl="1" indent="-285750" defTabSz="609523">
              <a:buFont typeface="Wingdings" panose="05000000000000000000" pitchFamily="2" charset="2"/>
              <a:buChar char="Ø"/>
            </a:pPr>
            <a:r>
              <a:rPr lang="en-US" altLang="zh-TW" sz="1100" dirty="0"/>
              <a:t>Apache Doris vs </a:t>
            </a:r>
            <a:r>
              <a:rPr lang="en-US" altLang="zh-TW" sz="1100" dirty="0" err="1"/>
              <a:t>Clickhouse</a:t>
            </a:r>
            <a:endParaRPr lang="en-US" altLang="zh-TW" sz="1100" dirty="0"/>
          </a:p>
          <a:p>
            <a:pPr marL="285750" indent="-285750" defTabSz="609523">
              <a:buFont typeface="Arial" panose="020B0604020202020204" pitchFamily="34" charset="0"/>
              <a:buChar char="•"/>
            </a:pPr>
            <a:r>
              <a:rPr lang="zh-TW" altLang="en-US" sz="1400" dirty="0"/>
              <a:t>數據接口：</a:t>
            </a:r>
            <a:endParaRPr lang="en-US" altLang="zh-TW" sz="1400" dirty="0"/>
          </a:p>
          <a:p>
            <a:pPr marL="742950" lvl="1" indent="-285750" defTabSz="609523">
              <a:buFont typeface="Wingdings" panose="05000000000000000000" pitchFamily="2" charset="2"/>
              <a:buChar char="Ø"/>
            </a:pPr>
            <a:r>
              <a:rPr lang="en-US" altLang="zh-TW" sz="1100" dirty="0"/>
              <a:t>ROAPI vs Cube</a:t>
            </a:r>
          </a:p>
          <a:p>
            <a:pPr marL="285750" indent="-285750" defTabSz="609523">
              <a:buFont typeface="Arial" panose="020B0604020202020204" pitchFamily="34" charset="0"/>
              <a:buChar char="•"/>
            </a:pPr>
            <a:r>
              <a:rPr lang="zh-TW" altLang="en-US" sz="1400" dirty="0"/>
              <a:t>數據權限：</a:t>
            </a:r>
            <a:endParaRPr lang="en-US" altLang="zh-TW" sz="1400" dirty="0"/>
          </a:p>
          <a:p>
            <a:pPr marL="742950" lvl="1" indent="-285750" defTabSz="609523">
              <a:buFont typeface="Wingdings" panose="05000000000000000000" pitchFamily="2" charset="2"/>
              <a:buChar char="Ø"/>
            </a:pPr>
            <a:r>
              <a:rPr lang="en-US" altLang="zh-TW" sz="1100" dirty="0"/>
              <a:t>Ranger</a:t>
            </a:r>
          </a:p>
          <a:p>
            <a:pPr marL="742950" lvl="1" indent="-285750" defTabSz="609523">
              <a:buFont typeface="Wingdings" panose="05000000000000000000" pitchFamily="2" charset="2"/>
              <a:buChar char="Ø"/>
            </a:pPr>
            <a:endParaRPr lang="en-US" altLang="zh-TW" sz="1100" dirty="0"/>
          </a:p>
          <a:p>
            <a:pPr marL="742950" lvl="1" indent="-285750" defTabSz="609523">
              <a:buFont typeface="Wingdings" panose="05000000000000000000" pitchFamily="2" charset="2"/>
              <a:buChar char="Ø"/>
            </a:pPr>
            <a:endParaRPr lang="en-US" altLang="zh-TW" sz="1100" dirty="0"/>
          </a:p>
          <a:p>
            <a:pPr defTabSz="609523"/>
            <a:endParaRPr lang="zh-TW" altLang="en-US" sz="1100" dirty="0"/>
          </a:p>
        </p:txBody>
      </p:sp>
      <p:pic>
        <p:nvPicPr>
          <p:cNvPr id="11" name="圖片 10">
            <a:extLst>
              <a:ext uri="{FF2B5EF4-FFF2-40B4-BE49-F238E27FC236}">
                <a16:creationId xmlns:a16="http://schemas.microsoft.com/office/drawing/2014/main" id="{BEF8663E-633B-AF44-7C41-1A070E4DBC62}"/>
              </a:ext>
            </a:extLst>
          </p:cNvPr>
          <p:cNvPicPr>
            <a:picLocks noChangeAspect="1"/>
          </p:cNvPicPr>
          <p:nvPr/>
        </p:nvPicPr>
        <p:blipFill>
          <a:blip r:embed="rId3"/>
          <a:stretch>
            <a:fillRect/>
          </a:stretch>
        </p:blipFill>
        <p:spPr>
          <a:xfrm>
            <a:off x="3407091" y="1624600"/>
            <a:ext cx="8636863" cy="3985118"/>
          </a:xfrm>
          <a:prstGeom prst="rect">
            <a:avLst/>
          </a:prstGeom>
        </p:spPr>
      </p:pic>
      <p:sp>
        <p:nvSpPr>
          <p:cNvPr id="12" name="文字方塊 11">
            <a:extLst>
              <a:ext uri="{FF2B5EF4-FFF2-40B4-BE49-F238E27FC236}">
                <a16:creationId xmlns:a16="http://schemas.microsoft.com/office/drawing/2014/main" id="{B299FA3D-201B-152F-277E-A69756F0CB15}"/>
              </a:ext>
            </a:extLst>
          </p:cNvPr>
          <p:cNvSpPr txBox="1"/>
          <p:nvPr/>
        </p:nvSpPr>
        <p:spPr>
          <a:xfrm>
            <a:off x="406400" y="5738248"/>
            <a:ext cx="3982720" cy="307777"/>
          </a:xfrm>
          <a:prstGeom prst="rect">
            <a:avLst/>
          </a:prstGeom>
          <a:noFill/>
        </p:spPr>
        <p:txBody>
          <a:bodyPr wrap="square" rtlCol="0">
            <a:spAutoFit/>
          </a:bodyPr>
          <a:lstStyle/>
          <a:p>
            <a:pPr defTabSz="609523">
              <a:lnSpc>
                <a:spcPct val="100000"/>
              </a:lnSpc>
            </a:pPr>
            <a:r>
              <a:rPr lang="zh-TW" altLang="en-US" sz="1400" dirty="0">
                <a:solidFill>
                  <a:prstClr val="black"/>
                </a:solidFill>
                <a:latin typeface="Arial"/>
                <a:ea typeface=""/>
                <a:cs typeface=""/>
              </a:rPr>
              <a:t>詳細選型可參閱數據中台選型報告書</a:t>
            </a:r>
            <a:endParaRPr lang="en-US" altLang="zh-TW" sz="1400" dirty="0">
              <a:solidFill>
                <a:prstClr val="black"/>
              </a:solidFill>
              <a:latin typeface="Arial"/>
              <a:ea typeface=""/>
              <a:cs typeface=""/>
            </a:endParaRPr>
          </a:p>
        </p:txBody>
      </p:sp>
      <p:sp>
        <p:nvSpPr>
          <p:cNvPr id="3" name="文字方塊 2">
            <a:extLst>
              <a:ext uri="{FF2B5EF4-FFF2-40B4-BE49-F238E27FC236}">
                <a16:creationId xmlns:a16="http://schemas.microsoft.com/office/drawing/2014/main" id="{14AC24F4-D0B6-67C3-B693-D3B34B410FB8}"/>
              </a:ext>
            </a:extLst>
          </p:cNvPr>
          <p:cNvSpPr txBox="1"/>
          <p:nvPr/>
        </p:nvSpPr>
        <p:spPr>
          <a:xfrm>
            <a:off x="6772112" y="1311404"/>
            <a:ext cx="1915909" cy="369332"/>
          </a:xfrm>
          <a:prstGeom prst="rect">
            <a:avLst/>
          </a:prstGeom>
          <a:noFill/>
        </p:spPr>
        <p:txBody>
          <a:bodyPr wrap="none" rtlCol="0">
            <a:spAutoFit/>
          </a:bodyPr>
          <a:lstStyle/>
          <a:p>
            <a:r>
              <a:rPr lang="en-US" altLang="zh-TW" b="1" dirty="0"/>
              <a:t>Data User Story</a:t>
            </a:r>
            <a:endParaRPr lang="zh-TW" altLang="en-US" b="1" dirty="0"/>
          </a:p>
        </p:txBody>
      </p:sp>
    </p:spTree>
    <p:extLst>
      <p:ext uri="{BB962C8B-B14F-4D97-AF65-F5344CB8AC3E}">
        <p14:creationId xmlns:p14="http://schemas.microsoft.com/office/powerpoint/2010/main" val="1737034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圖片 21">
            <a:extLst>
              <a:ext uri="{FF2B5EF4-FFF2-40B4-BE49-F238E27FC236}">
                <a16:creationId xmlns:a16="http://schemas.microsoft.com/office/drawing/2014/main" id="{67CFA9C9-71E1-96FC-D793-6675040E1AEB}"/>
              </a:ext>
            </a:extLst>
          </p:cNvPr>
          <p:cNvPicPr>
            <a:picLocks noChangeAspect="1"/>
          </p:cNvPicPr>
          <p:nvPr/>
        </p:nvPicPr>
        <p:blipFill>
          <a:blip r:embed="rId3"/>
          <a:stretch>
            <a:fillRect/>
          </a:stretch>
        </p:blipFill>
        <p:spPr>
          <a:xfrm>
            <a:off x="2477996" y="1431352"/>
            <a:ext cx="9612308" cy="4552397"/>
          </a:xfrm>
          <a:prstGeom prst="rect">
            <a:avLst/>
          </a:prstGeom>
        </p:spPr>
      </p:pic>
      <p:sp>
        <p:nvSpPr>
          <p:cNvPr id="3" name="標題 2">
            <a:extLst>
              <a:ext uri="{FF2B5EF4-FFF2-40B4-BE49-F238E27FC236}">
                <a16:creationId xmlns:a16="http://schemas.microsoft.com/office/drawing/2014/main" id="{00C9BAE7-29C5-D4EA-4E07-6C2A0BE7CB98}"/>
              </a:ext>
            </a:extLst>
          </p:cNvPr>
          <p:cNvSpPr>
            <a:spLocks noGrp="1"/>
          </p:cNvSpPr>
          <p:nvPr>
            <p:ph type="title"/>
          </p:nvPr>
        </p:nvSpPr>
        <p:spPr/>
        <p:txBody>
          <a:bodyPr/>
          <a:lstStyle/>
          <a:p>
            <a:pPr algn="ctr"/>
            <a:r>
              <a:rPr lang="en-US" altLang="zh-TW" dirty="0"/>
              <a:t>Data User Story </a:t>
            </a:r>
            <a:r>
              <a:rPr lang="zh-TW" altLang="en-US" dirty="0"/>
              <a:t>終端場景</a:t>
            </a:r>
            <a:r>
              <a:rPr lang="en-US" altLang="zh-TW" dirty="0"/>
              <a:t>Demo</a:t>
            </a:r>
            <a:endParaRPr lang="zh-TW" altLang="en-US" dirty="0"/>
          </a:p>
        </p:txBody>
      </p:sp>
      <p:sp>
        <p:nvSpPr>
          <p:cNvPr id="16" name="文字方塊 15">
            <a:extLst>
              <a:ext uri="{FF2B5EF4-FFF2-40B4-BE49-F238E27FC236}">
                <a16:creationId xmlns:a16="http://schemas.microsoft.com/office/drawing/2014/main" id="{7AAF33C1-553C-7503-40A6-6C0CE14CB5D6}"/>
              </a:ext>
            </a:extLst>
          </p:cNvPr>
          <p:cNvSpPr txBox="1"/>
          <p:nvPr/>
        </p:nvSpPr>
        <p:spPr>
          <a:xfrm>
            <a:off x="406400" y="1130557"/>
            <a:ext cx="3268133" cy="646331"/>
          </a:xfrm>
          <a:prstGeom prst="rect">
            <a:avLst/>
          </a:prstGeom>
          <a:noFill/>
        </p:spPr>
        <p:txBody>
          <a:bodyPr wrap="square" rtlCol="0">
            <a:spAutoFit/>
          </a:bodyPr>
          <a:lstStyle/>
          <a:p>
            <a:r>
              <a:rPr lang="zh-CN" altLang="en-US" b="1" dirty="0">
                <a:solidFill>
                  <a:srgbClr val="0070C0"/>
                </a:solidFill>
                <a:latin typeface="+mn-ea"/>
              </a:rPr>
              <a:t>描述 </a:t>
            </a:r>
            <a:r>
              <a:rPr lang="en-US" altLang="zh-CN" b="1" dirty="0">
                <a:solidFill>
                  <a:srgbClr val="0070C0"/>
                </a:solidFill>
                <a:latin typeface="+mn-ea"/>
              </a:rPr>
              <a:t> </a:t>
            </a:r>
          </a:p>
          <a:p>
            <a:endParaRPr lang="zh-TW" altLang="en-US" b="1" dirty="0">
              <a:solidFill>
                <a:srgbClr val="0070C0"/>
              </a:solidFill>
              <a:latin typeface="+mn-ea"/>
            </a:endParaRPr>
          </a:p>
        </p:txBody>
      </p:sp>
      <p:sp>
        <p:nvSpPr>
          <p:cNvPr id="2" name="文字方塊 1">
            <a:extLst>
              <a:ext uri="{FF2B5EF4-FFF2-40B4-BE49-F238E27FC236}">
                <a16:creationId xmlns:a16="http://schemas.microsoft.com/office/drawing/2014/main" id="{1C3A0C9B-1CD0-5FB4-624E-CDBB9CAED0B8}"/>
              </a:ext>
            </a:extLst>
          </p:cNvPr>
          <p:cNvSpPr txBox="1"/>
          <p:nvPr/>
        </p:nvSpPr>
        <p:spPr>
          <a:xfrm>
            <a:off x="280277" y="1645397"/>
            <a:ext cx="2032000" cy="1323439"/>
          </a:xfrm>
          <a:prstGeom prst="rect">
            <a:avLst/>
          </a:prstGeom>
          <a:noFill/>
        </p:spPr>
        <p:txBody>
          <a:bodyPr wrap="square" rtlCol="0">
            <a:spAutoFit/>
          </a:bodyPr>
          <a:lstStyle/>
          <a:p>
            <a:pPr defTabSz="609523">
              <a:lnSpc>
                <a:spcPct val="100000"/>
              </a:lnSpc>
            </a:pPr>
            <a:r>
              <a:rPr lang="zh-TW" altLang="en-US" sz="1600" b="1" dirty="0">
                <a:solidFill>
                  <a:prstClr val="black"/>
                </a:solidFill>
                <a:latin typeface="Arial"/>
                <a:ea typeface=""/>
                <a:cs typeface=""/>
              </a:rPr>
              <a:t>數據來源</a:t>
            </a:r>
            <a:r>
              <a:rPr lang="zh-TW" altLang="en-US" sz="1600" dirty="0">
                <a:solidFill>
                  <a:prstClr val="black"/>
                </a:solidFill>
                <a:latin typeface="Arial"/>
                <a:ea typeface=""/>
                <a:cs typeface=""/>
              </a:rPr>
              <a:t>：</a:t>
            </a:r>
            <a:endParaRPr lang="en-US" altLang="zh-TW" sz="1600" dirty="0">
              <a:solidFill>
                <a:prstClr val="black"/>
              </a:solidFill>
              <a:latin typeface="Arial"/>
              <a:ea typeface=""/>
              <a:cs typeface=""/>
            </a:endParaRPr>
          </a:p>
          <a:p>
            <a:pPr marL="285750" indent="-285750" defTabSz="609523">
              <a:lnSpc>
                <a:spcPct val="100000"/>
              </a:lnSpc>
              <a:buFont typeface="Arial" panose="020B0604020202020204" pitchFamily="34" charset="0"/>
              <a:buChar char="•"/>
            </a:pPr>
            <a:r>
              <a:rPr lang="en-US" altLang="zh-TW" sz="1600" b="0" i="0" dirty="0">
                <a:solidFill>
                  <a:srgbClr val="333333"/>
                </a:solidFill>
                <a:effectLst/>
                <a:latin typeface="-apple-system"/>
              </a:rPr>
              <a:t>WJ3 C02</a:t>
            </a:r>
            <a:r>
              <a:rPr lang="zh-TW" altLang="en-US" sz="1600" b="0" i="0" dirty="0">
                <a:solidFill>
                  <a:srgbClr val="333333"/>
                </a:solidFill>
                <a:effectLst/>
                <a:latin typeface="-apple-system"/>
              </a:rPr>
              <a:t>、</a:t>
            </a:r>
            <a:r>
              <a:rPr lang="en-US" altLang="zh-TW" sz="1600" b="0" i="0" dirty="0">
                <a:solidFill>
                  <a:srgbClr val="333333"/>
                </a:solidFill>
                <a:effectLst/>
                <a:latin typeface="-apple-system"/>
              </a:rPr>
              <a:t>C03</a:t>
            </a:r>
            <a:r>
              <a:rPr lang="zh-TW" altLang="en-US" sz="1600" b="0" i="0" dirty="0">
                <a:solidFill>
                  <a:srgbClr val="333333"/>
                </a:solidFill>
                <a:effectLst/>
                <a:latin typeface="-apple-system"/>
              </a:rPr>
              <a:t>線</a:t>
            </a:r>
            <a:endParaRPr lang="en-US" altLang="zh-TW" sz="1600" b="0" i="0" dirty="0">
              <a:solidFill>
                <a:srgbClr val="333333"/>
              </a:solidFill>
              <a:effectLst/>
              <a:latin typeface="-apple-system"/>
            </a:endParaRPr>
          </a:p>
          <a:p>
            <a:pPr marL="285750" indent="-285750" defTabSz="609523">
              <a:lnSpc>
                <a:spcPct val="100000"/>
              </a:lnSpc>
              <a:buFont typeface="Arial" panose="020B0604020202020204" pitchFamily="34" charset="0"/>
              <a:buChar char="•"/>
            </a:pPr>
            <a:r>
              <a:rPr lang="en-US" altLang="zh-TW" sz="1600" b="0" i="0" dirty="0">
                <a:solidFill>
                  <a:srgbClr val="333333"/>
                </a:solidFill>
                <a:effectLst/>
                <a:latin typeface="-apple-system"/>
              </a:rPr>
              <a:t>WJ2 C11</a:t>
            </a:r>
            <a:r>
              <a:rPr lang="zh-TW" altLang="en-US" sz="1600" b="0" i="0" dirty="0">
                <a:solidFill>
                  <a:srgbClr val="333333"/>
                </a:solidFill>
                <a:effectLst/>
                <a:latin typeface="-apple-system"/>
              </a:rPr>
              <a:t>的</a:t>
            </a:r>
            <a:r>
              <a:rPr lang="en-US" altLang="zh-TW" sz="1600" b="0" i="0" dirty="0">
                <a:solidFill>
                  <a:srgbClr val="333333"/>
                </a:solidFill>
                <a:effectLst/>
                <a:latin typeface="-apple-system"/>
              </a:rPr>
              <a:t>line</a:t>
            </a:r>
            <a:r>
              <a:rPr lang="zh-TW" altLang="en-US" sz="1600" b="0" i="0" dirty="0">
                <a:solidFill>
                  <a:srgbClr val="333333"/>
                </a:solidFill>
                <a:effectLst/>
                <a:latin typeface="-apple-system"/>
              </a:rPr>
              <a:t> </a:t>
            </a:r>
            <a:r>
              <a:rPr lang="en-US" altLang="zh-TW" sz="1600" b="0" i="0" dirty="0">
                <a:solidFill>
                  <a:srgbClr val="333333"/>
                </a:solidFill>
                <a:effectLst/>
                <a:latin typeface="-apple-system"/>
              </a:rPr>
              <a:t>manager CFX</a:t>
            </a:r>
            <a:r>
              <a:rPr lang="zh-TW" altLang="en-US" sz="1600" b="0" i="0" dirty="0">
                <a:solidFill>
                  <a:srgbClr val="333333"/>
                </a:solidFill>
                <a:effectLst/>
                <a:latin typeface="-apple-system"/>
              </a:rPr>
              <a:t>數據</a:t>
            </a:r>
            <a:endParaRPr lang="en-US" altLang="zh-TW" sz="1600" b="0" i="0" dirty="0">
              <a:solidFill>
                <a:srgbClr val="333333"/>
              </a:solidFill>
              <a:effectLst/>
              <a:latin typeface="-apple-system"/>
            </a:endParaRPr>
          </a:p>
          <a:p>
            <a:pPr marL="285750" indent="-285750" defTabSz="609523">
              <a:lnSpc>
                <a:spcPct val="100000"/>
              </a:lnSpc>
              <a:buFont typeface="Arial" panose="020B0604020202020204" pitchFamily="34" charset="0"/>
              <a:buChar char="•"/>
            </a:pPr>
            <a:r>
              <a:rPr lang="en-US" altLang="zh-TW" sz="1600" dirty="0">
                <a:solidFill>
                  <a:srgbClr val="333333"/>
                </a:solidFill>
                <a:latin typeface="-apple-system"/>
              </a:rPr>
              <a:t>MES</a:t>
            </a:r>
            <a:r>
              <a:rPr lang="zh-TW" altLang="en-US" sz="1600" dirty="0">
                <a:solidFill>
                  <a:srgbClr val="333333"/>
                </a:solidFill>
                <a:latin typeface="-apple-system"/>
              </a:rPr>
              <a:t> 產品資訊 </a:t>
            </a:r>
            <a:endParaRPr lang="en-US" altLang="zh-TW" sz="1600" dirty="0">
              <a:solidFill>
                <a:srgbClr val="333333"/>
              </a:solidFill>
              <a:latin typeface="-apple-system"/>
            </a:endParaRPr>
          </a:p>
        </p:txBody>
      </p:sp>
      <p:sp>
        <p:nvSpPr>
          <p:cNvPr id="11" name="文字方塊 10">
            <a:extLst>
              <a:ext uri="{FF2B5EF4-FFF2-40B4-BE49-F238E27FC236}">
                <a16:creationId xmlns:a16="http://schemas.microsoft.com/office/drawing/2014/main" id="{9B8E8F74-402F-C511-26A6-9B13EADBCAC9}"/>
              </a:ext>
            </a:extLst>
          </p:cNvPr>
          <p:cNvSpPr txBox="1"/>
          <p:nvPr/>
        </p:nvSpPr>
        <p:spPr>
          <a:xfrm>
            <a:off x="3276179" y="3812678"/>
            <a:ext cx="3268133" cy="307777"/>
          </a:xfrm>
          <a:prstGeom prst="rect">
            <a:avLst/>
          </a:prstGeom>
          <a:noFill/>
        </p:spPr>
        <p:txBody>
          <a:bodyPr wrap="square" rtlCol="0">
            <a:spAutoFit/>
          </a:bodyPr>
          <a:lstStyle/>
          <a:p>
            <a:r>
              <a:rPr lang="zh-TW" altLang="en-US" sz="1400" dirty="0"/>
              <a:t>從設備機台產出量察覺</a:t>
            </a:r>
            <a:r>
              <a:rPr lang="zh-TW" altLang="en-US" sz="1400" dirty="0">
                <a:solidFill>
                  <a:srgbClr val="FF0000"/>
                </a:solidFill>
              </a:rPr>
              <a:t>設備狀況</a:t>
            </a:r>
            <a:r>
              <a:rPr lang="zh-TW" altLang="en-US" sz="1400" dirty="0"/>
              <a:t>和</a:t>
            </a:r>
            <a:r>
              <a:rPr lang="zh-TW" altLang="en-US" sz="1400" dirty="0">
                <a:solidFill>
                  <a:srgbClr val="FF0000"/>
                </a:solidFill>
              </a:rPr>
              <a:t>效率</a:t>
            </a:r>
            <a:endParaRPr lang="en-US" altLang="zh-TW" sz="1400" dirty="0">
              <a:solidFill>
                <a:srgbClr val="FF0000"/>
              </a:solidFill>
            </a:endParaRPr>
          </a:p>
        </p:txBody>
      </p:sp>
      <p:sp>
        <p:nvSpPr>
          <p:cNvPr id="9" name="文字方塊 8">
            <a:extLst>
              <a:ext uri="{FF2B5EF4-FFF2-40B4-BE49-F238E27FC236}">
                <a16:creationId xmlns:a16="http://schemas.microsoft.com/office/drawing/2014/main" id="{12E41578-60A4-1488-1F46-477597548C68}"/>
              </a:ext>
            </a:extLst>
          </p:cNvPr>
          <p:cNvSpPr txBox="1"/>
          <p:nvPr/>
        </p:nvSpPr>
        <p:spPr>
          <a:xfrm>
            <a:off x="280277" y="3328856"/>
            <a:ext cx="2536497" cy="830997"/>
          </a:xfrm>
          <a:prstGeom prst="rect">
            <a:avLst/>
          </a:prstGeom>
          <a:noFill/>
        </p:spPr>
        <p:txBody>
          <a:bodyPr wrap="square" rtlCol="0">
            <a:spAutoFit/>
          </a:bodyPr>
          <a:lstStyle/>
          <a:p>
            <a:pPr defTabSz="609523">
              <a:lnSpc>
                <a:spcPct val="100000"/>
              </a:lnSpc>
            </a:pPr>
            <a:r>
              <a:rPr lang="zh-TW" altLang="en-US" sz="1600" b="1" dirty="0">
                <a:solidFill>
                  <a:prstClr val="black"/>
                </a:solidFill>
                <a:latin typeface="Arial"/>
              </a:rPr>
              <a:t>線級和機台重要資訊：</a:t>
            </a:r>
            <a:endParaRPr lang="en-US" altLang="zh-TW" sz="1600" b="1"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600" dirty="0">
                <a:solidFill>
                  <a:prstClr val="black"/>
                </a:solidFill>
                <a:latin typeface="Arial"/>
              </a:rPr>
              <a:t>線別使用設備狀況</a:t>
            </a:r>
            <a:endParaRPr lang="en-US" altLang="zh-TW" sz="16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600" dirty="0">
                <a:solidFill>
                  <a:prstClr val="black"/>
                </a:solidFill>
                <a:latin typeface="Arial"/>
              </a:rPr>
              <a:t>各線別的生產產出量</a:t>
            </a:r>
            <a:endParaRPr lang="en-US" altLang="zh-TW" sz="1600" dirty="0">
              <a:solidFill>
                <a:prstClr val="black"/>
              </a:solidFill>
              <a:latin typeface="Arial"/>
            </a:endParaRPr>
          </a:p>
        </p:txBody>
      </p:sp>
      <p:sp>
        <p:nvSpPr>
          <p:cNvPr id="13" name="文字方塊 12">
            <a:extLst>
              <a:ext uri="{FF2B5EF4-FFF2-40B4-BE49-F238E27FC236}">
                <a16:creationId xmlns:a16="http://schemas.microsoft.com/office/drawing/2014/main" id="{0E62CCF1-24F9-3975-9130-E9FA7DDF6D8F}"/>
              </a:ext>
            </a:extLst>
          </p:cNvPr>
          <p:cNvSpPr txBox="1"/>
          <p:nvPr/>
        </p:nvSpPr>
        <p:spPr>
          <a:xfrm>
            <a:off x="3276179" y="5722139"/>
            <a:ext cx="3268133" cy="523220"/>
          </a:xfrm>
          <a:prstGeom prst="rect">
            <a:avLst/>
          </a:prstGeom>
          <a:noFill/>
        </p:spPr>
        <p:txBody>
          <a:bodyPr wrap="square" rtlCol="0">
            <a:spAutoFit/>
          </a:bodyPr>
          <a:lstStyle/>
          <a:p>
            <a:r>
              <a:rPr lang="zh-TW" altLang="en-US" sz="1400" dirty="0"/>
              <a:t>從設備機台停機時間找出</a:t>
            </a:r>
            <a:r>
              <a:rPr lang="zh-TW" altLang="en-US" sz="1400" dirty="0">
                <a:solidFill>
                  <a:srgbClr val="FF0000"/>
                </a:solidFill>
              </a:rPr>
              <a:t>設備利用率</a:t>
            </a:r>
            <a:r>
              <a:rPr lang="zh-TW" altLang="en-US" sz="1400" dirty="0"/>
              <a:t>和</a:t>
            </a:r>
            <a:r>
              <a:rPr lang="zh-TW" altLang="en-US" sz="1400" dirty="0">
                <a:solidFill>
                  <a:srgbClr val="FF0000"/>
                </a:solidFill>
              </a:rPr>
              <a:t>維護需求</a:t>
            </a:r>
            <a:endParaRPr lang="en-US" altLang="zh-TW" sz="1400" dirty="0">
              <a:solidFill>
                <a:srgbClr val="FF0000"/>
              </a:solidFill>
            </a:endParaRPr>
          </a:p>
        </p:txBody>
      </p:sp>
      <p:sp>
        <p:nvSpPr>
          <p:cNvPr id="14" name="文字方塊 13">
            <a:extLst>
              <a:ext uri="{FF2B5EF4-FFF2-40B4-BE49-F238E27FC236}">
                <a16:creationId xmlns:a16="http://schemas.microsoft.com/office/drawing/2014/main" id="{AA695DC2-8FC3-15AE-42F4-7EFD6AC69D14}"/>
              </a:ext>
            </a:extLst>
          </p:cNvPr>
          <p:cNvSpPr txBox="1"/>
          <p:nvPr/>
        </p:nvSpPr>
        <p:spPr>
          <a:xfrm>
            <a:off x="9220702" y="5722139"/>
            <a:ext cx="2707018" cy="523220"/>
          </a:xfrm>
          <a:prstGeom prst="rect">
            <a:avLst/>
          </a:prstGeom>
          <a:noFill/>
        </p:spPr>
        <p:txBody>
          <a:bodyPr wrap="square" rtlCol="0">
            <a:spAutoFit/>
          </a:bodyPr>
          <a:lstStyle/>
          <a:p>
            <a:r>
              <a:rPr lang="zh-TW" altLang="en-US" sz="1400" dirty="0"/>
              <a:t>同廠區不同產品產出量來確認</a:t>
            </a:r>
            <a:endParaRPr lang="en-US" altLang="zh-TW" sz="1400" dirty="0"/>
          </a:p>
          <a:p>
            <a:r>
              <a:rPr lang="zh-TW" altLang="en-US" sz="1400" dirty="0">
                <a:solidFill>
                  <a:srgbClr val="FF0000"/>
                </a:solidFill>
              </a:rPr>
              <a:t>資源分配是否合理</a:t>
            </a:r>
            <a:endParaRPr lang="en-US" altLang="zh-TW" sz="1400" dirty="0">
              <a:solidFill>
                <a:srgbClr val="FF0000"/>
              </a:solidFill>
            </a:endParaRPr>
          </a:p>
        </p:txBody>
      </p:sp>
      <p:sp>
        <p:nvSpPr>
          <p:cNvPr id="19" name="文字方塊 18">
            <a:extLst>
              <a:ext uri="{FF2B5EF4-FFF2-40B4-BE49-F238E27FC236}">
                <a16:creationId xmlns:a16="http://schemas.microsoft.com/office/drawing/2014/main" id="{479FA815-7380-6AE3-96F8-C9932D3EE95B}"/>
              </a:ext>
            </a:extLst>
          </p:cNvPr>
          <p:cNvSpPr txBox="1"/>
          <p:nvPr/>
        </p:nvSpPr>
        <p:spPr>
          <a:xfrm>
            <a:off x="6623824" y="3812677"/>
            <a:ext cx="2445804" cy="307777"/>
          </a:xfrm>
          <a:prstGeom prst="rect">
            <a:avLst/>
          </a:prstGeom>
          <a:noFill/>
        </p:spPr>
        <p:txBody>
          <a:bodyPr wrap="square" rtlCol="0">
            <a:spAutoFit/>
          </a:bodyPr>
          <a:lstStyle/>
          <a:p>
            <a:r>
              <a:rPr lang="zh-TW" altLang="en-US" sz="1400" dirty="0"/>
              <a:t>評估每條生產線的</a:t>
            </a:r>
            <a:r>
              <a:rPr lang="zh-TW" altLang="en-US" sz="1400" dirty="0">
                <a:solidFill>
                  <a:srgbClr val="FF0000"/>
                </a:solidFill>
              </a:rPr>
              <a:t>生產效率</a:t>
            </a:r>
            <a:endParaRPr lang="en-US" altLang="zh-TW" sz="1400" dirty="0">
              <a:solidFill>
                <a:srgbClr val="FF0000"/>
              </a:solidFill>
            </a:endParaRPr>
          </a:p>
        </p:txBody>
      </p:sp>
      <p:sp>
        <p:nvSpPr>
          <p:cNvPr id="23" name="文字方塊 22">
            <a:extLst>
              <a:ext uri="{FF2B5EF4-FFF2-40B4-BE49-F238E27FC236}">
                <a16:creationId xmlns:a16="http://schemas.microsoft.com/office/drawing/2014/main" id="{75301CEB-E3A6-1124-2C59-FCFB3E1A2781}"/>
              </a:ext>
            </a:extLst>
          </p:cNvPr>
          <p:cNvSpPr txBox="1"/>
          <p:nvPr/>
        </p:nvSpPr>
        <p:spPr>
          <a:xfrm>
            <a:off x="9220702" y="3812677"/>
            <a:ext cx="2707018" cy="307777"/>
          </a:xfrm>
          <a:prstGeom prst="rect">
            <a:avLst/>
          </a:prstGeom>
          <a:noFill/>
        </p:spPr>
        <p:txBody>
          <a:bodyPr wrap="square" rtlCol="0">
            <a:spAutoFit/>
          </a:bodyPr>
          <a:lstStyle/>
          <a:p>
            <a:r>
              <a:rPr lang="zh-TW" altLang="en-US" sz="1400" dirty="0"/>
              <a:t>評估每條生產線的</a:t>
            </a:r>
            <a:r>
              <a:rPr lang="zh-TW" altLang="en-US" sz="1400" dirty="0">
                <a:solidFill>
                  <a:srgbClr val="FF0000"/>
                </a:solidFill>
              </a:rPr>
              <a:t>設備生產效率</a:t>
            </a:r>
            <a:endParaRPr lang="en-US" altLang="zh-TW" sz="1400" dirty="0">
              <a:solidFill>
                <a:srgbClr val="FF0000"/>
              </a:solidFill>
            </a:endParaRPr>
          </a:p>
        </p:txBody>
      </p:sp>
      <p:sp>
        <p:nvSpPr>
          <p:cNvPr id="24" name="文字方塊 23">
            <a:extLst>
              <a:ext uri="{FF2B5EF4-FFF2-40B4-BE49-F238E27FC236}">
                <a16:creationId xmlns:a16="http://schemas.microsoft.com/office/drawing/2014/main" id="{E1636522-9B65-D2A5-A7E7-D3B436977B81}"/>
              </a:ext>
            </a:extLst>
          </p:cNvPr>
          <p:cNvSpPr txBox="1"/>
          <p:nvPr/>
        </p:nvSpPr>
        <p:spPr>
          <a:xfrm>
            <a:off x="6513683" y="5722138"/>
            <a:ext cx="2707019" cy="523220"/>
          </a:xfrm>
          <a:prstGeom prst="rect">
            <a:avLst/>
          </a:prstGeom>
          <a:noFill/>
        </p:spPr>
        <p:txBody>
          <a:bodyPr wrap="square" rtlCol="0">
            <a:spAutoFit/>
          </a:bodyPr>
          <a:lstStyle/>
          <a:p>
            <a:r>
              <a:rPr lang="zh-TW" altLang="en-US" sz="1400" dirty="0"/>
              <a:t>從生產線的各機台產出確認機台狀況</a:t>
            </a:r>
            <a:endParaRPr lang="en-US" altLang="zh-TW" sz="1400" dirty="0">
              <a:solidFill>
                <a:srgbClr val="FF0000"/>
              </a:solidFill>
            </a:endParaRPr>
          </a:p>
        </p:txBody>
      </p:sp>
      <p:sp>
        <p:nvSpPr>
          <p:cNvPr id="4" name="文字方塊 3">
            <a:extLst>
              <a:ext uri="{FF2B5EF4-FFF2-40B4-BE49-F238E27FC236}">
                <a16:creationId xmlns:a16="http://schemas.microsoft.com/office/drawing/2014/main" id="{FF583DA2-B8B6-2B84-6DF1-6A37A39F0FF3}"/>
              </a:ext>
            </a:extLst>
          </p:cNvPr>
          <p:cNvSpPr txBox="1"/>
          <p:nvPr/>
        </p:nvSpPr>
        <p:spPr>
          <a:xfrm>
            <a:off x="9384821" y="1081993"/>
            <a:ext cx="2284600" cy="338554"/>
          </a:xfrm>
          <a:prstGeom prst="rect">
            <a:avLst/>
          </a:prstGeom>
          <a:noFill/>
        </p:spPr>
        <p:txBody>
          <a:bodyPr wrap="none" rtlCol="0">
            <a:spAutoFit/>
          </a:bodyPr>
          <a:lstStyle/>
          <a:p>
            <a:r>
              <a:rPr lang="zh-TW" altLang="en-US" sz="1600" dirty="0"/>
              <a:t>實際 </a:t>
            </a:r>
            <a:r>
              <a:rPr lang="en-US" altLang="zh-TW" sz="1600" dirty="0"/>
              <a:t>: </a:t>
            </a:r>
            <a:r>
              <a:rPr lang="zh-TW" altLang="en-US" sz="1600" dirty="0"/>
              <a:t>機聯</a:t>
            </a:r>
            <a:r>
              <a:rPr lang="en-US" altLang="zh-TW" sz="1600" dirty="0"/>
              <a:t>+MES+PLM</a:t>
            </a:r>
            <a:endParaRPr lang="zh-TW" altLang="en-US" sz="1600" dirty="0"/>
          </a:p>
        </p:txBody>
      </p:sp>
      <p:sp>
        <p:nvSpPr>
          <p:cNvPr id="6" name="文字方塊 5">
            <a:extLst>
              <a:ext uri="{FF2B5EF4-FFF2-40B4-BE49-F238E27FC236}">
                <a16:creationId xmlns:a16="http://schemas.microsoft.com/office/drawing/2014/main" id="{4545D287-F69F-3775-7DEC-E197F058BF08}"/>
              </a:ext>
            </a:extLst>
          </p:cNvPr>
          <p:cNvSpPr txBox="1"/>
          <p:nvPr/>
        </p:nvSpPr>
        <p:spPr>
          <a:xfrm>
            <a:off x="2438400" y="3237070"/>
            <a:ext cx="1082348" cy="415498"/>
          </a:xfrm>
          <a:prstGeom prst="rect">
            <a:avLst/>
          </a:prstGeom>
          <a:noFill/>
        </p:spPr>
        <p:txBody>
          <a:bodyPr wrap="none" rtlCol="0">
            <a:spAutoFit/>
          </a:bodyPr>
          <a:lstStyle/>
          <a:p>
            <a:r>
              <a:rPr lang="zh-TW" altLang="en-US" sz="1200" dirty="0">
                <a:solidFill>
                  <a:srgbClr val="FF0000"/>
                </a:solidFill>
              </a:rPr>
              <a:t>產品維度</a:t>
            </a:r>
            <a:endParaRPr lang="en-US" altLang="zh-TW" sz="1200" dirty="0">
              <a:solidFill>
                <a:srgbClr val="FF0000"/>
              </a:solidFill>
            </a:endParaRPr>
          </a:p>
          <a:p>
            <a:r>
              <a:rPr lang="en-US" altLang="zh-TW" sz="900" dirty="0">
                <a:solidFill>
                  <a:srgbClr val="FF0000"/>
                </a:solidFill>
              </a:rPr>
              <a:t>(From MES/PLM)</a:t>
            </a:r>
            <a:endParaRPr lang="zh-TW" altLang="en-US" sz="900" dirty="0">
              <a:solidFill>
                <a:srgbClr val="FF0000"/>
              </a:solidFill>
            </a:endParaRPr>
          </a:p>
        </p:txBody>
      </p:sp>
      <p:sp>
        <p:nvSpPr>
          <p:cNvPr id="8" name="文字方塊 7">
            <a:extLst>
              <a:ext uri="{FF2B5EF4-FFF2-40B4-BE49-F238E27FC236}">
                <a16:creationId xmlns:a16="http://schemas.microsoft.com/office/drawing/2014/main" id="{AF79A2E9-4C68-D0F1-BD36-0500C4D11030}"/>
              </a:ext>
            </a:extLst>
          </p:cNvPr>
          <p:cNvSpPr txBox="1"/>
          <p:nvPr/>
        </p:nvSpPr>
        <p:spPr>
          <a:xfrm>
            <a:off x="2574582" y="1960826"/>
            <a:ext cx="800219" cy="276999"/>
          </a:xfrm>
          <a:prstGeom prst="rect">
            <a:avLst/>
          </a:prstGeom>
          <a:noFill/>
        </p:spPr>
        <p:txBody>
          <a:bodyPr wrap="none" rtlCol="0">
            <a:spAutoFit/>
          </a:bodyPr>
          <a:lstStyle/>
          <a:p>
            <a:r>
              <a:rPr lang="zh-TW" altLang="en-US" sz="1200" dirty="0">
                <a:solidFill>
                  <a:srgbClr val="FF0000"/>
                </a:solidFill>
              </a:rPr>
              <a:t>時間維度</a:t>
            </a:r>
          </a:p>
        </p:txBody>
      </p:sp>
      <p:sp>
        <p:nvSpPr>
          <p:cNvPr id="10" name="文字方塊 9">
            <a:extLst>
              <a:ext uri="{FF2B5EF4-FFF2-40B4-BE49-F238E27FC236}">
                <a16:creationId xmlns:a16="http://schemas.microsoft.com/office/drawing/2014/main" id="{8A897A2F-AB38-98E3-66BC-898591DBA84B}"/>
              </a:ext>
            </a:extLst>
          </p:cNvPr>
          <p:cNvSpPr txBox="1"/>
          <p:nvPr/>
        </p:nvSpPr>
        <p:spPr>
          <a:xfrm>
            <a:off x="2720426" y="2294653"/>
            <a:ext cx="954107" cy="276999"/>
          </a:xfrm>
          <a:prstGeom prst="rect">
            <a:avLst/>
          </a:prstGeom>
          <a:noFill/>
        </p:spPr>
        <p:txBody>
          <a:bodyPr wrap="none" rtlCol="0">
            <a:spAutoFit/>
          </a:bodyPr>
          <a:lstStyle/>
          <a:p>
            <a:r>
              <a:rPr lang="zh-TW" altLang="en-US" sz="1200" dirty="0">
                <a:solidFill>
                  <a:srgbClr val="FF0000"/>
                </a:solidFill>
              </a:rPr>
              <a:t>產品廠維度</a:t>
            </a:r>
          </a:p>
        </p:txBody>
      </p:sp>
    </p:spTree>
    <p:extLst>
      <p:ext uri="{BB962C8B-B14F-4D97-AF65-F5344CB8AC3E}">
        <p14:creationId xmlns:p14="http://schemas.microsoft.com/office/powerpoint/2010/main" val="1206190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FF74630B-E264-5362-F889-A01D0B80C3BD}"/>
              </a:ext>
            </a:extLst>
          </p:cNvPr>
          <p:cNvPicPr>
            <a:picLocks noChangeAspect="1"/>
          </p:cNvPicPr>
          <p:nvPr/>
        </p:nvPicPr>
        <p:blipFill>
          <a:blip r:embed="rId3"/>
          <a:stretch>
            <a:fillRect/>
          </a:stretch>
        </p:blipFill>
        <p:spPr>
          <a:xfrm>
            <a:off x="3674532" y="1126053"/>
            <a:ext cx="8404926" cy="4699157"/>
          </a:xfrm>
          <a:prstGeom prst="rect">
            <a:avLst/>
          </a:prstGeom>
        </p:spPr>
      </p:pic>
      <p:sp>
        <p:nvSpPr>
          <p:cNvPr id="3" name="標題 2">
            <a:extLst>
              <a:ext uri="{FF2B5EF4-FFF2-40B4-BE49-F238E27FC236}">
                <a16:creationId xmlns:a16="http://schemas.microsoft.com/office/drawing/2014/main" id="{00C9BAE7-29C5-D4EA-4E07-6C2A0BE7CB98}"/>
              </a:ext>
            </a:extLst>
          </p:cNvPr>
          <p:cNvSpPr>
            <a:spLocks noGrp="1"/>
          </p:cNvSpPr>
          <p:nvPr>
            <p:ph type="title"/>
          </p:nvPr>
        </p:nvSpPr>
        <p:spPr/>
        <p:txBody>
          <a:bodyPr/>
          <a:lstStyle/>
          <a:p>
            <a:pPr algn="ctr"/>
            <a:r>
              <a:rPr lang="en-US" altLang="zh-TW" dirty="0"/>
              <a:t>To Be : </a:t>
            </a:r>
            <a:r>
              <a:rPr lang="zh-TW" altLang="en-US" dirty="0"/>
              <a:t>可能的應用場景</a:t>
            </a:r>
          </a:p>
        </p:txBody>
      </p:sp>
      <p:sp>
        <p:nvSpPr>
          <p:cNvPr id="4" name="文字方塊 3">
            <a:extLst>
              <a:ext uri="{FF2B5EF4-FFF2-40B4-BE49-F238E27FC236}">
                <a16:creationId xmlns:a16="http://schemas.microsoft.com/office/drawing/2014/main" id="{32A96224-EC9D-5B3C-D747-265644DA494B}"/>
              </a:ext>
            </a:extLst>
          </p:cNvPr>
          <p:cNvSpPr txBox="1"/>
          <p:nvPr/>
        </p:nvSpPr>
        <p:spPr>
          <a:xfrm>
            <a:off x="406400" y="1119752"/>
            <a:ext cx="3268133" cy="646331"/>
          </a:xfrm>
          <a:prstGeom prst="rect">
            <a:avLst/>
          </a:prstGeom>
          <a:noFill/>
        </p:spPr>
        <p:txBody>
          <a:bodyPr wrap="square" rtlCol="0">
            <a:spAutoFit/>
          </a:bodyPr>
          <a:lstStyle/>
          <a:p>
            <a:r>
              <a:rPr lang="zh-CN" altLang="en-US" b="1" dirty="0">
                <a:solidFill>
                  <a:srgbClr val="0070C0"/>
                </a:solidFill>
                <a:latin typeface="+mn-ea"/>
              </a:rPr>
              <a:t>描述 </a:t>
            </a:r>
            <a:r>
              <a:rPr lang="en-US" altLang="zh-CN" b="1" dirty="0">
                <a:solidFill>
                  <a:srgbClr val="0070C0"/>
                </a:solidFill>
                <a:latin typeface="+mn-ea"/>
              </a:rPr>
              <a:t> </a:t>
            </a:r>
          </a:p>
          <a:p>
            <a:endParaRPr lang="zh-TW" altLang="en-US" b="1" dirty="0">
              <a:solidFill>
                <a:srgbClr val="0070C0"/>
              </a:solidFill>
              <a:latin typeface="+mn-ea"/>
            </a:endParaRPr>
          </a:p>
        </p:txBody>
      </p:sp>
      <p:sp>
        <p:nvSpPr>
          <p:cNvPr id="5" name="文字方塊 4">
            <a:extLst>
              <a:ext uri="{FF2B5EF4-FFF2-40B4-BE49-F238E27FC236}">
                <a16:creationId xmlns:a16="http://schemas.microsoft.com/office/drawing/2014/main" id="{ECBFBCC2-592C-A78D-D07A-E71F6F64CCE1}"/>
              </a:ext>
            </a:extLst>
          </p:cNvPr>
          <p:cNvSpPr txBox="1"/>
          <p:nvPr/>
        </p:nvSpPr>
        <p:spPr>
          <a:xfrm>
            <a:off x="406400" y="1629871"/>
            <a:ext cx="3268133" cy="1384995"/>
          </a:xfrm>
          <a:prstGeom prst="rect">
            <a:avLst/>
          </a:prstGeom>
          <a:noFill/>
        </p:spPr>
        <p:txBody>
          <a:bodyPr wrap="square" rtlCol="0">
            <a:spAutoFit/>
          </a:bodyPr>
          <a:lstStyle/>
          <a:p>
            <a:pPr defTabSz="609523">
              <a:lnSpc>
                <a:spcPct val="100000"/>
              </a:lnSpc>
            </a:pPr>
            <a:r>
              <a:rPr lang="zh-TW" altLang="en-US" sz="1400" dirty="0">
                <a:solidFill>
                  <a:prstClr val="black"/>
                </a:solidFill>
                <a:latin typeface="Arial"/>
                <a:ea typeface=""/>
                <a:cs typeface=""/>
              </a:rPr>
              <a:t>數據來源：</a:t>
            </a:r>
            <a:endParaRPr lang="en-US" altLang="zh-TW" sz="1400" dirty="0">
              <a:solidFill>
                <a:prstClr val="black"/>
              </a:solidFill>
              <a:latin typeface="Arial"/>
              <a:ea typeface=""/>
              <a:cs typeface=""/>
            </a:endParaRPr>
          </a:p>
          <a:p>
            <a:pPr marL="285750" indent="-285750" defTabSz="609523">
              <a:lnSpc>
                <a:spcPct val="100000"/>
              </a:lnSpc>
              <a:buFont typeface="Arial" panose="020B0604020202020204" pitchFamily="34" charset="0"/>
              <a:buChar char="•"/>
            </a:pPr>
            <a:r>
              <a:rPr lang="en-US" altLang="zh-TW" sz="1400" dirty="0"/>
              <a:t>PLM</a:t>
            </a:r>
            <a:r>
              <a:rPr lang="zh-TW" altLang="en-US" sz="1400" dirty="0"/>
              <a:t>：產品主檔資訊</a:t>
            </a:r>
            <a:endParaRPr lang="en-US" altLang="zh-TW" sz="1400" dirty="0"/>
          </a:p>
          <a:p>
            <a:pPr marL="285750" indent="-285750" defTabSz="609523">
              <a:buFont typeface="Arial" panose="020B0604020202020204" pitchFamily="34" charset="0"/>
              <a:buChar char="•"/>
            </a:pPr>
            <a:r>
              <a:rPr lang="zh-TW" altLang="en-US" sz="1400" dirty="0"/>
              <a:t>機聯：設備產出檔以取得機況、產出數等資訊</a:t>
            </a:r>
            <a:endParaRPr lang="en-US" altLang="zh-TW" sz="1400" dirty="0"/>
          </a:p>
          <a:p>
            <a:pPr marL="285750" indent="-285750" defTabSz="609523">
              <a:buFont typeface="Arial" panose="020B0604020202020204" pitchFamily="34" charset="0"/>
              <a:buChar char="•"/>
            </a:pPr>
            <a:r>
              <a:rPr lang="en-US" altLang="zh-TW" sz="1400" dirty="0"/>
              <a:t>MES</a:t>
            </a:r>
            <a:r>
              <a:rPr lang="zh-TW" altLang="en-US" sz="1400" dirty="0"/>
              <a:t> </a:t>
            </a:r>
            <a:r>
              <a:rPr lang="en-US" altLang="zh-TW" sz="1400" dirty="0"/>
              <a:t>:</a:t>
            </a:r>
            <a:r>
              <a:rPr lang="zh-TW" altLang="en-US" sz="1400" dirty="0"/>
              <a:t> 由 </a:t>
            </a:r>
            <a:r>
              <a:rPr lang="en-US" altLang="zh-TW" sz="1400" dirty="0"/>
              <a:t>MES</a:t>
            </a:r>
            <a:r>
              <a:rPr lang="zh-TW" altLang="en-US" sz="1400" dirty="0"/>
              <a:t> 資訊取得線別主檔和工單資訊</a:t>
            </a:r>
          </a:p>
        </p:txBody>
      </p:sp>
      <p:sp>
        <p:nvSpPr>
          <p:cNvPr id="9" name="文字方塊 8">
            <a:extLst>
              <a:ext uri="{FF2B5EF4-FFF2-40B4-BE49-F238E27FC236}">
                <a16:creationId xmlns:a16="http://schemas.microsoft.com/office/drawing/2014/main" id="{12E41578-60A4-1488-1F46-477597548C68}"/>
              </a:ext>
            </a:extLst>
          </p:cNvPr>
          <p:cNvSpPr txBox="1"/>
          <p:nvPr/>
        </p:nvSpPr>
        <p:spPr>
          <a:xfrm>
            <a:off x="406399" y="3279229"/>
            <a:ext cx="3268133" cy="954107"/>
          </a:xfrm>
          <a:prstGeom prst="rect">
            <a:avLst/>
          </a:prstGeom>
          <a:noFill/>
        </p:spPr>
        <p:txBody>
          <a:bodyPr wrap="square" rtlCol="0">
            <a:spAutoFit/>
          </a:bodyPr>
          <a:lstStyle/>
          <a:p>
            <a:pPr defTabSz="609523">
              <a:lnSpc>
                <a:spcPct val="100000"/>
              </a:lnSpc>
            </a:pPr>
            <a:r>
              <a:rPr lang="zh-TW" altLang="en-US" sz="1400" dirty="0">
                <a:solidFill>
                  <a:prstClr val="black"/>
                </a:solidFill>
                <a:latin typeface="Arial"/>
              </a:rPr>
              <a:t>廠級重要資訊</a:t>
            </a:r>
            <a:endParaRPr lang="en-US" altLang="zh-TW" sz="14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400" dirty="0">
                <a:solidFill>
                  <a:prstClr val="black"/>
                </a:solidFill>
                <a:latin typeface="Arial"/>
              </a:rPr>
              <a:t>生產效率分析改進</a:t>
            </a:r>
            <a:endParaRPr lang="en-US" altLang="zh-TW" sz="14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400" dirty="0"/>
              <a:t>產品廠資源分配優化</a:t>
            </a:r>
            <a:endParaRPr lang="en-US" altLang="zh-TW" sz="1400" dirty="0"/>
          </a:p>
          <a:p>
            <a:pPr marL="171450" indent="-171450" defTabSz="609523">
              <a:lnSpc>
                <a:spcPct val="100000"/>
              </a:lnSpc>
              <a:buFont typeface="Arial" panose="020B0604020202020204" pitchFamily="34" charset="0"/>
              <a:buChar char="•"/>
            </a:pPr>
            <a:r>
              <a:rPr lang="zh-TW" altLang="en-US" sz="1400" dirty="0"/>
              <a:t>生產問題識別</a:t>
            </a:r>
          </a:p>
        </p:txBody>
      </p:sp>
      <p:sp>
        <p:nvSpPr>
          <p:cNvPr id="8" name="文字方塊 7">
            <a:extLst>
              <a:ext uri="{FF2B5EF4-FFF2-40B4-BE49-F238E27FC236}">
                <a16:creationId xmlns:a16="http://schemas.microsoft.com/office/drawing/2014/main" id="{A9D5E9C8-1B97-48C0-BBAF-52E7F2412682}"/>
              </a:ext>
            </a:extLst>
          </p:cNvPr>
          <p:cNvSpPr txBox="1"/>
          <p:nvPr/>
        </p:nvSpPr>
        <p:spPr>
          <a:xfrm>
            <a:off x="8231642" y="5645832"/>
            <a:ext cx="3723550" cy="369332"/>
          </a:xfrm>
          <a:prstGeom prst="rect">
            <a:avLst/>
          </a:prstGeom>
          <a:noFill/>
        </p:spPr>
        <p:txBody>
          <a:bodyPr wrap="square" rtlCol="0">
            <a:spAutoFit/>
          </a:bodyPr>
          <a:lstStyle/>
          <a:p>
            <a:r>
              <a:rPr lang="zh-TW" altLang="en-US" dirty="0"/>
              <a:t>分析</a:t>
            </a:r>
            <a:r>
              <a:rPr lang="zh-TW" altLang="en-US" dirty="0">
                <a:solidFill>
                  <a:srgbClr val="FF0000"/>
                </a:solidFill>
              </a:rPr>
              <a:t>生產計劃合理性</a:t>
            </a:r>
            <a:r>
              <a:rPr lang="zh-TW" altLang="en-US" dirty="0"/>
              <a:t>和</a:t>
            </a:r>
            <a:r>
              <a:rPr lang="zh-TW" altLang="en-US" dirty="0">
                <a:solidFill>
                  <a:srgbClr val="FF0000"/>
                </a:solidFill>
              </a:rPr>
              <a:t>產能利用率</a:t>
            </a:r>
          </a:p>
        </p:txBody>
      </p:sp>
      <p:sp>
        <p:nvSpPr>
          <p:cNvPr id="12" name="文字方塊 11">
            <a:extLst>
              <a:ext uri="{FF2B5EF4-FFF2-40B4-BE49-F238E27FC236}">
                <a16:creationId xmlns:a16="http://schemas.microsoft.com/office/drawing/2014/main" id="{04C95701-392F-7EAD-3B94-46BF1708088C}"/>
              </a:ext>
            </a:extLst>
          </p:cNvPr>
          <p:cNvSpPr txBox="1"/>
          <p:nvPr/>
        </p:nvSpPr>
        <p:spPr>
          <a:xfrm>
            <a:off x="4388257" y="5640544"/>
            <a:ext cx="3129660" cy="369332"/>
          </a:xfrm>
          <a:prstGeom prst="rect">
            <a:avLst/>
          </a:prstGeom>
          <a:noFill/>
        </p:spPr>
        <p:txBody>
          <a:bodyPr wrap="square" rtlCol="0">
            <a:spAutoFit/>
          </a:bodyPr>
          <a:lstStyle/>
          <a:p>
            <a:r>
              <a:rPr lang="zh-TW" altLang="en-US" dirty="0"/>
              <a:t>分析</a:t>
            </a:r>
            <a:r>
              <a:rPr lang="en-US" altLang="zh-TW" dirty="0">
                <a:solidFill>
                  <a:srgbClr val="FF0000"/>
                </a:solidFill>
              </a:rPr>
              <a:t>MTD</a:t>
            </a:r>
            <a:r>
              <a:rPr lang="zh-TW" altLang="en-US" dirty="0">
                <a:solidFill>
                  <a:srgbClr val="FF0000"/>
                </a:solidFill>
              </a:rPr>
              <a:t> 趨勢</a:t>
            </a:r>
            <a:r>
              <a:rPr lang="zh-TW" altLang="en-US" dirty="0"/>
              <a:t>和</a:t>
            </a:r>
            <a:r>
              <a:rPr lang="zh-TW" altLang="en-US" dirty="0">
                <a:solidFill>
                  <a:srgbClr val="FF0000"/>
                </a:solidFill>
              </a:rPr>
              <a:t>生產穩定度</a:t>
            </a:r>
          </a:p>
        </p:txBody>
      </p:sp>
      <p:sp>
        <p:nvSpPr>
          <p:cNvPr id="2" name="文字方塊 1">
            <a:extLst>
              <a:ext uri="{FF2B5EF4-FFF2-40B4-BE49-F238E27FC236}">
                <a16:creationId xmlns:a16="http://schemas.microsoft.com/office/drawing/2014/main" id="{39214282-2269-0D4E-FBAF-0496DE39DACE}"/>
              </a:ext>
            </a:extLst>
          </p:cNvPr>
          <p:cNvSpPr txBox="1"/>
          <p:nvPr/>
        </p:nvSpPr>
        <p:spPr>
          <a:xfrm>
            <a:off x="9907400" y="766822"/>
            <a:ext cx="2284600" cy="338554"/>
          </a:xfrm>
          <a:prstGeom prst="rect">
            <a:avLst/>
          </a:prstGeom>
          <a:noFill/>
        </p:spPr>
        <p:txBody>
          <a:bodyPr wrap="none" rtlCol="0">
            <a:spAutoFit/>
          </a:bodyPr>
          <a:lstStyle/>
          <a:p>
            <a:r>
              <a:rPr lang="zh-TW" altLang="en-US" sz="1600" dirty="0"/>
              <a:t>模擬 </a:t>
            </a:r>
            <a:r>
              <a:rPr lang="en-US" altLang="zh-TW" sz="1600" dirty="0"/>
              <a:t>: </a:t>
            </a:r>
            <a:r>
              <a:rPr lang="zh-TW" altLang="en-US" sz="1600" dirty="0"/>
              <a:t>機聯</a:t>
            </a:r>
            <a:r>
              <a:rPr lang="en-US" altLang="zh-TW" sz="1600" dirty="0"/>
              <a:t>+MES+PLM</a:t>
            </a:r>
            <a:endParaRPr lang="zh-TW" altLang="en-US" sz="1600" dirty="0"/>
          </a:p>
        </p:txBody>
      </p:sp>
    </p:spTree>
    <p:extLst>
      <p:ext uri="{BB962C8B-B14F-4D97-AF65-F5344CB8AC3E}">
        <p14:creationId xmlns:p14="http://schemas.microsoft.com/office/powerpoint/2010/main" val="2057639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00C9BAE7-29C5-D4EA-4E07-6C2A0BE7CB98}"/>
              </a:ext>
            </a:extLst>
          </p:cNvPr>
          <p:cNvSpPr>
            <a:spLocks noGrp="1"/>
          </p:cNvSpPr>
          <p:nvPr>
            <p:ph type="title"/>
          </p:nvPr>
        </p:nvSpPr>
        <p:spPr/>
        <p:txBody>
          <a:bodyPr/>
          <a:lstStyle/>
          <a:p>
            <a:r>
              <a:rPr lang="en-US" altLang="zh-TW" dirty="0"/>
              <a:t>To Be : </a:t>
            </a:r>
            <a:r>
              <a:rPr lang="zh-TW" altLang="en-US" dirty="0"/>
              <a:t>可能的應用場景</a:t>
            </a:r>
          </a:p>
        </p:txBody>
      </p:sp>
      <p:sp>
        <p:nvSpPr>
          <p:cNvPr id="9" name="文字方塊 8">
            <a:extLst>
              <a:ext uri="{FF2B5EF4-FFF2-40B4-BE49-F238E27FC236}">
                <a16:creationId xmlns:a16="http://schemas.microsoft.com/office/drawing/2014/main" id="{12E41578-60A4-1488-1F46-477597548C68}"/>
              </a:ext>
            </a:extLst>
          </p:cNvPr>
          <p:cNvSpPr txBox="1"/>
          <p:nvPr/>
        </p:nvSpPr>
        <p:spPr>
          <a:xfrm>
            <a:off x="406400" y="3265041"/>
            <a:ext cx="4796466" cy="954107"/>
          </a:xfrm>
          <a:prstGeom prst="rect">
            <a:avLst/>
          </a:prstGeom>
          <a:noFill/>
        </p:spPr>
        <p:txBody>
          <a:bodyPr wrap="square" rtlCol="0">
            <a:spAutoFit/>
          </a:bodyPr>
          <a:lstStyle/>
          <a:p>
            <a:pPr defTabSz="609523">
              <a:lnSpc>
                <a:spcPct val="100000"/>
              </a:lnSpc>
            </a:pPr>
            <a:r>
              <a:rPr lang="zh-TW" altLang="en-US" sz="1400" dirty="0">
                <a:solidFill>
                  <a:prstClr val="black"/>
                </a:solidFill>
                <a:latin typeface="Arial"/>
              </a:rPr>
              <a:t>線級重要資訊：</a:t>
            </a:r>
            <a:endParaRPr lang="en-US" altLang="zh-TW" sz="14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400" dirty="0">
                <a:solidFill>
                  <a:prstClr val="black"/>
                </a:solidFill>
                <a:latin typeface="Arial"/>
              </a:rPr>
              <a:t>工單 </a:t>
            </a:r>
            <a:r>
              <a:rPr lang="en-US" altLang="zh-TW" sz="1400" dirty="0">
                <a:solidFill>
                  <a:prstClr val="black"/>
                </a:solidFill>
                <a:latin typeface="Arial"/>
              </a:rPr>
              <a:t>UPH </a:t>
            </a:r>
            <a:r>
              <a:rPr lang="zh-TW" altLang="en-US" sz="1400" dirty="0">
                <a:solidFill>
                  <a:prstClr val="black"/>
                </a:solidFill>
                <a:latin typeface="Arial"/>
              </a:rPr>
              <a:t>值的趨勢</a:t>
            </a:r>
            <a:endParaRPr lang="en-US" altLang="zh-TW" sz="14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400" dirty="0">
                <a:solidFill>
                  <a:prstClr val="black"/>
                </a:solidFill>
                <a:latin typeface="Arial"/>
              </a:rPr>
              <a:t>工單生產進度</a:t>
            </a:r>
            <a:endParaRPr lang="en-US" altLang="zh-TW" sz="1400" dirty="0">
              <a:solidFill>
                <a:prstClr val="black"/>
              </a:solidFill>
              <a:latin typeface="Arial"/>
            </a:endParaRPr>
          </a:p>
          <a:p>
            <a:pPr marL="171450" indent="-171450" defTabSz="609523">
              <a:lnSpc>
                <a:spcPct val="100000"/>
              </a:lnSpc>
              <a:buFont typeface="Arial" panose="020B0604020202020204" pitchFamily="34" charset="0"/>
              <a:buChar char="•"/>
            </a:pPr>
            <a:r>
              <a:rPr lang="zh-TW" altLang="en-US" sz="1400" dirty="0">
                <a:solidFill>
                  <a:prstClr val="black"/>
                </a:solidFill>
                <a:latin typeface="Arial"/>
              </a:rPr>
              <a:t>線別上設備狀態</a:t>
            </a:r>
            <a:endParaRPr lang="en-US" altLang="zh-TW" sz="1400" dirty="0">
              <a:solidFill>
                <a:prstClr val="black"/>
              </a:solidFill>
              <a:latin typeface="Arial"/>
            </a:endParaRPr>
          </a:p>
        </p:txBody>
      </p:sp>
      <p:sp>
        <p:nvSpPr>
          <p:cNvPr id="16" name="文字方塊 15">
            <a:extLst>
              <a:ext uri="{FF2B5EF4-FFF2-40B4-BE49-F238E27FC236}">
                <a16:creationId xmlns:a16="http://schemas.microsoft.com/office/drawing/2014/main" id="{7AAF33C1-553C-7503-40A6-6C0CE14CB5D6}"/>
              </a:ext>
            </a:extLst>
          </p:cNvPr>
          <p:cNvSpPr txBox="1"/>
          <p:nvPr/>
        </p:nvSpPr>
        <p:spPr>
          <a:xfrm>
            <a:off x="406400" y="1119752"/>
            <a:ext cx="3268133" cy="646331"/>
          </a:xfrm>
          <a:prstGeom prst="rect">
            <a:avLst/>
          </a:prstGeom>
          <a:noFill/>
        </p:spPr>
        <p:txBody>
          <a:bodyPr wrap="square" rtlCol="0">
            <a:spAutoFit/>
          </a:bodyPr>
          <a:lstStyle/>
          <a:p>
            <a:r>
              <a:rPr lang="zh-CN" altLang="en-US" b="1" dirty="0">
                <a:solidFill>
                  <a:srgbClr val="0070C0"/>
                </a:solidFill>
                <a:latin typeface="+mn-ea"/>
              </a:rPr>
              <a:t>描述 </a:t>
            </a:r>
            <a:r>
              <a:rPr lang="en-US" altLang="zh-CN" b="1" dirty="0">
                <a:solidFill>
                  <a:srgbClr val="0070C0"/>
                </a:solidFill>
                <a:latin typeface="+mn-ea"/>
              </a:rPr>
              <a:t> </a:t>
            </a:r>
          </a:p>
          <a:p>
            <a:endParaRPr lang="zh-TW" altLang="en-US" b="1" dirty="0">
              <a:solidFill>
                <a:srgbClr val="0070C0"/>
              </a:solidFill>
              <a:latin typeface="+mn-ea"/>
            </a:endParaRPr>
          </a:p>
        </p:txBody>
      </p:sp>
      <p:sp>
        <p:nvSpPr>
          <p:cNvPr id="2" name="文字方塊 1">
            <a:extLst>
              <a:ext uri="{FF2B5EF4-FFF2-40B4-BE49-F238E27FC236}">
                <a16:creationId xmlns:a16="http://schemas.microsoft.com/office/drawing/2014/main" id="{1C3A0C9B-1CD0-5FB4-624E-CDBB9CAED0B8}"/>
              </a:ext>
            </a:extLst>
          </p:cNvPr>
          <p:cNvSpPr txBox="1"/>
          <p:nvPr/>
        </p:nvSpPr>
        <p:spPr>
          <a:xfrm>
            <a:off x="406400" y="1629871"/>
            <a:ext cx="3268133" cy="1384995"/>
          </a:xfrm>
          <a:prstGeom prst="rect">
            <a:avLst/>
          </a:prstGeom>
          <a:noFill/>
        </p:spPr>
        <p:txBody>
          <a:bodyPr wrap="square" rtlCol="0">
            <a:spAutoFit/>
          </a:bodyPr>
          <a:lstStyle/>
          <a:p>
            <a:pPr defTabSz="609523">
              <a:lnSpc>
                <a:spcPct val="100000"/>
              </a:lnSpc>
            </a:pPr>
            <a:r>
              <a:rPr lang="zh-TW" altLang="en-US" sz="1400" dirty="0">
                <a:solidFill>
                  <a:prstClr val="black"/>
                </a:solidFill>
                <a:latin typeface="Arial"/>
                <a:ea typeface=""/>
                <a:cs typeface=""/>
              </a:rPr>
              <a:t>預計數據來源：</a:t>
            </a:r>
            <a:endParaRPr lang="en-US" altLang="zh-TW" sz="1400" dirty="0">
              <a:solidFill>
                <a:prstClr val="black"/>
              </a:solidFill>
              <a:latin typeface="Arial"/>
              <a:ea typeface=""/>
              <a:cs typeface=""/>
            </a:endParaRPr>
          </a:p>
          <a:p>
            <a:pPr marL="285750" indent="-285750" defTabSz="609523">
              <a:lnSpc>
                <a:spcPct val="100000"/>
              </a:lnSpc>
              <a:buFont typeface="Arial" panose="020B0604020202020204" pitchFamily="34" charset="0"/>
              <a:buChar char="•"/>
            </a:pPr>
            <a:r>
              <a:rPr lang="zh-TW" altLang="en-US" sz="1400" dirty="0"/>
              <a:t>機聯：設備產出檔以取得機況、產出數等資訊</a:t>
            </a:r>
            <a:endParaRPr lang="en-US" altLang="zh-TW" sz="1400" dirty="0"/>
          </a:p>
          <a:p>
            <a:pPr marL="285750" indent="-285750" defTabSz="609523">
              <a:buFont typeface="Arial" panose="020B0604020202020204" pitchFamily="34" charset="0"/>
              <a:buChar char="•"/>
            </a:pPr>
            <a:r>
              <a:rPr lang="en-US" altLang="zh-TW" sz="1400" dirty="0"/>
              <a:t>MES</a:t>
            </a:r>
            <a:r>
              <a:rPr lang="zh-TW" altLang="en-US" sz="1400" dirty="0"/>
              <a:t> </a:t>
            </a:r>
            <a:r>
              <a:rPr lang="en-US" altLang="zh-TW" sz="1400" dirty="0"/>
              <a:t>:</a:t>
            </a:r>
            <a:r>
              <a:rPr lang="zh-TW" altLang="en-US" sz="1400" dirty="0"/>
              <a:t> 由</a:t>
            </a:r>
            <a:r>
              <a:rPr lang="en-US" altLang="zh-TW" sz="1400" dirty="0"/>
              <a:t>MES </a:t>
            </a:r>
            <a:r>
              <a:rPr lang="zh-TW" altLang="en-US" sz="1400" dirty="0"/>
              <a:t>資訊取得線別主檔和工單資訊</a:t>
            </a:r>
            <a:endParaRPr lang="en-US" altLang="zh-TW" sz="1400" dirty="0"/>
          </a:p>
          <a:p>
            <a:pPr marL="285750" indent="-285750" defTabSz="609523">
              <a:buFont typeface="Arial" panose="020B0604020202020204" pitchFamily="34" charset="0"/>
              <a:buChar char="•"/>
            </a:pPr>
            <a:r>
              <a:rPr lang="en-US" altLang="zh-TW" sz="1400" dirty="0"/>
              <a:t>SAP/ERP : </a:t>
            </a:r>
            <a:r>
              <a:rPr lang="zh-TW" altLang="en-US" sz="1400" dirty="0"/>
              <a:t>取得規劃的生產目標</a:t>
            </a:r>
          </a:p>
        </p:txBody>
      </p:sp>
      <p:sp>
        <p:nvSpPr>
          <p:cNvPr id="12" name="文字方塊 11">
            <a:extLst>
              <a:ext uri="{FF2B5EF4-FFF2-40B4-BE49-F238E27FC236}">
                <a16:creationId xmlns:a16="http://schemas.microsoft.com/office/drawing/2014/main" id="{5EDA773A-3A3C-FD1D-38F9-74F05A0D6560}"/>
              </a:ext>
            </a:extLst>
          </p:cNvPr>
          <p:cNvSpPr txBox="1"/>
          <p:nvPr/>
        </p:nvSpPr>
        <p:spPr>
          <a:xfrm>
            <a:off x="8516679" y="5484830"/>
            <a:ext cx="1052623" cy="369332"/>
          </a:xfrm>
          <a:prstGeom prst="rect">
            <a:avLst/>
          </a:prstGeom>
          <a:noFill/>
        </p:spPr>
        <p:txBody>
          <a:bodyPr wrap="square" rtlCol="0">
            <a:spAutoFit/>
          </a:bodyPr>
          <a:lstStyle/>
          <a:p>
            <a:r>
              <a:rPr lang="en-US" altLang="zh-TW" dirty="0"/>
              <a:t>110/200</a:t>
            </a:r>
            <a:endParaRPr lang="zh-TW" altLang="en-US" dirty="0"/>
          </a:p>
        </p:txBody>
      </p:sp>
      <p:grpSp>
        <p:nvGrpSpPr>
          <p:cNvPr id="17" name="群組 16">
            <a:extLst>
              <a:ext uri="{FF2B5EF4-FFF2-40B4-BE49-F238E27FC236}">
                <a16:creationId xmlns:a16="http://schemas.microsoft.com/office/drawing/2014/main" id="{B73072CF-79E4-4B94-CA87-F000CD3AE3C2}"/>
              </a:ext>
            </a:extLst>
          </p:cNvPr>
          <p:cNvGrpSpPr/>
          <p:nvPr/>
        </p:nvGrpSpPr>
        <p:grpSpPr>
          <a:xfrm>
            <a:off x="5531195" y="143913"/>
            <a:ext cx="6689059" cy="6547871"/>
            <a:chOff x="5472759" y="155064"/>
            <a:chExt cx="6689059" cy="6547871"/>
          </a:xfrm>
        </p:grpSpPr>
        <p:pic>
          <p:nvPicPr>
            <p:cNvPr id="15" name="圖片 14">
              <a:extLst>
                <a:ext uri="{FF2B5EF4-FFF2-40B4-BE49-F238E27FC236}">
                  <a16:creationId xmlns:a16="http://schemas.microsoft.com/office/drawing/2014/main" id="{C628C764-DC38-A2F6-7674-10AF84E6C84A}"/>
                </a:ext>
              </a:extLst>
            </p:cNvPr>
            <p:cNvPicPr>
              <a:picLocks noChangeAspect="1"/>
            </p:cNvPicPr>
            <p:nvPr/>
          </p:nvPicPr>
          <p:blipFill>
            <a:blip r:embed="rId3"/>
            <a:stretch>
              <a:fillRect/>
            </a:stretch>
          </p:blipFill>
          <p:spPr>
            <a:xfrm>
              <a:off x="5472759" y="155064"/>
              <a:ext cx="6419166" cy="6547871"/>
            </a:xfrm>
            <a:prstGeom prst="rect">
              <a:avLst/>
            </a:prstGeom>
          </p:spPr>
        </p:pic>
        <p:sp>
          <p:nvSpPr>
            <p:cNvPr id="4" name="文字方塊 3">
              <a:extLst>
                <a:ext uri="{FF2B5EF4-FFF2-40B4-BE49-F238E27FC236}">
                  <a16:creationId xmlns:a16="http://schemas.microsoft.com/office/drawing/2014/main" id="{65B1C2A4-1BB3-7A8B-9761-8A1C0112901A}"/>
                </a:ext>
              </a:extLst>
            </p:cNvPr>
            <p:cNvSpPr txBox="1"/>
            <p:nvPr/>
          </p:nvSpPr>
          <p:spPr>
            <a:xfrm>
              <a:off x="9718863" y="2323931"/>
              <a:ext cx="2442955" cy="646331"/>
            </a:xfrm>
            <a:prstGeom prst="rect">
              <a:avLst/>
            </a:prstGeom>
            <a:noFill/>
          </p:spPr>
          <p:txBody>
            <a:bodyPr wrap="square" rtlCol="0">
              <a:spAutoFit/>
            </a:bodyPr>
            <a:lstStyle/>
            <a:p>
              <a:r>
                <a:rPr lang="zh-TW" altLang="en-US" dirty="0"/>
                <a:t>分析當天的</a:t>
              </a:r>
              <a:r>
                <a:rPr lang="en-US" altLang="zh-TW" dirty="0">
                  <a:solidFill>
                    <a:srgbClr val="FF0000"/>
                  </a:solidFill>
                </a:rPr>
                <a:t>UPH</a:t>
              </a:r>
              <a:r>
                <a:rPr lang="zh-TW" altLang="en-US" dirty="0">
                  <a:solidFill>
                    <a:srgbClr val="FF0000"/>
                  </a:solidFill>
                </a:rPr>
                <a:t>趨勢</a:t>
              </a:r>
              <a:endParaRPr lang="en-US" altLang="zh-TW" dirty="0">
                <a:solidFill>
                  <a:srgbClr val="FF0000"/>
                </a:solidFill>
              </a:endParaRPr>
            </a:p>
            <a:p>
              <a:r>
                <a:rPr lang="zh-TW" altLang="en-US" dirty="0"/>
                <a:t>追查瓶頸原因</a:t>
              </a:r>
              <a:endParaRPr lang="en-US" altLang="zh-TW" dirty="0"/>
            </a:p>
          </p:txBody>
        </p:sp>
      </p:grpSp>
      <p:sp>
        <p:nvSpPr>
          <p:cNvPr id="5" name="文字方塊 4">
            <a:extLst>
              <a:ext uri="{FF2B5EF4-FFF2-40B4-BE49-F238E27FC236}">
                <a16:creationId xmlns:a16="http://schemas.microsoft.com/office/drawing/2014/main" id="{496B13B2-0E5C-CC6C-2AB5-1ACBD79A860F}"/>
              </a:ext>
            </a:extLst>
          </p:cNvPr>
          <p:cNvSpPr txBox="1"/>
          <p:nvPr/>
        </p:nvSpPr>
        <p:spPr>
          <a:xfrm>
            <a:off x="4220326" y="6544810"/>
            <a:ext cx="3764172" cy="338554"/>
          </a:xfrm>
          <a:prstGeom prst="rect">
            <a:avLst/>
          </a:prstGeom>
          <a:noFill/>
        </p:spPr>
        <p:txBody>
          <a:bodyPr wrap="none" rtlCol="0">
            <a:spAutoFit/>
          </a:bodyPr>
          <a:lstStyle/>
          <a:p>
            <a:r>
              <a:rPr lang="zh-TW" altLang="en-US" sz="1600" dirty="0"/>
              <a:t>模擬 </a:t>
            </a:r>
            <a:r>
              <a:rPr lang="en-US" altLang="zh-TW" sz="1600" dirty="0"/>
              <a:t>: </a:t>
            </a:r>
            <a:r>
              <a:rPr lang="zh-TW" altLang="en-US" sz="1600" dirty="0"/>
              <a:t>機聯數據</a:t>
            </a:r>
            <a:r>
              <a:rPr lang="en-US" altLang="zh-TW" sz="1600" dirty="0"/>
              <a:t>+MES+PLM+SAP+ERP</a:t>
            </a:r>
            <a:endParaRPr lang="zh-TW" altLang="en-US" sz="1600" dirty="0"/>
          </a:p>
        </p:txBody>
      </p:sp>
    </p:spTree>
    <p:extLst>
      <p:ext uri="{BB962C8B-B14F-4D97-AF65-F5344CB8AC3E}">
        <p14:creationId xmlns:p14="http://schemas.microsoft.com/office/powerpoint/2010/main" val="3490880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C4AD7A74-E645-08C8-9048-774D1725B5F1}"/>
              </a:ext>
            </a:extLst>
          </p:cNvPr>
          <p:cNvSpPr>
            <a:spLocks noGrp="1"/>
          </p:cNvSpPr>
          <p:nvPr>
            <p:ph idx="1"/>
          </p:nvPr>
        </p:nvSpPr>
        <p:spPr/>
        <p:txBody>
          <a:bodyPr>
            <a:normAutofit/>
          </a:bodyPr>
          <a:lstStyle/>
          <a:p>
            <a:pPr marL="228589" lvl="1">
              <a:lnSpc>
                <a:spcPct val="150000"/>
              </a:lnSpc>
              <a:spcBef>
                <a:spcPts val="1000"/>
              </a:spcBef>
            </a:pPr>
            <a:r>
              <a:rPr lang="en-US" altLang="zh-TW" sz="2000" b="1" dirty="0">
                <a:solidFill>
                  <a:srgbClr val="404040"/>
                </a:solidFill>
              </a:rPr>
              <a:t>VM </a:t>
            </a:r>
            <a:r>
              <a:rPr lang="zh-TW" altLang="en-US" sz="2000" b="1" dirty="0">
                <a:solidFill>
                  <a:srgbClr val="404040"/>
                </a:solidFill>
              </a:rPr>
              <a:t>部署和服務架設</a:t>
            </a:r>
            <a:endParaRPr lang="en-US" altLang="zh-TW" sz="2000" b="1" dirty="0">
              <a:solidFill>
                <a:srgbClr val="404040"/>
              </a:solidFill>
            </a:endParaRPr>
          </a:p>
          <a:p>
            <a:pPr lvl="1">
              <a:lnSpc>
                <a:spcPct val="100000"/>
              </a:lnSpc>
              <a:buFont typeface="Wingdings" panose="05000000000000000000" pitchFamily="2" charset="2"/>
              <a:buChar char="Ø"/>
            </a:pPr>
            <a:r>
              <a:rPr lang="zh-TW" altLang="en-US" sz="1800" dirty="0">
                <a:solidFill>
                  <a:srgbClr val="404040"/>
                </a:solidFill>
                <a:latin typeface="Arial" panose="020B0604020202020204" pitchFamily="34" charset="0"/>
                <a:ea typeface="微軟正黑體" panose="020B0604030504040204" pitchFamily="34" charset="-120"/>
              </a:rPr>
              <a:t>資源：在</a:t>
            </a:r>
            <a:r>
              <a:rPr lang="en-US" altLang="zh-TW" sz="1800" dirty="0">
                <a:solidFill>
                  <a:srgbClr val="404040"/>
                </a:solidFill>
                <a:latin typeface="Arial" panose="020B0604020202020204" pitchFamily="34" charset="0"/>
                <a:ea typeface="微軟正黑體" panose="020B0604030504040204" pitchFamily="34" charset="-120"/>
              </a:rPr>
              <a:t>4</a:t>
            </a:r>
            <a:r>
              <a:rPr lang="zh-TW" altLang="en-US" sz="1800" dirty="0">
                <a:solidFill>
                  <a:srgbClr val="404040"/>
                </a:solidFill>
                <a:latin typeface="Arial" panose="020B0604020202020204" pitchFamily="34" charset="0"/>
                <a:ea typeface="微軟正黑體" panose="020B0604030504040204" pitchFamily="34" charset="-120"/>
              </a:rPr>
              <a:t>台</a:t>
            </a:r>
            <a:r>
              <a:rPr lang="en-US" altLang="zh-TW" sz="1800" dirty="0">
                <a:solidFill>
                  <a:srgbClr val="404040"/>
                </a:solidFill>
                <a:latin typeface="Arial" panose="020B0604020202020204" pitchFamily="34" charset="0"/>
                <a:ea typeface="微軟正黑體" panose="020B0604030504040204" pitchFamily="34" charset="-120"/>
              </a:rPr>
              <a:t>VM</a:t>
            </a:r>
            <a:r>
              <a:rPr lang="zh-TW" altLang="en-US" sz="1800" dirty="0">
                <a:solidFill>
                  <a:srgbClr val="404040"/>
                </a:solidFill>
                <a:latin typeface="Arial" panose="020B0604020202020204" pitchFamily="34" charset="0"/>
                <a:ea typeface="微軟正黑體" panose="020B0604030504040204" pitchFamily="34" charset="-120"/>
              </a:rPr>
              <a:t>成功部署並運行了 </a:t>
            </a:r>
            <a:r>
              <a:rPr lang="en-US" altLang="zh-TW" sz="1800" dirty="0">
                <a:solidFill>
                  <a:srgbClr val="404040"/>
                </a:solidFill>
                <a:latin typeface="Arial" panose="020B0604020202020204" pitchFamily="34" charset="0"/>
                <a:ea typeface="微軟正黑體" panose="020B0604030504040204" pitchFamily="34" charset="-120"/>
              </a:rPr>
              <a:t>20+</a:t>
            </a:r>
            <a:r>
              <a:rPr lang="zh-TW" altLang="en-US" sz="1800" dirty="0">
                <a:solidFill>
                  <a:srgbClr val="404040"/>
                </a:solidFill>
                <a:latin typeface="Arial" panose="020B0604020202020204" pitchFamily="34" charset="0"/>
                <a:ea typeface="微軟正黑體" panose="020B0604030504040204" pitchFamily="34" charset="-120"/>
              </a:rPr>
              <a:t> 個數據平台相關的服務</a:t>
            </a: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00000"/>
              </a:lnSpc>
              <a:buFont typeface="Wingdings" panose="05000000000000000000" pitchFamily="2" charset="2"/>
              <a:buChar char="Ø"/>
            </a:pPr>
            <a:r>
              <a:rPr lang="zh-TW" altLang="en-US" sz="1800" dirty="0">
                <a:solidFill>
                  <a:srgbClr val="404040"/>
                </a:solidFill>
                <a:latin typeface="Arial" panose="020B0604020202020204" pitchFamily="34" charset="0"/>
                <a:ea typeface="微軟正黑體" panose="020B0604030504040204" pitchFamily="34" charset="-120"/>
              </a:rPr>
              <a:t>留存安裝步驟和故障排除經驗 </a:t>
            </a:r>
            <a:r>
              <a:rPr lang="en-US" altLang="zh-TW" sz="1800" dirty="0">
                <a:solidFill>
                  <a:srgbClr val="404040"/>
                </a:solidFill>
                <a:latin typeface="Arial" panose="020B0604020202020204" pitchFamily="34" charset="0"/>
                <a:ea typeface="微軟正黑體" panose="020B0604030504040204" pitchFamily="34" charset="-120"/>
              </a:rPr>
              <a:t>, </a:t>
            </a:r>
            <a:r>
              <a:rPr lang="zh-TW" altLang="en-US" sz="1800" dirty="0">
                <a:solidFill>
                  <a:srgbClr val="404040"/>
                </a:solidFill>
                <a:latin typeface="Arial" panose="020B0604020202020204" pitchFamily="34" charset="0"/>
                <a:ea typeface="微軟正黑體" panose="020B0604030504040204" pitchFamily="34" charset="-120"/>
              </a:rPr>
              <a:t>請見</a:t>
            </a:r>
            <a:r>
              <a:rPr lang="zh-TW" altLang="en-US" sz="1800" dirty="0">
                <a:solidFill>
                  <a:schemeClr val="tx2"/>
                </a:solidFill>
                <a:latin typeface="Arial" panose="020B0604020202020204" pitchFamily="34" charset="0"/>
                <a:ea typeface="微軟正黑體" panose="020B0604030504040204" pitchFamily="34" charset="-120"/>
                <a:hlinkClick r:id="rId2">
                  <a:extLst>
                    <a:ext uri="{A12FA001-AC4F-418D-AE19-62706E023703}">
                      <ahyp:hlinkClr xmlns:ahyp="http://schemas.microsoft.com/office/drawing/2018/hyperlinkcolor" val="tx"/>
                    </a:ext>
                  </a:extLst>
                </a:hlinkClick>
              </a:rPr>
              <a:t>選型報告書</a:t>
            </a:r>
            <a:r>
              <a:rPr lang="zh-TW" altLang="en-US" sz="1800" dirty="0">
                <a:solidFill>
                  <a:srgbClr val="404040"/>
                </a:solidFill>
                <a:latin typeface="Arial" panose="020B0604020202020204" pitchFamily="34" charset="0"/>
                <a:ea typeface="微軟正黑體" panose="020B0604030504040204" pitchFamily="34" charset="-120"/>
              </a:rPr>
              <a:t>附錄部分</a:t>
            </a: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p:txBody>
      </p:sp>
      <p:sp>
        <p:nvSpPr>
          <p:cNvPr id="3" name="標題 2">
            <a:extLst>
              <a:ext uri="{FF2B5EF4-FFF2-40B4-BE49-F238E27FC236}">
                <a16:creationId xmlns:a16="http://schemas.microsoft.com/office/drawing/2014/main" id="{BAD9D964-616D-7B8B-3D31-139EDE238980}"/>
              </a:ext>
            </a:extLst>
          </p:cNvPr>
          <p:cNvSpPr>
            <a:spLocks noGrp="1"/>
          </p:cNvSpPr>
          <p:nvPr>
            <p:ph type="title"/>
          </p:nvPr>
        </p:nvSpPr>
        <p:spPr/>
        <p:txBody>
          <a:bodyPr/>
          <a:lstStyle/>
          <a:p>
            <a:r>
              <a:rPr lang="zh-CN" altLang="en-US" sz="3200" dirty="0">
                <a:solidFill>
                  <a:srgbClr val="0087DC"/>
                </a:solidFill>
              </a:rPr>
              <a:t>交付與驗收</a:t>
            </a:r>
            <a:r>
              <a:rPr lang="zh-TW" altLang="en-US" sz="3200" dirty="0">
                <a:solidFill>
                  <a:srgbClr val="0087DC"/>
                </a:solidFill>
              </a:rPr>
              <a:t> </a:t>
            </a:r>
            <a:r>
              <a:rPr lang="en-US" altLang="zh-TW" sz="3200" dirty="0">
                <a:solidFill>
                  <a:srgbClr val="0087DC"/>
                </a:solidFill>
              </a:rPr>
              <a:t>– </a:t>
            </a:r>
            <a:r>
              <a:rPr lang="zh-TW" altLang="en-US" sz="3200" dirty="0">
                <a:solidFill>
                  <a:srgbClr val="0087DC"/>
                </a:solidFill>
              </a:rPr>
              <a:t>交付物說明</a:t>
            </a:r>
            <a:endParaRPr lang="zh-TW" altLang="en-US" dirty="0"/>
          </a:p>
        </p:txBody>
      </p:sp>
      <p:graphicFrame>
        <p:nvGraphicFramePr>
          <p:cNvPr id="4" name="表格 3">
            <a:extLst>
              <a:ext uri="{FF2B5EF4-FFF2-40B4-BE49-F238E27FC236}">
                <a16:creationId xmlns:a16="http://schemas.microsoft.com/office/drawing/2014/main" id="{95533A3A-342F-9913-1FA9-DC56A8020936}"/>
              </a:ext>
            </a:extLst>
          </p:cNvPr>
          <p:cNvGraphicFramePr>
            <a:graphicFrameLocks noGrp="1"/>
          </p:cNvGraphicFramePr>
          <p:nvPr>
            <p:extLst>
              <p:ext uri="{D42A27DB-BD31-4B8C-83A1-F6EECF244321}">
                <p14:modId xmlns:p14="http://schemas.microsoft.com/office/powerpoint/2010/main" val="3597556268"/>
              </p:ext>
            </p:extLst>
          </p:nvPr>
        </p:nvGraphicFramePr>
        <p:xfrm>
          <a:off x="1204686" y="7460150"/>
          <a:ext cx="10580914" cy="18542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3162808197"/>
                    </a:ext>
                  </a:extLst>
                </a:gridCol>
                <a:gridCol w="8203474">
                  <a:extLst>
                    <a:ext uri="{9D8B030D-6E8A-4147-A177-3AD203B41FA5}">
                      <a16:colId xmlns:a16="http://schemas.microsoft.com/office/drawing/2014/main" val="2166387516"/>
                    </a:ext>
                  </a:extLst>
                </a:gridCol>
              </a:tblGrid>
              <a:tr h="370840">
                <a:tc>
                  <a:txBody>
                    <a:bodyPr/>
                    <a:lstStyle/>
                    <a:p>
                      <a:r>
                        <a:rPr lang="en-US" altLang="zh-TW" sz="1400" dirty="0"/>
                        <a:t>VM</a:t>
                      </a:r>
                      <a:r>
                        <a:rPr lang="zh-TW" altLang="en-US" sz="1400" dirty="0"/>
                        <a:t> </a:t>
                      </a:r>
                    </a:p>
                  </a:txBody>
                  <a:tcPr/>
                </a:tc>
                <a:tc>
                  <a:txBody>
                    <a:bodyPr/>
                    <a:lstStyle/>
                    <a:p>
                      <a:r>
                        <a:rPr lang="zh-TW" altLang="en-US" sz="1400" dirty="0"/>
                        <a:t>目的</a:t>
                      </a:r>
                    </a:p>
                  </a:txBody>
                  <a:tcPr/>
                </a:tc>
                <a:extLst>
                  <a:ext uri="{0D108BD9-81ED-4DB2-BD59-A6C34878D82A}">
                    <a16:rowId xmlns:a16="http://schemas.microsoft.com/office/drawing/2014/main" val="2007556278"/>
                  </a:ext>
                </a:extLst>
              </a:tr>
              <a:tr h="370840">
                <a:tc>
                  <a:txBody>
                    <a:bodyPr/>
                    <a:lstStyle/>
                    <a:p>
                      <a:r>
                        <a:rPr lang="en-US" altLang="zh-TW" sz="1400" b="0" i="0" kern="1200" dirty="0">
                          <a:solidFill>
                            <a:schemeClr val="dk1"/>
                          </a:solidFill>
                          <a:effectLst/>
                          <a:latin typeface="+mn-lt"/>
                          <a:ea typeface="+mn-ea"/>
                          <a:cs typeface="+mn-cs"/>
                        </a:rPr>
                        <a:t>TWTPEAITMFGDP01</a:t>
                      </a:r>
                      <a:endParaRPr lang="zh-TW" altLang="en-US" sz="1400" dirty="0"/>
                    </a:p>
                  </a:txBody>
                  <a:tcPr/>
                </a:tc>
                <a:tc>
                  <a:txBody>
                    <a:bodyPr/>
                    <a:lstStyle/>
                    <a:p>
                      <a:r>
                        <a:rPr lang="zh-TW" altLang="en-US" sz="1400" dirty="0"/>
                        <a:t>調度節點</a:t>
                      </a:r>
                    </a:p>
                  </a:txBody>
                  <a:tcPr/>
                </a:tc>
                <a:extLst>
                  <a:ext uri="{0D108BD9-81ED-4DB2-BD59-A6C34878D82A}">
                    <a16:rowId xmlns:a16="http://schemas.microsoft.com/office/drawing/2014/main" val="1788815148"/>
                  </a:ext>
                </a:extLst>
              </a:tr>
              <a:tr h="370840">
                <a:tc>
                  <a:txBody>
                    <a:bodyPr/>
                    <a:lstStyle/>
                    <a:p>
                      <a:r>
                        <a:rPr lang="en-US" altLang="zh-TW" sz="1400" b="0" i="0" kern="1200" dirty="0">
                          <a:solidFill>
                            <a:schemeClr val="dk1"/>
                          </a:solidFill>
                          <a:effectLst/>
                          <a:latin typeface="+mn-lt"/>
                          <a:ea typeface="+mn-ea"/>
                          <a:cs typeface="+mn-cs"/>
                        </a:rPr>
                        <a:t>TWTPEAITMFGDP02</a:t>
                      </a:r>
                      <a:endParaRPr lang="zh-TW" altLang="en-US" sz="1400" dirty="0"/>
                    </a:p>
                  </a:txBody>
                  <a:tcPr/>
                </a:tc>
                <a:tc rowSpan="3">
                  <a:txBody>
                    <a:bodyPr/>
                    <a:lstStyle/>
                    <a:p>
                      <a:r>
                        <a:rPr lang="zh-TW" altLang="en-US" sz="1400" dirty="0"/>
                        <a:t>安裝本次 </a:t>
                      </a:r>
                      <a:r>
                        <a:rPr lang="en-US" altLang="zh-TW" sz="1400" dirty="0"/>
                        <a:t>POC </a:t>
                      </a:r>
                      <a:r>
                        <a:rPr lang="zh-TW" altLang="en-US" sz="1400" dirty="0"/>
                        <a:t>需要的服務以及各種選型工具測試</a:t>
                      </a:r>
                      <a:endParaRPr lang="en-US" altLang="zh-TW" sz="1400" dirty="0"/>
                    </a:p>
                  </a:txBody>
                  <a:tcPr anchor="ctr"/>
                </a:tc>
                <a:extLst>
                  <a:ext uri="{0D108BD9-81ED-4DB2-BD59-A6C34878D82A}">
                    <a16:rowId xmlns:a16="http://schemas.microsoft.com/office/drawing/2014/main" val="2816287754"/>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TW" sz="1400" b="0" i="0" kern="1200" dirty="0">
                          <a:solidFill>
                            <a:schemeClr val="dk1"/>
                          </a:solidFill>
                          <a:effectLst/>
                          <a:latin typeface="+mn-lt"/>
                          <a:ea typeface="+mn-ea"/>
                          <a:cs typeface="+mn-cs"/>
                        </a:rPr>
                        <a:t>TWTPEAITMFGDP03</a:t>
                      </a:r>
                      <a:endParaRPr lang="zh-TW" altLang="en-US" sz="1400" dirty="0"/>
                    </a:p>
                  </a:txBody>
                  <a:tcPr/>
                </a:tc>
                <a:tc vMerge="1">
                  <a:txBody>
                    <a:bodyPr/>
                    <a:lstStyle/>
                    <a:p>
                      <a:endParaRPr lang="zh-TW" altLang="en-US" dirty="0"/>
                    </a:p>
                  </a:txBody>
                  <a:tcPr/>
                </a:tc>
                <a:extLst>
                  <a:ext uri="{0D108BD9-81ED-4DB2-BD59-A6C34878D82A}">
                    <a16:rowId xmlns:a16="http://schemas.microsoft.com/office/drawing/2014/main" val="4101059073"/>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TW" sz="1400" b="0" i="0" kern="1200" dirty="0">
                          <a:solidFill>
                            <a:schemeClr val="dk1"/>
                          </a:solidFill>
                          <a:effectLst/>
                          <a:latin typeface="+mn-lt"/>
                          <a:ea typeface="+mn-ea"/>
                          <a:cs typeface="+mn-cs"/>
                        </a:rPr>
                        <a:t>TWTPEAITMFGDP04</a:t>
                      </a:r>
                      <a:endParaRPr lang="zh-TW" altLang="en-US" sz="1400" dirty="0"/>
                    </a:p>
                  </a:txBody>
                  <a:tcPr/>
                </a:tc>
                <a:tc vMerge="1">
                  <a:txBody>
                    <a:bodyPr/>
                    <a:lstStyle/>
                    <a:p>
                      <a:endParaRPr lang="zh-TW" altLang="en-US" dirty="0"/>
                    </a:p>
                  </a:txBody>
                  <a:tcPr/>
                </a:tc>
                <a:extLst>
                  <a:ext uri="{0D108BD9-81ED-4DB2-BD59-A6C34878D82A}">
                    <a16:rowId xmlns:a16="http://schemas.microsoft.com/office/drawing/2014/main" val="378208284"/>
                  </a:ext>
                </a:extLst>
              </a:tr>
            </a:tbl>
          </a:graphicData>
        </a:graphic>
      </p:graphicFrame>
      <p:pic>
        <p:nvPicPr>
          <p:cNvPr id="6" name="圖片 5">
            <a:extLst>
              <a:ext uri="{FF2B5EF4-FFF2-40B4-BE49-F238E27FC236}">
                <a16:creationId xmlns:a16="http://schemas.microsoft.com/office/drawing/2014/main" id="{CD5B84DF-5C62-913E-1709-F114E5BA86B7}"/>
              </a:ext>
            </a:extLst>
          </p:cNvPr>
          <p:cNvPicPr>
            <a:picLocks noChangeAspect="1"/>
          </p:cNvPicPr>
          <p:nvPr/>
        </p:nvPicPr>
        <p:blipFill>
          <a:blip r:embed="rId3"/>
          <a:stretch>
            <a:fillRect/>
          </a:stretch>
        </p:blipFill>
        <p:spPr>
          <a:xfrm>
            <a:off x="1164670" y="2411340"/>
            <a:ext cx="9392332" cy="4001733"/>
          </a:xfrm>
          <a:prstGeom prst="rect">
            <a:avLst/>
          </a:prstGeom>
        </p:spPr>
      </p:pic>
    </p:spTree>
    <p:extLst>
      <p:ext uri="{BB962C8B-B14F-4D97-AF65-F5344CB8AC3E}">
        <p14:creationId xmlns:p14="http://schemas.microsoft.com/office/powerpoint/2010/main" val="477796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 11">
            <a:extLst>
              <a:ext uri="{FF2B5EF4-FFF2-40B4-BE49-F238E27FC236}">
                <a16:creationId xmlns:a16="http://schemas.microsoft.com/office/drawing/2014/main" id="{C7BE9005-83AE-B8D9-A1F5-CF1BDB3AC2D1}"/>
              </a:ext>
            </a:extLst>
          </p:cNvPr>
          <p:cNvPicPr>
            <a:picLocks noChangeAspect="1"/>
          </p:cNvPicPr>
          <p:nvPr/>
        </p:nvPicPr>
        <p:blipFill>
          <a:blip r:embed="rId3"/>
          <a:stretch>
            <a:fillRect/>
          </a:stretch>
        </p:blipFill>
        <p:spPr>
          <a:xfrm>
            <a:off x="4305169" y="4048125"/>
            <a:ext cx="2652606" cy="2809875"/>
          </a:xfrm>
          <a:prstGeom prst="rect">
            <a:avLst/>
          </a:prstGeom>
        </p:spPr>
      </p:pic>
      <p:sp>
        <p:nvSpPr>
          <p:cNvPr id="2" name="內容版面配置區 1">
            <a:extLst>
              <a:ext uri="{FF2B5EF4-FFF2-40B4-BE49-F238E27FC236}">
                <a16:creationId xmlns:a16="http://schemas.microsoft.com/office/drawing/2014/main" id="{C4AD7A74-E645-08C8-9048-774D1725B5F1}"/>
              </a:ext>
            </a:extLst>
          </p:cNvPr>
          <p:cNvSpPr>
            <a:spLocks noGrp="1"/>
          </p:cNvSpPr>
          <p:nvPr>
            <p:ph idx="1"/>
          </p:nvPr>
        </p:nvSpPr>
        <p:spPr/>
        <p:txBody>
          <a:bodyPr>
            <a:normAutofit/>
          </a:bodyPr>
          <a:lstStyle/>
          <a:p>
            <a:pPr marL="228589" lvl="1">
              <a:lnSpc>
                <a:spcPct val="100000"/>
              </a:lnSpc>
              <a:spcBef>
                <a:spcPts val="1000"/>
              </a:spcBef>
            </a:pPr>
            <a:r>
              <a:rPr lang="zh-TW" altLang="en-US" sz="2000" b="1" dirty="0">
                <a:solidFill>
                  <a:srgbClr val="404040"/>
                </a:solidFill>
              </a:rPr>
              <a:t>各階段交付文件</a:t>
            </a:r>
            <a:endParaRPr lang="en-US" altLang="zh-TW" sz="2000" b="1" dirty="0">
              <a:solidFill>
                <a:srgbClr val="404040"/>
              </a:solidFill>
            </a:endParaRPr>
          </a:p>
          <a:p>
            <a:pPr marL="742938" lvl="2" indent="-285750">
              <a:lnSpc>
                <a:spcPct val="100000"/>
              </a:lnSpc>
              <a:spcBef>
                <a:spcPts val="1000"/>
              </a:spcBef>
              <a:buFont typeface="Wingdings" panose="05000000000000000000" pitchFamily="2" charset="2"/>
              <a:buChar char="Ø"/>
            </a:pPr>
            <a:r>
              <a:rPr lang="zh-TW" altLang="en-US" sz="1600" dirty="0"/>
              <a:t>各階段保留詳細的技術文檔，做為未來的專案維運開展工作的基礎。</a:t>
            </a:r>
            <a:endParaRPr lang="en-US" altLang="zh-TW" sz="1600" dirty="0"/>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p:txBody>
      </p:sp>
      <p:sp>
        <p:nvSpPr>
          <p:cNvPr id="3" name="標題 2">
            <a:extLst>
              <a:ext uri="{FF2B5EF4-FFF2-40B4-BE49-F238E27FC236}">
                <a16:creationId xmlns:a16="http://schemas.microsoft.com/office/drawing/2014/main" id="{BAD9D964-616D-7B8B-3D31-139EDE238980}"/>
              </a:ext>
            </a:extLst>
          </p:cNvPr>
          <p:cNvSpPr>
            <a:spLocks noGrp="1"/>
          </p:cNvSpPr>
          <p:nvPr>
            <p:ph type="title"/>
          </p:nvPr>
        </p:nvSpPr>
        <p:spPr/>
        <p:txBody>
          <a:bodyPr/>
          <a:lstStyle/>
          <a:p>
            <a:r>
              <a:rPr lang="zh-CN" altLang="en-US" sz="3200">
                <a:solidFill>
                  <a:srgbClr val="0087DC"/>
                </a:solidFill>
              </a:rPr>
              <a:t>交付與驗收</a:t>
            </a:r>
            <a:r>
              <a:rPr lang="zh-TW" altLang="en-US" sz="3200">
                <a:solidFill>
                  <a:srgbClr val="0087DC"/>
                </a:solidFill>
              </a:rPr>
              <a:t> </a:t>
            </a:r>
            <a:r>
              <a:rPr lang="en-US" altLang="zh-TW" sz="3200">
                <a:solidFill>
                  <a:srgbClr val="0087DC"/>
                </a:solidFill>
              </a:rPr>
              <a:t>– </a:t>
            </a:r>
            <a:r>
              <a:rPr lang="zh-TW" altLang="en-US" sz="3200">
                <a:solidFill>
                  <a:srgbClr val="0087DC"/>
                </a:solidFill>
              </a:rPr>
              <a:t>交付物說明</a:t>
            </a:r>
            <a:endParaRPr lang="zh-TW" altLang="en-US"/>
          </a:p>
        </p:txBody>
      </p:sp>
      <p:graphicFrame>
        <p:nvGraphicFramePr>
          <p:cNvPr id="4" name="表格 3">
            <a:extLst>
              <a:ext uri="{FF2B5EF4-FFF2-40B4-BE49-F238E27FC236}">
                <a16:creationId xmlns:a16="http://schemas.microsoft.com/office/drawing/2014/main" id="{95533A3A-342F-9913-1FA9-DC56A8020936}"/>
              </a:ext>
            </a:extLst>
          </p:cNvPr>
          <p:cNvGraphicFramePr>
            <a:graphicFrameLocks noGrp="1"/>
          </p:cNvGraphicFramePr>
          <p:nvPr>
            <p:extLst>
              <p:ext uri="{D42A27DB-BD31-4B8C-83A1-F6EECF244321}">
                <p14:modId xmlns:p14="http://schemas.microsoft.com/office/powerpoint/2010/main" val="126117602"/>
              </p:ext>
            </p:extLst>
          </p:nvPr>
        </p:nvGraphicFramePr>
        <p:xfrm>
          <a:off x="755650" y="1990700"/>
          <a:ext cx="8616950" cy="1854200"/>
        </p:xfrm>
        <a:graphic>
          <a:graphicData uri="http://schemas.openxmlformats.org/drawingml/2006/table">
            <a:tbl>
              <a:tblPr firstRow="1" bandRow="1">
                <a:tableStyleId>{5C22544A-7EE6-4342-B048-85BDC9FD1C3A}</a:tableStyleId>
              </a:tblPr>
              <a:tblGrid>
                <a:gridCol w="2397125">
                  <a:extLst>
                    <a:ext uri="{9D8B030D-6E8A-4147-A177-3AD203B41FA5}">
                      <a16:colId xmlns:a16="http://schemas.microsoft.com/office/drawing/2014/main" val="3162808197"/>
                    </a:ext>
                  </a:extLst>
                </a:gridCol>
                <a:gridCol w="6219825">
                  <a:extLst>
                    <a:ext uri="{9D8B030D-6E8A-4147-A177-3AD203B41FA5}">
                      <a16:colId xmlns:a16="http://schemas.microsoft.com/office/drawing/2014/main" val="2166387516"/>
                    </a:ext>
                  </a:extLst>
                </a:gridCol>
              </a:tblGrid>
              <a:tr h="370840">
                <a:tc>
                  <a:txBody>
                    <a:bodyPr/>
                    <a:lstStyle/>
                    <a:p>
                      <a:r>
                        <a:rPr lang="zh-TW" altLang="en-US" dirty="0"/>
                        <a:t>產出物</a:t>
                      </a:r>
                      <a:r>
                        <a:rPr lang="en-US" altLang="zh-TW" dirty="0"/>
                        <a:t>a</a:t>
                      </a:r>
                      <a:endParaRPr lang="zh-TW" altLang="en-US" dirty="0"/>
                    </a:p>
                  </a:txBody>
                  <a:tcPr/>
                </a:tc>
                <a:tc>
                  <a:txBody>
                    <a:bodyPr/>
                    <a:lstStyle/>
                    <a:p>
                      <a:r>
                        <a:rPr lang="zh-TW" altLang="en-US" dirty="0"/>
                        <a:t>目的 </a:t>
                      </a:r>
                      <a:r>
                        <a:rPr lang="en-US" altLang="zh-TW" dirty="0"/>
                        <a:t>&amp; </a:t>
                      </a:r>
                      <a:r>
                        <a:rPr lang="zh-TW" altLang="en-US" dirty="0"/>
                        <a:t>效益</a:t>
                      </a:r>
                    </a:p>
                  </a:txBody>
                  <a:tcPr/>
                </a:tc>
                <a:extLst>
                  <a:ext uri="{0D108BD9-81ED-4DB2-BD59-A6C34878D82A}">
                    <a16:rowId xmlns:a16="http://schemas.microsoft.com/office/drawing/2014/main" val="2007556278"/>
                  </a:ext>
                </a:extLst>
              </a:tr>
              <a:tr h="370840">
                <a:tc>
                  <a:txBody>
                    <a:bodyPr/>
                    <a:lstStyle/>
                    <a:p>
                      <a:r>
                        <a:rPr lang="zh-TW" altLang="en-US" sz="1600" dirty="0"/>
                        <a:t>選型報告書 </a:t>
                      </a:r>
                      <a:r>
                        <a:rPr lang="en-US" altLang="zh-TW" sz="1600" dirty="0"/>
                        <a:t>(152</a:t>
                      </a:r>
                      <a:r>
                        <a:rPr lang="zh-TW" altLang="en-US" sz="1600" dirty="0"/>
                        <a:t>頁</a:t>
                      </a:r>
                      <a:r>
                        <a:rPr lang="en-US" altLang="zh-TW" sz="1600" dirty="0"/>
                        <a:t>)</a:t>
                      </a:r>
                      <a:endParaRPr lang="zh-TW" altLang="en-US" sz="1600" dirty="0"/>
                    </a:p>
                  </a:txBody>
                  <a:tcPr marL="72000"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800" b="0" dirty="0">
                          <a:solidFill>
                            <a:schemeClr val="tx1"/>
                          </a:solidFill>
                        </a:rPr>
                        <a:t>適合</a:t>
                      </a:r>
                      <a:r>
                        <a:rPr lang="zh-TW" altLang="en-US" sz="1800" b="1" dirty="0">
                          <a:solidFill>
                            <a:schemeClr val="tx1"/>
                          </a:solidFill>
                        </a:rPr>
                        <a:t>大數據</a:t>
                      </a:r>
                      <a:r>
                        <a:rPr lang="zh-TW" altLang="en-US" sz="1800" dirty="0"/>
                        <a:t>底層技術架構及障礙排除</a:t>
                      </a:r>
                    </a:p>
                  </a:txBody>
                  <a:tcPr/>
                </a:tc>
                <a:extLst>
                  <a:ext uri="{0D108BD9-81ED-4DB2-BD59-A6C34878D82A}">
                    <a16:rowId xmlns:a16="http://schemas.microsoft.com/office/drawing/2014/main" val="1788815148"/>
                  </a:ext>
                </a:extLst>
              </a:tr>
              <a:tr h="370840">
                <a:tc>
                  <a:txBody>
                    <a:bodyPr/>
                    <a:lstStyle/>
                    <a:p>
                      <a:r>
                        <a:rPr lang="zh-TW" altLang="en-US" sz="1600" dirty="0"/>
                        <a:t>開發規格書 </a:t>
                      </a:r>
                      <a:r>
                        <a:rPr lang="en-US" altLang="zh-TW" sz="1600" dirty="0"/>
                        <a:t>(</a:t>
                      </a:r>
                      <a:r>
                        <a:rPr lang="zh-TW" altLang="en-US" sz="1600" dirty="0"/>
                        <a:t> </a:t>
                      </a:r>
                      <a:r>
                        <a:rPr lang="en-US" altLang="zh-TW" sz="1600" dirty="0"/>
                        <a:t>11</a:t>
                      </a:r>
                      <a:r>
                        <a:rPr lang="zh-TW" altLang="en-US" sz="1600" dirty="0"/>
                        <a:t>頁 </a:t>
                      </a:r>
                      <a:r>
                        <a:rPr lang="en-US" altLang="zh-TW" sz="1600" dirty="0"/>
                        <a:t>)</a:t>
                      </a:r>
                      <a:endParaRPr lang="zh-TW" altLang="en-US" sz="1600" dirty="0"/>
                    </a:p>
                  </a:txBody>
                  <a:tcPr marL="72000"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800" dirty="0"/>
                        <a:t>利於</a:t>
                      </a:r>
                      <a:r>
                        <a:rPr lang="zh-TW" altLang="en-US" sz="1800" b="1" dirty="0">
                          <a:solidFill>
                            <a:schemeClr val="tx1"/>
                          </a:solidFill>
                        </a:rPr>
                        <a:t>長期管理維運</a:t>
                      </a:r>
                      <a:r>
                        <a:rPr lang="zh-TW" altLang="en-US" sz="1800" dirty="0"/>
                        <a:t>的功能性</a:t>
                      </a:r>
                      <a:r>
                        <a:rPr lang="zh-TW" altLang="en-US" sz="1800" b="1" dirty="0"/>
                        <a:t>模組開發</a:t>
                      </a:r>
                    </a:p>
                  </a:txBody>
                  <a:tcPr/>
                </a:tc>
                <a:extLst>
                  <a:ext uri="{0D108BD9-81ED-4DB2-BD59-A6C34878D82A}">
                    <a16:rowId xmlns:a16="http://schemas.microsoft.com/office/drawing/2014/main" val="2816287754"/>
                  </a:ext>
                </a:extLst>
              </a:tr>
              <a:tr h="370840">
                <a:tc>
                  <a:txBody>
                    <a:bodyPr/>
                    <a:lstStyle/>
                    <a:p>
                      <a:r>
                        <a:rPr lang="zh-TW" altLang="en-US" sz="1600" dirty="0"/>
                        <a:t>運作架構圖 </a:t>
                      </a:r>
                      <a:r>
                        <a:rPr lang="en-US" altLang="zh-TW" sz="1600" dirty="0"/>
                        <a:t>( 18</a:t>
                      </a:r>
                      <a:r>
                        <a:rPr lang="zh-TW" altLang="en-US" sz="1600" dirty="0"/>
                        <a:t>頁</a:t>
                      </a:r>
                      <a:r>
                        <a:rPr lang="en-US" altLang="zh-TW" sz="1600" dirty="0"/>
                        <a:t>)</a:t>
                      </a:r>
                      <a:endParaRPr lang="zh-TW" altLang="en-US" sz="1600" dirty="0"/>
                    </a:p>
                  </a:txBody>
                  <a:tcPr marL="72000"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800" dirty="0"/>
                        <a:t>底層</a:t>
                      </a:r>
                      <a:r>
                        <a:rPr lang="zh-TW" altLang="en-US" sz="1800" b="1" dirty="0"/>
                        <a:t>硬體資源</a:t>
                      </a:r>
                      <a:r>
                        <a:rPr lang="zh-TW" altLang="en-US" sz="1800" dirty="0"/>
                        <a:t>以及</a:t>
                      </a:r>
                      <a:r>
                        <a:rPr lang="zh-TW" altLang="en-US" sz="1800" b="1" dirty="0"/>
                        <a:t>實體部屬</a:t>
                      </a:r>
                      <a:r>
                        <a:rPr lang="zh-TW" altLang="en-US" sz="1800" dirty="0"/>
                        <a:t>架構規劃</a:t>
                      </a:r>
                    </a:p>
                  </a:txBody>
                  <a:tcPr/>
                </a:tc>
                <a:extLst>
                  <a:ext uri="{0D108BD9-81ED-4DB2-BD59-A6C34878D82A}">
                    <a16:rowId xmlns:a16="http://schemas.microsoft.com/office/drawing/2014/main" val="4247624658"/>
                  </a:ext>
                </a:extLst>
              </a:tr>
              <a:tr h="370840">
                <a:tc>
                  <a:txBody>
                    <a:bodyPr/>
                    <a:lstStyle/>
                    <a:p>
                      <a:r>
                        <a:rPr lang="zh-TW" altLang="en-US" sz="1600" dirty="0"/>
                        <a:t>結案報告</a:t>
                      </a:r>
                    </a:p>
                  </a:txBody>
                  <a:tcPr marL="72000"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800" dirty="0"/>
                        <a:t>總結專案執行狀況</a:t>
                      </a:r>
                    </a:p>
                  </a:txBody>
                  <a:tcPr/>
                </a:tc>
                <a:extLst>
                  <a:ext uri="{0D108BD9-81ED-4DB2-BD59-A6C34878D82A}">
                    <a16:rowId xmlns:a16="http://schemas.microsoft.com/office/drawing/2014/main" val="3161604452"/>
                  </a:ext>
                </a:extLst>
              </a:tr>
            </a:tbl>
          </a:graphicData>
        </a:graphic>
      </p:graphicFrame>
      <p:pic>
        <p:nvPicPr>
          <p:cNvPr id="6" name="圖片 5">
            <a:extLst>
              <a:ext uri="{FF2B5EF4-FFF2-40B4-BE49-F238E27FC236}">
                <a16:creationId xmlns:a16="http://schemas.microsoft.com/office/drawing/2014/main" id="{6834E17A-63C0-E8B9-9A55-7F355D68055E}"/>
              </a:ext>
            </a:extLst>
          </p:cNvPr>
          <p:cNvPicPr>
            <a:picLocks noChangeAspect="1"/>
          </p:cNvPicPr>
          <p:nvPr/>
        </p:nvPicPr>
        <p:blipFill>
          <a:blip r:embed="rId4"/>
          <a:stretch>
            <a:fillRect/>
          </a:stretch>
        </p:blipFill>
        <p:spPr>
          <a:xfrm>
            <a:off x="755650" y="4243819"/>
            <a:ext cx="3200271" cy="2173825"/>
          </a:xfrm>
          <a:prstGeom prst="rect">
            <a:avLst/>
          </a:prstGeom>
        </p:spPr>
      </p:pic>
      <p:sp>
        <p:nvSpPr>
          <p:cNvPr id="9" name="文字方塊 8">
            <a:extLst>
              <a:ext uri="{FF2B5EF4-FFF2-40B4-BE49-F238E27FC236}">
                <a16:creationId xmlns:a16="http://schemas.microsoft.com/office/drawing/2014/main" id="{2154E043-DE05-AFD4-B241-D5799FB5013E}"/>
              </a:ext>
            </a:extLst>
          </p:cNvPr>
          <p:cNvSpPr txBox="1"/>
          <p:nvPr/>
        </p:nvSpPr>
        <p:spPr>
          <a:xfrm>
            <a:off x="1398522" y="4044137"/>
            <a:ext cx="1914525" cy="307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zh-TW" altLang="en-US" sz="1400" dirty="0"/>
              <a:t>選型報告書</a:t>
            </a:r>
            <a:r>
              <a:rPr lang="en-US" altLang="zh-TW" sz="1400" dirty="0"/>
              <a:t>(</a:t>
            </a:r>
            <a:r>
              <a:rPr lang="zh-TW" altLang="en-US" sz="1400" dirty="0"/>
              <a:t>工具比較</a:t>
            </a:r>
            <a:r>
              <a:rPr lang="en-US" altLang="zh-TW" sz="1400" dirty="0"/>
              <a:t>)</a:t>
            </a:r>
            <a:endParaRPr lang="zh-TW" altLang="en-US" sz="1400" dirty="0"/>
          </a:p>
        </p:txBody>
      </p:sp>
      <p:sp>
        <p:nvSpPr>
          <p:cNvPr id="10" name="文字方塊 9">
            <a:extLst>
              <a:ext uri="{FF2B5EF4-FFF2-40B4-BE49-F238E27FC236}">
                <a16:creationId xmlns:a16="http://schemas.microsoft.com/office/drawing/2014/main" id="{4743F61A-C7E3-E637-9C4D-18332347F6F1}"/>
              </a:ext>
            </a:extLst>
          </p:cNvPr>
          <p:cNvSpPr txBox="1"/>
          <p:nvPr/>
        </p:nvSpPr>
        <p:spPr>
          <a:xfrm>
            <a:off x="4324851" y="4044352"/>
            <a:ext cx="2632924" cy="307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zh-TW" altLang="en-US" sz="1400" dirty="0"/>
              <a:t>開發規格書</a:t>
            </a:r>
            <a:r>
              <a:rPr lang="en-US" altLang="zh-TW" sz="1400" dirty="0"/>
              <a:t>(</a:t>
            </a:r>
            <a:r>
              <a:rPr lang="zh-TW" altLang="en-US" sz="1400" dirty="0"/>
              <a:t>客製功能資源規劃</a:t>
            </a:r>
            <a:r>
              <a:rPr lang="en-US" altLang="zh-TW" sz="1400" dirty="0"/>
              <a:t>)</a:t>
            </a:r>
            <a:endParaRPr lang="zh-TW" altLang="en-US" sz="1400" dirty="0"/>
          </a:p>
        </p:txBody>
      </p:sp>
      <p:sp>
        <p:nvSpPr>
          <p:cNvPr id="13" name="文字方塊 12">
            <a:extLst>
              <a:ext uri="{FF2B5EF4-FFF2-40B4-BE49-F238E27FC236}">
                <a16:creationId xmlns:a16="http://schemas.microsoft.com/office/drawing/2014/main" id="{32F03F42-E3EB-12C5-4B89-CCD0732B1346}"/>
              </a:ext>
            </a:extLst>
          </p:cNvPr>
          <p:cNvSpPr txBox="1"/>
          <p:nvPr/>
        </p:nvSpPr>
        <p:spPr>
          <a:xfrm>
            <a:off x="8354099" y="4028960"/>
            <a:ext cx="2037002" cy="307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運作架構圖</a:t>
            </a:r>
          </a:p>
        </p:txBody>
      </p:sp>
      <p:pic>
        <p:nvPicPr>
          <p:cNvPr id="15" name="圖片 14">
            <a:extLst>
              <a:ext uri="{FF2B5EF4-FFF2-40B4-BE49-F238E27FC236}">
                <a16:creationId xmlns:a16="http://schemas.microsoft.com/office/drawing/2014/main" id="{D810481D-BD2B-D67C-428B-0B4862650641}"/>
              </a:ext>
            </a:extLst>
          </p:cNvPr>
          <p:cNvPicPr>
            <a:picLocks noChangeAspect="1"/>
          </p:cNvPicPr>
          <p:nvPr/>
        </p:nvPicPr>
        <p:blipFill>
          <a:blip r:embed="rId5"/>
          <a:stretch>
            <a:fillRect/>
          </a:stretch>
        </p:blipFill>
        <p:spPr>
          <a:xfrm>
            <a:off x="7307023" y="4351914"/>
            <a:ext cx="3851477" cy="2278426"/>
          </a:xfrm>
          <a:prstGeom prst="rect">
            <a:avLst/>
          </a:prstGeom>
        </p:spPr>
      </p:pic>
    </p:spTree>
    <p:extLst>
      <p:ext uri="{BB962C8B-B14F-4D97-AF65-F5344CB8AC3E}">
        <p14:creationId xmlns:p14="http://schemas.microsoft.com/office/powerpoint/2010/main" val="2282142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BAD9D964-616D-7B8B-3D31-139EDE238980}"/>
              </a:ext>
            </a:extLst>
          </p:cNvPr>
          <p:cNvSpPr>
            <a:spLocks noGrp="1"/>
          </p:cNvSpPr>
          <p:nvPr>
            <p:ph type="title"/>
          </p:nvPr>
        </p:nvSpPr>
        <p:spPr/>
        <p:txBody>
          <a:bodyPr/>
          <a:lstStyle/>
          <a:p>
            <a:r>
              <a:rPr lang="zh-CN" altLang="en-US" sz="3200">
                <a:solidFill>
                  <a:srgbClr val="0087DC"/>
                </a:solidFill>
              </a:rPr>
              <a:t>交付與驗收</a:t>
            </a:r>
            <a:r>
              <a:rPr lang="zh-TW" altLang="en-US" sz="3200">
                <a:solidFill>
                  <a:srgbClr val="0087DC"/>
                </a:solidFill>
              </a:rPr>
              <a:t> </a:t>
            </a:r>
            <a:r>
              <a:rPr lang="en-US" altLang="zh-TW" sz="3200">
                <a:solidFill>
                  <a:srgbClr val="0087DC"/>
                </a:solidFill>
              </a:rPr>
              <a:t>– </a:t>
            </a:r>
            <a:r>
              <a:rPr lang="zh-TW" altLang="en-US" sz="3200">
                <a:solidFill>
                  <a:srgbClr val="0087DC"/>
                </a:solidFill>
              </a:rPr>
              <a:t>交付物說明</a:t>
            </a:r>
            <a:endParaRPr lang="zh-TW" altLang="en-US"/>
          </a:p>
        </p:txBody>
      </p:sp>
      <p:sp>
        <p:nvSpPr>
          <p:cNvPr id="10" name="內容版面配置區 1">
            <a:extLst>
              <a:ext uri="{FF2B5EF4-FFF2-40B4-BE49-F238E27FC236}">
                <a16:creationId xmlns:a16="http://schemas.microsoft.com/office/drawing/2014/main" id="{F3BF858E-32A4-2C94-6D69-4A0779BC12B4}"/>
              </a:ext>
            </a:extLst>
          </p:cNvPr>
          <p:cNvSpPr>
            <a:spLocks noGrp="1"/>
          </p:cNvSpPr>
          <p:nvPr>
            <p:ph idx="1"/>
          </p:nvPr>
        </p:nvSpPr>
        <p:spPr>
          <a:xfrm>
            <a:off x="406400" y="1170462"/>
            <a:ext cx="11379200" cy="4953777"/>
          </a:xfrm>
        </p:spPr>
        <p:txBody>
          <a:bodyPr>
            <a:normAutofit/>
          </a:bodyPr>
          <a:lstStyle/>
          <a:p>
            <a:pPr marL="228589" lvl="1">
              <a:lnSpc>
                <a:spcPct val="100000"/>
              </a:lnSpc>
              <a:spcBef>
                <a:spcPts val="1000"/>
              </a:spcBef>
            </a:pPr>
            <a:r>
              <a:rPr lang="zh-TW" altLang="en-US" sz="2000" b="1" dirty="0">
                <a:solidFill>
                  <a:srgbClr val="404040"/>
                </a:solidFill>
              </a:rPr>
              <a:t>各階段交付文件</a:t>
            </a:r>
            <a:endParaRPr lang="en-US" altLang="zh-TW" sz="2000" b="1" dirty="0">
              <a:solidFill>
                <a:srgbClr val="404040"/>
              </a:solidFill>
            </a:endParaRPr>
          </a:p>
          <a:p>
            <a:pPr marL="742938" lvl="2" indent="-285750">
              <a:lnSpc>
                <a:spcPct val="100000"/>
              </a:lnSpc>
              <a:spcBef>
                <a:spcPts val="1000"/>
              </a:spcBef>
              <a:buFont typeface="Wingdings" panose="05000000000000000000" pitchFamily="2" charset="2"/>
              <a:buChar char="Ø"/>
            </a:pPr>
            <a:r>
              <a:rPr lang="zh-TW" altLang="en-US" sz="1600" dirty="0"/>
              <a:t>各階段保留詳細的技術文檔，做為未來的專案維運開展工作的基礎。</a:t>
            </a:r>
            <a:endParaRPr lang="en-US" altLang="zh-TW" sz="1600" dirty="0"/>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p:txBody>
      </p:sp>
      <p:graphicFrame>
        <p:nvGraphicFramePr>
          <p:cNvPr id="11" name="表格 10">
            <a:extLst>
              <a:ext uri="{FF2B5EF4-FFF2-40B4-BE49-F238E27FC236}">
                <a16:creationId xmlns:a16="http://schemas.microsoft.com/office/drawing/2014/main" id="{0FB3AB99-AD7F-BFA4-2BF3-10793D35C1A5}"/>
              </a:ext>
            </a:extLst>
          </p:cNvPr>
          <p:cNvGraphicFramePr>
            <a:graphicFrameLocks noGrp="1"/>
          </p:cNvGraphicFramePr>
          <p:nvPr>
            <p:extLst>
              <p:ext uri="{D42A27DB-BD31-4B8C-83A1-F6EECF244321}">
                <p14:modId xmlns:p14="http://schemas.microsoft.com/office/powerpoint/2010/main" val="891816125"/>
              </p:ext>
            </p:extLst>
          </p:nvPr>
        </p:nvGraphicFramePr>
        <p:xfrm>
          <a:off x="755650" y="1990700"/>
          <a:ext cx="8616950" cy="741680"/>
        </p:xfrm>
        <a:graphic>
          <a:graphicData uri="http://schemas.openxmlformats.org/drawingml/2006/table">
            <a:tbl>
              <a:tblPr firstRow="1" bandRow="1">
                <a:tableStyleId>{5C22544A-7EE6-4342-B048-85BDC9FD1C3A}</a:tableStyleId>
              </a:tblPr>
              <a:tblGrid>
                <a:gridCol w="2397125">
                  <a:extLst>
                    <a:ext uri="{9D8B030D-6E8A-4147-A177-3AD203B41FA5}">
                      <a16:colId xmlns:a16="http://schemas.microsoft.com/office/drawing/2014/main" val="3162808197"/>
                    </a:ext>
                  </a:extLst>
                </a:gridCol>
                <a:gridCol w="6219825">
                  <a:extLst>
                    <a:ext uri="{9D8B030D-6E8A-4147-A177-3AD203B41FA5}">
                      <a16:colId xmlns:a16="http://schemas.microsoft.com/office/drawing/2014/main" val="2166387516"/>
                    </a:ext>
                  </a:extLst>
                </a:gridCol>
              </a:tblGrid>
              <a:tr h="370840">
                <a:tc>
                  <a:txBody>
                    <a:bodyPr/>
                    <a:lstStyle/>
                    <a:p>
                      <a:r>
                        <a:rPr lang="zh-TW" altLang="en-US" dirty="0"/>
                        <a:t>產出物</a:t>
                      </a:r>
                    </a:p>
                  </a:txBody>
                  <a:tcPr/>
                </a:tc>
                <a:tc>
                  <a:txBody>
                    <a:bodyPr/>
                    <a:lstStyle/>
                    <a:p>
                      <a:r>
                        <a:rPr lang="zh-TW" altLang="en-US" dirty="0"/>
                        <a:t>目的 </a:t>
                      </a:r>
                      <a:r>
                        <a:rPr lang="en-US" altLang="zh-TW" dirty="0"/>
                        <a:t>&amp; </a:t>
                      </a:r>
                      <a:r>
                        <a:rPr lang="zh-TW" altLang="en-US" dirty="0"/>
                        <a:t>效益</a:t>
                      </a:r>
                    </a:p>
                  </a:txBody>
                  <a:tcPr/>
                </a:tc>
                <a:extLst>
                  <a:ext uri="{0D108BD9-81ED-4DB2-BD59-A6C34878D82A}">
                    <a16:rowId xmlns:a16="http://schemas.microsoft.com/office/drawing/2014/main" val="2007556278"/>
                  </a:ext>
                </a:extLst>
              </a:tr>
              <a:tr h="370840">
                <a:tc>
                  <a:txBody>
                    <a:bodyPr/>
                    <a:lstStyle/>
                    <a:p>
                      <a:r>
                        <a:rPr lang="zh-TW" altLang="en-US" sz="1600" dirty="0"/>
                        <a:t>選型報告書 </a:t>
                      </a:r>
                      <a:r>
                        <a:rPr lang="en-US" altLang="zh-TW" sz="1600" dirty="0"/>
                        <a:t>(152</a:t>
                      </a:r>
                      <a:r>
                        <a:rPr lang="zh-TW" altLang="en-US" sz="1600" dirty="0"/>
                        <a:t>頁</a:t>
                      </a:r>
                      <a:r>
                        <a:rPr lang="en-US" altLang="zh-TW" sz="1600" dirty="0"/>
                        <a:t>)</a:t>
                      </a:r>
                      <a:endParaRPr lang="zh-TW" altLang="en-US" sz="1600" dirty="0"/>
                    </a:p>
                  </a:txBody>
                  <a:tcPr marL="72000"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800" b="0" dirty="0">
                          <a:solidFill>
                            <a:schemeClr val="tx1"/>
                          </a:solidFill>
                        </a:rPr>
                        <a:t>適合</a:t>
                      </a:r>
                      <a:r>
                        <a:rPr lang="zh-TW" altLang="en-US" sz="1800" b="1" dirty="0">
                          <a:solidFill>
                            <a:schemeClr val="tx1"/>
                          </a:solidFill>
                        </a:rPr>
                        <a:t>大數據</a:t>
                      </a:r>
                      <a:r>
                        <a:rPr lang="zh-TW" altLang="en-US" sz="1800" dirty="0"/>
                        <a:t>底層技術架構及障礙排除</a:t>
                      </a:r>
                    </a:p>
                  </a:txBody>
                  <a:tcPr/>
                </a:tc>
                <a:extLst>
                  <a:ext uri="{0D108BD9-81ED-4DB2-BD59-A6C34878D82A}">
                    <a16:rowId xmlns:a16="http://schemas.microsoft.com/office/drawing/2014/main" val="1788815148"/>
                  </a:ext>
                </a:extLst>
              </a:tr>
            </a:tbl>
          </a:graphicData>
        </a:graphic>
      </p:graphicFrame>
      <p:sp>
        <p:nvSpPr>
          <p:cNvPr id="12" name="文字方塊 11">
            <a:extLst>
              <a:ext uri="{FF2B5EF4-FFF2-40B4-BE49-F238E27FC236}">
                <a16:creationId xmlns:a16="http://schemas.microsoft.com/office/drawing/2014/main" id="{FFECD927-2B49-A274-8E31-D8CDC26CDC63}"/>
              </a:ext>
            </a:extLst>
          </p:cNvPr>
          <p:cNvSpPr txBox="1"/>
          <p:nvPr/>
        </p:nvSpPr>
        <p:spPr>
          <a:xfrm>
            <a:off x="900875" y="2891327"/>
            <a:ext cx="1706628"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詳細的工具比較</a:t>
            </a:r>
          </a:p>
        </p:txBody>
      </p:sp>
      <p:pic>
        <p:nvPicPr>
          <p:cNvPr id="15" name="圖片 14">
            <a:extLst>
              <a:ext uri="{FF2B5EF4-FFF2-40B4-BE49-F238E27FC236}">
                <a16:creationId xmlns:a16="http://schemas.microsoft.com/office/drawing/2014/main" id="{39619B60-0339-2004-45AF-BD4C0673D672}"/>
              </a:ext>
            </a:extLst>
          </p:cNvPr>
          <p:cNvPicPr>
            <a:picLocks noChangeAspect="1"/>
          </p:cNvPicPr>
          <p:nvPr/>
        </p:nvPicPr>
        <p:blipFill>
          <a:blip r:embed="rId3"/>
          <a:stretch>
            <a:fillRect/>
          </a:stretch>
        </p:blipFill>
        <p:spPr>
          <a:xfrm>
            <a:off x="182532" y="3288199"/>
            <a:ext cx="3143314" cy="2429309"/>
          </a:xfrm>
          <a:prstGeom prst="rect">
            <a:avLst/>
          </a:prstGeom>
          <a:ln>
            <a:solidFill>
              <a:schemeClr val="tx1"/>
            </a:solidFill>
          </a:ln>
        </p:spPr>
      </p:pic>
      <p:pic>
        <p:nvPicPr>
          <p:cNvPr id="17" name="圖片 16">
            <a:extLst>
              <a:ext uri="{FF2B5EF4-FFF2-40B4-BE49-F238E27FC236}">
                <a16:creationId xmlns:a16="http://schemas.microsoft.com/office/drawing/2014/main" id="{F18CE33F-E8DC-7273-CBD9-1B90999D9C7A}"/>
              </a:ext>
            </a:extLst>
          </p:cNvPr>
          <p:cNvPicPr>
            <a:picLocks noChangeAspect="1"/>
          </p:cNvPicPr>
          <p:nvPr/>
        </p:nvPicPr>
        <p:blipFill>
          <a:blip r:embed="rId4"/>
          <a:stretch>
            <a:fillRect/>
          </a:stretch>
        </p:blipFill>
        <p:spPr>
          <a:xfrm>
            <a:off x="1150873" y="4189341"/>
            <a:ext cx="2834306" cy="2331770"/>
          </a:xfrm>
          <a:prstGeom prst="rect">
            <a:avLst/>
          </a:prstGeom>
          <a:ln>
            <a:solidFill>
              <a:schemeClr val="tx1"/>
            </a:solidFill>
          </a:ln>
        </p:spPr>
      </p:pic>
      <p:sp>
        <p:nvSpPr>
          <p:cNvPr id="18" name="文字方塊 17">
            <a:extLst>
              <a:ext uri="{FF2B5EF4-FFF2-40B4-BE49-F238E27FC236}">
                <a16:creationId xmlns:a16="http://schemas.microsoft.com/office/drawing/2014/main" id="{9DD4876C-D475-2A8E-22DF-21E01F17517C}"/>
              </a:ext>
            </a:extLst>
          </p:cNvPr>
          <p:cNvSpPr txBox="1"/>
          <p:nvPr/>
        </p:nvSpPr>
        <p:spPr>
          <a:xfrm>
            <a:off x="5064125" y="2898067"/>
            <a:ext cx="1706628"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各工具安裝步驟</a:t>
            </a:r>
          </a:p>
        </p:txBody>
      </p:sp>
      <p:pic>
        <p:nvPicPr>
          <p:cNvPr id="20" name="圖片 19">
            <a:extLst>
              <a:ext uri="{FF2B5EF4-FFF2-40B4-BE49-F238E27FC236}">
                <a16:creationId xmlns:a16="http://schemas.microsoft.com/office/drawing/2014/main" id="{F1614ACD-0C9A-2C26-419D-17B301FFCC31}"/>
              </a:ext>
            </a:extLst>
          </p:cNvPr>
          <p:cNvPicPr>
            <a:picLocks noChangeAspect="1"/>
          </p:cNvPicPr>
          <p:nvPr/>
        </p:nvPicPr>
        <p:blipFill>
          <a:blip r:embed="rId5"/>
          <a:stretch>
            <a:fillRect/>
          </a:stretch>
        </p:blipFill>
        <p:spPr>
          <a:xfrm>
            <a:off x="4339658" y="3288199"/>
            <a:ext cx="3118418" cy="3429000"/>
          </a:xfrm>
          <a:prstGeom prst="rect">
            <a:avLst/>
          </a:prstGeom>
          <a:ln>
            <a:solidFill>
              <a:schemeClr val="tx1"/>
            </a:solidFill>
          </a:ln>
        </p:spPr>
      </p:pic>
      <p:pic>
        <p:nvPicPr>
          <p:cNvPr id="22" name="圖片 21">
            <a:extLst>
              <a:ext uri="{FF2B5EF4-FFF2-40B4-BE49-F238E27FC236}">
                <a16:creationId xmlns:a16="http://schemas.microsoft.com/office/drawing/2014/main" id="{19E13378-B3A8-A443-C266-5D89F1238711}"/>
              </a:ext>
            </a:extLst>
          </p:cNvPr>
          <p:cNvPicPr>
            <a:picLocks noChangeAspect="1"/>
          </p:cNvPicPr>
          <p:nvPr/>
        </p:nvPicPr>
        <p:blipFill>
          <a:blip r:embed="rId6"/>
          <a:stretch>
            <a:fillRect/>
          </a:stretch>
        </p:blipFill>
        <p:spPr>
          <a:xfrm>
            <a:off x="8057031" y="3272519"/>
            <a:ext cx="3411070" cy="3428999"/>
          </a:xfrm>
          <a:prstGeom prst="rect">
            <a:avLst/>
          </a:prstGeom>
          <a:ln>
            <a:solidFill>
              <a:schemeClr val="tx1"/>
            </a:solidFill>
          </a:ln>
        </p:spPr>
      </p:pic>
      <p:sp>
        <p:nvSpPr>
          <p:cNvPr id="23" name="文字方塊 22">
            <a:extLst>
              <a:ext uri="{FF2B5EF4-FFF2-40B4-BE49-F238E27FC236}">
                <a16:creationId xmlns:a16="http://schemas.microsoft.com/office/drawing/2014/main" id="{51117C26-8EB9-D3DE-310F-66C18F421E64}"/>
              </a:ext>
            </a:extLst>
          </p:cNvPr>
          <p:cNvSpPr txBox="1"/>
          <p:nvPr/>
        </p:nvSpPr>
        <p:spPr>
          <a:xfrm>
            <a:off x="8855074" y="2914032"/>
            <a:ext cx="2022475"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各工具問題排除紀錄</a:t>
            </a:r>
          </a:p>
        </p:txBody>
      </p:sp>
    </p:spTree>
    <p:extLst>
      <p:ext uri="{BB962C8B-B14F-4D97-AF65-F5344CB8AC3E}">
        <p14:creationId xmlns:p14="http://schemas.microsoft.com/office/powerpoint/2010/main" val="1905862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BAD9D964-616D-7B8B-3D31-139EDE238980}"/>
              </a:ext>
            </a:extLst>
          </p:cNvPr>
          <p:cNvSpPr>
            <a:spLocks noGrp="1"/>
          </p:cNvSpPr>
          <p:nvPr>
            <p:ph type="title"/>
          </p:nvPr>
        </p:nvSpPr>
        <p:spPr/>
        <p:txBody>
          <a:bodyPr/>
          <a:lstStyle/>
          <a:p>
            <a:r>
              <a:rPr lang="zh-CN" altLang="en-US" sz="3200">
                <a:solidFill>
                  <a:srgbClr val="0087DC"/>
                </a:solidFill>
              </a:rPr>
              <a:t>交付與驗收</a:t>
            </a:r>
            <a:r>
              <a:rPr lang="zh-TW" altLang="en-US" sz="3200">
                <a:solidFill>
                  <a:srgbClr val="0087DC"/>
                </a:solidFill>
              </a:rPr>
              <a:t> </a:t>
            </a:r>
            <a:r>
              <a:rPr lang="en-US" altLang="zh-TW" sz="3200">
                <a:solidFill>
                  <a:srgbClr val="0087DC"/>
                </a:solidFill>
              </a:rPr>
              <a:t>– </a:t>
            </a:r>
            <a:r>
              <a:rPr lang="zh-TW" altLang="en-US" sz="3200">
                <a:solidFill>
                  <a:srgbClr val="0087DC"/>
                </a:solidFill>
              </a:rPr>
              <a:t>交付物說明</a:t>
            </a:r>
            <a:endParaRPr lang="zh-TW" altLang="en-US"/>
          </a:p>
        </p:txBody>
      </p:sp>
      <p:sp>
        <p:nvSpPr>
          <p:cNvPr id="10" name="內容版面配置區 1">
            <a:extLst>
              <a:ext uri="{FF2B5EF4-FFF2-40B4-BE49-F238E27FC236}">
                <a16:creationId xmlns:a16="http://schemas.microsoft.com/office/drawing/2014/main" id="{F3BF858E-32A4-2C94-6D69-4A0779BC12B4}"/>
              </a:ext>
            </a:extLst>
          </p:cNvPr>
          <p:cNvSpPr>
            <a:spLocks noGrp="1"/>
          </p:cNvSpPr>
          <p:nvPr>
            <p:ph idx="1"/>
          </p:nvPr>
        </p:nvSpPr>
        <p:spPr>
          <a:xfrm>
            <a:off x="406400" y="1170462"/>
            <a:ext cx="11379200" cy="4953777"/>
          </a:xfrm>
        </p:spPr>
        <p:txBody>
          <a:bodyPr>
            <a:normAutofit/>
          </a:bodyPr>
          <a:lstStyle/>
          <a:p>
            <a:pPr marL="228589" lvl="1">
              <a:lnSpc>
                <a:spcPct val="100000"/>
              </a:lnSpc>
              <a:spcBef>
                <a:spcPts val="1000"/>
              </a:spcBef>
            </a:pPr>
            <a:r>
              <a:rPr lang="zh-TW" altLang="en-US" sz="2000" b="1" dirty="0">
                <a:solidFill>
                  <a:srgbClr val="404040"/>
                </a:solidFill>
              </a:rPr>
              <a:t>各階段交付文件</a:t>
            </a:r>
            <a:endParaRPr lang="en-US" altLang="zh-TW" sz="2000" b="1" dirty="0">
              <a:solidFill>
                <a:srgbClr val="404040"/>
              </a:solidFill>
            </a:endParaRPr>
          </a:p>
          <a:p>
            <a:pPr marL="742938" lvl="2" indent="-285750">
              <a:lnSpc>
                <a:spcPct val="100000"/>
              </a:lnSpc>
              <a:spcBef>
                <a:spcPts val="1000"/>
              </a:spcBef>
              <a:buFont typeface="Wingdings" panose="05000000000000000000" pitchFamily="2" charset="2"/>
              <a:buChar char="Ø"/>
            </a:pPr>
            <a:r>
              <a:rPr lang="zh-TW" altLang="en-US" sz="1600" dirty="0"/>
              <a:t>各階段保留詳細的技術文檔，做為未來的專案維運開展工作的基礎。</a:t>
            </a:r>
            <a:endParaRPr lang="en-US" altLang="zh-TW" sz="1600" dirty="0"/>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457188" lvl="2" indent="0">
              <a:lnSpc>
                <a:spcPct val="100000"/>
              </a:lnSpc>
              <a:spcBef>
                <a:spcPts val="1000"/>
              </a:spcBef>
              <a:buNone/>
            </a:pPr>
            <a:endParaRPr lang="en-US" altLang="zh-TW" sz="16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p:txBody>
      </p:sp>
      <p:graphicFrame>
        <p:nvGraphicFramePr>
          <p:cNvPr id="11" name="表格 10">
            <a:extLst>
              <a:ext uri="{FF2B5EF4-FFF2-40B4-BE49-F238E27FC236}">
                <a16:creationId xmlns:a16="http://schemas.microsoft.com/office/drawing/2014/main" id="{0FB3AB99-AD7F-BFA4-2BF3-10793D35C1A5}"/>
              </a:ext>
            </a:extLst>
          </p:cNvPr>
          <p:cNvGraphicFramePr>
            <a:graphicFrameLocks noGrp="1"/>
          </p:cNvGraphicFramePr>
          <p:nvPr>
            <p:extLst>
              <p:ext uri="{D42A27DB-BD31-4B8C-83A1-F6EECF244321}">
                <p14:modId xmlns:p14="http://schemas.microsoft.com/office/powerpoint/2010/main" val="3491881132"/>
              </p:ext>
            </p:extLst>
          </p:nvPr>
        </p:nvGraphicFramePr>
        <p:xfrm>
          <a:off x="755650" y="1990700"/>
          <a:ext cx="8616950" cy="741680"/>
        </p:xfrm>
        <a:graphic>
          <a:graphicData uri="http://schemas.openxmlformats.org/drawingml/2006/table">
            <a:tbl>
              <a:tblPr firstRow="1" bandRow="1">
                <a:tableStyleId>{5C22544A-7EE6-4342-B048-85BDC9FD1C3A}</a:tableStyleId>
              </a:tblPr>
              <a:tblGrid>
                <a:gridCol w="2397125">
                  <a:extLst>
                    <a:ext uri="{9D8B030D-6E8A-4147-A177-3AD203B41FA5}">
                      <a16:colId xmlns:a16="http://schemas.microsoft.com/office/drawing/2014/main" val="3162808197"/>
                    </a:ext>
                  </a:extLst>
                </a:gridCol>
                <a:gridCol w="6219825">
                  <a:extLst>
                    <a:ext uri="{9D8B030D-6E8A-4147-A177-3AD203B41FA5}">
                      <a16:colId xmlns:a16="http://schemas.microsoft.com/office/drawing/2014/main" val="2166387516"/>
                    </a:ext>
                  </a:extLst>
                </a:gridCol>
              </a:tblGrid>
              <a:tr h="370840">
                <a:tc>
                  <a:txBody>
                    <a:bodyPr/>
                    <a:lstStyle/>
                    <a:p>
                      <a:r>
                        <a:rPr lang="zh-TW" altLang="en-US" dirty="0"/>
                        <a:t>產出物</a:t>
                      </a:r>
                    </a:p>
                  </a:txBody>
                  <a:tcPr/>
                </a:tc>
                <a:tc>
                  <a:txBody>
                    <a:bodyPr/>
                    <a:lstStyle/>
                    <a:p>
                      <a:r>
                        <a:rPr lang="zh-TW" altLang="en-US" dirty="0"/>
                        <a:t>目的 </a:t>
                      </a:r>
                      <a:r>
                        <a:rPr lang="en-US" altLang="zh-TW" dirty="0"/>
                        <a:t>&amp; </a:t>
                      </a:r>
                      <a:r>
                        <a:rPr lang="zh-TW" altLang="en-US" dirty="0"/>
                        <a:t>效益</a:t>
                      </a:r>
                    </a:p>
                  </a:txBody>
                  <a:tcPr/>
                </a:tc>
                <a:extLst>
                  <a:ext uri="{0D108BD9-81ED-4DB2-BD59-A6C34878D82A}">
                    <a16:rowId xmlns:a16="http://schemas.microsoft.com/office/drawing/2014/main" val="2007556278"/>
                  </a:ext>
                </a:extLst>
              </a:tr>
              <a:tr h="370840">
                <a:tc>
                  <a:txBody>
                    <a:bodyPr/>
                    <a:lstStyle/>
                    <a:p>
                      <a:r>
                        <a:rPr lang="zh-TW" altLang="en-US" sz="1600" dirty="0"/>
                        <a:t>開發規格書 </a:t>
                      </a:r>
                      <a:r>
                        <a:rPr lang="en-US" altLang="zh-TW" sz="1600" dirty="0"/>
                        <a:t>(</a:t>
                      </a:r>
                      <a:r>
                        <a:rPr lang="zh-TW" altLang="en-US" sz="1600" dirty="0"/>
                        <a:t> </a:t>
                      </a:r>
                      <a:r>
                        <a:rPr lang="en-US" altLang="zh-TW" sz="1600" dirty="0"/>
                        <a:t>11</a:t>
                      </a:r>
                      <a:r>
                        <a:rPr lang="zh-TW" altLang="en-US" sz="1600" dirty="0"/>
                        <a:t>頁 </a:t>
                      </a:r>
                      <a:r>
                        <a:rPr lang="en-US" altLang="zh-TW" sz="1600" dirty="0"/>
                        <a:t>)</a:t>
                      </a:r>
                      <a:endParaRPr lang="zh-TW" altLang="en-US" sz="1600" dirty="0"/>
                    </a:p>
                  </a:txBody>
                  <a:tcPr marL="72000"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800" dirty="0"/>
                        <a:t>利於</a:t>
                      </a:r>
                      <a:r>
                        <a:rPr lang="zh-TW" altLang="en-US" sz="1800" b="1" dirty="0">
                          <a:solidFill>
                            <a:schemeClr val="tx1"/>
                          </a:solidFill>
                        </a:rPr>
                        <a:t>長期管理維運</a:t>
                      </a:r>
                      <a:r>
                        <a:rPr lang="zh-TW" altLang="en-US" sz="1800" dirty="0"/>
                        <a:t>的功能性</a:t>
                      </a:r>
                      <a:r>
                        <a:rPr lang="zh-TW" altLang="en-US" sz="1800" b="1" dirty="0"/>
                        <a:t>模組開發</a:t>
                      </a:r>
                    </a:p>
                  </a:txBody>
                  <a:tcPr/>
                </a:tc>
                <a:extLst>
                  <a:ext uri="{0D108BD9-81ED-4DB2-BD59-A6C34878D82A}">
                    <a16:rowId xmlns:a16="http://schemas.microsoft.com/office/drawing/2014/main" val="1788815148"/>
                  </a:ext>
                </a:extLst>
              </a:tr>
            </a:tbl>
          </a:graphicData>
        </a:graphic>
      </p:graphicFrame>
      <p:sp>
        <p:nvSpPr>
          <p:cNvPr id="12" name="文字方塊 11">
            <a:extLst>
              <a:ext uri="{FF2B5EF4-FFF2-40B4-BE49-F238E27FC236}">
                <a16:creationId xmlns:a16="http://schemas.microsoft.com/office/drawing/2014/main" id="{FFECD927-2B49-A274-8E31-D8CDC26CDC63}"/>
              </a:ext>
            </a:extLst>
          </p:cNvPr>
          <p:cNvSpPr txBox="1"/>
          <p:nvPr/>
        </p:nvSpPr>
        <p:spPr>
          <a:xfrm>
            <a:off x="1314451" y="2891327"/>
            <a:ext cx="1706628"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定義客製功能需求</a:t>
            </a:r>
          </a:p>
        </p:txBody>
      </p:sp>
      <p:sp>
        <p:nvSpPr>
          <p:cNvPr id="18" name="文字方塊 17">
            <a:extLst>
              <a:ext uri="{FF2B5EF4-FFF2-40B4-BE49-F238E27FC236}">
                <a16:creationId xmlns:a16="http://schemas.microsoft.com/office/drawing/2014/main" id="{9DD4876C-D475-2A8E-22DF-21E01F17517C}"/>
              </a:ext>
            </a:extLst>
          </p:cNvPr>
          <p:cNvSpPr txBox="1"/>
          <p:nvPr/>
        </p:nvSpPr>
        <p:spPr>
          <a:xfrm>
            <a:off x="4968875" y="2891327"/>
            <a:ext cx="1706628"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規劃開發資源</a:t>
            </a:r>
          </a:p>
        </p:txBody>
      </p:sp>
      <p:sp>
        <p:nvSpPr>
          <p:cNvPr id="23" name="文字方塊 22">
            <a:extLst>
              <a:ext uri="{FF2B5EF4-FFF2-40B4-BE49-F238E27FC236}">
                <a16:creationId xmlns:a16="http://schemas.microsoft.com/office/drawing/2014/main" id="{51117C26-8EB9-D3DE-310F-66C18F421E64}"/>
              </a:ext>
            </a:extLst>
          </p:cNvPr>
          <p:cNvSpPr txBox="1"/>
          <p:nvPr/>
        </p:nvSpPr>
        <p:spPr>
          <a:xfrm>
            <a:off x="8843960" y="2891326"/>
            <a:ext cx="2022475"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專案時程規劃</a:t>
            </a:r>
          </a:p>
        </p:txBody>
      </p:sp>
      <p:pic>
        <p:nvPicPr>
          <p:cNvPr id="4" name="圖片 3">
            <a:extLst>
              <a:ext uri="{FF2B5EF4-FFF2-40B4-BE49-F238E27FC236}">
                <a16:creationId xmlns:a16="http://schemas.microsoft.com/office/drawing/2014/main" id="{5C9C9822-6BF8-0539-CBF9-0F276C3F8FAD}"/>
              </a:ext>
            </a:extLst>
          </p:cNvPr>
          <p:cNvPicPr>
            <a:picLocks noChangeAspect="1"/>
          </p:cNvPicPr>
          <p:nvPr/>
        </p:nvPicPr>
        <p:blipFill>
          <a:blip r:embed="rId3"/>
          <a:stretch>
            <a:fillRect/>
          </a:stretch>
        </p:blipFill>
        <p:spPr>
          <a:xfrm>
            <a:off x="462013" y="3273043"/>
            <a:ext cx="3411504" cy="3144601"/>
          </a:xfrm>
          <a:prstGeom prst="rect">
            <a:avLst/>
          </a:prstGeom>
          <a:ln>
            <a:noFill/>
          </a:ln>
        </p:spPr>
      </p:pic>
      <p:pic>
        <p:nvPicPr>
          <p:cNvPr id="5" name="圖片 4">
            <a:extLst>
              <a:ext uri="{FF2B5EF4-FFF2-40B4-BE49-F238E27FC236}">
                <a16:creationId xmlns:a16="http://schemas.microsoft.com/office/drawing/2014/main" id="{C276C6CC-4B2C-42ED-5F9E-4FA1186AC12D}"/>
              </a:ext>
            </a:extLst>
          </p:cNvPr>
          <p:cNvPicPr>
            <a:picLocks noChangeAspect="1"/>
          </p:cNvPicPr>
          <p:nvPr/>
        </p:nvPicPr>
        <p:blipFill>
          <a:blip r:embed="rId4"/>
          <a:stretch>
            <a:fillRect/>
          </a:stretch>
        </p:blipFill>
        <p:spPr>
          <a:xfrm>
            <a:off x="4235238" y="3236056"/>
            <a:ext cx="3194262" cy="3383645"/>
          </a:xfrm>
          <a:prstGeom prst="rect">
            <a:avLst/>
          </a:prstGeom>
        </p:spPr>
      </p:pic>
      <p:pic>
        <p:nvPicPr>
          <p:cNvPr id="7" name="圖片 6">
            <a:extLst>
              <a:ext uri="{FF2B5EF4-FFF2-40B4-BE49-F238E27FC236}">
                <a16:creationId xmlns:a16="http://schemas.microsoft.com/office/drawing/2014/main" id="{8C240EB0-7500-147A-314F-3747B15DA6DA}"/>
              </a:ext>
            </a:extLst>
          </p:cNvPr>
          <p:cNvPicPr>
            <a:picLocks noChangeAspect="1"/>
          </p:cNvPicPr>
          <p:nvPr/>
        </p:nvPicPr>
        <p:blipFill>
          <a:blip r:embed="rId5"/>
          <a:srcRect t="9538"/>
          <a:stretch/>
        </p:blipFill>
        <p:spPr>
          <a:xfrm>
            <a:off x="7882730" y="3358049"/>
            <a:ext cx="4062413" cy="1940902"/>
          </a:xfrm>
          <a:prstGeom prst="rect">
            <a:avLst/>
          </a:prstGeom>
        </p:spPr>
      </p:pic>
      <p:pic>
        <p:nvPicPr>
          <p:cNvPr id="9" name="圖片 8">
            <a:extLst>
              <a:ext uri="{FF2B5EF4-FFF2-40B4-BE49-F238E27FC236}">
                <a16:creationId xmlns:a16="http://schemas.microsoft.com/office/drawing/2014/main" id="{1B01F4C4-8C43-4C8E-8A7C-C72794F946BD}"/>
              </a:ext>
            </a:extLst>
          </p:cNvPr>
          <p:cNvPicPr>
            <a:picLocks noChangeAspect="1"/>
          </p:cNvPicPr>
          <p:nvPr/>
        </p:nvPicPr>
        <p:blipFill>
          <a:blip r:embed="rId6"/>
          <a:stretch>
            <a:fillRect/>
          </a:stretch>
        </p:blipFill>
        <p:spPr>
          <a:xfrm>
            <a:off x="7918844" y="5228979"/>
            <a:ext cx="3872705" cy="1054206"/>
          </a:xfrm>
          <a:prstGeom prst="rect">
            <a:avLst/>
          </a:prstGeom>
        </p:spPr>
      </p:pic>
    </p:spTree>
    <p:extLst>
      <p:ext uri="{BB962C8B-B14F-4D97-AF65-F5344CB8AC3E}">
        <p14:creationId xmlns:p14="http://schemas.microsoft.com/office/powerpoint/2010/main" val="3311156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BAD9D964-616D-7B8B-3D31-139EDE238980}"/>
              </a:ext>
            </a:extLst>
          </p:cNvPr>
          <p:cNvSpPr>
            <a:spLocks noGrp="1"/>
          </p:cNvSpPr>
          <p:nvPr>
            <p:ph type="title"/>
          </p:nvPr>
        </p:nvSpPr>
        <p:spPr/>
        <p:txBody>
          <a:bodyPr/>
          <a:lstStyle/>
          <a:p>
            <a:r>
              <a:rPr lang="zh-CN" altLang="en-US" sz="3200">
                <a:solidFill>
                  <a:srgbClr val="0087DC"/>
                </a:solidFill>
              </a:rPr>
              <a:t>交付與驗收</a:t>
            </a:r>
            <a:r>
              <a:rPr lang="zh-TW" altLang="en-US" sz="3200">
                <a:solidFill>
                  <a:srgbClr val="0087DC"/>
                </a:solidFill>
              </a:rPr>
              <a:t> </a:t>
            </a:r>
            <a:r>
              <a:rPr lang="en-US" altLang="zh-TW" sz="3200">
                <a:solidFill>
                  <a:srgbClr val="0087DC"/>
                </a:solidFill>
              </a:rPr>
              <a:t>– </a:t>
            </a:r>
            <a:r>
              <a:rPr lang="zh-TW" altLang="en-US" sz="3200">
                <a:solidFill>
                  <a:srgbClr val="0087DC"/>
                </a:solidFill>
              </a:rPr>
              <a:t>交付物說明</a:t>
            </a:r>
            <a:endParaRPr lang="zh-TW" altLang="en-US"/>
          </a:p>
        </p:txBody>
      </p:sp>
      <p:sp>
        <p:nvSpPr>
          <p:cNvPr id="10" name="內容版面配置區 1">
            <a:extLst>
              <a:ext uri="{FF2B5EF4-FFF2-40B4-BE49-F238E27FC236}">
                <a16:creationId xmlns:a16="http://schemas.microsoft.com/office/drawing/2014/main" id="{F3BF858E-32A4-2C94-6D69-4A0779BC12B4}"/>
              </a:ext>
            </a:extLst>
          </p:cNvPr>
          <p:cNvSpPr>
            <a:spLocks noGrp="1"/>
          </p:cNvSpPr>
          <p:nvPr>
            <p:ph idx="1"/>
          </p:nvPr>
        </p:nvSpPr>
        <p:spPr>
          <a:xfrm>
            <a:off x="406400" y="1170462"/>
            <a:ext cx="11379200" cy="4953777"/>
          </a:xfrm>
        </p:spPr>
        <p:txBody>
          <a:bodyPr>
            <a:normAutofit/>
          </a:bodyPr>
          <a:lstStyle/>
          <a:p>
            <a:pPr marL="228589" lvl="1">
              <a:lnSpc>
                <a:spcPct val="100000"/>
              </a:lnSpc>
              <a:spcBef>
                <a:spcPts val="1000"/>
              </a:spcBef>
            </a:pPr>
            <a:r>
              <a:rPr lang="zh-TW" altLang="en-US" sz="2000" b="1" dirty="0">
                <a:solidFill>
                  <a:srgbClr val="404040"/>
                </a:solidFill>
              </a:rPr>
              <a:t>各階段交付文件</a:t>
            </a:r>
            <a:endParaRPr lang="en-US" altLang="zh-TW" sz="2000" b="1" dirty="0">
              <a:solidFill>
                <a:srgbClr val="404040"/>
              </a:solidFill>
            </a:endParaRPr>
          </a:p>
          <a:p>
            <a:pPr marL="742938" lvl="2" indent="-285750">
              <a:lnSpc>
                <a:spcPct val="100000"/>
              </a:lnSpc>
              <a:spcBef>
                <a:spcPts val="1000"/>
              </a:spcBef>
              <a:buFont typeface="Wingdings" panose="05000000000000000000" pitchFamily="2" charset="2"/>
              <a:buChar char="Ø"/>
            </a:pPr>
            <a:r>
              <a:rPr lang="zh-TW" altLang="en-US" sz="1600" dirty="0"/>
              <a:t>各階段保留詳細的技術文檔，做為未來的專案維運開展工作的基礎。</a:t>
            </a:r>
            <a:endParaRPr lang="en-US" altLang="zh-TW" sz="1600" dirty="0"/>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742938" lvl="2" indent="-285750">
              <a:lnSpc>
                <a:spcPct val="100000"/>
              </a:lnSpc>
              <a:spcBef>
                <a:spcPts val="1000"/>
              </a:spcBef>
              <a:buFont typeface="Wingdings" panose="05000000000000000000" pitchFamily="2" charset="2"/>
              <a:buChar char="Ø"/>
            </a:pPr>
            <a:endParaRPr lang="en-US" altLang="zh-TW" sz="1600" dirty="0">
              <a:solidFill>
                <a:srgbClr val="404040"/>
              </a:solidFill>
              <a:latin typeface="Arial" panose="020B0604020202020204" pitchFamily="34" charset="0"/>
              <a:ea typeface="微軟正黑體" panose="020B0604030504040204" pitchFamily="34" charset="-120"/>
            </a:endParaRPr>
          </a:p>
          <a:p>
            <a:pPr marL="457188" lvl="2" indent="0">
              <a:lnSpc>
                <a:spcPct val="100000"/>
              </a:lnSpc>
              <a:spcBef>
                <a:spcPts val="1000"/>
              </a:spcBef>
              <a:buNone/>
            </a:pPr>
            <a:endParaRPr lang="en-US" altLang="zh-TW" sz="16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lvl="1">
              <a:lnSpc>
                <a:spcPct val="150000"/>
              </a:lnSpc>
              <a:buFont typeface="Wingdings" panose="05000000000000000000" pitchFamily="2" charset="2"/>
              <a:buChar char="Ø"/>
            </a:pPr>
            <a:endParaRPr lang="en-US" altLang="zh-TW" sz="18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a:p>
            <a:pPr marL="457189" lvl="1" indent="0">
              <a:lnSpc>
                <a:spcPct val="150000"/>
              </a:lnSpc>
              <a:buNone/>
            </a:pPr>
            <a:endParaRPr lang="en-US" altLang="zh-TW" sz="1800" dirty="0">
              <a:solidFill>
                <a:srgbClr val="404040"/>
              </a:solidFill>
              <a:latin typeface="Arial" panose="020B0604020202020204" pitchFamily="34" charset="0"/>
              <a:ea typeface="微軟正黑體" panose="020B0604030504040204" pitchFamily="34" charset="-120"/>
            </a:endParaRPr>
          </a:p>
        </p:txBody>
      </p:sp>
      <p:graphicFrame>
        <p:nvGraphicFramePr>
          <p:cNvPr id="11" name="表格 10">
            <a:extLst>
              <a:ext uri="{FF2B5EF4-FFF2-40B4-BE49-F238E27FC236}">
                <a16:creationId xmlns:a16="http://schemas.microsoft.com/office/drawing/2014/main" id="{0FB3AB99-AD7F-BFA4-2BF3-10793D35C1A5}"/>
              </a:ext>
            </a:extLst>
          </p:cNvPr>
          <p:cNvGraphicFramePr>
            <a:graphicFrameLocks noGrp="1"/>
          </p:cNvGraphicFramePr>
          <p:nvPr>
            <p:extLst>
              <p:ext uri="{D42A27DB-BD31-4B8C-83A1-F6EECF244321}">
                <p14:modId xmlns:p14="http://schemas.microsoft.com/office/powerpoint/2010/main" val="1393739491"/>
              </p:ext>
            </p:extLst>
          </p:nvPr>
        </p:nvGraphicFramePr>
        <p:xfrm>
          <a:off x="755650" y="1990700"/>
          <a:ext cx="8616950" cy="741680"/>
        </p:xfrm>
        <a:graphic>
          <a:graphicData uri="http://schemas.openxmlformats.org/drawingml/2006/table">
            <a:tbl>
              <a:tblPr firstRow="1" bandRow="1">
                <a:tableStyleId>{5C22544A-7EE6-4342-B048-85BDC9FD1C3A}</a:tableStyleId>
              </a:tblPr>
              <a:tblGrid>
                <a:gridCol w="2397125">
                  <a:extLst>
                    <a:ext uri="{9D8B030D-6E8A-4147-A177-3AD203B41FA5}">
                      <a16:colId xmlns:a16="http://schemas.microsoft.com/office/drawing/2014/main" val="3162808197"/>
                    </a:ext>
                  </a:extLst>
                </a:gridCol>
                <a:gridCol w="6219825">
                  <a:extLst>
                    <a:ext uri="{9D8B030D-6E8A-4147-A177-3AD203B41FA5}">
                      <a16:colId xmlns:a16="http://schemas.microsoft.com/office/drawing/2014/main" val="2166387516"/>
                    </a:ext>
                  </a:extLst>
                </a:gridCol>
              </a:tblGrid>
              <a:tr h="370840">
                <a:tc>
                  <a:txBody>
                    <a:bodyPr/>
                    <a:lstStyle/>
                    <a:p>
                      <a:r>
                        <a:rPr lang="zh-TW" altLang="en-US" dirty="0"/>
                        <a:t>產出物</a:t>
                      </a:r>
                    </a:p>
                  </a:txBody>
                  <a:tcPr/>
                </a:tc>
                <a:tc>
                  <a:txBody>
                    <a:bodyPr/>
                    <a:lstStyle/>
                    <a:p>
                      <a:r>
                        <a:rPr lang="zh-TW" altLang="en-US" dirty="0"/>
                        <a:t>目的 </a:t>
                      </a:r>
                      <a:r>
                        <a:rPr lang="en-US" altLang="zh-TW" dirty="0"/>
                        <a:t>&amp; </a:t>
                      </a:r>
                      <a:r>
                        <a:rPr lang="zh-TW" altLang="en-US" dirty="0"/>
                        <a:t>效益</a:t>
                      </a:r>
                    </a:p>
                  </a:txBody>
                  <a:tcPr/>
                </a:tc>
                <a:extLst>
                  <a:ext uri="{0D108BD9-81ED-4DB2-BD59-A6C34878D82A}">
                    <a16:rowId xmlns:a16="http://schemas.microsoft.com/office/drawing/2014/main" val="2007556278"/>
                  </a:ext>
                </a:extLst>
              </a:tr>
              <a:tr h="370840">
                <a:tc>
                  <a:txBody>
                    <a:bodyPr/>
                    <a:lstStyle/>
                    <a:p>
                      <a:r>
                        <a:rPr lang="zh-TW" altLang="en-US" sz="1600" dirty="0"/>
                        <a:t>運作架構圖 </a:t>
                      </a:r>
                      <a:r>
                        <a:rPr lang="en-US" altLang="zh-TW" sz="1600" dirty="0"/>
                        <a:t>( 18</a:t>
                      </a:r>
                      <a:r>
                        <a:rPr lang="zh-TW" altLang="en-US" sz="1600" dirty="0"/>
                        <a:t>頁</a:t>
                      </a:r>
                      <a:r>
                        <a:rPr lang="en-US" altLang="zh-TW" sz="1600" dirty="0"/>
                        <a:t>)</a:t>
                      </a:r>
                      <a:endParaRPr lang="zh-TW" altLang="en-US" sz="1600" dirty="0"/>
                    </a:p>
                  </a:txBody>
                  <a:tcPr marL="72000"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800" dirty="0"/>
                        <a:t>底層</a:t>
                      </a:r>
                      <a:r>
                        <a:rPr lang="zh-TW" altLang="en-US" sz="1800" b="1" dirty="0"/>
                        <a:t>硬體資源</a:t>
                      </a:r>
                      <a:r>
                        <a:rPr lang="zh-TW" altLang="en-US" sz="1800" dirty="0"/>
                        <a:t>以及</a:t>
                      </a:r>
                      <a:r>
                        <a:rPr lang="zh-TW" altLang="en-US" sz="1800" b="1" dirty="0"/>
                        <a:t>實體部屬</a:t>
                      </a:r>
                      <a:r>
                        <a:rPr lang="zh-TW" altLang="en-US" sz="1800" dirty="0"/>
                        <a:t>架構規劃</a:t>
                      </a:r>
                    </a:p>
                  </a:txBody>
                  <a:tcPr/>
                </a:tc>
                <a:extLst>
                  <a:ext uri="{0D108BD9-81ED-4DB2-BD59-A6C34878D82A}">
                    <a16:rowId xmlns:a16="http://schemas.microsoft.com/office/drawing/2014/main" val="1788815148"/>
                  </a:ext>
                </a:extLst>
              </a:tr>
            </a:tbl>
          </a:graphicData>
        </a:graphic>
      </p:graphicFrame>
      <p:sp>
        <p:nvSpPr>
          <p:cNvPr id="12" name="文字方塊 11">
            <a:extLst>
              <a:ext uri="{FF2B5EF4-FFF2-40B4-BE49-F238E27FC236}">
                <a16:creationId xmlns:a16="http://schemas.microsoft.com/office/drawing/2014/main" id="{FFECD927-2B49-A274-8E31-D8CDC26CDC63}"/>
              </a:ext>
            </a:extLst>
          </p:cNvPr>
          <p:cNvSpPr txBox="1"/>
          <p:nvPr/>
        </p:nvSpPr>
        <p:spPr>
          <a:xfrm>
            <a:off x="1269604" y="3128050"/>
            <a:ext cx="2022475"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規劃系統的整體架構</a:t>
            </a:r>
          </a:p>
        </p:txBody>
      </p:sp>
      <p:sp>
        <p:nvSpPr>
          <p:cNvPr id="18" name="文字方塊 17">
            <a:extLst>
              <a:ext uri="{FF2B5EF4-FFF2-40B4-BE49-F238E27FC236}">
                <a16:creationId xmlns:a16="http://schemas.microsoft.com/office/drawing/2014/main" id="{9DD4876C-D475-2A8E-22DF-21E01F17517C}"/>
              </a:ext>
            </a:extLst>
          </p:cNvPr>
          <p:cNvSpPr txBox="1"/>
          <p:nvPr/>
        </p:nvSpPr>
        <p:spPr>
          <a:xfrm>
            <a:off x="5064125" y="3117036"/>
            <a:ext cx="2022474"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硬體資源規劃</a:t>
            </a:r>
          </a:p>
        </p:txBody>
      </p:sp>
      <p:sp>
        <p:nvSpPr>
          <p:cNvPr id="23" name="文字方塊 22">
            <a:extLst>
              <a:ext uri="{FF2B5EF4-FFF2-40B4-BE49-F238E27FC236}">
                <a16:creationId xmlns:a16="http://schemas.microsoft.com/office/drawing/2014/main" id="{51117C26-8EB9-D3DE-310F-66C18F421E64}"/>
              </a:ext>
            </a:extLst>
          </p:cNvPr>
          <p:cNvSpPr txBox="1"/>
          <p:nvPr/>
        </p:nvSpPr>
        <p:spPr>
          <a:xfrm>
            <a:off x="9090421" y="3128050"/>
            <a:ext cx="2022475" cy="307777"/>
          </a:xfrm>
          <a:prstGeom prst="rect">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zh-TW" altLang="en-US" sz="1400" dirty="0"/>
              <a:t>解決方案架構圖</a:t>
            </a:r>
          </a:p>
        </p:txBody>
      </p:sp>
      <p:pic>
        <p:nvPicPr>
          <p:cNvPr id="6" name="圖片 5">
            <a:extLst>
              <a:ext uri="{FF2B5EF4-FFF2-40B4-BE49-F238E27FC236}">
                <a16:creationId xmlns:a16="http://schemas.microsoft.com/office/drawing/2014/main" id="{8428A625-2A7D-C8F1-21AC-D5D3F1896161}"/>
              </a:ext>
            </a:extLst>
          </p:cNvPr>
          <p:cNvPicPr>
            <a:picLocks noChangeAspect="1"/>
          </p:cNvPicPr>
          <p:nvPr/>
        </p:nvPicPr>
        <p:blipFill>
          <a:blip r:embed="rId3"/>
          <a:stretch>
            <a:fillRect/>
          </a:stretch>
        </p:blipFill>
        <p:spPr>
          <a:xfrm>
            <a:off x="406399" y="3647867"/>
            <a:ext cx="3961733" cy="2190957"/>
          </a:xfrm>
          <a:prstGeom prst="rect">
            <a:avLst/>
          </a:prstGeom>
        </p:spPr>
      </p:pic>
      <p:grpSp>
        <p:nvGrpSpPr>
          <p:cNvPr id="16" name="群組 15">
            <a:extLst>
              <a:ext uri="{FF2B5EF4-FFF2-40B4-BE49-F238E27FC236}">
                <a16:creationId xmlns:a16="http://schemas.microsoft.com/office/drawing/2014/main" id="{DED0AB4F-5ED7-A9C9-6181-9088CF00E533}"/>
              </a:ext>
            </a:extLst>
          </p:cNvPr>
          <p:cNvGrpSpPr/>
          <p:nvPr/>
        </p:nvGrpSpPr>
        <p:grpSpPr>
          <a:xfrm>
            <a:off x="4527549" y="3613467"/>
            <a:ext cx="3456786" cy="3134526"/>
            <a:chOff x="4432299" y="3651567"/>
            <a:chExt cx="3456786" cy="3134526"/>
          </a:xfrm>
        </p:grpSpPr>
        <p:pic>
          <p:nvPicPr>
            <p:cNvPr id="13" name="圖片 12">
              <a:extLst>
                <a:ext uri="{FF2B5EF4-FFF2-40B4-BE49-F238E27FC236}">
                  <a16:creationId xmlns:a16="http://schemas.microsoft.com/office/drawing/2014/main" id="{1B4CCEEE-8824-AF62-380D-69D5BE2EE18A}"/>
                </a:ext>
              </a:extLst>
            </p:cNvPr>
            <p:cNvPicPr>
              <a:picLocks noChangeAspect="1"/>
            </p:cNvPicPr>
            <p:nvPr/>
          </p:nvPicPr>
          <p:blipFill>
            <a:blip r:embed="rId4"/>
            <a:srcRect r="30683"/>
            <a:stretch/>
          </p:blipFill>
          <p:spPr>
            <a:xfrm>
              <a:off x="4467225" y="3651567"/>
              <a:ext cx="3421860" cy="1327178"/>
            </a:xfrm>
            <a:prstGeom prst="rect">
              <a:avLst/>
            </a:prstGeom>
          </p:spPr>
        </p:pic>
        <p:pic>
          <p:nvPicPr>
            <p:cNvPr id="15" name="圖片 14">
              <a:extLst>
                <a:ext uri="{FF2B5EF4-FFF2-40B4-BE49-F238E27FC236}">
                  <a16:creationId xmlns:a16="http://schemas.microsoft.com/office/drawing/2014/main" id="{6EC850F3-6C80-81AF-3BAC-87E5D86DDFFF}"/>
                </a:ext>
              </a:extLst>
            </p:cNvPr>
            <p:cNvPicPr>
              <a:picLocks noChangeAspect="1"/>
            </p:cNvPicPr>
            <p:nvPr/>
          </p:nvPicPr>
          <p:blipFill>
            <a:blip r:embed="rId5"/>
            <a:stretch>
              <a:fillRect/>
            </a:stretch>
          </p:blipFill>
          <p:spPr>
            <a:xfrm>
              <a:off x="4432299" y="4678611"/>
              <a:ext cx="3456786" cy="2107482"/>
            </a:xfrm>
            <a:prstGeom prst="rect">
              <a:avLst/>
            </a:prstGeom>
          </p:spPr>
        </p:pic>
      </p:grpSp>
      <p:pic>
        <p:nvPicPr>
          <p:cNvPr id="19" name="圖片 18">
            <a:extLst>
              <a:ext uri="{FF2B5EF4-FFF2-40B4-BE49-F238E27FC236}">
                <a16:creationId xmlns:a16="http://schemas.microsoft.com/office/drawing/2014/main" id="{551CBED9-EEF6-C188-BB16-50FDB2D599F3}"/>
              </a:ext>
            </a:extLst>
          </p:cNvPr>
          <p:cNvPicPr>
            <a:picLocks noChangeAspect="1"/>
          </p:cNvPicPr>
          <p:nvPr/>
        </p:nvPicPr>
        <p:blipFill>
          <a:blip r:embed="rId6"/>
          <a:srcRect r="29178"/>
          <a:stretch/>
        </p:blipFill>
        <p:spPr>
          <a:xfrm>
            <a:off x="8253650" y="3613467"/>
            <a:ext cx="3531950" cy="2317208"/>
          </a:xfrm>
          <a:prstGeom prst="rect">
            <a:avLst/>
          </a:prstGeom>
        </p:spPr>
      </p:pic>
    </p:spTree>
    <p:extLst>
      <p:ext uri="{BB962C8B-B14F-4D97-AF65-F5344CB8AC3E}">
        <p14:creationId xmlns:p14="http://schemas.microsoft.com/office/powerpoint/2010/main" val="1997860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標題 1">
            <a:extLst>
              <a:ext uri="{FF2B5EF4-FFF2-40B4-BE49-F238E27FC236}">
                <a16:creationId xmlns:a16="http://schemas.microsoft.com/office/drawing/2014/main" id="{D1347FD2-6529-495A-9E8C-6D2EC8C3291B}"/>
              </a:ext>
            </a:extLst>
          </p:cNvPr>
          <p:cNvSpPr txBox="1">
            <a:spLocks/>
          </p:cNvSpPr>
          <p:nvPr/>
        </p:nvSpPr>
        <p:spPr>
          <a:xfrm>
            <a:off x="2496000" y="0"/>
            <a:ext cx="7200000" cy="679396"/>
          </a:xfrm>
          <a:prstGeom prst="rect">
            <a:avLst/>
          </a:prstGeom>
        </p:spPr>
        <p:txBody>
          <a:bodyPr vert="horz" lIns="0" tIns="45720" rIns="0" bIns="45720" rtlCol="0" anchor="b">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lvl="0">
              <a:defRPr/>
            </a:pPr>
            <a:r>
              <a:rPr lang="zh-CN" altLang="en-US" sz="2800" dirty="0">
                <a:solidFill>
                  <a:srgbClr val="0087DC"/>
                </a:solidFill>
              </a:rPr>
              <a:t>交付與驗收</a:t>
            </a:r>
            <a:r>
              <a:rPr lang="zh-TW" altLang="en-US" sz="2800" dirty="0">
                <a:solidFill>
                  <a:srgbClr val="0087DC"/>
                </a:solidFill>
              </a:rPr>
              <a:t> </a:t>
            </a:r>
            <a:endParaRPr kumimoji="0" lang="zh-TW" altLang="en-US" sz="2800" b="1" i="0" u="none" strike="noStrike" kern="1200" cap="none" spc="0" normalizeH="0" baseline="0" noProof="0" dirty="0">
              <a:ln>
                <a:noFill/>
              </a:ln>
              <a:solidFill>
                <a:srgbClr val="0087DC"/>
              </a:solidFill>
              <a:effectLst/>
              <a:uLnTx/>
              <a:uFillTx/>
              <a:latin typeface="Arial"/>
              <a:ea typeface="Microsoft JhengHei"/>
              <a:cs typeface="+mj-cs"/>
            </a:endParaRPr>
          </a:p>
        </p:txBody>
      </p:sp>
      <p:cxnSp>
        <p:nvCxnSpPr>
          <p:cNvPr id="49" name="直接连接符 73">
            <a:extLst>
              <a:ext uri="{FF2B5EF4-FFF2-40B4-BE49-F238E27FC236}">
                <a16:creationId xmlns:a16="http://schemas.microsoft.com/office/drawing/2014/main" id="{F9462D22-B562-419A-813E-D651749EA82C}"/>
              </a:ext>
            </a:extLst>
          </p:cNvPr>
          <p:cNvCxnSpPr/>
          <p:nvPr/>
        </p:nvCxnSpPr>
        <p:spPr>
          <a:xfrm flipH="1">
            <a:off x="-2" y="730737"/>
            <a:ext cx="12204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937180C0-1B81-46AA-B964-67A83E513457}"/>
              </a:ext>
            </a:extLst>
          </p:cNvPr>
          <p:cNvSpPr/>
          <p:nvPr/>
        </p:nvSpPr>
        <p:spPr>
          <a:xfrm>
            <a:off x="60817" y="1410897"/>
            <a:ext cx="361334" cy="1200329"/>
          </a:xfrm>
          <a:prstGeom prst="rect">
            <a:avLst/>
          </a:prstGeom>
        </p:spPr>
        <p:txBody>
          <a:bodyPr wrap="square">
            <a:spAutoFit/>
          </a:bodyPr>
          <a:lstStyle/>
          <a:p>
            <a:r>
              <a:rPr lang="zh-CN" altLang="en-US" b="1" dirty="0"/>
              <a:t>組織能力</a:t>
            </a:r>
            <a:endParaRPr lang="zh-TW" altLang="en-US" b="1" dirty="0"/>
          </a:p>
        </p:txBody>
      </p:sp>
      <p:graphicFrame>
        <p:nvGraphicFramePr>
          <p:cNvPr id="37" name="表格 36">
            <a:extLst>
              <a:ext uri="{FF2B5EF4-FFF2-40B4-BE49-F238E27FC236}">
                <a16:creationId xmlns:a16="http://schemas.microsoft.com/office/drawing/2014/main" id="{4073570B-990D-4C5F-8C93-A575BA63B322}"/>
              </a:ext>
            </a:extLst>
          </p:cNvPr>
          <p:cNvGraphicFramePr>
            <a:graphicFrameLocks noGrp="1"/>
          </p:cNvGraphicFramePr>
          <p:nvPr>
            <p:extLst>
              <p:ext uri="{D42A27DB-BD31-4B8C-83A1-F6EECF244321}">
                <p14:modId xmlns:p14="http://schemas.microsoft.com/office/powerpoint/2010/main" val="643033790"/>
              </p:ext>
            </p:extLst>
          </p:nvPr>
        </p:nvGraphicFramePr>
        <p:xfrm>
          <a:off x="516882" y="2820327"/>
          <a:ext cx="11370316" cy="3687598"/>
        </p:xfrm>
        <a:graphic>
          <a:graphicData uri="http://schemas.openxmlformats.org/drawingml/2006/table">
            <a:tbl>
              <a:tblPr firstRow="1" bandRow="1">
                <a:tableStyleId>{5C22544A-7EE6-4342-B048-85BDC9FD1C3A}</a:tableStyleId>
              </a:tblPr>
              <a:tblGrid>
                <a:gridCol w="667439">
                  <a:extLst>
                    <a:ext uri="{9D8B030D-6E8A-4147-A177-3AD203B41FA5}">
                      <a16:colId xmlns:a16="http://schemas.microsoft.com/office/drawing/2014/main" val="2629951691"/>
                    </a:ext>
                  </a:extLst>
                </a:gridCol>
                <a:gridCol w="3387679">
                  <a:extLst>
                    <a:ext uri="{9D8B030D-6E8A-4147-A177-3AD203B41FA5}">
                      <a16:colId xmlns:a16="http://schemas.microsoft.com/office/drawing/2014/main" val="2759940172"/>
                    </a:ext>
                  </a:extLst>
                </a:gridCol>
                <a:gridCol w="4799037">
                  <a:extLst>
                    <a:ext uri="{9D8B030D-6E8A-4147-A177-3AD203B41FA5}">
                      <a16:colId xmlns:a16="http://schemas.microsoft.com/office/drawing/2014/main" val="2486711330"/>
                    </a:ext>
                  </a:extLst>
                </a:gridCol>
                <a:gridCol w="2516161">
                  <a:extLst>
                    <a:ext uri="{9D8B030D-6E8A-4147-A177-3AD203B41FA5}">
                      <a16:colId xmlns:a16="http://schemas.microsoft.com/office/drawing/2014/main" val="3189384664"/>
                    </a:ext>
                  </a:extLst>
                </a:gridCol>
              </a:tblGrid>
              <a:tr h="578638">
                <a:tc gridSpan="2">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zh-CN" altLang="en-US" sz="1400" dirty="0"/>
                        <a:t>主要交付内容</a:t>
                      </a:r>
                      <a:endParaRPr lang="en-US" altLang="zh-CN" sz="1400" dirty="0"/>
                    </a:p>
                  </a:txBody>
                  <a:tcPr anchor="ctr"/>
                </a:tc>
                <a:tc hMerge="1">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lang="en-US" altLang="zh-CN" dirty="0"/>
                    </a:p>
                  </a:txBody>
                  <a:tcP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zh-TW" altLang="en-US" sz="1400" dirty="0"/>
                        <a:t>效益</a:t>
                      </a:r>
                      <a:endParaRPr lang="en-US" altLang="zh-CN" sz="1400" dirty="0"/>
                    </a:p>
                  </a:txBody>
                  <a:tcPr anchor="ct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zh-CN" altLang="en-US" sz="1400" dirty="0"/>
                        <a:t>驗收代表</a:t>
                      </a:r>
                      <a:endParaRPr lang="zh-TW" altLang="en-US" sz="1400" dirty="0"/>
                    </a:p>
                  </a:txBody>
                  <a:tcPr anchor="ctr"/>
                </a:tc>
                <a:extLst>
                  <a:ext uri="{0D108BD9-81ED-4DB2-BD59-A6C34878D82A}">
                    <a16:rowId xmlns:a16="http://schemas.microsoft.com/office/drawing/2014/main" val="2770941136"/>
                  </a:ext>
                </a:extLst>
              </a:tr>
              <a:tr h="518160">
                <a:tc rowSpan="4">
                  <a:txBody>
                    <a:bodyPr/>
                    <a:lstStyle/>
                    <a:p>
                      <a:pPr algn="ctr"/>
                      <a:r>
                        <a:rPr lang="zh-CN" altLang="en-US" sz="1400" b="1" kern="1200" dirty="0">
                          <a:solidFill>
                            <a:schemeClr val="tx1"/>
                          </a:solidFill>
                          <a:latin typeface="Arial" panose="020B0604020202020204" pitchFamily="34" charset="0"/>
                          <a:ea typeface="微軟正黑體" panose="020B0604030504040204" pitchFamily="34" charset="-120"/>
                          <a:cs typeface="+mn-cs"/>
                        </a:rPr>
                        <a:t>功能</a:t>
                      </a:r>
                      <a:endParaRPr lang="en-US" altLang="zh-CN" sz="1400" b="1" kern="1200" dirty="0">
                        <a:solidFill>
                          <a:schemeClr val="tx1"/>
                        </a:solidFill>
                        <a:latin typeface="Arial" panose="020B0604020202020204" pitchFamily="34" charset="0"/>
                        <a:ea typeface="微軟正黑體" panose="020B0604030504040204" pitchFamily="34" charset="-120"/>
                        <a:cs typeface="+mn-cs"/>
                      </a:endParaRPr>
                    </a:p>
                    <a:p>
                      <a:pPr algn="ctr"/>
                      <a:r>
                        <a:rPr lang="zh-CN" altLang="en-US" sz="1400" b="1" kern="1200" dirty="0">
                          <a:solidFill>
                            <a:schemeClr val="tx1"/>
                          </a:solidFill>
                          <a:latin typeface="Arial" panose="020B0604020202020204" pitchFamily="34" charset="0"/>
                          <a:ea typeface="微軟正黑體" panose="020B0604030504040204" pitchFamily="34" charset="-120"/>
                          <a:cs typeface="+mn-cs"/>
                        </a:rPr>
                        <a:t>性能</a:t>
                      </a:r>
                      <a:endParaRPr lang="en-US" altLang="zh-CN" sz="1400" b="1" kern="1200" dirty="0">
                        <a:solidFill>
                          <a:schemeClr val="tx1"/>
                        </a:solidFill>
                        <a:latin typeface="Arial" panose="020B0604020202020204" pitchFamily="34" charset="0"/>
                        <a:ea typeface="微軟正黑體" panose="020B0604030504040204" pitchFamily="34" charset="-120"/>
                        <a:cs typeface="+mn-cs"/>
                      </a:endParaRPr>
                    </a:p>
                  </a:txBody>
                  <a:tcPr anchor="ctr"/>
                </a:tc>
                <a:tc>
                  <a:txBody>
                    <a:bodyPr/>
                    <a:lstStyle/>
                    <a:p>
                      <a:r>
                        <a:rPr lang="zh-TW" altLang="en-US" sz="1400" dirty="0">
                          <a:solidFill>
                            <a:schemeClr val="tx1"/>
                          </a:solidFill>
                          <a:latin typeface="+mn-ea"/>
                          <a:ea typeface="+mn-ea"/>
                        </a:rPr>
                        <a:t>選型技術報告書</a:t>
                      </a:r>
                      <a:endParaRPr lang="en-US" altLang="zh-CN" sz="1400" kern="1200" dirty="0">
                        <a:solidFill>
                          <a:schemeClr val="tx1"/>
                        </a:solidFill>
                        <a:latin typeface="+mn-ea"/>
                        <a:ea typeface="+mn-ea"/>
                        <a:cs typeface="+mn-cs"/>
                      </a:endParaRP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400" b="0" dirty="0">
                          <a:solidFill>
                            <a:schemeClr val="tx1"/>
                          </a:solidFill>
                        </a:rPr>
                        <a:t>適合大數據</a:t>
                      </a:r>
                      <a:r>
                        <a:rPr lang="zh-TW" altLang="en-US" sz="1400" b="0" dirty="0"/>
                        <a:t>底層技術架構及障礙排除</a:t>
                      </a:r>
                    </a:p>
                  </a:txBody>
                  <a:tcPr anchor="ctr"/>
                </a:tc>
                <a:tc rowSpan="6">
                  <a:txBody>
                    <a:bodyPr/>
                    <a:lstStyle/>
                    <a:p>
                      <a:r>
                        <a:rPr lang="en-US" altLang="zh-TW" sz="1200" kern="1200" dirty="0">
                          <a:solidFill>
                            <a:schemeClr val="tx1"/>
                          </a:solidFill>
                          <a:latin typeface="+mn-ea"/>
                          <a:ea typeface="+mn-ea"/>
                          <a:cs typeface="+mn-cs"/>
                        </a:rPr>
                        <a:t>WEASLEY.CC.HUNG </a:t>
                      </a:r>
                      <a:r>
                        <a:rPr lang="zh-TW" altLang="en-US" sz="1200" kern="1200" dirty="0">
                          <a:solidFill>
                            <a:schemeClr val="tx1"/>
                          </a:solidFill>
                          <a:latin typeface="+mn-ea"/>
                          <a:ea typeface="+mn-ea"/>
                          <a:cs typeface="+mn-cs"/>
                        </a:rPr>
                        <a:t>洪智強</a:t>
                      </a:r>
                      <a:endParaRPr lang="en-US" altLang="zh-TW" sz="1200" kern="1200" dirty="0">
                        <a:solidFill>
                          <a:schemeClr val="tx1"/>
                        </a:solidFill>
                        <a:latin typeface="+mn-ea"/>
                        <a:ea typeface="+mn-ea"/>
                        <a:cs typeface="+mn-cs"/>
                      </a:endParaRPr>
                    </a:p>
                    <a:p>
                      <a:r>
                        <a:rPr lang="en-US" altLang="zh-TW" sz="1200" kern="1200" dirty="0">
                          <a:solidFill>
                            <a:schemeClr val="tx1"/>
                          </a:solidFill>
                          <a:latin typeface="+mn-ea"/>
                          <a:ea typeface="+mn-ea"/>
                          <a:cs typeface="+mn-cs"/>
                        </a:rPr>
                        <a:t>PHILIP.DUAN </a:t>
                      </a:r>
                      <a:r>
                        <a:rPr lang="zh-TW" altLang="en-US" sz="1200" kern="1200" dirty="0">
                          <a:solidFill>
                            <a:schemeClr val="tx1"/>
                          </a:solidFill>
                          <a:latin typeface="+mn-ea"/>
                          <a:ea typeface="+mn-ea"/>
                          <a:cs typeface="+mn-cs"/>
                        </a:rPr>
                        <a:t>段仰聖</a:t>
                      </a:r>
                      <a:endParaRPr lang="en-US" altLang="zh-TW" sz="1200" kern="1200" dirty="0">
                        <a:solidFill>
                          <a:schemeClr val="tx1"/>
                        </a:solidFill>
                        <a:latin typeface="+mn-ea"/>
                        <a:ea typeface="+mn-ea"/>
                        <a:cs typeface="+mn-cs"/>
                      </a:endParaRPr>
                    </a:p>
                    <a:p>
                      <a:r>
                        <a:rPr lang="en-US" altLang="zh-TW" sz="1200" kern="1200" dirty="0">
                          <a:solidFill>
                            <a:schemeClr val="tx1"/>
                          </a:solidFill>
                          <a:latin typeface="+mn-ea"/>
                          <a:ea typeface="+mn-ea"/>
                          <a:cs typeface="+mn-cs"/>
                        </a:rPr>
                        <a:t>Corp IT  </a:t>
                      </a:r>
                    </a:p>
                  </a:txBody>
                  <a:tcPr anchor="ctr"/>
                </a:tc>
                <a:extLst>
                  <a:ext uri="{0D108BD9-81ED-4DB2-BD59-A6C34878D82A}">
                    <a16:rowId xmlns:a16="http://schemas.microsoft.com/office/drawing/2014/main" val="2189492978"/>
                  </a:ext>
                </a:extLst>
              </a:tr>
              <a:tr h="518160">
                <a:tc vMerge="1">
                  <a:txBody>
                    <a:bodyPr/>
                    <a:lstStyle/>
                    <a:p>
                      <a:endParaRPr lang="zh-TW" altLang="en-US" dirty="0"/>
                    </a:p>
                  </a:txBody>
                  <a:tcPr/>
                </a:tc>
                <a:tc>
                  <a:txBody>
                    <a:bodyPr/>
                    <a:lstStyle/>
                    <a:p>
                      <a:r>
                        <a:rPr lang="zh-TW" altLang="en-US" sz="1400" dirty="0">
                          <a:solidFill>
                            <a:schemeClr val="tx1"/>
                          </a:solidFill>
                          <a:latin typeface="+mn-ea"/>
                          <a:ea typeface="+mn-ea"/>
                        </a:rPr>
                        <a:t>開發規劃報告書</a:t>
                      </a:r>
                      <a:endParaRPr lang="zh-TW" altLang="en-US" sz="1400" kern="1200" dirty="0">
                        <a:solidFill>
                          <a:schemeClr val="tx1"/>
                        </a:solidFill>
                        <a:latin typeface="+mn-ea"/>
                        <a:ea typeface="+mn-ea"/>
                        <a:cs typeface="+mn-cs"/>
                      </a:endParaRP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400" b="0" dirty="0"/>
                        <a:t>利於</a:t>
                      </a:r>
                      <a:r>
                        <a:rPr lang="zh-TW" altLang="en-US" sz="1400" b="0" dirty="0">
                          <a:solidFill>
                            <a:schemeClr val="tx1"/>
                          </a:solidFill>
                        </a:rPr>
                        <a:t>長期管理維運</a:t>
                      </a:r>
                      <a:r>
                        <a:rPr lang="zh-TW" altLang="en-US" sz="1400" b="0" dirty="0"/>
                        <a:t>的功能性模組開發</a:t>
                      </a:r>
                    </a:p>
                  </a:txBody>
                  <a:tcPr anchor="ctr"/>
                </a:tc>
                <a:tc vMerge="1">
                  <a:txBody>
                    <a:bodyPr/>
                    <a:lstStyle/>
                    <a:p>
                      <a:endParaRPr lang="zh-TW" altLang="en-US" sz="1400" dirty="0"/>
                    </a:p>
                  </a:txBody>
                  <a:tcPr anchor="ctr"/>
                </a:tc>
                <a:extLst>
                  <a:ext uri="{0D108BD9-81ED-4DB2-BD59-A6C34878D82A}">
                    <a16:rowId xmlns:a16="http://schemas.microsoft.com/office/drawing/2014/main" val="753766425"/>
                  </a:ext>
                </a:extLst>
              </a:tr>
              <a:tr h="518160">
                <a:tc vMerge="1">
                  <a:txBody>
                    <a:bodyPr/>
                    <a:lstStyle/>
                    <a:p>
                      <a:endParaRPr lang="zh-TW" altLang="en-US" dirty="0"/>
                    </a:p>
                  </a:txBody>
                  <a:tcPr/>
                </a:tc>
                <a:tc>
                  <a:txBody>
                    <a:bodyPr/>
                    <a:lstStyle/>
                    <a:p>
                      <a:r>
                        <a:rPr lang="zh-TW" altLang="en-US" sz="1400" kern="1200" dirty="0">
                          <a:solidFill>
                            <a:schemeClr val="tx1"/>
                          </a:solidFill>
                          <a:latin typeface="+mn-ea"/>
                          <a:ea typeface="+mn-ea"/>
                          <a:cs typeface="+mn-cs"/>
                        </a:rPr>
                        <a:t>運作架構圖</a:t>
                      </a: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400" b="0" dirty="0"/>
                        <a:t>底層硬體資源以及實體部屬架構規劃</a:t>
                      </a:r>
                    </a:p>
                  </a:txBody>
                  <a:tcPr anchor="ctr"/>
                </a:tc>
                <a:tc vMerge="1">
                  <a:txBody>
                    <a:bodyPr/>
                    <a:lstStyle/>
                    <a:p>
                      <a:endParaRPr lang="zh-TW" altLang="en-US" sz="1400" dirty="0"/>
                    </a:p>
                  </a:txBody>
                  <a:tcPr anchor="ctr"/>
                </a:tc>
                <a:extLst>
                  <a:ext uri="{0D108BD9-81ED-4DB2-BD59-A6C34878D82A}">
                    <a16:rowId xmlns:a16="http://schemas.microsoft.com/office/drawing/2014/main" val="955412482"/>
                  </a:ext>
                </a:extLst>
              </a:tr>
              <a:tr h="518160">
                <a:tc vMerge="1">
                  <a:txBody>
                    <a:bodyPr/>
                    <a:lstStyle/>
                    <a:p>
                      <a:endParaRPr lang="zh-TW" altLang="en-US" dirty="0"/>
                    </a:p>
                  </a:txBody>
                  <a:tcPr/>
                </a:tc>
                <a:tc>
                  <a:txBody>
                    <a:bodyPr/>
                    <a:lstStyle/>
                    <a:p>
                      <a:r>
                        <a:rPr lang="zh-TW" altLang="en-US" sz="1400" kern="1200" dirty="0">
                          <a:solidFill>
                            <a:schemeClr val="tx1"/>
                          </a:solidFill>
                          <a:latin typeface="+mn-ea"/>
                          <a:ea typeface="+mn-ea"/>
                          <a:cs typeface="+mn-cs"/>
                        </a:rPr>
                        <a:t>結案報告</a:t>
                      </a:r>
                      <a:endParaRPr lang="en-US" altLang="zh-TW" sz="1400" kern="1200" dirty="0">
                        <a:solidFill>
                          <a:schemeClr val="tx1"/>
                        </a:solidFill>
                        <a:latin typeface="+mn-ea"/>
                        <a:ea typeface="+mn-ea"/>
                        <a:cs typeface="+mn-cs"/>
                      </a:endParaRP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zh-TW" altLang="en-US" sz="1400" b="0" i="0" u="none" strike="noStrike" dirty="0">
                        <a:solidFill>
                          <a:srgbClr val="000000"/>
                        </a:solidFill>
                        <a:effectLst/>
                        <a:latin typeface="+mn-ea"/>
                        <a:ea typeface="+mn-ea"/>
                      </a:endParaRPr>
                    </a:p>
                  </a:txBody>
                  <a:tcPr anchor="ctr"/>
                </a:tc>
                <a:tc vMerge="1">
                  <a:txBody>
                    <a:bodyPr/>
                    <a:lstStyle/>
                    <a:p>
                      <a:endParaRPr lang="zh-TW" altLang="en-US" sz="1400" dirty="0"/>
                    </a:p>
                  </a:txBody>
                  <a:tcPr anchor="ctr"/>
                </a:tc>
                <a:extLst>
                  <a:ext uri="{0D108BD9-81ED-4DB2-BD59-A6C34878D82A}">
                    <a16:rowId xmlns:a16="http://schemas.microsoft.com/office/drawing/2014/main" val="1605558457"/>
                  </a:ext>
                </a:extLst>
              </a:tr>
              <a:tr h="518160">
                <a:tc rowSpan="2">
                  <a:txBody>
                    <a:bodyPr/>
                    <a:lstStyle/>
                    <a:p>
                      <a:pPr algn="ctr"/>
                      <a:r>
                        <a:rPr lang="zh-CN" altLang="en-US" sz="1400" b="1" kern="1200" dirty="0">
                          <a:solidFill>
                            <a:schemeClr val="tx1"/>
                          </a:solidFill>
                          <a:latin typeface="Arial" panose="020B0604020202020204" pitchFamily="34" charset="0"/>
                          <a:ea typeface="微軟正黑體" panose="020B0604030504040204" pitchFamily="34" charset="-120"/>
                          <a:cs typeface="+mn-cs"/>
                        </a:rPr>
                        <a:t>過程</a:t>
                      </a:r>
                      <a:endParaRPr lang="en-US" altLang="zh-CN" sz="1400" b="1" kern="1200" dirty="0">
                        <a:solidFill>
                          <a:schemeClr val="tx1"/>
                        </a:solidFill>
                        <a:latin typeface="Arial" panose="020B0604020202020204" pitchFamily="34" charset="0"/>
                        <a:ea typeface="微軟正黑體" panose="020B0604030504040204" pitchFamily="34" charset="-120"/>
                        <a:cs typeface="+mn-cs"/>
                      </a:endParaRPr>
                    </a:p>
                    <a:p>
                      <a:pPr algn="ctr"/>
                      <a:r>
                        <a:rPr lang="zh-CN" altLang="en-US" sz="1400" b="1" kern="1200" dirty="0">
                          <a:solidFill>
                            <a:schemeClr val="tx1"/>
                          </a:solidFill>
                          <a:latin typeface="Arial" panose="020B0604020202020204" pitchFamily="34" charset="0"/>
                          <a:ea typeface="微軟正黑體" panose="020B0604030504040204" pitchFamily="34" charset="-120"/>
                          <a:cs typeface="+mn-cs"/>
                        </a:rPr>
                        <a:t>指標</a:t>
                      </a:r>
                    </a:p>
                  </a:txBody>
                  <a:tcPr anchor="ctr"/>
                </a:tc>
                <a:tc>
                  <a:txBody>
                    <a:bodyPr/>
                    <a:lstStyle/>
                    <a:p>
                      <a:r>
                        <a:rPr lang="zh-TW" altLang="en-US" sz="1400" kern="1200" dirty="0">
                          <a:solidFill>
                            <a:schemeClr val="tx1"/>
                          </a:solidFill>
                          <a:latin typeface="+mn-ea"/>
                          <a:ea typeface="+mn-ea"/>
                          <a:cs typeface="+mn-cs"/>
                        </a:rPr>
                        <a:t>各式解決方案安裝至</a:t>
                      </a:r>
                      <a:r>
                        <a:rPr lang="en-US" altLang="zh-TW" sz="1400" kern="1200" dirty="0">
                          <a:solidFill>
                            <a:schemeClr val="tx1"/>
                          </a:solidFill>
                          <a:latin typeface="+mn-ea"/>
                          <a:ea typeface="+mn-ea"/>
                          <a:cs typeface="+mn-cs"/>
                        </a:rPr>
                        <a:t>VM</a:t>
                      </a:r>
                      <a:r>
                        <a:rPr lang="zh-TW" altLang="en-US" sz="1400" kern="1200" dirty="0">
                          <a:solidFill>
                            <a:schemeClr val="tx1"/>
                          </a:solidFill>
                          <a:latin typeface="+mn-ea"/>
                          <a:ea typeface="+mn-ea"/>
                          <a:cs typeface="+mn-cs"/>
                        </a:rPr>
                        <a:t>集群</a:t>
                      </a:r>
                      <a:endParaRPr lang="en-US" altLang="zh-TW" sz="1400" kern="1200" dirty="0">
                        <a:solidFill>
                          <a:schemeClr val="tx1"/>
                        </a:solidFill>
                        <a:latin typeface="+mn-ea"/>
                        <a:ea typeface="+mn-ea"/>
                        <a:cs typeface="+mn-cs"/>
                      </a:endParaRPr>
                    </a:p>
                    <a:p>
                      <a:r>
                        <a:rPr lang="zh-TW" altLang="en-US" sz="1400" kern="1200" dirty="0">
                          <a:solidFill>
                            <a:schemeClr val="tx1"/>
                          </a:solidFill>
                          <a:latin typeface="+mn-ea"/>
                          <a:ea typeface="+mn-ea"/>
                          <a:cs typeface="+mn-cs"/>
                        </a:rPr>
                        <a:t>並完成基礎測試</a:t>
                      </a:r>
                      <a:endParaRPr lang="en-US" altLang="zh-TW" sz="1400" kern="1200" dirty="0">
                        <a:solidFill>
                          <a:schemeClr val="tx1"/>
                        </a:solidFill>
                        <a:latin typeface="+mn-ea"/>
                        <a:ea typeface="+mn-ea"/>
                        <a:cs typeface="+mn-cs"/>
                      </a:endParaRP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400" b="0" i="0" u="none" strike="noStrike" dirty="0">
                          <a:solidFill>
                            <a:srgbClr val="000000"/>
                          </a:solidFill>
                          <a:effectLst/>
                          <a:latin typeface="+mn-ea"/>
                          <a:ea typeface="+mn-ea"/>
                        </a:rPr>
                        <a:t>遵循</a:t>
                      </a:r>
                      <a:r>
                        <a:rPr lang="en-US" altLang="zh-TW" sz="1400" b="0" i="0" u="none" strike="noStrike" dirty="0">
                          <a:solidFill>
                            <a:srgbClr val="000000"/>
                          </a:solidFill>
                          <a:effectLst/>
                          <a:latin typeface="+mn-ea"/>
                          <a:ea typeface="+mn-ea"/>
                        </a:rPr>
                        <a:t>Corp IT</a:t>
                      </a:r>
                      <a:r>
                        <a:rPr lang="zh-TW" altLang="en-US" sz="1400" b="0" i="0" u="none" strike="noStrike" dirty="0">
                          <a:solidFill>
                            <a:srgbClr val="000000"/>
                          </a:solidFill>
                          <a:effectLst/>
                          <a:latin typeface="+mn-ea"/>
                          <a:ea typeface="+mn-ea"/>
                        </a:rPr>
                        <a:t>架構規範執行工具選型測試</a:t>
                      </a:r>
                    </a:p>
                  </a:txBody>
                  <a:tcPr anchor="ctr"/>
                </a:tc>
                <a:tc vMerge="1">
                  <a:txBody>
                    <a:bodyPr/>
                    <a:lstStyle/>
                    <a:p>
                      <a:endParaRPr lang="zh-TW" altLang="en-US"/>
                    </a:p>
                  </a:txBody>
                  <a:tcPr/>
                </a:tc>
                <a:extLst>
                  <a:ext uri="{0D108BD9-81ED-4DB2-BD59-A6C34878D82A}">
                    <a16:rowId xmlns:a16="http://schemas.microsoft.com/office/drawing/2014/main" val="2271613628"/>
                  </a:ext>
                </a:extLst>
              </a:tr>
              <a:tr h="518160">
                <a:tc vMerge="1">
                  <a:txBody>
                    <a:bodyPr/>
                    <a:lstStyle/>
                    <a:p>
                      <a:endParaRPr dirty="0"/>
                    </a:p>
                  </a:txBody>
                  <a:tcPr anchor="ctr"/>
                </a:tc>
                <a:tc>
                  <a:txBody>
                    <a:bodyPr/>
                    <a:lstStyle/>
                    <a:p>
                      <a:r>
                        <a:rPr lang="zh-TW" altLang="en-US" sz="1400" kern="1200" dirty="0">
                          <a:solidFill>
                            <a:schemeClr val="tx1"/>
                          </a:solidFill>
                          <a:latin typeface="+mn-ea"/>
                          <a:ea typeface="+mn-ea"/>
                          <a:cs typeface="+mn-cs"/>
                        </a:rPr>
                        <a:t>彙整</a:t>
                      </a:r>
                      <a:r>
                        <a:rPr lang="en-US" altLang="zh-TW" sz="1400" kern="1200" dirty="0">
                          <a:solidFill>
                            <a:schemeClr val="tx1"/>
                          </a:solidFill>
                          <a:latin typeface="+mn-ea"/>
                          <a:ea typeface="+mn-ea"/>
                          <a:cs typeface="+mn-cs"/>
                        </a:rPr>
                        <a:t>C02, C03 </a:t>
                      </a:r>
                      <a:r>
                        <a:rPr lang="zh-TW" altLang="en-US" sz="1400" kern="1200" dirty="0">
                          <a:solidFill>
                            <a:schemeClr val="tx1"/>
                          </a:solidFill>
                          <a:latin typeface="+mn-ea"/>
                          <a:ea typeface="+mn-ea"/>
                          <a:cs typeface="+mn-cs"/>
                        </a:rPr>
                        <a:t>的數據和 </a:t>
                      </a:r>
                      <a:r>
                        <a:rPr lang="en-US" altLang="zh-TW" sz="1400" kern="1200" dirty="0">
                          <a:solidFill>
                            <a:schemeClr val="tx1"/>
                          </a:solidFill>
                          <a:latin typeface="+mn-ea"/>
                          <a:ea typeface="+mn-ea"/>
                          <a:cs typeface="+mn-cs"/>
                        </a:rPr>
                        <a:t>MES/PLM </a:t>
                      </a:r>
                      <a:r>
                        <a:rPr lang="zh-TW" altLang="en-US" sz="1400" kern="1200" dirty="0">
                          <a:solidFill>
                            <a:schemeClr val="tx1"/>
                          </a:solidFill>
                          <a:latin typeface="+mn-ea"/>
                          <a:ea typeface="+mn-ea"/>
                          <a:cs typeface="+mn-cs"/>
                        </a:rPr>
                        <a:t>數據彙整並在 </a:t>
                      </a:r>
                      <a:r>
                        <a:rPr lang="en-US" altLang="zh-TW" sz="1400" kern="1200" dirty="0">
                          <a:solidFill>
                            <a:schemeClr val="tx1"/>
                          </a:solidFill>
                          <a:latin typeface="+mn-ea"/>
                          <a:ea typeface="+mn-ea"/>
                          <a:cs typeface="+mn-cs"/>
                        </a:rPr>
                        <a:t>BI</a:t>
                      </a:r>
                      <a:r>
                        <a:rPr lang="zh-TW" altLang="en-US" sz="1400" kern="1200" dirty="0">
                          <a:solidFill>
                            <a:schemeClr val="tx1"/>
                          </a:solidFill>
                          <a:latin typeface="+mn-ea"/>
                          <a:ea typeface="+mn-ea"/>
                          <a:cs typeface="+mn-cs"/>
                        </a:rPr>
                        <a:t> 工具分析提供數據價值</a:t>
                      </a:r>
                      <a:endParaRPr lang="en-US" altLang="zh-TW" sz="1400" kern="1200" dirty="0">
                        <a:solidFill>
                          <a:schemeClr val="tx1"/>
                        </a:solidFill>
                        <a:latin typeface="+mn-ea"/>
                        <a:ea typeface="+mn-ea"/>
                        <a:cs typeface="+mn-cs"/>
                      </a:endParaRP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400" b="0" i="0" u="none" strike="noStrike" dirty="0">
                          <a:solidFill>
                            <a:srgbClr val="000000"/>
                          </a:solidFill>
                          <a:effectLst/>
                          <a:latin typeface="+mn-ea"/>
                          <a:ea typeface="+mn-ea"/>
                        </a:rPr>
                        <a:t>驗證數據中台模組架構規劃可符合數據使用者場景</a:t>
                      </a:r>
                    </a:p>
                  </a:txBody>
                  <a:tcPr anchor="ctr"/>
                </a:tc>
                <a:tc vMerge="1">
                  <a:txBody>
                    <a:bodyPr/>
                    <a:lstStyle/>
                    <a:p>
                      <a:endParaRPr lang="zh-TW" altLang="en-US" sz="1400" dirty="0"/>
                    </a:p>
                  </a:txBody>
                  <a:tcPr anchor="ctr"/>
                </a:tc>
                <a:extLst>
                  <a:ext uri="{0D108BD9-81ED-4DB2-BD59-A6C34878D82A}">
                    <a16:rowId xmlns:a16="http://schemas.microsoft.com/office/drawing/2014/main" val="4064575257"/>
                  </a:ext>
                </a:extLst>
              </a:tr>
            </a:tbl>
          </a:graphicData>
        </a:graphic>
      </p:graphicFrame>
      <p:sp>
        <p:nvSpPr>
          <p:cNvPr id="38" name="矩形 37">
            <a:extLst>
              <a:ext uri="{FF2B5EF4-FFF2-40B4-BE49-F238E27FC236}">
                <a16:creationId xmlns:a16="http://schemas.microsoft.com/office/drawing/2014/main" id="{F5D67ACA-A40A-4FC6-A970-ACD702AF34EC}"/>
              </a:ext>
            </a:extLst>
          </p:cNvPr>
          <p:cNvSpPr/>
          <p:nvPr/>
        </p:nvSpPr>
        <p:spPr>
          <a:xfrm>
            <a:off x="47422" y="3445500"/>
            <a:ext cx="412134" cy="1200329"/>
          </a:xfrm>
          <a:prstGeom prst="rect">
            <a:avLst/>
          </a:prstGeom>
        </p:spPr>
        <p:txBody>
          <a:bodyPr wrap="square">
            <a:spAutoFit/>
          </a:bodyPr>
          <a:lstStyle/>
          <a:p>
            <a:r>
              <a:rPr lang="zh-CN" altLang="en-US" b="1" dirty="0"/>
              <a:t>交付驗收</a:t>
            </a:r>
            <a:endParaRPr lang="zh-TW" altLang="en-US" b="1" dirty="0"/>
          </a:p>
        </p:txBody>
      </p:sp>
      <p:grpSp>
        <p:nvGrpSpPr>
          <p:cNvPr id="5" name="群組 4">
            <a:extLst>
              <a:ext uri="{FF2B5EF4-FFF2-40B4-BE49-F238E27FC236}">
                <a16:creationId xmlns:a16="http://schemas.microsoft.com/office/drawing/2014/main" id="{BE7BD77E-A4DB-9CE5-7627-89089672649D}"/>
              </a:ext>
            </a:extLst>
          </p:cNvPr>
          <p:cNvGrpSpPr/>
          <p:nvPr/>
        </p:nvGrpSpPr>
        <p:grpSpPr>
          <a:xfrm>
            <a:off x="509722" y="1077697"/>
            <a:ext cx="11377476" cy="1639548"/>
            <a:chOff x="509722" y="1077697"/>
            <a:chExt cx="11377476" cy="1639548"/>
          </a:xfrm>
        </p:grpSpPr>
        <p:sp>
          <p:nvSpPr>
            <p:cNvPr id="13" name="矩形: 圓角 19">
              <a:extLst>
                <a:ext uri="{FF2B5EF4-FFF2-40B4-BE49-F238E27FC236}">
                  <a16:creationId xmlns:a16="http://schemas.microsoft.com/office/drawing/2014/main" id="{51B5F393-3A74-4086-BFA1-F11E74EFA089}"/>
                </a:ext>
              </a:extLst>
            </p:cNvPr>
            <p:cNvSpPr/>
            <p:nvPr/>
          </p:nvSpPr>
          <p:spPr>
            <a:xfrm>
              <a:off x="5622459" y="1723952"/>
              <a:ext cx="474997" cy="637286"/>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zh-CN" altLang="en-US" sz="800" b="1" dirty="0">
                  <a:solidFill>
                    <a:schemeClr val="tx1"/>
                  </a:solidFill>
                  <a:latin typeface="Arial" panose="020B0604020202020204" pitchFamily="34" charset="0"/>
                  <a:ea typeface="微軟正黑體"/>
                  <a:cs typeface="Arial" panose="020B0604020202020204" pitchFamily="34" charset="0"/>
                </a:rPr>
                <a:t>設備技術</a:t>
              </a:r>
              <a:endParaRPr lang="en-US" altLang="zh-CN" sz="800" b="1" dirty="0">
                <a:solidFill>
                  <a:schemeClr val="tx1"/>
                </a:solidFill>
                <a:latin typeface="Arial" panose="020B0604020202020204" pitchFamily="34" charset="0"/>
                <a:ea typeface="微軟正黑體"/>
                <a:cs typeface="Arial" panose="020B0604020202020204" pitchFamily="34" charset="0"/>
              </a:endParaRPr>
            </a:p>
          </p:txBody>
        </p:sp>
        <p:sp>
          <p:nvSpPr>
            <p:cNvPr id="15" name="矩形: 圓角 22">
              <a:extLst>
                <a:ext uri="{FF2B5EF4-FFF2-40B4-BE49-F238E27FC236}">
                  <a16:creationId xmlns:a16="http://schemas.microsoft.com/office/drawing/2014/main" id="{66A0E2F9-44D8-458D-BFC6-D948335596C0}"/>
                </a:ext>
              </a:extLst>
            </p:cNvPr>
            <p:cNvSpPr/>
            <p:nvPr/>
          </p:nvSpPr>
          <p:spPr>
            <a:xfrm>
              <a:off x="6667327" y="1728439"/>
              <a:ext cx="446223" cy="631191"/>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zh-CN" altLang="en-US" sz="800" b="1" dirty="0">
                  <a:solidFill>
                    <a:schemeClr val="tx1"/>
                  </a:solidFill>
                  <a:latin typeface="Arial" panose="020B0604020202020204" pitchFamily="34" charset="0"/>
                  <a:ea typeface="微軟正黑體"/>
                  <a:cs typeface="Arial" panose="020B0604020202020204" pitchFamily="34" charset="0"/>
                </a:rPr>
                <a:t>人因工程</a:t>
              </a:r>
              <a:endParaRPr lang="en-US" altLang="zh-CN" sz="800" b="1" dirty="0">
                <a:solidFill>
                  <a:schemeClr val="tx1"/>
                </a:solidFill>
                <a:latin typeface="Arial" panose="020B0604020202020204" pitchFamily="34" charset="0"/>
                <a:ea typeface="微軟正黑體"/>
                <a:cs typeface="Arial" panose="020B0604020202020204" pitchFamily="34" charset="0"/>
              </a:endParaRPr>
            </a:p>
          </p:txBody>
        </p:sp>
        <p:sp>
          <p:nvSpPr>
            <p:cNvPr id="16" name="矩形: 圓角 23">
              <a:extLst>
                <a:ext uri="{FF2B5EF4-FFF2-40B4-BE49-F238E27FC236}">
                  <a16:creationId xmlns:a16="http://schemas.microsoft.com/office/drawing/2014/main" id="{69CE2EA7-D015-430F-A1AB-A28848C6E1BD}"/>
                </a:ext>
              </a:extLst>
            </p:cNvPr>
            <p:cNvSpPr/>
            <p:nvPr/>
          </p:nvSpPr>
          <p:spPr>
            <a:xfrm>
              <a:off x="6132241" y="1723952"/>
              <a:ext cx="489698" cy="631191"/>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工藝技術</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17" name="矩形: 圓角 19">
              <a:extLst>
                <a:ext uri="{FF2B5EF4-FFF2-40B4-BE49-F238E27FC236}">
                  <a16:creationId xmlns:a16="http://schemas.microsoft.com/office/drawing/2014/main" id="{4D232213-4D03-4B0B-BC26-2AE3AA8ACCB0}"/>
                </a:ext>
              </a:extLst>
            </p:cNvPr>
            <p:cNvSpPr/>
            <p:nvPr/>
          </p:nvSpPr>
          <p:spPr>
            <a:xfrm>
              <a:off x="5113775" y="1721619"/>
              <a:ext cx="478328" cy="63119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zh-TW" altLang="en-US" sz="800" b="1">
                  <a:solidFill>
                    <a:schemeClr val="tx1"/>
                  </a:solidFill>
                  <a:latin typeface="Arial" panose="020B0604020202020204" pitchFamily="34" charset="0"/>
                  <a:ea typeface="微軟正黑體"/>
                  <a:cs typeface="Arial" panose="020B0604020202020204" pitchFamily="34" charset="0"/>
                </a:rPr>
                <a:t>基礎標準</a:t>
              </a:r>
              <a:endParaRPr lang="en-US" altLang="zh-CN" sz="800" b="1" dirty="0">
                <a:solidFill>
                  <a:schemeClr val="tx1"/>
                </a:solidFill>
                <a:latin typeface="Arial" panose="020B0604020202020204" pitchFamily="34" charset="0"/>
                <a:ea typeface="微軟正黑體"/>
                <a:cs typeface="Arial" panose="020B0604020202020204" pitchFamily="34" charset="0"/>
              </a:endParaRPr>
            </a:p>
          </p:txBody>
        </p:sp>
        <p:sp>
          <p:nvSpPr>
            <p:cNvPr id="18" name="矩形: 圓角 19">
              <a:extLst>
                <a:ext uri="{FF2B5EF4-FFF2-40B4-BE49-F238E27FC236}">
                  <a16:creationId xmlns:a16="http://schemas.microsoft.com/office/drawing/2014/main" id="{13EEBD92-473C-4A5F-92FD-7155AA9E69EA}"/>
                </a:ext>
              </a:extLst>
            </p:cNvPr>
            <p:cNvSpPr/>
            <p:nvPr/>
          </p:nvSpPr>
          <p:spPr>
            <a:xfrm>
              <a:off x="9449460" y="1724809"/>
              <a:ext cx="327556" cy="630000"/>
            </a:xfrm>
            <a:prstGeom prst="rect">
              <a:avLst/>
            </a:prstGeom>
            <a:no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TW" altLang="en-US" sz="800" b="1" dirty="0">
                  <a:solidFill>
                    <a:schemeClr val="tx1"/>
                  </a:solidFill>
                  <a:latin typeface="Arial" panose="020B0604020202020204" pitchFamily="34" charset="0"/>
                  <a:ea typeface="微軟正黑體"/>
                  <a:cs typeface="Arial" panose="020B0604020202020204" pitchFamily="34" charset="0"/>
                </a:rPr>
                <a:t>機聯網</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19" name="矩形: 圓角 22">
              <a:extLst>
                <a:ext uri="{FF2B5EF4-FFF2-40B4-BE49-F238E27FC236}">
                  <a16:creationId xmlns:a16="http://schemas.microsoft.com/office/drawing/2014/main" id="{85E546AE-CA97-4237-85F0-172B677F7609}"/>
                </a:ext>
              </a:extLst>
            </p:cNvPr>
            <p:cNvSpPr/>
            <p:nvPr/>
          </p:nvSpPr>
          <p:spPr>
            <a:xfrm>
              <a:off x="10659908" y="1727026"/>
              <a:ext cx="291278" cy="630000"/>
            </a:xfrm>
            <a:prstGeom prst="rect">
              <a:avLst/>
            </a:prstGeom>
            <a:solidFill>
              <a:srgbClr val="51BCFF"/>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zh-TW"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數據治理 </a:t>
              </a:r>
              <a:r>
                <a:rPr kumimoji="0" lang="en-US" altLang="zh-TW"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&amp;</a:t>
              </a:r>
              <a:r>
                <a:rPr kumimoji="0" lang="zh-TW"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 數據中台</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20" name="矩形: 圓角 23">
              <a:extLst>
                <a:ext uri="{FF2B5EF4-FFF2-40B4-BE49-F238E27FC236}">
                  <a16:creationId xmlns:a16="http://schemas.microsoft.com/office/drawing/2014/main" id="{CF964BF7-70AF-4879-B53D-8666F9E8E17D}"/>
                </a:ext>
              </a:extLst>
            </p:cNvPr>
            <p:cNvSpPr/>
            <p:nvPr/>
          </p:nvSpPr>
          <p:spPr>
            <a:xfrm>
              <a:off x="9811669" y="1728439"/>
              <a:ext cx="370168" cy="63000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zh-TW"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 </a:t>
              </a:r>
              <a:r>
                <a:rPr kumimoji="0" lang="en-US" altLang="zh-TW"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MFG IT</a:t>
              </a:r>
              <a:r>
                <a:rPr kumimoji="0" lang="zh-TW"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製造應用開發 </a:t>
              </a:r>
            </a:p>
          </p:txBody>
        </p:sp>
        <p:sp>
          <p:nvSpPr>
            <p:cNvPr id="21" name="矩形: 圓角 21">
              <a:extLst>
                <a:ext uri="{FF2B5EF4-FFF2-40B4-BE49-F238E27FC236}">
                  <a16:creationId xmlns:a16="http://schemas.microsoft.com/office/drawing/2014/main" id="{D0B03341-B4A4-4834-8AF0-511BF498DB10}"/>
                </a:ext>
              </a:extLst>
            </p:cNvPr>
            <p:cNvSpPr/>
            <p:nvPr/>
          </p:nvSpPr>
          <p:spPr>
            <a:xfrm>
              <a:off x="7636486" y="2013270"/>
              <a:ext cx="1752848" cy="346359"/>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zh-CN" altLang="en-US"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先進技術</a:t>
              </a:r>
              <a:r>
                <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a:t>
              </a:r>
              <a:r>
                <a:rPr kumimoji="0" lang="zh-CN" altLang="en-US"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解決方案</a:t>
              </a:r>
              <a:endPar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23" name="矩形: 圓角 21">
              <a:extLst>
                <a:ext uri="{FF2B5EF4-FFF2-40B4-BE49-F238E27FC236}">
                  <a16:creationId xmlns:a16="http://schemas.microsoft.com/office/drawing/2014/main" id="{813B7F70-85D4-4467-9AE5-06B44DB32B4E}"/>
                </a:ext>
              </a:extLst>
            </p:cNvPr>
            <p:cNvSpPr/>
            <p:nvPr/>
          </p:nvSpPr>
          <p:spPr>
            <a:xfrm>
              <a:off x="7635396" y="1729196"/>
              <a:ext cx="257922" cy="257519"/>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700" b="1" dirty="0">
                  <a:solidFill>
                    <a:schemeClr val="tx1"/>
                  </a:solidFill>
                  <a:latin typeface="Arial" panose="020B0604020202020204" pitchFamily="34" charset="0"/>
                  <a:ea typeface="微軟正黑體"/>
                  <a:cs typeface="Arial" panose="020B0604020202020204" pitchFamily="34" charset="0"/>
                </a:rPr>
                <a:t>交通</a:t>
              </a:r>
              <a:endPar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24" name="矩形: 圓角 21">
              <a:extLst>
                <a:ext uri="{FF2B5EF4-FFF2-40B4-BE49-F238E27FC236}">
                  <a16:creationId xmlns:a16="http://schemas.microsoft.com/office/drawing/2014/main" id="{710B71A8-C116-44C3-B370-C17B0275E1D0}"/>
                </a:ext>
              </a:extLst>
            </p:cNvPr>
            <p:cNvSpPr/>
            <p:nvPr/>
          </p:nvSpPr>
          <p:spPr>
            <a:xfrm>
              <a:off x="7923355" y="1729444"/>
              <a:ext cx="396267" cy="25920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700" b="1" dirty="0">
                  <a:solidFill>
                    <a:schemeClr val="tx1"/>
                  </a:solidFill>
                  <a:latin typeface="Arial" panose="020B0604020202020204" pitchFamily="34" charset="0"/>
                  <a:ea typeface="微軟正黑體"/>
                  <a:cs typeface="Arial" panose="020B0604020202020204" pitchFamily="34" charset="0"/>
                </a:rPr>
                <a:t>基礎設施</a:t>
              </a:r>
              <a:endPar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25" name="矩形: 圓角 21">
              <a:extLst>
                <a:ext uri="{FF2B5EF4-FFF2-40B4-BE49-F238E27FC236}">
                  <a16:creationId xmlns:a16="http://schemas.microsoft.com/office/drawing/2014/main" id="{FBC4EF25-7422-465B-9836-6C9644A53C9B}"/>
                </a:ext>
              </a:extLst>
            </p:cNvPr>
            <p:cNvSpPr/>
            <p:nvPr/>
          </p:nvSpPr>
          <p:spPr>
            <a:xfrm>
              <a:off x="8350021" y="1729130"/>
              <a:ext cx="443325" cy="25920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700" b="1" dirty="0">
                  <a:solidFill>
                    <a:schemeClr val="tx1"/>
                  </a:solidFill>
                  <a:latin typeface="Arial" panose="020B0604020202020204" pitchFamily="34" charset="0"/>
                  <a:ea typeface="微軟正黑體"/>
                  <a:cs typeface="Arial" panose="020B0604020202020204" pitchFamily="34" charset="0"/>
                </a:rPr>
                <a:t>工業</a:t>
              </a:r>
              <a:endParaRPr lang="en-US" altLang="zh-CN" sz="700" b="1" dirty="0">
                <a:solidFill>
                  <a:schemeClr val="tx1"/>
                </a:solidFill>
                <a:latin typeface="Arial" panose="020B0604020202020204" pitchFamily="34" charset="0"/>
                <a:ea typeface="微軟正黑體"/>
                <a:cs typeface="Arial" panose="020B0604020202020204" pitchFamily="34" charset="0"/>
              </a:endParaRPr>
            </a:p>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700" b="1" dirty="0">
                  <a:solidFill>
                    <a:schemeClr val="tx1"/>
                  </a:solidFill>
                  <a:latin typeface="Arial" panose="020B0604020202020204" pitchFamily="34" charset="0"/>
                  <a:ea typeface="微軟正黑體"/>
                  <a:cs typeface="Arial" panose="020B0604020202020204" pitchFamily="34" charset="0"/>
                </a:rPr>
                <a:t>自動化</a:t>
              </a:r>
              <a:endPar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26" name="矩形: 圓角 21">
              <a:extLst>
                <a:ext uri="{FF2B5EF4-FFF2-40B4-BE49-F238E27FC236}">
                  <a16:creationId xmlns:a16="http://schemas.microsoft.com/office/drawing/2014/main" id="{C5FF7F06-C9F8-4456-B943-209C95E119B7}"/>
                </a:ext>
              </a:extLst>
            </p:cNvPr>
            <p:cNvSpPr/>
            <p:nvPr/>
          </p:nvSpPr>
          <p:spPr>
            <a:xfrm>
              <a:off x="8819538" y="1729130"/>
              <a:ext cx="569795" cy="25920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700" b="1" dirty="0">
                  <a:solidFill>
                    <a:schemeClr val="tx1"/>
                  </a:solidFill>
                  <a:latin typeface="Arial" panose="020B0604020202020204" pitchFamily="34" charset="0"/>
                  <a:ea typeface="微軟正黑體"/>
                  <a:cs typeface="Arial" panose="020B0604020202020204" pitchFamily="34" charset="0"/>
                </a:rPr>
                <a:t>電源及零組件</a:t>
              </a:r>
              <a:endPar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27" name="文字方塊 2">
              <a:extLst>
                <a:ext uri="{FF2B5EF4-FFF2-40B4-BE49-F238E27FC236}">
                  <a16:creationId xmlns:a16="http://schemas.microsoft.com/office/drawing/2014/main" id="{59641BB1-BF96-4314-8248-9BF7D7A1AAFA}"/>
                </a:ext>
              </a:extLst>
            </p:cNvPr>
            <p:cNvSpPr txBox="1"/>
            <p:nvPr/>
          </p:nvSpPr>
          <p:spPr>
            <a:xfrm>
              <a:off x="9449459" y="2431544"/>
              <a:ext cx="1501727" cy="285035"/>
            </a:xfrm>
            <a:prstGeom prst="rect">
              <a:avLst/>
            </a:prstGeom>
            <a:solidFill>
              <a:schemeClr val="tx2">
                <a:lumMod val="60000"/>
                <a:lumOff val="40000"/>
              </a:schemeClr>
            </a:solidFill>
            <a:ln w="9525">
              <a:solidFill>
                <a:schemeClr val="tx1"/>
              </a:solidFill>
            </a:ln>
            <a:effectLst/>
          </p:spPr>
          <p:txBody>
            <a:bodyPr wrap="square" rtlCol="0">
              <a:noAutofit/>
            </a:bodyPr>
            <a:lstStyle>
              <a:defPPr>
                <a:defRPr lang="zh-TW"/>
              </a:defPPr>
              <a:lvl1pPr marR="0" lvl="0" indent="0" algn="ctr" defTabSz="1214627" fontAlgn="auto">
                <a:lnSpc>
                  <a:spcPct val="100000"/>
                </a:lnSpc>
                <a:spcBef>
                  <a:spcPts val="0"/>
                </a:spcBef>
                <a:spcAft>
                  <a:spcPts val="0"/>
                </a:spcAft>
                <a:buClrTx/>
                <a:buSzTx/>
                <a:buFontTx/>
                <a:buNone/>
                <a:tabLst/>
                <a:defRPr sz="1100" b="1" kern="0">
                  <a:solidFill>
                    <a:prstClr val="white"/>
                  </a:solidFill>
                  <a:latin typeface="Arial"/>
                  <a:ea typeface="微軟正黑體"/>
                </a:defRPr>
              </a:lvl1pPr>
            </a:lstStyle>
            <a:p>
              <a:r>
                <a:rPr lang="en-US" altLang="zh-CN" dirty="0">
                  <a:solidFill>
                    <a:schemeClr val="tx1"/>
                  </a:solidFill>
                  <a:latin typeface="Arial" panose="020B0604020202020204" pitchFamily="34" charset="0"/>
                </a:rPr>
                <a:t>Connectivity</a:t>
              </a:r>
              <a:endParaRPr lang="zh-CN" altLang="en-US" dirty="0">
                <a:solidFill>
                  <a:schemeClr val="tx1"/>
                </a:solidFill>
                <a:latin typeface="Arial" panose="020B0604020202020204" pitchFamily="34" charset="0"/>
              </a:endParaRPr>
            </a:p>
          </p:txBody>
        </p:sp>
        <p:sp>
          <p:nvSpPr>
            <p:cNvPr id="28" name="文字方塊 2">
              <a:extLst>
                <a:ext uri="{FF2B5EF4-FFF2-40B4-BE49-F238E27FC236}">
                  <a16:creationId xmlns:a16="http://schemas.microsoft.com/office/drawing/2014/main" id="{52B760EA-C2D1-4F4A-B80B-A7FF653857E7}"/>
                </a:ext>
              </a:extLst>
            </p:cNvPr>
            <p:cNvSpPr txBox="1"/>
            <p:nvPr/>
          </p:nvSpPr>
          <p:spPr>
            <a:xfrm>
              <a:off x="11002954" y="2432210"/>
              <a:ext cx="884244" cy="285035"/>
            </a:xfrm>
            <a:prstGeom prst="rect">
              <a:avLst/>
            </a:prstGeom>
            <a:solidFill>
              <a:schemeClr val="bg1"/>
            </a:solidFill>
            <a:ln w="9525">
              <a:solidFill>
                <a:schemeClr val="tx1"/>
              </a:solidFill>
            </a:ln>
            <a:effectLst/>
          </p:spPr>
          <p:txBody>
            <a:bodyPr wrap="square" rtlCol="0">
              <a:noAutofit/>
            </a:bodyPr>
            <a:lstStyle>
              <a:defPPr>
                <a:defRPr lang="zh-TW"/>
              </a:defPPr>
              <a:lvl1pPr marR="0" lvl="0" indent="0" algn="ctr" defTabSz="1214627" fontAlgn="auto">
                <a:lnSpc>
                  <a:spcPct val="100000"/>
                </a:lnSpc>
                <a:spcBef>
                  <a:spcPts val="0"/>
                </a:spcBef>
                <a:spcAft>
                  <a:spcPts val="0"/>
                </a:spcAft>
                <a:buClrTx/>
                <a:buSzTx/>
                <a:buFontTx/>
                <a:buNone/>
                <a:tabLst/>
                <a:defRPr sz="1100" b="1" kern="0">
                  <a:solidFill>
                    <a:prstClr val="white"/>
                  </a:solidFill>
                  <a:latin typeface="Arial"/>
                  <a:ea typeface="微軟正黑體"/>
                </a:defRPr>
              </a:lvl1pPr>
            </a:lstStyle>
            <a:p>
              <a:r>
                <a:rPr lang="en-US" altLang="zh-CN" sz="1000" dirty="0">
                  <a:solidFill>
                    <a:schemeClr val="tx1"/>
                  </a:solidFill>
                  <a:latin typeface="Arial" panose="020B0604020202020204" pitchFamily="34" charset="0"/>
                </a:rPr>
                <a:t>Intelligence</a:t>
              </a:r>
              <a:endParaRPr lang="zh-CN" altLang="en-US" sz="1000" dirty="0">
                <a:solidFill>
                  <a:schemeClr val="tx1"/>
                </a:solidFill>
                <a:latin typeface="Arial" panose="020B0604020202020204" pitchFamily="34" charset="0"/>
              </a:endParaRPr>
            </a:p>
          </p:txBody>
        </p:sp>
        <p:sp>
          <p:nvSpPr>
            <p:cNvPr id="29" name="矩形: 圓角 21">
              <a:extLst>
                <a:ext uri="{FF2B5EF4-FFF2-40B4-BE49-F238E27FC236}">
                  <a16:creationId xmlns:a16="http://schemas.microsoft.com/office/drawing/2014/main" id="{016FF06B-BCB2-4C8B-8391-33BD17067593}"/>
                </a:ext>
              </a:extLst>
            </p:cNvPr>
            <p:cNvSpPr/>
            <p:nvPr/>
          </p:nvSpPr>
          <p:spPr>
            <a:xfrm>
              <a:off x="11002953" y="1724809"/>
              <a:ext cx="414604" cy="631138"/>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800" b="1" dirty="0">
                  <a:solidFill>
                    <a:schemeClr val="tx1"/>
                  </a:solidFill>
                  <a:latin typeface="Arial" panose="020B0604020202020204" pitchFamily="34" charset="0"/>
                  <a:ea typeface="微軟正黑體"/>
                  <a:cs typeface="Arial" panose="020B0604020202020204" pitchFamily="34" charset="0"/>
                </a:rPr>
                <a:t>數字孿生</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30" name="矩形: 圓角 21">
              <a:extLst>
                <a:ext uri="{FF2B5EF4-FFF2-40B4-BE49-F238E27FC236}">
                  <a16:creationId xmlns:a16="http://schemas.microsoft.com/office/drawing/2014/main" id="{9E76BFF7-97FC-4593-A365-7BD9CD067BE4}"/>
                </a:ext>
              </a:extLst>
            </p:cNvPr>
            <p:cNvSpPr/>
            <p:nvPr/>
          </p:nvSpPr>
          <p:spPr>
            <a:xfrm>
              <a:off x="11465479" y="1729987"/>
              <a:ext cx="414605" cy="62596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en-US" altLang="zh-CN" sz="800" b="1" dirty="0">
                  <a:solidFill>
                    <a:schemeClr val="tx1"/>
                  </a:solidFill>
                  <a:latin typeface="Arial" panose="020B0604020202020204" pitchFamily="34" charset="0"/>
                  <a:ea typeface="微軟正黑體"/>
                  <a:cs typeface="Arial" panose="020B0604020202020204" pitchFamily="34" charset="0"/>
                </a:rPr>
                <a:t>AI</a:t>
              </a:r>
            </a:p>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800" b="1" dirty="0">
                  <a:solidFill>
                    <a:schemeClr val="tx1"/>
                  </a:solidFill>
                  <a:latin typeface="Arial" panose="020B0604020202020204" pitchFamily="34" charset="0"/>
                  <a:ea typeface="微軟正黑體"/>
                  <a:cs typeface="Arial" panose="020B0604020202020204" pitchFamily="34" charset="0"/>
                </a:rPr>
                <a:t>大數據</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32" name="文字方塊 2">
              <a:extLst>
                <a:ext uri="{FF2B5EF4-FFF2-40B4-BE49-F238E27FC236}">
                  <a16:creationId xmlns:a16="http://schemas.microsoft.com/office/drawing/2014/main" id="{58001147-DD47-447F-95A3-A757848FBC0A}"/>
                </a:ext>
              </a:extLst>
            </p:cNvPr>
            <p:cNvSpPr txBox="1"/>
            <p:nvPr/>
          </p:nvSpPr>
          <p:spPr>
            <a:xfrm>
              <a:off x="5094724" y="2430384"/>
              <a:ext cx="4294609" cy="285035"/>
            </a:xfrm>
            <a:prstGeom prst="rect">
              <a:avLst/>
            </a:prstGeom>
            <a:solidFill>
              <a:schemeClr val="bg2"/>
            </a:solidFill>
            <a:ln w="9525">
              <a:solidFill>
                <a:schemeClr val="tx1"/>
              </a:solidFill>
            </a:ln>
            <a:effectLst/>
          </p:spPr>
          <p:txBody>
            <a:bodyPr wrap="square" rtlCol="0">
              <a:noAutofit/>
            </a:bodyPr>
            <a:lstStyle/>
            <a:p>
              <a:pPr marL="0" marR="0" lvl="0" indent="0" algn="ctr" defTabSz="1214627" rtl="0" eaLnBrk="1" fontAlgn="auto" latinLnBrk="0" hangingPunct="1">
                <a:spcBef>
                  <a:spcPts val="0"/>
                </a:spcBef>
                <a:spcAft>
                  <a:spcPts val="0"/>
                </a:spcAft>
                <a:buClrTx/>
                <a:buSzTx/>
                <a:buFontTx/>
                <a:buNone/>
                <a:tabLst/>
                <a:defRPr/>
              </a:pPr>
              <a:r>
                <a:rPr lang="en-US" altLang="zh-CN" sz="1100" b="1" kern="0" dirty="0">
                  <a:latin typeface="Arial" panose="020B0604020202020204" pitchFamily="34" charset="0"/>
                  <a:ea typeface="微軟正黑體"/>
                </a:rPr>
                <a:t>Automation</a:t>
              </a:r>
              <a:endParaRPr kumimoji="0" lang="zh-CN" altLang="en-US" b="1" i="0" u="none" strike="noStrike" kern="0" cap="none" spc="0" normalizeH="0" noProof="0" dirty="0">
                <a:ln>
                  <a:noFill/>
                </a:ln>
                <a:effectLst/>
                <a:uLnTx/>
                <a:uFillTx/>
                <a:latin typeface="Arial" panose="020B0604020202020204" pitchFamily="34" charset="0"/>
                <a:ea typeface="微軟正黑體"/>
              </a:endParaRPr>
            </a:p>
          </p:txBody>
        </p:sp>
        <p:sp>
          <p:nvSpPr>
            <p:cNvPr id="34" name="矩形: 圓角 21">
              <a:extLst>
                <a:ext uri="{FF2B5EF4-FFF2-40B4-BE49-F238E27FC236}">
                  <a16:creationId xmlns:a16="http://schemas.microsoft.com/office/drawing/2014/main" id="{F5722997-D2E6-4817-84C0-FB702899D4CE}"/>
                </a:ext>
              </a:extLst>
            </p:cNvPr>
            <p:cNvSpPr/>
            <p:nvPr/>
          </p:nvSpPr>
          <p:spPr>
            <a:xfrm>
              <a:off x="7143579" y="1732599"/>
              <a:ext cx="443667" cy="631191"/>
            </a:xfrm>
            <a:prstGeom prst="rect">
              <a:avLst/>
            </a:prstGeom>
            <a:solidFill>
              <a:schemeClr val="bg2"/>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1219110"/>
              <a:r>
                <a:rPr lang="zh-CN" altLang="en-US" sz="800" b="1" dirty="0">
                  <a:solidFill>
                    <a:schemeClr val="tx1"/>
                  </a:solidFill>
                  <a:latin typeface="Arial" panose="020B0604020202020204" pitchFamily="34" charset="0"/>
                  <a:ea typeface="微軟正黑體"/>
                  <a:cs typeface="Arial" panose="020B0604020202020204" pitchFamily="34" charset="0"/>
                </a:rPr>
                <a:t>測試技術</a:t>
              </a:r>
              <a:endParaRPr lang="en-US" altLang="zh-CN" sz="800" b="1" dirty="0">
                <a:solidFill>
                  <a:schemeClr val="tx1"/>
                </a:solidFill>
                <a:latin typeface="Arial" panose="020B0604020202020204" pitchFamily="34" charset="0"/>
                <a:ea typeface="微軟正黑體"/>
                <a:cs typeface="Arial" panose="020B0604020202020204" pitchFamily="34" charset="0"/>
              </a:endParaRPr>
            </a:p>
          </p:txBody>
        </p:sp>
        <p:sp>
          <p:nvSpPr>
            <p:cNvPr id="35" name="矩形: 圓角 21">
              <a:extLst>
                <a:ext uri="{FF2B5EF4-FFF2-40B4-BE49-F238E27FC236}">
                  <a16:creationId xmlns:a16="http://schemas.microsoft.com/office/drawing/2014/main" id="{51E68647-58E6-439B-BA2F-5991793E94CD}"/>
                </a:ext>
              </a:extLst>
            </p:cNvPr>
            <p:cNvSpPr/>
            <p:nvPr/>
          </p:nvSpPr>
          <p:spPr>
            <a:xfrm>
              <a:off x="509722" y="1077697"/>
              <a:ext cx="11356966" cy="540011"/>
            </a:xfrm>
            <a:prstGeom prst="rect">
              <a:avLst/>
            </a:prstGeom>
            <a:solidFill>
              <a:schemeClr val="bg1">
                <a:lumMod val="95000"/>
              </a:schemeClr>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defTabSz="1219110"/>
              <a:r>
                <a:rPr lang="zh-TW" altLang="en-US" sz="1400" dirty="0">
                  <a:solidFill>
                    <a:schemeClr val="tx1"/>
                  </a:solidFill>
                  <a:latin typeface="Arial" panose="020B0604020202020204" pitchFamily="34" charset="0"/>
                  <a:ea typeface="微軟正黑體"/>
                  <a:cs typeface="Arial" panose="020B0604020202020204" pitchFamily="34" charset="0"/>
                </a:rPr>
                <a:t>數據中台解決傳統數據供應鏈因數據孤島而形成之數據痛點</a:t>
              </a:r>
              <a:r>
                <a:rPr lang="en-US" altLang="zh-TW" sz="1400" dirty="0">
                  <a:solidFill>
                    <a:schemeClr val="tx1"/>
                  </a:solidFill>
                  <a:latin typeface="Arial" panose="020B0604020202020204" pitchFamily="34" charset="0"/>
                  <a:ea typeface="微軟正黑體"/>
                  <a:cs typeface="Arial" panose="020B0604020202020204" pitchFamily="34" charset="0"/>
                </a:rPr>
                <a:t>‚</a:t>
              </a:r>
              <a:r>
                <a:rPr lang="zh-TW" altLang="en-US" sz="1400" dirty="0">
                  <a:solidFill>
                    <a:schemeClr val="tx1"/>
                  </a:solidFill>
                  <a:latin typeface="Arial" panose="020B0604020202020204" pitchFamily="34" charset="0"/>
                  <a:ea typeface="微軟正黑體"/>
                  <a:cs typeface="Arial" panose="020B0604020202020204" pitchFamily="34" charset="0"/>
                </a:rPr>
                <a:t> 如 </a:t>
              </a:r>
              <a:r>
                <a:rPr lang="en-US" altLang="zh-TW" sz="1400" dirty="0">
                  <a:solidFill>
                    <a:schemeClr val="tx1"/>
                  </a:solidFill>
                  <a:latin typeface="Arial" panose="020B0604020202020204" pitchFamily="34" charset="0"/>
                  <a:ea typeface="微軟正黑體"/>
                  <a:cs typeface="Arial" panose="020B0604020202020204" pitchFamily="34" charset="0"/>
                </a:rPr>
                <a:t>:</a:t>
              </a:r>
              <a:r>
                <a:rPr lang="zh-TW" altLang="en-US" sz="1400" dirty="0">
                  <a:solidFill>
                    <a:schemeClr val="tx1"/>
                  </a:solidFill>
                  <a:latin typeface="Arial" panose="020B0604020202020204" pitchFamily="34" charset="0"/>
                  <a:ea typeface="微軟正黑體"/>
                  <a:cs typeface="Arial" panose="020B0604020202020204" pitchFamily="34" charset="0"/>
                </a:rPr>
                <a:t> 數據取得不易</a:t>
              </a:r>
              <a:r>
                <a:rPr lang="zh-TW" altLang="en-US" sz="1400" dirty="0">
                  <a:solidFill>
                    <a:schemeClr val="tx1"/>
                  </a:solidFill>
                  <a:latin typeface="PMingLiU" panose="02020500000000000000" pitchFamily="18" charset="-120"/>
                  <a:ea typeface="PMingLiU" panose="02020500000000000000" pitchFamily="18" charset="-120"/>
                  <a:cs typeface="Arial" panose="020B0604020202020204" pitchFamily="34" charset="0"/>
                </a:rPr>
                <a:t>、</a:t>
              </a:r>
              <a:r>
                <a:rPr lang="zh-TW" altLang="en-US" sz="1400" dirty="0">
                  <a:solidFill>
                    <a:schemeClr val="tx1"/>
                  </a:solidFill>
                  <a:latin typeface="Arial" panose="020B0604020202020204" pitchFamily="34" charset="0"/>
                  <a:ea typeface="微軟正黑體"/>
                  <a:cs typeface="Arial" panose="020B0604020202020204" pitchFamily="34" charset="0"/>
                </a:rPr>
                <a:t>數據工程重複開發</a:t>
              </a:r>
              <a:r>
                <a:rPr lang="zh-TW" altLang="en-US" sz="1400" dirty="0">
                  <a:solidFill>
                    <a:schemeClr val="tx1"/>
                  </a:solidFill>
                  <a:latin typeface="PMingLiU" panose="02020500000000000000" pitchFamily="18" charset="-120"/>
                  <a:ea typeface="PMingLiU" panose="02020500000000000000" pitchFamily="18" charset="-120"/>
                  <a:cs typeface="Arial" panose="020B0604020202020204" pitchFamily="34" charset="0"/>
                </a:rPr>
                <a:t>、</a:t>
              </a:r>
              <a:r>
                <a:rPr lang="zh-TW" altLang="en-US" sz="1400" dirty="0">
                  <a:solidFill>
                    <a:schemeClr val="tx1"/>
                  </a:solidFill>
                  <a:latin typeface="Arial" panose="020B0604020202020204" pitchFamily="34" charset="0"/>
                  <a:ea typeface="微軟正黑體"/>
                  <a:cs typeface="Arial" panose="020B0604020202020204" pitchFamily="34" charset="0"/>
                </a:rPr>
                <a:t>數據資產無法覆用</a:t>
              </a:r>
              <a:endParaRPr lang="en-US" altLang="zh-CN" sz="1400" dirty="0">
                <a:solidFill>
                  <a:schemeClr val="tx1"/>
                </a:solidFill>
                <a:latin typeface="Arial" panose="020B0604020202020204" pitchFamily="34" charset="0"/>
                <a:ea typeface="微軟正黑體"/>
                <a:cs typeface="Arial" panose="020B0604020202020204" pitchFamily="34" charset="0"/>
              </a:endParaRPr>
            </a:p>
          </p:txBody>
        </p:sp>
        <p:sp>
          <p:nvSpPr>
            <p:cNvPr id="41" name="文字方塊 2">
              <a:extLst>
                <a:ext uri="{FF2B5EF4-FFF2-40B4-BE49-F238E27FC236}">
                  <a16:creationId xmlns:a16="http://schemas.microsoft.com/office/drawing/2014/main" id="{E3CDF583-1DE0-457B-A83C-F0A6898242E7}"/>
                </a:ext>
              </a:extLst>
            </p:cNvPr>
            <p:cNvSpPr txBox="1"/>
            <p:nvPr/>
          </p:nvSpPr>
          <p:spPr>
            <a:xfrm>
              <a:off x="509745" y="2430383"/>
              <a:ext cx="1311782" cy="285035"/>
            </a:xfrm>
            <a:prstGeom prst="rect">
              <a:avLst/>
            </a:prstGeom>
            <a:solidFill>
              <a:schemeClr val="bg1"/>
            </a:solidFill>
            <a:ln w="9525">
              <a:solidFill>
                <a:schemeClr val="tx1"/>
              </a:solidFill>
            </a:ln>
            <a:effectLst/>
          </p:spPr>
          <p:txBody>
            <a:bodyPr wrap="square" rtlCol="0">
              <a:noAutofit/>
            </a:bodyPr>
            <a:lstStyle>
              <a:defPPr>
                <a:defRPr lang="zh-TW"/>
              </a:defPPr>
              <a:lvl1pPr marR="0" lvl="0" indent="0" algn="ctr" defTabSz="1214627" fontAlgn="auto">
                <a:lnSpc>
                  <a:spcPct val="100000"/>
                </a:lnSpc>
                <a:spcBef>
                  <a:spcPts val="0"/>
                </a:spcBef>
                <a:spcAft>
                  <a:spcPts val="0"/>
                </a:spcAft>
                <a:buClrTx/>
                <a:buSzTx/>
                <a:buFontTx/>
                <a:buNone/>
                <a:tabLst/>
                <a:defRPr sz="1100" b="1" kern="0">
                  <a:solidFill>
                    <a:prstClr val="white"/>
                  </a:solidFill>
                  <a:latin typeface="Arial"/>
                  <a:ea typeface="微軟正黑體"/>
                </a:defRPr>
              </a:lvl1pPr>
            </a:lstStyle>
            <a:p>
              <a:r>
                <a:rPr lang="en-US" altLang="zh-CN" sz="1050" dirty="0">
                  <a:solidFill>
                    <a:schemeClr val="tx1"/>
                  </a:solidFill>
                  <a:latin typeface="Arial" panose="020B0604020202020204" pitchFamily="34" charset="0"/>
                </a:rPr>
                <a:t>Product Lifecycle</a:t>
              </a:r>
              <a:endParaRPr lang="zh-CN" altLang="en-US" sz="1050" dirty="0">
                <a:solidFill>
                  <a:schemeClr val="tx1"/>
                </a:solidFill>
                <a:latin typeface="Arial" panose="020B0604020202020204" pitchFamily="34" charset="0"/>
              </a:endParaRPr>
            </a:p>
          </p:txBody>
        </p:sp>
        <p:sp>
          <p:nvSpPr>
            <p:cNvPr id="42" name="文字方塊 2">
              <a:extLst>
                <a:ext uri="{FF2B5EF4-FFF2-40B4-BE49-F238E27FC236}">
                  <a16:creationId xmlns:a16="http://schemas.microsoft.com/office/drawing/2014/main" id="{9E15E8AA-40A5-4BF1-9E12-0C6E98DF44BB}"/>
                </a:ext>
              </a:extLst>
            </p:cNvPr>
            <p:cNvSpPr txBox="1"/>
            <p:nvPr/>
          </p:nvSpPr>
          <p:spPr>
            <a:xfrm>
              <a:off x="1878631" y="2430384"/>
              <a:ext cx="815799" cy="285035"/>
            </a:xfrm>
            <a:prstGeom prst="rect">
              <a:avLst/>
            </a:prstGeom>
            <a:solidFill>
              <a:schemeClr val="bg1"/>
            </a:solidFill>
            <a:ln w="9525">
              <a:solidFill>
                <a:schemeClr val="tx1"/>
              </a:solidFill>
            </a:ln>
            <a:effectLst/>
          </p:spPr>
          <p:txBody>
            <a:bodyPr wrap="square" rtlCol="0">
              <a:noAutofit/>
            </a:bodyPr>
            <a:lstStyle>
              <a:defPPr>
                <a:defRPr lang="zh-TW"/>
              </a:defPPr>
              <a:lvl1pPr marR="0" lvl="0" indent="0" algn="ctr" defTabSz="1214627" fontAlgn="auto">
                <a:lnSpc>
                  <a:spcPct val="100000"/>
                </a:lnSpc>
                <a:spcBef>
                  <a:spcPts val="0"/>
                </a:spcBef>
                <a:spcAft>
                  <a:spcPts val="0"/>
                </a:spcAft>
                <a:buClrTx/>
                <a:buSzTx/>
                <a:buFontTx/>
                <a:buNone/>
                <a:tabLst/>
                <a:defRPr sz="1100" b="1" kern="0">
                  <a:solidFill>
                    <a:prstClr val="white"/>
                  </a:solidFill>
                  <a:latin typeface="Arial"/>
                  <a:ea typeface="微軟正黑體"/>
                </a:defRPr>
              </a:lvl1pPr>
            </a:lstStyle>
            <a:p>
              <a:r>
                <a:rPr lang="en-US" altLang="zh-CN" sz="800" dirty="0">
                  <a:solidFill>
                    <a:schemeClr val="tx1"/>
                  </a:solidFill>
                  <a:latin typeface="Arial" panose="020B0604020202020204" pitchFamily="34" charset="0"/>
                </a:rPr>
                <a:t>Supply Chain</a:t>
              </a:r>
            </a:p>
          </p:txBody>
        </p:sp>
        <p:sp>
          <p:nvSpPr>
            <p:cNvPr id="43" name="文字方塊 2">
              <a:extLst>
                <a:ext uri="{FF2B5EF4-FFF2-40B4-BE49-F238E27FC236}">
                  <a16:creationId xmlns:a16="http://schemas.microsoft.com/office/drawing/2014/main" id="{833EBE21-78A7-416D-AB52-763F9DA0038E}"/>
                </a:ext>
              </a:extLst>
            </p:cNvPr>
            <p:cNvSpPr txBox="1"/>
            <p:nvPr/>
          </p:nvSpPr>
          <p:spPr>
            <a:xfrm>
              <a:off x="2760243" y="2430384"/>
              <a:ext cx="1586489" cy="285035"/>
            </a:xfrm>
            <a:prstGeom prst="rect">
              <a:avLst/>
            </a:prstGeom>
            <a:solidFill>
              <a:schemeClr val="bg1"/>
            </a:solidFill>
            <a:ln w="9525">
              <a:solidFill>
                <a:schemeClr val="tx1"/>
              </a:solidFill>
            </a:ln>
            <a:effectLst/>
          </p:spPr>
          <p:txBody>
            <a:bodyPr wrap="square" rtlCol="0">
              <a:noAutofit/>
            </a:bodyPr>
            <a:lstStyle>
              <a:defPPr>
                <a:defRPr lang="zh-TW"/>
              </a:defPPr>
              <a:lvl1pPr marR="0" lvl="0" indent="0" algn="ctr" defTabSz="1214627" fontAlgn="auto">
                <a:lnSpc>
                  <a:spcPct val="100000"/>
                </a:lnSpc>
                <a:spcBef>
                  <a:spcPts val="0"/>
                </a:spcBef>
                <a:spcAft>
                  <a:spcPts val="0"/>
                </a:spcAft>
                <a:buClrTx/>
                <a:buSzTx/>
                <a:buFontTx/>
                <a:buNone/>
                <a:tabLst/>
                <a:defRPr sz="1100" b="1" kern="0">
                  <a:solidFill>
                    <a:prstClr val="white"/>
                  </a:solidFill>
                  <a:latin typeface="Arial"/>
                  <a:ea typeface="微軟正黑體"/>
                </a:defRPr>
              </a:lvl1pPr>
            </a:lstStyle>
            <a:p>
              <a:r>
                <a:rPr lang="en-US" altLang="zh-CN" dirty="0">
                  <a:solidFill>
                    <a:schemeClr val="tx1"/>
                  </a:solidFill>
                  <a:latin typeface="Arial" panose="020B0604020202020204" pitchFamily="34" charset="0"/>
                </a:rPr>
                <a:t>Factory Operation</a:t>
              </a:r>
              <a:endParaRPr lang="zh-CN" altLang="en-US" dirty="0">
                <a:solidFill>
                  <a:schemeClr val="tx1"/>
                </a:solidFill>
                <a:latin typeface="Arial" panose="020B0604020202020204" pitchFamily="34" charset="0"/>
              </a:endParaRPr>
            </a:p>
          </p:txBody>
        </p:sp>
        <p:sp>
          <p:nvSpPr>
            <p:cNvPr id="44" name="矩形: 圓角 21">
              <a:extLst>
                <a:ext uri="{FF2B5EF4-FFF2-40B4-BE49-F238E27FC236}">
                  <a16:creationId xmlns:a16="http://schemas.microsoft.com/office/drawing/2014/main" id="{9F9BC7AF-1227-4452-A392-49A0E3AA36B1}"/>
                </a:ext>
              </a:extLst>
            </p:cNvPr>
            <p:cNvSpPr/>
            <p:nvPr/>
          </p:nvSpPr>
          <p:spPr>
            <a:xfrm>
              <a:off x="509722" y="1713526"/>
              <a:ext cx="1311828" cy="647224"/>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800" b="1" dirty="0">
                  <a:solidFill>
                    <a:schemeClr val="tx1"/>
                  </a:solidFill>
                  <a:latin typeface="Arial" panose="020B0604020202020204" pitchFamily="34" charset="0"/>
                  <a:ea typeface="微軟正黑體"/>
                  <a:cs typeface="Arial" panose="020B0604020202020204" pitchFamily="34" charset="0"/>
                </a:rPr>
                <a:t>先進</a:t>
              </a:r>
              <a:r>
                <a:rPr lang="en-US" altLang="zh-CN" sz="800" b="1" dirty="0">
                  <a:solidFill>
                    <a:schemeClr val="tx1"/>
                  </a:solidFill>
                  <a:latin typeface="Arial" panose="020B0604020202020204" pitchFamily="34" charset="0"/>
                  <a:ea typeface="微軟正黑體"/>
                  <a:cs typeface="Arial" panose="020B0604020202020204" pitchFamily="34" charset="0"/>
                </a:rPr>
                <a:t>NPE</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45" name="矩形: 圓角 21">
              <a:extLst>
                <a:ext uri="{FF2B5EF4-FFF2-40B4-BE49-F238E27FC236}">
                  <a16:creationId xmlns:a16="http://schemas.microsoft.com/office/drawing/2014/main" id="{352CD600-680B-4233-B50E-22EFBD37D184}"/>
                </a:ext>
              </a:extLst>
            </p:cNvPr>
            <p:cNvSpPr/>
            <p:nvPr/>
          </p:nvSpPr>
          <p:spPr>
            <a:xfrm>
              <a:off x="1864096" y="1711661"/>
              <a:ext cx="252216" cy="641148"/>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800" b="1" dirty="0">
                  <a:solidFill>
                    <a:schemeClr val="tx1"/>
                  </a:solidFill>
                  <a:latin typeface="Arial" panose="020B0604020202020204" pitchFamily="34" charset="0"/>
                  <a:ea typeface="微軟正黑體"/>
                  <a:cs typeface="Arial" panose="020B0604020202020204" pitchFamily="34" charset="0"/>
                </a:rPr>
                <a:t>先進生產計劃</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46" name="矩形: 圓角 21">
              <a:extLst>
                <a:ext uri="{FF2B5EF4-FFF2-40B4-BE49-F238E27FC236}">
                  <a16:creationId xmlns:a16="http://schemas.microsoft.com/office/drawing/2014/main" id="{0C8C2D98-3044-469F-A2F4-CDF109E3D58D}"/>
                </a:ext>
              </a:extLst>
            </p:cNvPr>
            <p:cNvSpPr/>
            <p:nvPr/>
          </p:nvSpPr>
          <p:spPr>
            <a:xfrm>
              <a:off x="2160423" y="1718659"/>
              <a:ext cx="252216" cy="637287"/>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800" b="1" dirty="0">
                  <a:solidFill>
                    <a:schemeClr val="tx1"/>
                  </a:solidFill>
                  <a:latin typeface="Arial" panose="020B0604020202020204" pitchFamily="34" charset="0"/>
                  <a:ea typeface="微軟正黑體"/>
                  <a:cs typeface="Arial" panose="020B0604020202020204" pitchFamily="34" charset="0"/>
                </a:rPr>
                <a:t>智慧供應鏈</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47" name="矩形: 圓角 21">
              <a:extLst>
                <a:ext uri="{FF2B5EF4-FFF2-40B4-BE49-F238E27FC236}">
                  <a16:creationId xmlns:a16="http://schemas.microsoft.com/office/drawing/2014/main" id="{0633674C-A2F0-47B4-BD5D-F842955356F4}"/>
                </a:ext>
              </a:extLst>
            </p:cNvPr>
            <p:cNvSpPr/>
            <p:nvPr/>
          </p:nvSpPr>
          <p:spPr>
            <a:xfrm>
              <a:off x="2451083" y="1720437"/>
              <a:ext cx="252216" cy="635509"/>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800" b="1" dirty="0">
                  <a:solidFill>
                    <a:schemeClr val="tx1"/>
                  </a:solidFill>
                  <a:latin typeface="Arial" panose="020B0604020202020204" pitchFamily="34" charset="0"/>
                  <a:ea typeface="微軟正黑體"/>
                  <a:cs typeface="Arial" panose="020B0604020202020204" pitchFamily="34" charset="0"/>
                </a:rPr>
                <a:t>智能物流</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50" name="矩形: 圓角 21">
              <a:extLst>
                <a:ext uri="{FF2B5EF4-FFF2-40B4-BE49-F238E27FC236}">
                  <a16:creationId xmlns:a16="http://schemas.microsoft.com/office/drawing/2014/main" id="{1E067348-0E75-49B2-891C-CF75513AEB4F}"/>
                </a:ext>
              </a:extLst>
            </p:cNvPr>
            <p:cNvSpPr/>
            <p:nvPr/>
          </p:nvSpPr>
          <p:spPr>
            <a:xfrm>
              <a:off x="2761334" y="2017581"/>
              <a:ext cx="539086" cy="338366"/>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zh-CN" altLang="en-US"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智慧生產</a:t>
              </a:r>
              <a:endPar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51" name="矩形: 圓角 21">
              <a:extLst>
                <a:ext uri="{FF2B5EF4-FFF2-40B4-BE49-F238E27FC236}">
                  <a16:creationId xmlns:a16="http://schemas.microsoft.com/office/drawing/2014/main" id="{7B257F3D-16D5-46D4-BFBE-A375AAD8BA79}"/>
                </a:ext>
              </a:extLst>
            </p:cNvPr>
            <p:cNvSpPr/>
            <p:nvPr/>
          </p:nvSpPr>
          <p:spPr>
            <a:xfrm>
              <a:off x="2760243" y="1728743"/>
              <a:ext cx="257922" cy="257519"/>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700" b="1" dirty="0">
                  <a:solidFill>
                    <a:schemeClr val="tx1"/>
                  </a:solidFill>
                  <a:latin typeface="Arial" panose="020B0604020202020204" pitchFamily="34" charset="0"/>
                  <a:ea typeface="微軟正黑體"/>
                  <a:cs typeface="Arial" panose="020B0604020202020204" pitchFamily="34" charset="0"/>
                </a:rPr>
                <a:t>智慧</a:t>
              </a:r>
              <a:r>
                <a:rPr lang="en-US" altLang="zh-CN" sz="700" b="1" dirty="0">
                  <a:solidFill>
                    <a:schemeClr val="tx1"/>
                  </a:solidFill>
                  <a:latin typeface="Arial" panose="020B0604020202020204" pitchFamily="34" charset="0"/>
                  <a:ea typeface="微軟正黑體"/>
                  <a:cs typeface="Arial" panose="020B0604020202020204" pitchFamily="34" charset="0"/>
                </a:rPr>
                <a:t>SMT</a:t>
              </a:r>
              <a:endPar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52" name="矩形: 圓角 21">
              <a:extLst>
                <a:ext uri="{FF2B5EF4-FFF2-40B4-BE49-F238E27FC236}">
                  <a16:creationId xmlns:a16="http://schemas.microsoft.com/office/drawing/2014/main" id="{386059BC-F0E8-4E3C-B368-7C25313616AD}"/>
                </a:ext>
              </a:extLst>
            </p:cNvPr>
            <p:cNvSpPr/>
            <p:nvPr/>
          </p:nvSpPr>
          <p:spPr>
            <a:xfrm>
              <a:off x="3048202" y="1727404"/>
              <a:ext cx="252217" cy="25920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700" b="1" dirty="0">
                  <a:solidFill>
                    <a:schemeClr val="tx1"/>
                  </a:solidFill>
                  <a:latin typeface="Arial" panose="020B0604020202020204" pitchFamily="34" charset="0"/>
                  <a:ea typeface="微軟正黑體"/>
                  <a:cs typeface="Arial" panose="020B0604020202020204" pitchFamily="34" charset="0"/>
                </a:rPr>
                <a:t>智慧主綫</a:t>
              </a:r>
              <a:endParaRPr kumimoji="0" lang="en-US" altLang="zh-CN" sz="7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53" name="矩形: 圓角 21">
              <a:extLst>
                <a:ext uri="{FF2B5EF4-FFF2-40B4-BE49-F238E27FC236}">
                  <a16:creationId xmlns:a16="http://schemas.microsoft.com/office/drawing/2014/main" id="{58239D1A-408B-4923-AD4A-D84CA6124A06}"/>
                </a:ext>
              </a:extLst>
            </p:cNvPr>
            <p:cNvSpPr/>
            <p:nvPr/>
          </p:nvSpPr>
          <p:spPr>
            <a:xfrm>
              <a:off x="3347430" y="1720438"/>
              <a:ext cx="296034" cy="62596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800" b="1" dirty="0">
                  <a:solidFill>
                    <a:schemeClr val="tx1"/>
                  </a:solidFill>
                  <a:latin typeface="Arial" panose="020B0604020202020204" pitchFamily="34" charset="0"/>
                  <a:ea typeface="微軟正黑體"/>
                  <a:cs typeface="Arial" panose="020B0604020202020204" pitchFamily="34" charset="0"/>
                </a:rPr>
                <a:t>智慧品質</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54" name="矩形: 圓角 21">
              <a:extLst>
                <a:ext uri="{FF2B5EF4-FFF2-40B4-BE49-F238E27FC236}">
                  <a16:creationId xmlns:a16="http://schemas.microsoft.com/office/drawing/2014/main" id="{69560907-6EA7-44ED-8F40-BE21E41CC577}"/>
                </a:ext>
              </a:extLst>
            </p:cNvPr>
            <p:cNvSpPr/>
            <p:nvPr/>
          </p:nvSpPr>
          <p:spPr>
            <a:xfrm>
              <a:off x="3690474" y="1720438"/>
              <a:ext cx="296034" cy="62596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CN" altLang="en-US" sz="800" b="1" dirty="0">
                  <a:solidFill>
                    <a:schemeClr val="tx1"/>
                  </a:solidFill>
                  <a:latin typeface="Arial" panose="020B0604020202020204" pitchFamily="34" charset="0"/>
                  <a:ea typeface="微軟正黑體"/>
                  <a:cs typeface="Arial" panose="020B0604020202020204" pitchFamily="34" charset="0"/>
                </a:rPr>
                <a:t>智慧綠色工廠</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55" name="矩形: 圓角 21">
              <a:extLst>
                <a:ext uri="{FF2B5EF4-FFF2-40B4-BE49-F238E27FC236}">
                  <a16:creationId xmlns:a16="http://schemas.microsoft.com/office/drawing/2014/main" id="{A1BDCC6C-1CD0-424C-B58E-8B502618A61A}"/>
                </a:ext>
              </a:extLst>
            </p:cNvPr>
            <p:cNvSpPr/>
            <p:nvPr/>
          </p:nvSpPr>
          <p:spPr>
            <a:xfrm>
              <a:off x="4051788" y="1720439"/>
              <a:ext cx="296034" cy="62596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全球生產移轉</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58" name="文字方塊 2">
              <a:extLst>
                <a:ext uri="{FF2B5EF4-FFF2-40B4-BE49-F238E27FC236}">
                  <a16:creationId xmlns:a16="http://schemas.microsoft.com/office/drawing/2014/main" id="{3E5A22B4-B859-4468-ABD6-7D1913227CC5}"/>
                </a:ext>
              </a:extLst>
            </p:cNvPr>
            <p:cNvSpPr txBox="1"/>
            <p:nvPr/>
          </p:nvSpPr>
          <p:spPr>
            <a:xfrm>
              <a:off x="4405856" y="2431375"/>
              <a:ext cx="582084" cy="285035"/>
            </a:xfrm>
            <a:prstGeom prst="rect">
              <a:avLst/>
            </a:prstGeom>
            <a:solidFill>
              <a:schemeClr val="bg1"/>
            </a:solidFill>
            <a:ln w="9525">
              <a:solidFill>
                <a:schemeClr val="tx1"/>
              </a:solidFill>
            </a:ln>
            <a:effectLst/>
          </p:spPr>
          <p:txBody>
            <a:bodyPr wrap="square" rtlCol="0">
              <a:noAutofit/>
            </a:bodyPr>
            <a:lstStyle>
              <a:defPPr>
                <a:defRPr lang="zh-TW"/>
              </a:defPPr>
              <a:lvl1pPr marR="0" lvl="0" indent="0" algn="ctr" defTabSz="1214627" fontAlgn="auto">
                <a:lnSpc>
                  <a:spcPct val="100000"/>
                </a:lnSpc>
                <a:spcBef>
                  <a:spcPts val="0"/>
                </a:spcBef>
                <a:spcAft>
                  <a:spcPts val="0"/>
                </a:spcAft>
                <a:buClrTx/>
                <a:buSzTx/>
                <a:buFontTx/>
                <a:buNone/>
                <a:tabLst/>
                <a:defRPr sz="1100" b="1" kern="0">
                  <a:solidFill>
                    <a:prstClr val="white"/>
                  </a:solidFill>
                  <a:latin typeface="Arial"/>
                  <a:ea typeface="微軟正黑體"/>
                </a:defRPr>
              </a:lvl1pPr>
            </a:lstStyle>
            <a:p>
              <a:r>
                <a:rPr lang="en-US" altLang="zh-CN" dirty="0">
                  <a:solidFill>
                    <a:schemeClr val="tx1"/>
                  </a:solidFill>
                  <a:latin typeface="Arial" panose="020B0604020202020204" pitchFamily="34" charset="0"/>
                </a:rPr>
                <a:t>DTO</a:t>
              </a:r>
              <a:endParaRPr lang="zh-CN" altLang="en-US" dirty="0">
                <a:solidFill>
                  <a:schemeClr val="tx1"/>
                </a:solidFill>
                <a:latin typeface="Arial" panose="020B0604020202020204" pitchFamily="34" charset="0"/>
              </a:endParaRPr>
            </a:p>
          </p:txBody>
        </p:sp>
        <p:sp>
          <p:nvSpPr>
            <p:cNvPr id="59" name="矩形: 圓角 21">
              <a:extLst>
                <a:ext uri="{FF2B5EF4-FFF2-40B4-BE49-F238E27FC236}">
                  <a16:creationId xmlns:a16="http://schemas.microsoft.com/office/drawing/2014/main" id="{7A34B3DA-DC63-467E-8E65-48B962BD3F01}"/>
                </a:ext>
              </a:extLst>
            </p:cNvPr>
            <p:cNvSpPr/>
            <p:nvPr/>
          </p:nvSpPr>
          <p:spPr>
            <a:xfrm>
              <a:off x="4399484" y="1720438"/>
              <a:ext cx="296034" cy="625960"/>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架構管理</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60" name="矩形: 圓角 21">
              <a:extLst>
                <a:ext uri="{FF2B5EF4-FFF2-40B4-BE49-F238E27FC236}">
                  <a16:creationId xmlns:a16="http://schemas.microsoft.com/office/drawing/2014/main" id="{7834E05A-DB7A-4C96-AEEB-8DBBA18DC6F1}"/>
                </a:ext>
              </a:extLst>
            </p:cNvPr>
            <p:cNvSpPr/>
            <p:nvPr/>
          </p:nvSpPr>
          <p:spPr>
            <a:xfrm>
              <a:off x="4730170" y="1722931"/>
              <a:ext cx="296034" cy="626018"/>
            </a:xfrm>
            <a:prstGeom prst="rect">
              <a:avLst/>
            </a:prstGeom>
            <a:solidFill>
              <a:schemeClr val="bg1"/>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rPr>
                <a:t>專案暨績效管理</a:t>
              </a:r>
              <a:endParaRPr kumimoji="0" lang="en-US" altLang="zh-CN"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sp>
          <p:nvSpPr>
            <p:cNvPr id="2" name="矩形: 圓角 23">
              <a:extLst>
                <a:ext uri="{FF2B5EF4-FFF2-40B4-BE49-F238E27FC236}">
                  <a16:creationId xmlns:a16="http://schemas.microsoft.com/office/drawing/2014/main" id="{85C2CF40-ECF9-E28C-5045-650B90B3E409}"/>
                </a:ext>
              </a:extLst>
            </p:cNvPr>
            <p:cNvSpPr/>
            <p:nvPr/>
          </p:nvSpPr>
          <p:spPr>
            <a:xfrm>
              <a:off x="10233604" y="1725602"/>
              <a:ext cx="370168" cy="641149"/>
            </a:xfrm>
            <a:prstGeom prst="rect">
              <a:avLst/>
            </a:prstGeom>
            <a:solidFill>
              <a:schemeClr val="bg2"/>
            </a:solidFill>
            <a:ln w="9525">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lang="zh-TW" altLang="en-US" sz="800" b="1" dirty="0">
                  <a:solidFill>
                    <a:schemeClr val="tx1"/>
                  </a:solidFill>
                  <a:latin typeface="Arial" panose="020B0604020202020204" pitchFamily="34" charset="0"/>
                  <a:ea typeface="微軟正黑體"/>
                  <a:cs typeface="Arial" panose="020B0604020202020204" pitchFamily="34" charset="0"/>
                </a:rPr>
                <a:t>應用</a:t>
              </a:r>
              <a:endParaRPr lang="en-US" altLang="zh-TW" sz="800" b="1" dirty="0">
                <a:solidFill>
                  <a:schemeClr val="tx1"/>
                </a:solidFill>
                <a:latin typeface="Arial" panose="020B0604020202020204" pitchFamily="34" charset="0"/>
                <a:ea typeface="微軟正黑體"/>
                <a:cs typeface="Arial" panose="020B0604020202020204" pitchFamily="34" charset="0"/>
              </a:endParaRPr>
            </a:p>
            <a:p>
              <a:pPr marL="0" marR="0" lvl="0" indent="0" algn="ctr" defTabSz="1219110" rtl="0" eaLnBrk="1" fontAlgn="auto" latinLnBrk="0" hangingPunct="1">
                <a:lnSpc>
                  <a:spcPct val="100000"/>
                </a:lnSpc>
                <a:spcBef>
                  <a:spcPts val="0"/>
                </a:spcBef>
                <a:spcAft>
                  <a:spcPts val="0"/>
                </a:spcAft>
                <a:buClrTx/>
                <a:buSzTx/>
                <a:buFontTx/>
                <a:buNone/>
                <a:tabLst/>
                <a:defRPr/>
              </a:pPr>
              <a:r>
                <a:rPr lang="zh-TW" altLang="en-US" sz="800" b="1" dirty="0">
                  <a:solidFill>
                    <a:schemeClr val="tx1"/>
                  </a:solidFill>
                  <a:latin typeface="Arial" panose="020B0604020202020204" pitchFamily="34" charset="0"/>
                  <a:ea typeface="微軟正黑體"/>
                  <a:cs typeface="Arial" panose="020B0604020202020204" pitchFamily="34" charset="0"/>
                </a:rPr>
                <a:t>中台</a:t>
              </a:r>
              <a:endParaRPr kumimoji="0" lang="zh-TW" altLang="en-US" sz="800" b="1" i="0" u="none" strike="noStrike" kern="1200" cap="none" spc="0" normalizeH="0" noProof="0" dirty="0">
                <a:ln>
                  <a:noFill/>
                </a:ln>
                <a:solidFill>
                  <a:schemeClr val="tx1"/>
                </a:solidFill>
                <a:effectLst/>
                <a:uLnTx/>
                <a:uFillTx/>
                <a:latin typeface="Arial" panose="020B0604020202020204" pitchFamily="34" charset="0"/>
                <a:ea typeface="微軟正黑體"/>
                <a:cs typeface="Arial" panose="020B0604020202020204" pitchFamily="34" charset="0"/>
              </a:endParaRPr>
            </a:p>
          </p:txBody>
        </p:sp>
      </p:grpSp>
    </p:spTree>
    <p:extLst>
      <p:ext uri="{BB962C8B-B14F-4D97-AF65-F5344CB8AC3E}">
        <p14:creationId xmlns:p14="http://schemas.microsoft.com/office/powerpoint/2010/main" val="3505215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7BD14-B84B-4EE5-A69B-8DD26D5D2448}"/>
              </a:ext>
            </a:extLst>
          </p:cNvPr>
          <p:cNvSpPr>
            <a:spLocks noGrp="1"/>
          </p:cNvSpPr>
          <p:nvPr>
            <p:ph type="title"/>
          </p:nvPr>
        </p:nvSpPr>
        <p:spPr>
          <a:xfrm>
            <a:off x="406400" y="213360"/>
            <a:ext cx="11379200" cy="679396"/>
          </a:xfrm>
        </p:spPr>
        <p:txBody>
          <a:bodyPr/>
          <a:lstStyle/>
          <a:p>
            <a:pPr algn="ctr"/>
            <a:r>
              <a:rPr lang="zh-TW" altLang="en-US"/>
              <a:t>專案心得、</a:t>
            </a:r>
            <a:r>
              <a:rPr lang="zh-TW" altLang="en-US">
                <a:solidFill>
                  <a:srgbClr val="0087DC"/>
                </a:solidFill>
              </a:rPr>
              <a:t>後續場域擴散建議、執行計畫與注意事項</a:t>
            </a:r>
            <a:endParaRPr lang="zh-TW" altLang="en-US"/>
          </a:p>
        </p:txBody>
      </p:sp>
      <p:sp>
        <p:nvSpPr>
          <p:cNvPr id="3" name="內容版面配置區 2">
            <a:extLst>
              <a:ext uri="{FF2B5EF4-FFF2-40B4-BE49-F238E27FC236}">
                <a16:creationId xmlns:a16="http://schemas.microsoft.com/office/drawing/2014/main" id="{F7FFD048-AA11-48A3-BCD7-21298B6139F5}"/>
              </a:ext>
            </a:extLst>
          </p:cNvPr>
          <p:cNvSpPr>
            <a:spLocks noGrp="1"/>
          </p:cNvSpPr>
          <p:nvPr>
            <p:ph idx="1"/>
          </p:nvPr>
        </p:nvSpPr>
        <p:spPr>
          <a:xfrm>
            <a:off x="477520" y="844730"/>
            <a:ext cx="11155680" cy="5765074"/>
          </a:xfrm>
        </p:spPr>
        <p:txBody>
          <a:bodyPr>
            <a:normAutofit fontScale="70000" lnSpcReduction="20000"/>
          </a:bodyPr>
          <a:lstStyle/>
          <a:p>
            <a:pPr>
              <a:lnSpc>
                <a:spcPct val="160000"/>
              </a:lnSpc>
            </a:pPr>
            <a:r>
              <a:rPr lang="zh-TW" altLang="en-US" sz="2200" b="1" dirty="0">
                <a:solidFill>
                  <a:srgbClr val="404040"/>
                </a:solidFill>
                <a:latin typeface="Arial" panose="020B0604020202020204" pitchFamily="34" charset="0"/>
                <a:ea typeface="微軟正黑體" panose="020B0604030504040204" pitchFamily="34" charset="-120"/>
              </a:rPr>
              <a:t>專案心得</a:t>
            </a:r>
            <a:endParaRPr lang="en-US" altLang="zh-TW" sz="2200" b="1" dirty="0">
              <a:solidFill>
                <a:srgbClr val="404040"/>
              </a:solidFill>
              <a:latin typeface="Arial" panose="020B0604020202020204" pitchFamily="34" charset="0"/>
              <a:ea typeface="微軟正黑體" panose="020B0604030504040204" pitchFamily="34" charset="-120"/>
            </a:endParaRPr>
          </a:p>
          <a:p>
            <a:pPr lvl="1">
              <a:lnSpc>
                <a:spcPct val="160000"/>
              </a:lnSpc>
              <a:buFont typeface="Wingdings" panose="05000000000000000000" pitchFamily="2" charset="2"/>
              <a:buChar char="Ø"/>
            </a:pPr>
            <a:r>
              <a:rPr lang="zh-TW" altLang="en-US" sz="1900" dirty="0">
                <a:solidFill>
                  <a:srgbClr val="404040"/>
                </a:solidFill>
                <a:latin typeface="Arial" panose="020B0604020202020204" pitchFamily="34" charset="0"/>
                <a:ea typeface="微軟正黑體" panose="020B0604030504040204" pitchFamily="34" charset="-120"/>
              </a:rPr>
              <a:t>目前因各系統數據孤島，造成數據使用者重工並耗費大量精力連接數據並彙整， 本專案藉由彙整機聯</a:t>
            </a:r>
            <a:r>
              <a:rPr lang="en-US" altLang="zh-TW" sz="1900" dirty="0">
                <a:solidFill>
                  <a:srgbClr val="404040"/>
                </a:solidFill>
                <a:latin typeface="Arial" panose="020B0604020202020204" pitchFamily="34" charset="0"/>
                <a:ea typeface="微軟正黑體" panose="020B0604030504040204" pitchFamily="34" charset="-120"/>
              </a:rPr>
              <a:t>/MES/PLM</a:t>
            </a:r>
            <a:r>
              <a:rPr lang="zh-TW" altLang="en-US" sz="1900" dirty="0">
                <a:solidFill>
                  <a:srgbClr val="404040"/>
                </a:solidFill>
                <a:latin typeface="Arial" panose="020B0604020202020204" pitchFamily="34" charset="0"/>
                <a:ea typeface="微軟正黑體" panose="020B0604030504040204" pitchFamily="34" charset="-120"/>
              </a:rPr>
              <a:t>三者數據源的並產生</a:t>
            </a:r>
            <a:r>
              <a:rPr lang="en-US" altLang="zh-TW" sz="1900" dirty="0">
                <a:solidFill>
                  <a:srgbClr val="404040"/>
                </a:solidFill>
                <a:latin typeface="Arial" panose="020B0604020202020204" pitchFamily="34" charset="0"/>
                <a:ea typeface="微軟正黑體" panose="020B0604030504040204" pitchFamily="34" charset="-120"/>
              </a:rPr>
              <a:t>BI</a:t>
            </a:r>
            <a:r>
              <a:rPr lang="zh-TW" altLang="en-US" sz="1900" dirty="0">
                <a:solidFill>
                  <a:srgbClr val="404040"/>
                </a:solidFill>
                <a:latin typeface="Arial" panose="020B0604020202020204" pitchFamily="34" charset="0"/>
                <a:ea typeface="微軟正黑體" panose="020B0604030504040204" pitchFamily="34" charset="-120"/>
              </a:rPr>
              <a:t>報表的過程，佐以系統化與標準化的數據框架系統達到數據使用，除了驗證並選型技術解決方案外，亦可完美一致遵循公司的數據治理規範配合執行，確保數據的規範化和提升數據品質</a:t>
            </a:r>
            <a:endParaRPr lang="en-US" altLang="zh-TW" sz="1900" dirty="0">
              <a:solidFill>
                <a:srgbClr val="404040"/>
              </a:solidFill>
              <a:latin typeface="Arial" panose="020B0604020202020204" pitchFamily="34" charset="0"/>
              <a:ea typeface="微軟正黑體" panose="020B0604030504040204" pitchFamily="34" charset="-120"/>
            </a:endParaRPr>
          </a:p>
          <a:p>
            <a:pPr>
              <a:lnSpc>
                <a:spcPct val="160000"/>
              </a:lnSpc>
            </a:pPr>
            <a:r>
              <a:rPr lang="zh-TW" altLang="en-US" sz="2200" b="1" dirty="0">
                <a:solidFill>
                  <a:srgbClr val="404040"/>
                </a:solidFill>
                <a:latin typeface="Arial" panose="020B0604020202020204" pitchFamily="34" charset="0"/>
                <a:ea typeface="微軟正黑體" panose="020B0604030504040204" pitchFamily="34" charset="-120"/>
              </a:rPr>
              <a:t>注意事項</a:t>
            </a:r>
            <a:endParaRPr lang="en-US" altLang="zh-TW" sz="1900" dirty="0">
              <a:solidFill>
                <a:srgbClr val="404040"/>
              </a:solidFill>
              <a:latin typeface="Arial" panose="020B0604020202020204" pitchFamily="34" charset="0"/>
              <a:ea typeface="微軟正黑體" panose="020B0604030504040204" pitchFamily="34" charset="-120"/>
            </a:endParaRPr>
          </a:p>
          <a:p>
            <a:pPr lvl="1">
              <a:lnSpc>
                <a:spcPct val="160000"/>
              </a:lnSpc>
              <a:buFont typeface="Wingdings" panose="05000000000000000000" pitchFamily="2" charset="2"/>
              <a:buChar char="Ø"/>
            </a:pPr>
            <a:r>
              <a:rPr lang="zh-TW" altLang="en-US" sz="1900" dirty="0">
                <a:solidFill>
                  <a:srgbClr val="404040"/>
                </a:solidFill>
                <a:latin typeface="Arial" panose="020B0604020202020204" pitchFamily="34" charset="0"/>
                <a:ea typeface="微軟正黑體" panose="020B0604030504040204" pitchFamily="34" charset="-120"/>
              </a:rPr>
              <a:t>本專案產出的所有文件內容已交付</a:t>
            </a:r>
            <a:r>
              <a:rPr lang="en-US" altLang="zh-TW" sz="1900" dirty="0">
                <a:solidFill>
                  <a:srgbClr val="404040"/>
                </a:solidFill>
                <a:latin typeface="Arial" panose="020B0604020202020204" pitchFamily="34" charset="0"/>
                <a:ea typeface="微軟正黑體" panose="020B0604030504040204" pitchFamily="34" charset="-120"/>
              </a:rPr>
              <a:t>Corp IT</a:t>
            </a:r>
            <a:r>
              <a:rPr lang="zh-TW" altLang="en-US" sz="1900" dirty="0">
                <a:solidFill>
                  <a:srgbClr val="404040"/>
                </a:solidFill>
                <a:latin typeface="Arial" panose="020B0604020202020204" pitchFamily="34" charset="0"/>
                <a:ea typeface="微軟正黑體" panose="020B0604030504040204" pitchFamily="34" charset="-120"/>
              </a:rPr>
              <a:t>，並由</a:t>
            </a:r>
            <a:r>
              <a:rPr lang="en-US" altLang="zh-TW" sz="1900" dirty="0">
                <a:solidFill>
                  <a:srgbClr val="404040"/>
                </a:solidFill>
                <a:latin typeface="Arial" panose="020B0604020202020204" pitchFamily="34" charset="0"/>
                <a:ea typeface="微軟正黑體" panose="020B0604030504040204" pitchFamily="34" charset="-120"/>
              </a:rPr>
              <a:t>Corp IT</a:t>
            </a:r>
            <a:r>
              <a:rPr lang="zh-TW" altLang="en-US" sz="1900" dirty="0">
                <a:solidFill>
                  <a:srgbClr val="404040"/>
                </a:solidFill>
                <a:latin typeface="Arial" panose="020B0604020202020204" pitchFamily="34" charset="0"/>
                <a:ea typeface="微軟正黑體" panose="020B0604030504040204" pitchFamily="34" charset="-120"/>
              </a:rPr>
              <a:t>合併至</a:t>
            </a:r>
            <a:r>
              <a:rPr lang="en-US" altLang="zh-TW" sz="1900" dirty="0">
                <a:solidFill>
                  <a:srgbClr val="404040"/>
                </a:solidFill>
                <a:latin typeface="Arial" panose="020B0604020202020204" pitchFamily="34" charset="0"/>
                <a:ea typeface="微軟正黑體" panose="020B0604030504040204" pitchFamily="34" charset="-120"/>
              </a:rPr>
              <a:t>DMP</a:t>
            </a:r>
            <a:r>
              <a:rPr lang="zh-TW" altLang="en-US" sz="1900" dirty="0">
                <a:solidFill>
                  <a:srgbClr val="404040"/>
                </a:solidFill>
                <a:latin typeface="Arial" panose="020B0604020202020204" pitchFamily="34" charset="0"/>
                <a:ea typeface="微軟正黑體" panose="020B0604030504040204" pitchFamily="34" charset="-120"/>
              </a:rPr>
              <a:t>建置規劃中</a:t>
            </a:r>
            <a:endParaRPr lang="en-US" altLang="zh-TW" sz="1900" dirty="0">
              <a:solidFill>
                <a:srgbClr val="404040"/>
              </a:solidFill>
              <a:latin typeface="Arial" panose="020B0604020202020204" pitchFamily="34" charset="0"/>
              <a:ea typeface="微軟正黑體" panose="020B0604030504040204" pitchFamily="34" charset="-120"/>
            </a:endParaRPr>
          </a:p>
          <a:p>
            <a:pPr lvl="1">
              <a:lnSpc>
                <a:spcPct val="160000"/>
              </a:lnSpc>
              <a:buFont typeface="Wingdings" panose="05000000000000000000" pitchFamily="2" charset="2"/>
              <a:buChar char="Ø"/>
            </a:pPr>
            <a:r>
              <a:rPr lang="zh-TW" altLang="en-US" sz="1900" dirty="0">
                <a:solidFill>
                  <a:srgbClr val="404040"/>
                </a:solidFill>
                <a:latin typeface="Arial" panose="020B0604020202020204" pitchFamily="34" charset="0"/>
                <a:ea typeface="微軟正黑體" panose="020B0604030504040204" pitchFamily="34" charset="-120"/>
              </a:rPr>
              <a:t>數據中台對接數據源時，需多留意數據上拋頻率和數據格式，站在數據治理角度跟需求單位確認數據格式和品質規範，以確保數據的正確性</a:t>
            </a:r>
            <a:endParaRPr lang="en-US" altLang="zh-TW" sz="1900" dirty="0">
              <a:solidFill>
                <a:srgbClr val="404040"/>
              </a:solidFill>
              <a:latin typeface="Arial" panose="020B0604020202020204" pitchFamily="34" charset="0"/>
              <a:ea typeface="微軟正黑體" panose="020B0604030504040204" pitchFamily="34" charset="-120"/>
            </a:endParaRPr>
          </a:p>
          <a:p>
            <a:pPr lvl="1">
              <a:lnSpc>
                <a:spcPct val="160000"/>
              </a:lnSpc>
              <a:buFont typeface="Wingdings" panose="05000000000000000000" pitchFamily="2" charset="2"/>
              <a:buChar char="Ø"/>
            </a:pPr>
            <a:r>
              <a:rPr lang="zh-TW" altLang="en-US" sz="1900" dirty="0">
                <a:solidFill>
                  <a:srgbClr val="404040"/>
                </a:solidFill>
                <a:latin typeface="Arial" panose="020B0604020202020204" pitchFamily="34" charset="0"/>
                <a:ea typeface="微軟正黑體" panose="020B0604030504040204" pitchFamily="34" charset="-120"/>
              </a:rPr>
              <a:t>本次取得</a:t>
            </a:r>
            <a:r>
              <a:rPr lang="en-US" altLang="zh-TW" sz="1900" dirty="0">
                <a:solidFill>
                  <a:srgbClr val="404040"/>
                </a:solidFill>
                <a:latin typeface="Arial" panose="020B0604020202020204" pitchFamily="34" charset="0"/>
                <a:ea typeface="微軟正黑體" panose="020B0604030504040204" pitchFamily="34" charset="-120"/>
              </a:rPr>
              <a:t>MES</a:t>
            </a:r>
            <a:r>
              <a:rPr lang="zh-TW" altLang="en-US" sz="1900" dirty="0">
                <a:solidFill>
                  <a:srgbClr val="404040"/>
                </a:solidFill>
                <a:latin typeface="Arial" panose="020B0604020202020204" pitchFamily="34" charset="0"/>
                <a:ea typeface="微軟正黑體" panose="020B0604030504040204" pitchFamily="34" charset="-120"/>
              </a:rPr>
              <a:t>、</a:t>
            </a:r>
            <a:r>
              <a:rPr lang="en-US" altLang="zh-TW" sz="1900" dirty="0">
                <a:solidFill>
                  <a:srgbClr val="404040"/>
                </a:solidFill>
                <a:latin typeface="Arial" panose="020B0604020202020204" pitchFamily="34" charset="0"/>
                <a:ea typeface="微軟正黑體" panose="020B0604030504040204" pitchFamily="34" charset="-120"/>
              </a:rPr>
              <a:t>PLM</a:t>
            </a:r>
            <a:r>
              <a:rPr lang="zh-TW" altLang="en-US" sz="1900" dirty="0">
                <a:solidFill>
                  <a:srgbClr val="404040"/>
                </a:solidFill>
                <a:latin typeface="Arial" panose="020B0604020202020204" pitchFamily="34" charset="0"/>
                <a:ea typeface="微軟正黑體" panose="020B0604030504040204" pitchFamily="34" charset="-120"/>
              </a:rPr>
              <a:t>數據授權耗時，建議未來啟動數據治理專案確認數據負責人與授權流程，以利加速數據匯整予後續數位轉型專案使用</a:t>
            </a:r>
            <a:endParaRPr lang="en-US" altLang="zh-TW" sz="1900" dirty="0">
              <a:solidFill>
                <a:srgbClr val="404040"/>
              </a:solidFill>
              <a:latin typeface="Arial" panose="020B0604020202020204" pitchFamily="34" charset="0"/>
              <a:ea typeface="微軟正黑體" panose="020B0604030504040204" pitchFamily="34" charset="-120"/>
            </a:endParaRPr>
          </a:p>
          <a:p>
            <a:pPr>
              <a:lnSpc>
                <a:spcPct val="160000"/>
              </a:lnSpc>
            </a:pPr>
            <a:r>
              <a:rPr lang="zh-TW" altLang="en-US" sz="2200" b="1" dirty="0">
                <a:solidFill>
                  <a:srgbClr val="404040"/>
                </a:solidFill>
                <a:latin typeface="Arial" panose="020B0604020202020204" pitchFamily="34" charset="0"/>
                <a:ea typeface="微軟正黑體" panose="020B0604030504040204" pitchFamily="34" charset="-120"/>
              </a:rPr>
              <a:t>後續場域擴散建議與</a:t>
            </a:r>
            <a:r>
              <a:rPr lang="en-US" altLang="zh-TW" sz="2200" b="1" dirty="0">
                <a:solidFill>
                  <a:srgbClr val="404040"/>
                </a:solidFill>
                <a:latin typeface="Arial" panose="020B0604020202020204" pitchFamily="34" charset="0"/>
                <a:ea typeface="微軟正黑體" panose="020B0604030504040204" pitchFamily="34" charset="-120"/>
              </a:rPr>
              <a:t>Roll Out </a:t>
            </a:r>
            <a:r>
              <a:rPr lang="zh-TW" altLang="en-US" sz="2200" b="1" dirty="0">
                <a:solidFill>
                  <a:srgbClr val="404040"/>
                </a:solidFill>
                <a:latin typeface="Arial" panose="020B0604020202020204" pitchFamily="34" charset="0"/>
                <a:ea typeface="微軟正黑體" panose="020B0604030504040204" pitchFamily="34" charset="-120"/>
              </a:rPr>
              <a:t>計畫</a:t>
            </a:r>
            <a:endParaRPr lang="en-US" altLang="zh-TW" sz="2200" b="1" dirty="0">
              <a:solidFill>
                <a:srgbClr val="404040"/>
              </a:solidFill>
              <a:latin typeface="Arial" panose="020B0604020202020204" pitchFamily="34" charset="0"/>
              <a:ea typeface="微軟正黑體" panose="020B0604030504040204" pitchFamily="34" charset="-120"/>
            </a:endParaRPr>
          </a:p>
          <a:p>
            <a:pPr lvl="1">
              <a:lnSpc>
                <a:spcPct val="160000"/>
              </a:lnSpc>
              <a:buFont typeface="Wingdings" panose="05000000000000000000" pitchFamily="2" charset="2"/>
              <a:buChar char="Ø"/>
            </a:pPr>
            <a:r>
              <a:rPr lang="zh-TW" altLang="en-US" sz="1900" dirty="0">
                <a:solidFill>
                  <a:srgbClr val="404040"/>
                </a:solidFill>
                <a:latin typeface="Arial" panose="020B0604020202020204" pitchFamily="34" charset="0"/>
                <a:ea typeface="微軟正黑體" panose="020B0604030504040204" pitchFamily="34" charset="-120"/>
              </a:rPr>
              <a:t>配合</a:t>
            </a:r>
            <a:r>
              <a:rPr lang="en-US" altLang="zh-TW" sz="1900" dirty="0">
                <a:solidFill>
                  <a:srgbClr val="404040"/>
                </a:solidFill>
                <a:latin typeface="Arial" panose="020B0604020202020204" pitchFamily="34" charset="0"/>
                <a:ea typeface="微軟正黑體" panose="020B0604030504040204" pitchFamily="34" charset="-120"/>
              </a:rPr>
              <a:t>Corp</a:t>
            </a:r>
            <a:r>
              <a:rPr lang="zh-TW" altLang="en-US" sz="1900" dirty="0">
                <a:solidFill>
                  <a:srgbClr val="404040"/>
                </a:solidFill>
                <a:latin typeface="Arial" panose="020B0604020202020204" pitchFamily="34" charset="0"/>
                <a:ea typeface="微軟正黑體" panose="020B0604030504040204" pitchFamily="34" charset="-120"/>
              </a:rPr>
              <a:t>於</a:t>
            </a:r>
            <a:r>
              <a:rPr lang="en-US" altLang="zh-TW" sz="1900" dirty="0">
                <a:solidFill>
                  <a:srgbClr val="404040"/>
                </a:solidFill>
                <a:latin typeface="Arial" panose="020B0604020202020204" pitchFamily="34" charset="0"/>
                <a:ea typeface="微軟正黑體" panose="020B0604030504040204" pitchFamily="34" charset="-120"/>
              </a:rPr>
              <a:t>DMP</a:t>
            </a:r>
            <a:r>
              <a:rPr lang="zh-TW" altLang="en-US" sz="1900" dirty="0">
                <a:solidFill>
                  <a:srgbClr val="404040"/>
                </a:solidFill>
                <a:latin typeface="Arial" panose="020B0604020202020204" pitchFamily="34" charset="0"/>
                <a:ea typeface="微軟正黑體" panose="020B0604030504040204" pitchFamily="34" charset="-120"/>
              </a:rPr>
              <a:t>之資源規劃，完成基於</a:t>
            </a:r>
            <a:r>
              <a:rPr lang="en-US" altLang="zh-TW" sz="1900" dirty="0">
                <a:solidFill>
                  <a:srgbClr val="404040"/>
                </a:solidFill>
                <a:latin typeface="Arial" panose="020B0604020202020204" pitchFamily="34" charset="0"/>
                <a:ea typeface="微軟正黑體" panose="020B0604030504040204" pitchFamily="34" charset="-120"/>
              </a:rPr>
              <a:t>Vx/</a:t>
            </a:r>
            <a:r>
              <a:rPr lang="en-US" altLang="zh-TW" sz="1900" dirty="0" err="1">
                <a:solidFill>
                  <a:srgbClr val="404040"/>
                </a:solidFill>
                <a:latin typeface="Arial" panose="020B0604020202020204" pitchFamily="34" charset="0"/>
                <a:ea typeface="微軟正黑體" panose="020B0604030504040204" pitchFamily="34" charset="-120"/>
              </a:rPr>
              <a:t>Px</a:t>
            </a:r>
            <a:r>
              <a:rPr lang="zh-TW" altLang="en-US" sz="1900" dirty="0">
                <a:solidFill>
                  <a:srgbClr val="404040"/>
                </a:solidFill>
                <a:latin typeface="Arial" panose="020B0604020202020204" pitchFamily="34" charset="0"/>
                <a:ea typeface="微軟正黑體" panose="020B0604030504040204" pitchFamily="34" charset="-120"/>
              </a:rPr>
              <a:t>專案衍伸之各式數據應用案</a:t>
            </a:r>
            <a:endParaRPr lang="en-US" altLang="zh-TW" sz="1900" dirty="0">
              <a:solidFill>
                <a:srgbClr val="404040"/>
              </a:solidFill>
              <a:latin typeface="Arial" panose="020B0604020202020204" pitchFamily="34" charset="0"/>
              <a:ea typeface="微軟正黑體" panose="020B0604030504040204" pitchFamily="34" charset="-120"/>
            </a:endParaRPr>
          </a:p>
          <a:p>
            <a:pPr lvl="1">
              <a:lnSpc>
                <a:spcPct val="160000"/>
              </a:lnSpc>
              <a:buFont typeface="Wingdings" panose="05000000000000000000" pitchFamily="2" charset="2"/>
              <a:buChar char="Ø"/>
            </a:pPr>
            <a:r>
              <a:rPr lang="zh-TW" altLang="en-US" sz="1900" dirty="0">
                <a:solidFill>
                  <a:srgbClr val="404040"/>
                </a:solidFill>
                <a:latin typeface="Arial" panose="020B0604020202020204" pitchFamily="34" charset="0"/>
                <a:ea typeface="微軟正黑體" panose="020B0604030504040204" pitchFamily="34" charset="-120"/>
              </a:rPr>
              <a:t>藉由</a:t>
            </a:r>
            <a:r>
              <a:rPr lang="en-US" altLang="zh-TW" sz="1900" dirty="0">
                <a:solidFill>
                  <a:srgbClr val="404040"/>
                </a:solidFill>
                <a:latin typeface="Arial" panose="020B0604020202020204" pitchFamily="34" charset="0"/>
                <a:ea typeface="微軟正黑體" panose="020B0604030504040204" pitchFamily="34" charset="-120"/>
              </a:rPr>
              <a:t>DMP</a:t>
            </a:r>
            <a:r>
              <a:rPr lang="zh-TW" altLang="en-US" sz="1900" dirty="0">
                <a:solidFill>
                  <a:srgbClr val="404040"/>
                </a:solidFill>
                <a:latin typeface="Arial" panose="020B0604020202020204" pitchFamily="34" charset="0"/>
                <a:ea typeface="微軟正黑體" panose="020B0604030504040204" pitchFamily="34" charset="-120"/>
              </a:rPr>
              <a:t>整體架構，形成製造域數據之</a:t>
            </a:r>
            <a:r>
              <a:rPr lang="en-US" altLang="zh-TW" sz="1900" dirty="0">
                <a:solidFill>
                  <a:srgbClr val="404040"/>
                </a:solidFill>
                <a:latin typeface="Arial" panose="020B0604020202020204" pitchFamily="34" charset="0"/>
                <a:ea typeface="微軟正黑體" panose="020B0604030504040204" pitchFamily="34" charset="-120"/>
              </a:rPr>
              <a:t>IoT DataMart</a:t>
            </a:r>
            <a:r>
              <a:rPr lang="zh-TW" altLang="en-US" sz="1900" dirty="0">
                <a:solidFill>
                  <a:srgbClr val="404040"/>
                </a:solidFill>
                <a:latin typeface="Arial" panose="020B0604020202020204" pitchFamily="34" charset="0"/>
                <a:ea typeface="微軟正黑體" panose="020B0604030504040204" pitchFamily="34" charset="-120"/>
              </a:rPr>
              <a:t>數據應用</a:t>
            </a:r>
            <a:endParaRPr lang="en-US" altLang="zh-TW" sz="1900" dirty="0">
              <a:solidFill>
                <a:srgbClr val="404040"/>
              </a:solidFill>
              <a:latin typeface="Arial" panose="020B0604020202020204" pitchFamily="34" charset="0"/>
              <a:ea typeface="微軟正黑體" panose="020B0604030504040204" pitchFamily="34" charset="-120"/>
            </a:endParaRPr>
          </a:p>
          <a:p>
            <a:pPr lvl="1">
              <a:lnSpc>
                <a:spcPct val="160000"/>
              </a:lnSpc>
              <a:buFont typeface="Wingdings" panose="05000000000000000000" pitchFamily="2" charset="2"/>
              <a:buChar char="Ø"/>
            </a:pPr>
            <a:r>
              <a:rPr lang="zh-TW" altLang="en-US" sz="1900" dirty="0">
                <a:solidFill>
                  <a:srgbClr val="404040"/>
                </a:solidFill>
                <a:latin typeface="Arial" panose="020B0604020202020204" pitchFamily="34" charset="0"/>
                <a:ea typeface="微軟正黑體" panose="020B0604030504040204" pitchFamily="34" charset="-120"/>
              </a:rPr>
              <a:t>跟 </a:t>
            </a:r>
            <a:r>
              <a:rPr lang="en-US" altLang="zh-TW" sz="1900" dirty="0">
                <a:solidFill>
                  <a:srgbClr val="404040"/>
                </a:solidFill>
                <a:latin typeface="Arial" panose="020B0604020202020204" pitchFamily="34" charset="0"/>
                <a:ea typeface="微軟正黑體" panose="020B0604030504040204" pitchFamily="34" charset="-120"/>
              </a:rPr>
              <a:t>T3 </a:t>
            </a:r>
            <a:r>
              <a:rPr lang="zh-TW" altLang="en-US" sz="1900" dirty="0">
                <a:solidFill>
                  <a:srgbClr val="404040"/>
                </a:solidFill>
                <a:latin typeface="Arial" panose="020B0604020202020204" pitchFamily="34" charset="0"/>
                <a:ea typeface="微軟正黑體" panose="020B0604030504040204" pitchFamily="34" charset="-120"/>
              </a:rPr>
              <a:t>合作做</a:t>
            </a:r>
            <a:r>
              <a:rPr lang="en-US" altLang="zh-TW" sz="1900" dirty="0">
                <a:solidFill>
                  <a:srgbClr val="404040"/>
                </a:solidFill>
                <a:latin typeface="Arial" panose="020B0604020202020204" pitchFamily="34" charset="0"/>
                <a:ea typeface="微軟正黑體" panose="020B0604030504040204" pitchFamily="34" charset="-120"/>
              </a:rPr>
              <a:t>IoT</a:t>
            </a:r>
            <a:r>
              <a:rPr lang="zh-TW" altLang="en-US" sz="1900" dirty="0">
                <a:solidFill>
                  <a:srgbClr val="404040"/>
                </a:solidFill>
                <a:latin typeface="Arial" panose="020B0604020202020204" pitchFamily="34" charset="0"/>
                <a:ea typeface="微軟正黑體" panose="020B0604030504040204" pitchFamily="34" charset="-120"/>
              </a:rPr>
              <a:t>相關基於機聯網之大數據應用與技術解決方案</a:t>
            </a:r>
            <a:endParaRPr lang="en-US" altLang="zh-TW" sz="1900" dirty="0">
              <a:solidFill>
                <a:srgbClr val="404040"/>
              </a:solidFill>
              <a:latin typeface="Arial" panose="020B0604020202020204" pitchFamily="34" charset="0"/>
              <a:ea typeface="微軟正黑體" panose="020B0604030504040204" pitchFamily="34" charset="-120"/>
            </a:endParaRPr>
          </a:p>
          <a:p>
            <a:pPr>
              <a:lnSpc>
                <a:spcPct val="160000"/>
              </a:lnSpc>
            </a:pPr>
            <a:r>
              <a:rPr lang="zh-TW" altLang="en-US" sz="2200" b="1" dirty="0">
                <a:solidFill>
                  <a:srgbClr val="404040"/>
                </a:solidFill>
                <a:latin typeface="Arial" panose="020B0604020202020204" pitchFamily="34" charset="0"/>
                <a:ea typeface="微軟正黑體" panose="020B0604030504040204" pitchFamily="34" charset="-120"/>
              </a:rPr>
              <a:t>後續本專案詢問與洽詢窗口</a:t>
            </a:r>
            <a:endParaRPr lang="en-US" altLang="zh-TW" sz="2200" b="1" dirty="0">
              <a:solidFill>
                <a:srgbClr val="404040"/>
              </a:solidFill>
              <a:latin typeface="Arial" panose="020B0604020202020204" pitchFamily="34" charset="0"/>
              <a:ea typeface="微軟正黑體" panose="020B0604030504040204" pitchFamily="34" charset="-120"/>
            </a:endParaRPr>
          </a:p>
          <a:p>
            <a:pPr lvl="1">
              <a:lnSpc>
                <a:spcPct val="160000"/>
              </a:lnSpc>
              <a:buFont typeface="Wingdings" panose="05000000000000000000" pitchFamily="2" charset="2"/>
              <a:buChar char="Ø"/>
            </a:pPr>
            <a:r>
              <a:rPr lang="en-US" altLang="zh-TW" sz="2000" dirty="0">
                <a:solidFill>
                  <a:schemeClr val="tx1">
                    <a:lumMod val="65000"/>
                    <a:lumOff val="35000"/>
                  </a:schemeClr>
                </a:solidFill>
              </a:rPr>
              <a:t>SHARON.CS.LIN</a:t>
            </a:r>
            <a:r>
              <a:rPr lang="en-US" altLang="zh-TW" sz="1900" dirty="0">
                <a:solidFill>
                  <a:schemeClr val="tx1">
                    <a:lumMod val="65000"/>
                    <a:lumOff val="35000"/>
                  </a:schemeClr>
                </a:solidFill>
                <a:latin typeface="Arial" panose="020B0604020202020204" pitchFamily="34" charset="0"/>
                <a:ea typeface="微軟正黑體" panose="020B0604030504040204" pitchFamily="34" charset="-120"/>
              </a:rPr>
              <a:t> </a:t>
            </a:r>
            <a:r>
              <a:rPr lang="zh-TW" altLang="en-US" sz="1900" dirty="0">
                <a:solidFill>
                  <a:schemeClr val="tx1">
                    <a:lumMod val="65000"/>
                    <a:lumOff val="35000"/>
                  </a:schemeClr>
                </a:solidFill>
                <a:latin typeface="Arial" panose="020B0604020202020204" pitchFamily="34" charset="0"/>
                <a:ea typeface="微軟正黑體" panose="020B0604030504040204" pitchFamily="34" charset="-120"/>
              </a:rPr>
              <a:t>林采馨</a:t>
            </a:r>
          </a:p>
        </p:txBody>
      </p:sp>
    </p:spTree>
    <p:extLst>
      <p:ext uri="{BB962C8B-B14F-4D97-AF65-F5344CB8AC3E}">
        <p14:creationId xmlns:p14="http://schemas.microsoft.com/office/powerpoint/2010/main" val="3102584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標題 1">
            <a:extLst>
              <a:ext uri="{FF2B5EF4-FFF2-40B4-BE49-F238E27FC236}">
                <a16:creationId xmlns:a16="http://schemas.microsoft.com/office/drawing/2014/main" id="{2A2228DE-D4A8-4159-B9CE-B5734A43548E}"/>
              </a:ext>
            </a:extLst>
          </p:cNvPr>
          <p:cNvSpPr>
            <a:spLocks noGrp="1"/>
          </p:cNvSpPr>
          <p:nvPr>
            <p:ph type="title"/>
          </p:nvPr>
        </p:nvSpPr>
        <p:spPr>
          <a:xfrm>
            <a:off x="406400" y="440356"/>
            <a:ext cx="11379200" cy="679396"/>
          </a:xfrm>
        </p:spPr>
        <p:txBody>
          <a:bodyPr>
            <a:normAutofit/>
          </a:bodyPr>
          <a:lstStyle/>
          <a:p>
            <a:pPr algn="ctr"/>
            <a:r>
              <a:rPr lang="zh-TW" altLang="en-US" dirty="0"/>
              <a:t>專案經理對專案成員評價表</a:t>
            </a:r>
          </a:p>
        </p:txBody>
      </p:sp>
      <p:graphicFrame>
        <p:nvGraphicFramePr>
          <p:cNvPr id="19" name="表格 18">
            <a:extLst>
              <a:ext uri="{FF2B5EF4-FFF2-40B4-BE49-F238E27FC236}">
                <a16:creationId xmlns:a16="http://schemas.microsoft.com/office/drawing/2014/main" id="{DB222FAE-6764-441A-825D-384E722C95FE}"/>
              </a:ext>
            </a:extLst>
          </p:cNvPr>
          <p:cNvGraphicFramePr>
            <a:graphicFrameLocks noGrp="1"/>
          </p:cNvGraphicFramePr>
          <p:nvPr>
            <p:extLst>
              <p:ext uri="{D42A27DB-BD31-4B8C-83A1-F6EECF244321}">
                <p14:modId xmlns:p14="http://schemas.microsoft.com/office/powerpoint/2010/main" val="1335281471"/>
              </p:ext>
            </p:extLst>
          </p:nvPr>
        </p:nvGraphicFramePr>
        <p:xfrm>
          <a:off x="406400" y="1119752"/>
          <a:ext cx="10918825" cy="5012746"/>
        </p:xfrm>
        <a:graphic>
          <a:graphicData uri="http://schemas.openxmlformats.org/drawingml/2006/table">
            <a:tbl>
              <a:tblPr/>
              <a:tblGrid>
                <a:gridCol w="941372">
                  <a:extLst>
                    <a:ext uri="{9D8B030D-6E8A-4147-A177-3AD203B41FA5}">
                      <a16:colId xmlns:a16="http://schemas.microsoft.com/office/drawing/2014/main" val="2600010178"/>
                    </a:ext>
                  </a:extLst>
                </a:gridCol>
                <a:gridCol w="5256000">
                  <a:extLst>
                    <a:ext uri="{9D8B030D-6E8A-4147-A177-3AD203B41FA5}">
                      <a16:colId xmlns:a16="http://schemas.microsoft.com/office/drawing/2014/main" val="4251520534"/>
                    </a:ext>
                  </a:extLst>
                </a:gridCol>
                <a:gridCol w="468000">
                  <a:extLst>
                    <a:ext uri="{9D8B030D-6E8A-4147-A177-3AD203B41FA5}">
                      <a16:colId xmlns:a16="http://schemas.microsoft.com/office/drawing/2014/main" val="2796891644"/>
                    </a:ext>
                  </a:extLst>
                </a:gridCol>
                <a:gridCol w="395828">
                  <a:extLst>
                    <a:ext uri="{9D8B030D-6E8A-4147-A177-3AD203B41FA5}">
                      <a16:colId xmlns:a16="http://schemas.microsoft.com/office/drawing/2014/main" val="2563843258"/>
                    </a:ext>
                  </a:extLst>
                </a:gridCol>
                <a:gridCol w="792172">
                  <a:extLst>
                    <a:ext uri="{9D8B030D-6E8A-4147-A177-3AD203B41FA5}">
                      <a16:colId xmlns:a16="http://schemas.microsoft.com/office/drawing/2014/main" val="3528654635"/>
                    </a:ext>
                  </a:extLst>
                </a:gridCol>
                <a:gridCol w="720000">
                  <a:extLst>
                    <a:ext uri="{9D8B030D-6E8A-4147-A177-3AD203B41FA5}">
                      <a16:colId xmlns:a16="http://schemas.microsoft.com/office/drawing/2014/main" val="2730420624"/>
                    </a:ext>
                  </a:extLst>
                </a:gridCol>
                <a:gridCol w="720000">
                  <a:extLst>
                    <a:ext uri="{9D8B030D-6E8A-4147-A177-3AD203B41FA5}">
                      <a16:colId xmlns:a16="http://schemas.microsoft.com/office/drawing/2014/main" val="2546639997"/>
                    </a:ext>
                  </a:extLst>
                </a:gridCol>
                <a:gridCol w="720000">
                  <a:extLst>
                    <a:ext uri="{9D8B030D-6E8A-4147-A177-3AD203B41FA5}">
                      <a16:colId xmlns:a16="http://schemas.microsoft.com/office/drawing/2014/main" val="1425842653"/>
                    </a:ext>
                  </a:extLst>
                </a:gridCol>
                <a:gridCol w="905453">
                  <a:extLst>
                    <a:ext uri="{9D8B030D-6E8A-4147-A177-3AD203B41FA5}">
                      <a16:colId xmlns:a16="http://schemas.microsoft.com/office/drawing/2014/main" val="3422438303"/>
                    </a:ext>
                  </a:extLst>
                </a:gridCol>
              </a:tblGrid>
              <a:tr h="307093">
                <a:tc rowSpan="3">
                  <a:txBody>
                    <a:bodyPr/>
                    <a:lstStyle/>
                    <a:p>
                      <a:pPr algn="ctr" fontAlgn="ctr"/>
                      <a:r>
                        <a:rPr lang="zh-CN" altLang="en-US" sz="1200" b="1" i="0" u="none" strike="noStrike" dirty="0">
                          <a:solidFill>
                            <a:srgbClr val="FFFFFF"/>
                          </a:solidFill>
                          <a:effectLst/>
                          <a:latin typeface="微軟正黑體" panose="020B0604030504040204" pitchFamily="34" charset="-120"/>
                          <a:ea typeface="微軟正黑體" panose="020B0604030504040204" pitchFamily="34" charset="-120"/>
                        </a:rPr>
                        <a:t>評估面向</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rowSpan="3">
                  <a:txBody>
                    <a:bodyPr/>
                    <a:lstStyle/>
                    <a:p>
                      <a:pPr algn="ctr" fontAlgn="ctr"/>
                      <a:r>
                        <a:rPr lang="zh-CN" altLang="en-US" sz="1200" b="1" i="0" u="none" strike="noStrike">
                          <a:solidFill>
                            <a:srgbClr val="FFFFFF"/>
                          </a:solidFill>
                          <a:effectLst/>
                          <a:latin typeface="微軟正黑體" panose="020B0604030504040204" pitchFamily="34" charset="-120"/>
                          <a:ea typeface="微軟正黑體" panose="020B0604030504040204" pitchFamily="34" charset="-120"/>
                        </a:rPr>
                        <a:t>評分項目</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rowSpan="3">
                  <a:txBody>
                    <a:bodyPr/>
                    <a:lstStyle/>
                    <a:p>
                      <a:pPr algn="ctr" fontAlgn="ctr"/>
                      <a:r>
                        <a:rPr lang="zh-CN" altLang="en-US" sz="1200" b="1" i="0" u="none" strike="noStrike" dirty="0">
                          <a:solidFill>
                            <a:srgbClr val="FFFFFF"/>
                          </a:solidFill>
                          <a:effectLst/>
                          <a:latin typeface="微軟正黑體" panose="020B0604030504040204" pitchFamily="34" charset="-120"/>
                          <a:ea typeface="微軟正黑體" panose="020B0604030504040204" pitchFamily="34" charset="-120"/>
                        </a:rPr>
                        <a:t>權重</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rowSpan="3">
                  <a:txBody>
                    <a:bodyPr/>
                    <a:lstStyle/>
                    <a:p>
                      <a:pPr algn="ctr" fontAlgn="ctr"/>
                      <a:r>
                        <a:rPr lang="zh-CN" altLang="en-US" sz="1200" b="1" i="0" u="none" strike="noStrike" dirty="0">
                          <a:solidFill>
                            <a:srgbClr val="FFFFFF"/>
                          </a:solidFill>
                          <a:effectLst/>
                          <a:latin typeface="微軟正黑體" panose="020B0604030504040204" pitchFamily="34" charset="-120"/>
                          <a:ea typeface="微軟正黑體" panose="020B0604030504040204" pitchFamily="34" charset="-120"/>
                        </a:rPr>
                        <a:t>評分</a:t>
                      </a:r>
                      <a:endParaRPr lang="en-US" altLang="zh-CN" sz="1200" b="1" i="0" u="none" strike="noStrike" dirty="0">
                        <a:solidFill>
                          <a:srgbClr val="FFFFFF"/>
                        </a:solidFill>
                        <a:effectLst/>
                        <a:latin typeface="微軟正黑體" panose="020B0604030504040204" pitchFamily="34" charset="-120"/>
                        <a:ea typeface="微軟正黑體" panose="020B0604030504040204" pitchFamily="34" charset="-120"/>
                      </a:endParaRPr>
                    </a:p>
                    <a:p>
                      <a:pPr algn="ctr" fontAlgn="ctr"/>
                      <a:r>
                        <a:rPr lang="zh-CN" altLang="en-US" sz="1200" b="1" i="0" u="none" strike="noStrike" dirty="0">
                          <a:solidFill>
                            <a:srgbClr val="FFFFFF"/>
                          </a:solidFill>
                          <a:effectLst/>
                          <a:latin typeface="微軟正黑體" panose="020B0604030504040204" pitchFamily="34" charset="-120"/>
                          <a:ea typeface="微軟正黑體" panose="020B0604030504040204" pitchFamily="34" charset="-120"/>
                        </a:rPr>
                        <a:t>分值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gridSpan="5">
                  <a:txBody>
                    <a:bodyPr/>
                    <a:lstStyle/>
                    <a:p>
                      <a:pPr algn="ctr" fontAlgn="ctr"/>
                      <a:r>
                        <a:rPr lang="zh-TW" altLang="en-US" sz="1200" b="1" i="0" u="none" strike="noStrike">
                          <a:solidFill>
                            <a:srgbClr val="FFFFFF"/>
                          </a:solidFill>
                          <a:effectLst/>
                          <a:latin typeface="微軟正黑體" panose="020B0604030504040204" pitchFamily="34" charset="-120"/>
                          <a:ea typeface="微軟正黑體" panose="020B0604030504040204" pitchFamily="34" charset="-120"/>
                        </a:rPr>
                        <a:t>被評成員得分</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35119189"/>
                  </a:ext>
                </a:extLst>
              </a:tr>
              <a:tr h="30709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gridSpan="2">
                  <a:txBody>
                    <a:bodyPr/>
                    <a:lstStyle/>
                    <a:p>
                      <a:pPr algn="ctr" fontAlgn="ctr"/>
                      <a:r>
                        <a:rPr lang="zh-TW" altLang="en-US" sz="1200" b="1" i="0" u="none" strike="noStrike" dirty="0">
                          <a:solidFill>
                            <a:srgbClr val="FFFFFF"/>
                          </a:solidFill>
                          <a:effectLst/>
                          <a:latin typeface="微軟正黑體" panose="020B0604030504040204" pitchFamily="34" charset="-120"/>
                          <a:ea typeface="微軟正黑體" panose="020B0604030504040204" pitchFamily="34" charset="-120"/>
                        </a:rPr>
                        <a:t>架構指導</a:t>
                      </a:r>
                      <a:endParaRPr lang="zh-CN" altLang="en-US" sz="12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hMerge="1">
                  <a:txBody>
                    <a:bodyPr/>
                    <a:lstStyle/>
                    <a:p>
                      <a:endParaRPr lang="zh-CN" altLang="en-US"/>
                    </a:p>
                  </a:txBody>
                  <a:tcPr/>
                </a:tc>
                <a:tc gridSpan="3">
                  <a:txBody>
                    <a:bodyPr/>
                    <a:lstStyle/>
                    <a:p>
                      <a:pPr algn="ctr" fontAlgn="ctr"/>
                      <a:r>
                        <a:rPr lang="zh-TW" altLang="en-US" sz="1200" b="1" i="0" u="none" strike="noStrike" dirty="0">
                          <a:solidFill>
                            <a:srgbClr val="FFFFFF"/>
                          </a:solidFill>
                          <a:effectLst/>
                          <a:latin typeface="微軟正黑體" panose="020B0604030504040204" pitchFamily="34" charset="-120"/>
                          <a:ea typeface="微軟正黑體" panose="020B0604030504040204" pitchFamily="34" charset="-120"/>
                        </a:rPr>
                        <a:t>規劃執行組</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hMerge="1">
                  <a:txBody>
                    <a:bodyPr/>
                    <a:lstStyle/>
                    <a:p>
                      <a:endParaRPr lang="zh-CN" alt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hMerge="1">
                  <a:txBody>
                    <a:bodyPr/>
                    <a:lstStyle/>
                    <a:p>
                      <a:endParaRPr dirty="0"/>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extLst>
                  <a:ext uri="{0D108BD9-81ED-4DB2-BD59-A6C34878D82A}">
                    <a16:rowId xmlns:a16="http://schemas.microsoft.com/office/drawing/2014/main" val="2822486606"/>
                  </a:ext>
                </a:extLst>
              </a:tr>
              <a:tr h="30151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lang="en-US" altLang="zh-TW" sz="800" dirty="0">
                          <a:solidFill>
                            <a:schemeClr val="bg1"/>
                          </a:solidFill>
                        </a:rPr>
                        <a:t>NORMAN.GONG </a:t>
                      </a:r>
                      <a:r>
                        <a:rPr lang="zh-TW" altLang="en-US" sz="900" dirty="0">
                          <a:solidFill>
                            <a:schemeClr val="bg1"/>
                          </a:solidFill>
                        </a:rPr>
                        <a:t>龔彥丞</a:t>
                      </a:r>
                      <a:endParaRPr lang="en-US" altLang="zh-TW" sz="900" dirty="0">
                        <a:solidFill>
                          <a:schemeClr val="bg1"/>
                        </a:solidFill>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a:txBody>
                    <a:bodyPr/>
                    <a:lstStyle/>
                    <a:p>
                      <a:pPr algn="ctr"/>
                      <a:r>
                        <a:rPr lang="en-US" altLang="zh-TW" sz="900" dirty="0">
                          <a:solidFill>
                            <a:schemeClr val="bg1"/>
                          </a:solidFill>
                        </a:rPr>
                        <a:t>STEVE.JUNG </a:t>
                      </a:r>
                      <a:r>
                        <a:rPr lang="zh-TW" altLang="en-US" sz="900" dirty="0">
                          <a:solidFill>
                            <a:schemeClr val="bg1"/>
                          </a:solidFill>
                        </a:rPr>
                        <a:t>榮道弘</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a:txBody>
                    <a:bodyPr/>
                    <a:lstStyle/>
                    <a:p>
                      <a:pPr algn="ctr" fontAlgn="ctr"/>
                      <a:r>
                        <a:rPr lang="en-US" altLang="zh-TW" sz="900" dirty="0">
                          <a:solidFill>
                            <a:schemeClr val="bg1"/>
                          </a:solidFill>
                        </a:rPr>
                        <a:t>CHUCK.SUN </a:t>
                      </a:r>
                      <a:r>
                        <a:rPr lang="zh-TW" altLang="en-US" sz="900" dirty="0">
                          <a:solidFill>
                            <a:schemeClr val="bg1"/>
                          </a:solidFill>
                        </a:rPr>
                        <a:t>孫得皓</a:t>
                      </a:r>
                      <a:endParaRPr lang="en-US" sz="900" b="1" i="0" u="none" strike="noStrike" dirty="0">
                        <a:solidFill>
                          <a:schemeClr val="bg1"/>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a:txBody>
                    <a:bodyPr/>
                    <a:lstStyle/>
                    <a:p>
                      <a:pPr algn="ctr"/>
                      <a:r>
                        <a:rPr lang="en-US" altLang="zh-TW" sz="900" dirty="0">
                          <a:solidFill>
                            <a:schemeClr val="bg1"/>
                          </a:solidFill>
                        </a:rPr>
                        <a:t>ALBEE.LAI </a:t>
                      </a:r>
                    </a:p>
                    <a:p>
                      <a:pPr algn="ctr"/>
                      <a:r>
                        <a:rPr lang="zh-TW" altLang="en-US" sz="900" dirty="0">
                          <a:solidFill>
                            <a:schemeClr val="bg1"/>
                          </a:solidFill>
                        </a:rPr>
                        <a:t>賴詩涵</a:t>
                      </a:r>
                      <a:endParaRPr lang="en-US" altLang="zh-TW" sz="900" dirty="0">
                        <a:solidFill>
                          <a:schemeClr val="bg1"/>
                        </a:solidFill>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tc>
                  <a:txBody>
                    <a:bodyPr/>
                    <a:lstStyle/>
                    <a:p>
                      <a:pPr algn="ctr"/>
                      <a:r>
                        <a:rPr lang="en-US" altLang="zh-TW" sz="900" dirty="0">
                          <a:solidFill>
                            <a:schemeClr val="bg1"/>
                          </a:solidFill>
                        </a:rPr>
                        <a:t>SHARON.CS.LIN </a:t>
                      </a:r>
                      <a:r>
                        <a:rPr lang="zh-TW" altLang="en-US" sz="900" dirty="0">
                          <a:solidFill>
                            <a:schemeClr val="bg1"/>
                          </a:solidFill>
                        </a:rPr>
                        <a:t>林采馨</a:t>
                      </a:r>
                      <a:endParaRPr lang="en-US" altLang="zh-TW" sz="900" dirty="0">
                        <a:solidFill>
                          <a:schemeClr val="bg1"/>
                        </a:solidFill>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87DC"/>
                    </a:solidFill>
                  </a:tcPr>
                </a:tc>
                <a:extLst>
                  <a:ext uri="{0D108BD9-81ED-4DB2-BD59-A6C34878D82A}">
                    <a16:rowId xmlns:a16="http://schemas.microsoft.com/office/drawing/2014/main" val="3627978029"/>
                  </a:ext>
                </a:extLst>
              </a:tr>
              <a:tr h="703523">
                <a:tc>
                  <a:txBody>
                    <a:bodyPr/>
                    <a:lstStyle/>
                    <a:p>
                      <a:pPr algn="ctr" fontAlgn="ctr"/>
                      <a:r>
                        <a:rPr lang="zh-TW" altLang="en-US" sz="1200" b="1" i="0" u="none" strike="noStrike">
                          <a:solidFill>
                            <a:srgbClr val="000000"/>
                          </a:solidFill>
                          <a:effectLst/>
                          <a:latin typeface="Microsoft JhengHei" panose="020B0604030504040204" pitchFamily="34" charset="-120"/>
                          <a:ea typeface="Microsoft JhengHei" panose="020B0604030504040204" pitchFamily="34" charset="-120"/>
                        </a:rPr>
                        <a:t>產出成果</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200" b="0" i="0" u="none" strike="noStrike" dirty="0">
                          <a:solidFill>
                            <a:srgbClr val="000000"/>
                          </a:solidFill>
                          <a:effectLst/>
                          <a:latin typeface="Microsoft JhengHei" panose="020B0604030504040204" pitchFamily="34" charset="-120"/>
                          <a:ea typeface="Microsoft JhengHei" panose="020B0604030504040204" pitchFamily="34" charset="-120"/>
                        </a:rPr>
                        <a:t>在專案期限內交付，達成預期的產出成果，交付品質高且符合用戶要求</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a:solidFill>
                            <a:srgbClr val="000000"/>
                          </a:solidFill>
                          <a:effectLst/>
                          <a:latin typeface="Arial" panose="020B0604020202020204" pitchFamily="34" charset="0"/>
                          <a:ea typeface="宋体" panose="02010600030101010101" pitchFamily="2" charset="-122"/>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0359519"/>
                  </a:ext>
                </a:extLst>
              </a:tr>
              <a:tr h="837527">
                <a:tc>
                  <a:txBody>
                    <a:bodyPr/>
                    <a:lstStyle/>
                    <a:p>
                      <a:pPr algn="ctr" fontAlgn="ctr"/>
                      <a:r>
                        <a:rPr lang="zh-TW" altLang="en-US" sz="1200" b="1" i="0" u="none" strike="noStrike">
                          <a:solidFill>
                            <a:srgbClr val="000000"/>
                          </a:solidFill>
                          <a:effectLst/>
                          <a:latin typeface="Microsoft JhengHei" panose="020B0604030504040204" pitchFamily="34" charset="-120"/>
                          <a:ea typeface="Microsoft JhengHei" panose="020B0604030504040204" pitchFamily="34" charset="-120"/>
                        </a:rPr>
                        <a:t>專業技術</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200" b="0" i="0" u="none" strike="noStrike" dirty="0">
                          <a:solidFill>
                            <a:srgbClr val="000000"/>
                          </a:solidFill>
                          <a:effectLst/>
                          <a:latin typeface="Microsoft JhengHei" panose="020B0604030504040204" pitchFamily="34" charset="-120"/>
                          <a:ea typeface="Microsoft JhengHei" panose="020B0604030504040204" pitchFamily="34" charset="-120"/>
                        </a:rPr>
                        <a:t>在專案中展現出良好的專業技術能力，能勝任交辦的工作任務，並積極尋找新的解決方案和機會，運用創新方法和工具，達成專案的目標。</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a:solidFill>
                            <a:srgbClr val="000000"/>
                          </a:solidFill>
                          <a:effectLst/>
                          <a:latin typeface="Arial" panose="020B0604020202020204" pitchFamily="34" charset="0"/>
                          <a:ea typeface="宋体" panose="02010600030101010101" pitchFamily="2" charset="-122"/>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8694634"/>
                  </a:ext>
                </a:extLst>
              </a:tr>
              <a:tr h="1044000">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溝通與合作</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200" b="0" i="0" u="none" strike="noStrike" dirty="0">
                          <a:solidFill>
                            <a:srgbClr val="000000"/>
                          </a:solidFill>
                          <a:effectLst/>
                          <a:latin typeface="Microsoft JhengHei" panose="020B0604030504040204" pitchFamily="34" charset="-120"/>
                          <a:ea typeface="Microsoft JhengHei" panose="020B0604030504040204" pitchFamily="34" charset="-120"/>
                        </a:rPr>
                        <a:t>在專案期間内，表現出較強的溝通和協調能力，能夠有效地解決合作中的衝突和問題；同其他專案成員、利害關係人建立良好的合作關係，能夠有效地溝通並分享資訊，協調工作進度，確保目標達成。</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a:solidFill>
                            <a:srgbClr val="000000"/>
                          </a:solidFill>
                          <a:effectLst/>
                          <a:latin typeface="Arial" panose="020B0604020202020204" pitchFamily="34" charset="0"/>
                          <a:ea typeface="宋体" panose="02010600030101010101" pitchFamily="2" charset="-122"/>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2234785"/>
                  </a:ext>
                </a:extLst>
              </a:tr>
              <a:tr h="1116000">
                <a:tc>
                  <a:txBody>
                    <a:bodyPr/>
                    <a:lstStyle/>
                    <a:p>
                      <a:pPr algn="ctr" fontAlgn="ctr"/>
                      <a:r>
                        <a:rPr lang="zh-TW" altLang="en-US" sz="1200" b="1" i="0" u="none" strike="noStrike">
                          <a:solidFill>
                            <a:srgbClr val="000000"/>
                          </a:solidFill>
                          <a:effectLst/>
                          <a:latin typeface="Microsoft JhengHei" panose="020B0604030504040204" pitchFamily="34" charset="-120"/>
                          <a:ea typeface="Microsoft JhengHei" panose="020B0604030504040204" pitchFamily="34" charset="-120"/>
                        </a:rPr>
                        <a:t>工作態度</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勤懇工作，能堅守工作崗位，配合團隊開發時程；</a:t>
                      </a:r>
                      <a:b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br>
                      <a:r>
                        <a:rPr lang="zh-TW" altLang="en-US" sz="1200" b="0" i="0" u="none" strike="noStrike" dirty="0">
                          <a:solidFill>
                            <a:srgbClr val="000000"/>
                          </a:solidFill>
                          <a:effectLst/>
                          <a:latin typeface="微軟正黑體" panose="020B0604030504040204" pitchFamily="34" charset="-120"/>
                          <a:ea typeface="微軟正黑體" panose="020B0604030504040204" pitchFamily="34" charset="-120"/>
                        </a:rPr>
                        <a:t>主動積極完成分配任務，積極參與團隊討論，面對困難或挑戰，主動尋求解法，共同推動專案向前發展。</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宋体" panose="02010600030101010101" pitchFamily="2" charset="-122"/>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2783617"/>
                  </a:ext>
                </a:extLst>
              </a:tr>
              <a:tr h="396000">
                <a:tc gridSpan="4">
                  <a:txBody>
                    <a:bodyPr/>
                    <a:lstStyle/>
                    <a:p>
                      <a:pPr algn="ctr" fontAlgn="ctr"/>
                      <a:r>
                        <a:rPr lang="zh-CN" altLang="en-US" sz="1200" b="1" i="0" u="none" strike="noStrike" dirty="0">
                          <a:solidFill>
                            <a:srgbClr val="000000"/>
                          </a:solidFill>
                          <a:effectLst/>
                          <a:latin typeface="Arial" panose="020B0604020202020204" pitchFamily="34" charset="0"/>
                          <a:ea typeface="+mn-ea"/>
                          <a:cs typeface="Arial" panose="020B0604020202020204" pitchFamily="34" charset="0"/>
                        </a:rPr>
                        <a:t>總分 </a:t>
                      </a:r>
                      <a:r>
                        <a:rPr lang="en-US" altLang="zh-CN" sz="1200" b="1" i="0" u="none" strike="noStrike" dirty="0">
                          <a:solidFill>
                            <a:srgbClr val="0087DC"/>
                          </a:solidFill>
                          <a:effectLst/>
                          <a:latin typeface="Arial" panose="020B0604020202020204" pitchFamily="34" charset="0"/>
                          <a:ea typeface="+mn-ea"/>
                          <a:cs typeface="Arial" panose="020B0604020202020204" pitchFamily="34" charset="0"/>
                        </a:rPr>
                        <a:t>(</a:t>
                      </a:r>
                      <a:r>
                        <a:rPr lang="zh-CN" altLang="en-US" sz="1200" b="1" i="0" u="none" strike="noStrike" dirty="0">
                          <a:solidFill>
                            <a:srgbClr val="0087DC"/>
                          </a:solidFill>
                          <a:effectLst/>
                          <a:latin typeface="Arial" panose="020B0604020202020204" pitchFamily="34" charset="0"/>
                          <a:ea typeface="+mn-ea"/>
                          <a:cs typeface="Arial" panose="020B0604020202020204" pitchFamily="34" charset="0"/>
                        </a:rPr>
                        <a:t>百分制</a:t>
                      </a:r>
                      <a:r>
                        <a:rPr lang="en-US" altLang="zh-CN" sz="1200" b="1" i="0" u="none" strike="noStrike" dirty="0">
                          <a:solidFill>
                            <a:srgbClr val="0087DC"/>
                          </a:solidFill>
                          <a:effectLst/>
                          <a:latin typeface="Arial" panose="020B0604020202020204" pitchFamily="34" charset="0"/>
                          <a:ea typeface="+mn-ea"/>
                          <a:cs typeface="Arial" panose="020B0604020202020204" pitchFamily="34" charset="0"/>
                        </a:rPr>
                        <a:t>)</a:t>
                      </a:r>
                      <a:endParaRPr lang="zh-CN" altLang="en-US" sz="1200" b="1" i="0" u="none" strike="noStrike" dirty="0">
                        <a:solidFill>
                          <a:srgbClr val="0087DC"/>
                        </a:solidFill>
                        <a:effectLst/>
                        <a:latin typeface="Arial" panose="020B0604020202020204" pitchFamily="34" charset="0"/>
                        <a:ea typeface="+mn-ea"/>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r>
                        <a:rPr lang="en-US" altLang="zh-CN" sz="1100" b="1" i="0" u="none" strike="noStrike" dirty="0">
                          <a:solidFill>
                            <a:srgbClr val="000000"/>
                          </a:solidFill>
                          <a:effectLst/>
                          <a:latin typeface="Arial" panose="020B0604020202020204" pitchFamily="34" charset="0"/>
                          <a:ea typeface="+mn-ea"/>
                          <a:cs typeface="Arial" panose="020B0604020202020204" pitchFamily="34"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mn-ea"/>
                          <a:cs typeface="Arial" panose="020B0604020202020204" pitchFamily="34"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mn-ea"/>
                          <a:cs typeface="Arial" panose="020B0604020202020204" pitchFamily="34"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mn-ea"/>
                          <a:cs typeface="Arial" panose="020B0604020202020204" pitchFamily="34"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100" b="1" i="0" u="none" strike="noStrike" dirty="0">
                          <a:solidFill>
                            <a:srgbClr val="000000"/>
                          </a:solidFill>
                          <a:effectLst/>
                          <a:latin typeface="Arial" panose="020B0604020202020204" pitchFamily="34" charset="0"/>
                          <a:ea typeface="+mn-ea"/>
                          <a:cs typeface="Arial" panose="020B0604020202020204" pitchFamily="34"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7161532"/>
                  </a:ext>
                </a:extLst>
              </a:tr>
            </a:tbl>
          </a:graphicData>
        </a:graphic>
      </p:graphicFrame>
    </p:spTree>
    <p:extLst>
      <p:ext uri="{BB962C8B-B14F-4D97-AF65-F5344CB8AC3E}">
        <p14:creationId xmlns:p14="http://schemas.microsoft.com/office/powerpoint/2010/main" val="3159547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5DF656AF-D4E8-0A6C-1DEA-832A57B92A67}"/>
              </a:ext>
            </a:extLst>
          </p:cNvPr>
          <p:cNvSpPr>
            <a:spLocks noGrp="1"/>
          </p:cNvSpPr>
          <p:nvPr>
            <p:ph type="ctrTitle"/>
          </p:nvPr>
        </p:nvSpPr>
        <p:spPr/>
        <p:txBody>
          <a:bodyPr/>
          <a:lstStyle/>
          <a:p>
            <a:r>
              <a:rPr lang="zh-TW" altLang="en-US" dirty="0"/>
              <a:t>附錄</a:t>
            </a:r>
          </a:p>
        </p:txBody>
      </p:sp>
    </p:spTree>
    <p:extLst>
      <p:ext uri="{BB962C8B-B14F-4D97-AF65-F5344CB8AC3E}">
        <p14:creationId xmlns:p14="http://schemas.microsoft.com/office/powerpoint/2010/main" val="1866967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8">
            <a:extLst>
              <a:ext uri="{FF2B5EF4-FFF2-40B4-BE49-F238E27FC236}">
                <a16:creationId xmlns:a16="http://schemas.microsoft.com/office/drawing/2014/main" id="{084FC3A2-CC5A-56CD-EE52-37F0D7F1CE21}"/>
              </a:ext>
            </a:extLst>
          </p:cNvPr>
          <p:cNvSpPr>
            <a:spLocks noGrp="1"/>
          </p:cNvSpPr>
          <p:nvPr>
            <p:ph type="title"/>
          </p:nvPr>
        </p:nvSpPr>
        <p:spPr>
          <a:xfrm>
            <a:off x="406400" y="83514"/>
            <a:ext cx="11379200" cy="679396"/>
          </a:xfrm>
        </p:spPr>
        <p:txBody>
          <a:bodyPr/>
          <a:lstStyle/>
          <a:p>
            <a:r>
              <a:rPr lang="en-US" altLang="zh-TW" dirty="0"/>
              <a:t>MFG</a:t>
            </a:r>
            <a:r>
              <a:rPr lang="zh-TW" altLang="en-US" dirty="0"/>
              <a:t>數據中台解決方案架構圖</a:t>
            </a:r>
          </a:p>
        </p:txBody>
      </p:sp>
      <p:grpSp>
        <p:nvGrpSpPr>
          <p:cNvPr id="6" name="群組 5">
            <a:extLst>
              <a:ext uri="{FF2B5EF4-FFF2-40B4-BE49-F238E27FC236}">
                <a16:creationId xmlns:a16="http://schemas.microsoft.com/office/drawing/2014/main" id="{CC7B067D-2815-A924-DF6B-571799D6A36E}"/>
              </a:ext>
            </a:extLst>
          </p:cNvPr>
          <p:cNvGrpSpPr/>
          <p:nvPr/>
        </p:nvGrpSpPr>
        <p:grpSpPr>
          <a:xfrm>
            <a:off x="91440" y="762910"/>
            <a:ext cx="8474926" cy="5486785"/>
            <a:chOff x="406400" y="762910"/>
            <a:chExt cx="8474926" cy="5486785"/>
          </a:xfrm>
        </p:grpSpPr>
        <p:sp>
          <p:nvSpPr>
            <p:cNvPr id="7" name="Rounded Rectangle 115">
              <a:extLst>
                <a:ext uri="{FF2B5EF4-FFF2-40B4-BE49-F238E27FC236}">
                  <a16:creationId xmlns:a16="http://schemas.microsoft.com/office/drawing/2014/main" id="{8EF1B66B-E5EB-4D6E-67FA-5F44FED3ABBC}"/>
                </a:ext>
              </a:extLst>
            </p:cNvPr>
            <p:cNvSpPr>
              <a:spLocks noChangeArrowheads="1"/>
            </p:cNvSpPr>
            <p:nvPr/>
          </p:nvSpPr>
          <p:spPr bwMode="auto">
            <a:xfrm>
              <a:off x="406400" y="764075"/>
              <a:ext cx="1208957" cy="4846637"/>
            </a:xfrm>
            <a:prstGeom prst="roundRect">
              <a:avLst>
                <a:gd name="adj" fmla="val 3905"/>
              </a:avLst>
            </a:prstGeom>
            <a:solidFill>
              <a:srgbClr val="00B0F0"/>
            </a:solidFill>
            <a:ln>
              <a:noFill/>
            </a:ln>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zh-TW" altLang="en-US" sz="1600" b="0" dirty="0">
                  <a:solidFill>
                    <a:schemeClr val="tx1"/>
                  </a:solidFill>
                  <a:latin typeface="微軟正黑體" panose="020B0604030504040204" pitchFamily="34" charset="-120"/>
                  <a:ea typeface="微軟正黑體" panose="020B0604030504040204" pitchFamily="34" charset="-120"/>
                </a:rPr>
                <a:t>數據源</a:t>
              </a:r>
              <a:endParaRPr lang="en-US" altLang="en-US" sz="1600" b="0" dirty="0">
                <a:solidFill>
                  <a:schemeClr val="tx1"/>
                </a:solidFill>
                <a:latin typeface="微軟正黑體" panose="020B0604030504040204" pitchFamily="34" charset="-120"/>
                <a:ea typeface="微軟正黑體" panose="020B0604030504040204" pitchFamily="34" charset="-120"/>
              </a:endParaRPr>
            </a:p>
          </p:txBody>
        </p:sp>
        <p:sp>
          <p:nvSpPr>
            <p:cNvPr id="8" name="Rounded Rectangle 115">
              <a:extLst>
                <a:ext uri="{FF2B5EF4-FFF2-40B4-BE49-F238E27FC236}">
                  <a16:creationId xmlns:a16="http://schemas.microsoft.com/office/drawing/2014/main" id="{D24EE009-B1C1-3FBC-B8BD-8AC02D48FBB9}"/>
                </a:ext>
              </a:extLst>
            </p:cNvPr>
            <p:cNvSpPr>
              <a:spLocks noChangeArrowheads="1"/>
            </p:cNvSpPr>
            <p:nvPr/>
          </p:nvSpPr>
          <p:spPr bwMode="auto">
            <a:xfrm>
              <a:off x="1707661" y="762910"/>
              <a:ext cx="5226423" cy="5486785"/>
            </a:xfrm>
            <a:prstGeom prst="roundRect">
              <a:avLst>
                <a:gd name="adj" fmla="val 1698"/>
              </a:avLst>
            </a:prstGeom>
            <a:solidFill>
              <a:srgbClr val="00B0F0"/>
            </a:solidFill>
            <a:ln>
              <a:noFill/>
            </a:ln>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zh-TW" altLang="en-US" dirty="0">
                  <a:solidFill>
                    <a:schemeClr val="tx1"/>
                  </a:solidFill>
                  <a:latin typeface="微軟正黑體" panose="020B0604030504040204" pitchFamily="34" charset="-120"/>
                  <a:ea typeface="微軟正黑體" panose="020B0604030504040204" pitchFamily="34" charset="-120"/>
                </a:rPr>
                <a:t>數據中台</a:t>
              </a:r>
              <a:endParaRPr lang="en-US" altLang="en-US" dirty="0">
                <a:solidFill>
                  <a:schemeClr val="tx1"/>
                </a:solidFill>
                <a:latin typeface="微軟正黑體" panose="020B0604030504040204" pitchFamily="34" charset="-120"/>
                <a:ea typeface="微軟正黑體" panose="020B0604030504040204" pitchFamily="34" charset="-120"/>
              </a:endParaRPr>
            </a:p>
          </p:txBody>
        </p:sp>
        <p:sp>
          <p:nvSpPr>
            <p:cNvPr id="9" name="Rounded Rectangle 115">
              <a:extLst>
                <a:ext uri="{FF2B5EF4-FFF2-40B4-BE49-F238E27FC236}">
                  <a16:creationId xmlns:a16="http://schemas.microsoft.com/office/drawing/2014/main" id="{65920557-F336-BE50-0BD5-C1964F2C2A3A}"/>
                </a:ext>
              </a:extLst>
            </p:cNvPr>
            <p:cNvSpPr>
              <a:spLocks noChangeArrowheads="1"/>
            </p:cNvSpPr>
            <p:nvPr/>
          </p:nvSpPr>
          <p:spPr bwMode="auto">
            <a:xfrm>
              <a:off x="1816202" y="1124172"/>
              <a:ext cx="2538330" cy="1398038"/>
            </a:xfrm>
            <a:prstGeom prst="roundRect">
              <a:avLst>
                <a:gd name="adj" fmla="val 8036"/>
              </a:avLst>
            </a:prstGeom>
            <a:solidFill>
              <a:schemeClr val="bg1"/>
            </a:solidFill>
            <a:ln>
              <a:solidFill>
                <a:schemeClr val="tx1"/>
              </a:solidFill>
            </a:ln>
          </p:spPr>
          <p:txBody>
            <a:bodyPr lIns="0" tIns="36000" rIns="0" anchorCtr="1"/>
            <a:lstStyle/>
            <a:p>
              <a:pPr algn="ctr">
                <a:lnSpc>
                  <a:spcPct val="85000"/>
                </a:lnSpc>
                <a:spcBef>
                  <a:spcPct val="0"/>
                </a:spcBef>
              </a:pPr>
              <a:r>
                <a:rPr lang="zh-TW" altLang="en-US" sz="1600" b="1" dirty="0">
                  <a:latin typeface="+mj-ea"/>
                  <a:ea typeface="+mj-ea"/>
                </a:rPr>
                <a:t>數據擷取</a:t>
              </a:r>
              <a:r>
                <a:rPr lang="en-US" altLang="zh-TW" sz="1600" b="1" dirty="0">
                  <a:latin typeface="+mj-ea"/>
                  <a:ea typeface="+mj-ea"/>
                </a:rPr>
                <a:t>/</a:t>
              </a:r>
              <a:r>
                <a:rPr lang="zh-TW" altLang="en-US" sz="1600" b="1" dirty="0">
                  <a:latin typeface="+mj-ea"/>
                  <a:ea typeface="+mj-ea"/>
                </a:rPr>
                <a:t>數據處裡</a:t>
              </a:r>
              <a:endParaRPr lang="en-US" altLang="en-US" sz="1600" b="1" dirty="0">
                <a:latin typeface="+mj-ea"/>
                <a:ea typeface="+mj-ea"/>
              </a:endParaRPr>
            </a:p>
          </p:txBody>
        </p:sp>
        <p:sp>
          <p:nvSpPr>
            <p:cNvPr id="10" name="Rounded Rectangle 115">
              <a:extLst>
                <a:ext uri="{FF2B5EF4-FFF2-40B4-BE49-F238E27FC236}">
                  <a16:creationId xmlns:a16="http://schemas.microsoft.com/office/drawing/2014/main" id="{4BC41485-F6B4-30E1-5F60-9613810472AD}"/>
                </a:ext>
              </a:extLst>
            </p:cNvPr>
            <p:cNvSpPr>
              <a:spLocks noChangeArrowheads="1"/>
            </p:cNvSpPr>
            <p:nvPr/>
          </p:nvSpPr>
          <p:spPr bwMode="auto">
            <a:xfrm>
              <a:off x="1816202" y="2898226"/>
              <a:ext cx="4099941" cy="1400715"/>
            </a:xfrm>
            <a:prstGeom prst="roundRect">
              <a:avLst>
                <a:gd name="adj" fmla="val 4596"/>
              </a:avLst>
            </a:prstGeom>
            <a:solidFill>
              <a:schemeClr val="bg1"/>
            </a:solidFill>
            <a:ln>
              <a:solidFill>
                <a:schemeClr val="tx1"/>
              </a:solidFill>
            </a:ln>
          </p:spPr>
          <p:txBody>
            <a:bodyPr lIns="0" tIns="36000" rIns="0" anchorCtr="1"/>
            <a:lstStyle/>
            <a:p>
              <a:pPr algn="ctr">
                <a:lnSpc>
                  <a:spcPct val="85000"/>
                </a:lnSpc>
                <a:spcBef>
                  <a:spcPct val="0"/>
                </a:spcBef>
              </a:pPr>
              <a:r>
                <a:rPr lang="zh-TW" altLang="en-US" sz="1600" b="1" dirty="0">
                  <a:latin typeface="+mj-ea"/>
                  <a:ea typeface="+mj-ea"/>
                </a:rPr>
                <a:t>數據湖泊</a:t>
              </a:r>
              <a:endParaRPr lang="en-US" altLang="en-US" sz="1600" b="1" dirty="0">
                <a:latin typeface="+mj-ea"/>
                <a:ea typeface="+mj-ea"/>
              </a:endParaRPr>
            </a:p>
          </p:txBody>
        </p:sp>
        <p:sp>
          <p:nvSpPr>
            <p:cNvPr id="11" name="Rounded Rectangle 115">
              <a:extLst>
                <a:ext uri="{FF2B5EF4-FFF2-40B4-BE49-F238E27FC236}">
                  <a16:creationId xmlns:a16="http://schemas.microsoft.com/office/drawing/2014/main" id="{31044321-EC52-736D-2727-117F5808CACF}"/>
                </a:ext>
              </a:extLst>
            </p:cNvPr>
            <p:cNvSpPr>
              <a:spLocks noChangeArrowheads="1"/>
            </p:cNvSpPr>
            <p:nvPr/>
          </p:nvSpPr>
          <p:spPr bwMode="auto">
            <a:xfrm>
              <a:off x="5951680" y="2900135"/>
              <a:ext cx="868363" cy="1408016"/>
            </a:xfrm>
            <a:prstGeom prst="roundRect">
              <a:avLst>
                <a:gd name="adj" fmla="val 10669"/>
              </a:avLst>
            </a:prstGeom>
            <a:solidFill>
              <a:schemeClr val="bg1"/>
            </a:solidFill>
            <a:ln>
              <a:solidFill>
                <a:schemeClr val="tx1"/>
              </a:solidFill>
            </a:ln>
          </p:spPr>
          <p:txBody>
            <a:bodyPr lIns="0" tIns="3600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600" dirty="0">
                  <a:solidFill>
                    <a:schemeClr val="tx1"/>
                  </a:solidFill>
                  <a:latin typeface="+mj-ea"/>
                  <a:ea typeface="+mj-ea"/>
                </a:rPr>
                <a:t>數據提供</a:t>
              </a:r>
              <a:endParaRPr lang="en-US" altLang="en-US" sz="1600" dirty="0">
                <a:solidFill>
                  <a:schemeClr val="tx1"/>
                </a:solidFill>
                <a:latin typeface="+mj-ea"/>
                <a:ea typeface="+mj-ea"/>
              </a:endParaRPr>
            </a:p>
          </p:txBody>
        </p:sp>
        <p:sp>
          <p:nvSpPr>
            <p:cNvPr id="12" name="AutoShape 7">
              <a:extLst>
                <a:ext uri="{FF2B5EF4-FFF2-40B4-BE49-F238E27FC236}">
                  <a16:creationId xmlns:a16="http://schemas.microsoft.com/office/drawing/2014/main" id="{6CB3E524-ED21-7031-380C-1A85F05A3E14}"/>
                </a:ext>
              </a:extLst>
            </p:cNvPr>
            <p:cNvSpPr>
              <a:spLocks noChangeArrowheads="1"/>
            </p:cNvSpPr>
            <p:nvPr/>
          </p:nvSpPr>
          <p:spPr bwMode="auto">
            <a:xfrm>
              <a:off x="2995091" y="3279897"/>
              <a:ext cx="1653732" cy="271263"/>
            </a:xfrm>
            <a:prstGeom prst="roundRect">
              <a:avLst>
                <a:gd name="adj" fmla="val 6967"/>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結構化</a:t>
              </a:r>
              <a:endParaRPr lang="en-GB" altLang="en-US" sz="800" dirty="0">
                <a:solidFill>
                  <a:schemeClr val="tx1"/>
                </a:solidFill>
                <a:latin typeface="+mj-ea"/>
                <a:ea typeface="+mj-ea"/>
              </a:endParaRPr>
            </a:p>
          </p:txBody>
        </p:sp>
        <p:sp>
          <p:nvSpPr>
            <p:cNvPr id="13" name="AutoShape 7">
              <a:extLst>
                <a:ext uri="{FF2B5EF4-FFF2-40B4-BE49-F238E27FC236}">
                  <a16:creationId xmlns:a16="http://schemas.microsoft.com/office/drawing/2014/main" id="{DBDCE186-B3C3-B146-1B44-F5557638D270}"/>
                </a:ext>
              </a:extLst>
            </p:cNvPr>
            <p:cNvSpPr>
              <a:spLocks noChangeArrowheads="1"/>
            </p:cNvSpPr>
            <p:nvPr/>
          </p:nvSpPr>
          <p:spPr bwMode="auto">
            <a:xfrm>
              <a:off x="2299140" y="3282986"/>
              <a:ext cx="660414" cy="271262"/>
            </a:xfrm>
            <a:prstGeom prst="roundRect">
              <a:avLst>
                <a:gd name="adj" fmla="val 10350"/>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半結構化</a:t>
              </a:r>
              <a:endParaRPr lang="en-GB" altLang="en-US" sz="800" dirty="0">
                <a:solidFill>
                  <a:schemeClr val="tx1"/>
                </a:solidFill>
                <a:latin typeface="+mj-ea"/>
                <a:ea typeface="+mj-ea"/>
              </a:endParaRPr>
            </a:p>
          </p:txBody>
        </p:sp>
        <p:sp>
          <p:nvSpPr>
            <p:cNvPr id="14" name="AutoShape 7">
              <a:extLst>
                <a:ext uri="{FF2B5EF4-FFF2-40B4-BE49-F238E27FC236}">
                  <a16:creationId xmlns:a16="http://schemas.microsoft.com/office/drawing/2014/main" id="{DD4BD603-EC5F-DF63-106D-256DF14219E6}"/>
                </a:ext>
              </a:extLst>
            </p:cNvPr>
            <p:cNvSpPr>
              <a:spLocks noChangeArrowheads="1"/>
            </p:cNvSpPr>
            <p:nvPr/>
          </p:nvSpPr>
          <p:spPr bwMode="auto">
            <a:xfrm>
              <a:off x="1884811" y="3278266"/>
              <a:ext cx="383269" cy="277430"/>
            </a:xfrm>
            <a:prstGeom prst="roundRect">
              <a:avLst>
                <a:gd name="adj" fmla="val 14744"/>
              </a:avLst>
            </a:prstGeom>
            <a:solidFill>
              <a:schemeClr val="bg1"/>
            </a:solidFill>
            <a:ln w="9525">
              <a:solidFill>
                <a:srgbClr val="000000"/>
              </a:solidFill>
              <a:round/>
              <a:headEnd/>
              <a:tailEnd/>
            </a:ln>
          </p:spPr>
          <p:txBody>
            <a:bodyPr lIns="0" tIns="36000" rIns="0" bIns="0" anchor="ctr" anchorCtr="0"/>
            <a:lstStyle/>
            <a:p>
              <a:pPr algn="ctr">
                <a:lnSpc>
                  <a:spcPct val="85000"/>
                </a:lnSpc>
                <a:spcBef>
                  <a:spcPct val="0"/>
                </a:spcBef>
              </a:pPr>
              <a:r>
                <a:rPr lang="zh-TW" altLang="en-US" sz="800" b="1" dirty="0">
                  <a:latin typeface="+mj-ea"/>
                  <a:ea typeface="+mj-ea"/>
                </a:rPr>
                <a:t>檔案</a:t>
              </a:r>
              <a:endParaRPr lang="en-GB" altLang="en-US" sz="800" b="1" dirty="0">
                <a:latin typeface="+mj-ea"/>
                <a:ea typeface="+mj-ea"/>
              </a:endParaRPr>
            </a:p>
          </p:txBody>
        </p:sp>
        <p:sp>
          <p:nvSpPr>
            <p:cNvPr id="15" name="AutoShape 7">
              <a:extLst>
                <a:ext uri="{FF2B5EF4-FFF2-40B4-BE49-F238E27FC236}">
                  <a16:creationId xmlns:a16="http://schemas.microsoft.com/office/drawing/2014/main" id="{3115CFC3-BA08-0C1F-E1E2-732CAA260FCC}"/>
                </a:ext>
              </a:extLst>
            </p:cNvPr>
            <p:cNvSpPr>
              <a:spLocks noChangeArrowheads="1"/>
            </p:cNvSpPr>
            <p:nvPr/>
          </p:nvSpPr>
          <p:spPr bwMode="auto">
            <a:xfrm>
              <a:off x="1843656" y="1414209"/>
              <a:ext cx="858362" cy="19309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數據匯流</a:t>
              </a:r>
              <a:endParaRPr lang="en-GB" altLang="en-US" sz="800" dirty="0">
                <a:solidFill>
                  <a:schemeClr val="tx1"/>
                </a:solidFill>
                <a:latin typeface="+mj-ea"/>
                <a:ea typeface="+mj-ea"/>
              </a:endParaRPr>
            </a:p>
          </p:txBody>
        </p:sp>
        <p:sp>
          <p:nvSpPr>
            <p:cNvPr id="16" name="AutoShape 7">
              <a:extLst>
                <a:ext uri="{FF2B5EF4-FFF2-40B4-BE49-F238E27FC236}">
                  <a16:creationId xmlns:a16="http://schemas.microsoft.com/office/drawing/2014/main" id="{8F6CFEC1-8A59-03C7-5F1D-0F38DF652168}"/>
                </a:ext>
              </a:extLst>
            </p:cNvPr>
            <p:cNvSpPr>
              <a:spLocks noChangeArrowheads="1"/>
            </p:cNvSpPr>
            <p:nvPr/>
          </p:nvSpPr>
          <p:spPr bwMode="auto">
            <a:xfrm>
              <a:off x="1843656" y="1631965"/>
              <a:ext cx="858362" cy="20321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格式轉換</a:t>
              </a:r>
              <a:endParaRPr lang="en-GB" altLang="en-US" sz="800" dirty="0">
                <a:solidFill>
                  <a:schemeClr val="tx1"/>
                </a:solidFill>
                <a:latin typeface="+mj-ea"/>
                <a:ea typeface="+mj-ea"/>
              </a:endParaRPr>
            </a:p>
          </p:txBody>
        </p:sp>
        <p:sp>
          <p:nvSpPr>
            <p:cNvPr id="17" name="AutoShape 7">
              <a:extLst>
                <a:ext uri="{FF2B5EF4-FFF2-40B4-BE49-F238E27FC236}">
                  <a16:creationId xmlns:a16="http://schemas.microsoft.com/office/drawing/2014/main" id="{F8407E0E-99FD-388F-12C4-D94E61414E41}"/>
                </a:ext>
              </a:extLst>
            </p:cNvPr>
            <p:cNvSpPr>
              <a:spLocks noChangeArrowheads="1"/>
            </p:cNvSpPr>
            <p:nvPr/>
          </p:nvSpPr>
          <p:spPr bwMode="auto">
            <a:xfrm>
              <a:off x="5996330" y="3234567"/>
              <a:ext cx="779062" cy="188430"/>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1000" dirty="0">
                  <a:solidFill>
                    <a:schemeClr val="tx1"/>
                  </a:solidFill>
                  <a:latin typeface="+mj-ea"/>
                  <a:ea typeface="+mj-ea"/>
                </a:rPr>
                <a:t>直接連線</a:t>
              </a:r>
              <a:endParaRPr lang="en-GB" altLang="en-US" sz="1000" dirty="0">
                <a:solidFill>
                  <a:schemeClr val="tx1"/>
                </a:solidFill>
                <a:latin typeface="+mj-ea"/>
                <a:ea typeface="+mj-ea"/>
              </a:endParaRPr>
            </a:p>
          </p:txBody>
        </p:sp>
        <p:sp>
          <p:nvSpPr>
            <p:cNvPr id="18" name="AutoShape 7">
              <a:extLst>
                <a:ext uri="{FF2B5EF4-FFF2-40B4-BE49-F238E27FC236}">
                  <a16:creationId xmlns:a16="http://schemas.microsoft.com/office/drawing/2014/main" id="{E716769E-1DB3-B8C8-9D81-B54099C10700}"/>
                </a:ext>
              </a:extLst>
            </p:cNvPr>
            <p:cNvSpPr>
              <a:spLocks noChangeArrowheads="1"/>
            </p:cNvSpPr>
            <p:nvPr/>
          </p:nvSpPr>
          <p:spPr bwMode="auto">
            <a:xfrm>
              <a:off x="5996330" y="3448255"/>
              <a:ext cx="779062" cy="199243"/>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1000" dirty="0">
                  <a:solidFill>
                    <a:schemeClr val="tx1"/>
                  </a:solidFill>
                  <a:latin typeface="+mj-ea"/>
                  <a:ea typeface="+mj-ea"/>
                </a:rPr>
                <a:t>API</a:t>
              </a:r>
              <a:endParaRPr lang="en-GB" altLang="en-US" sz="1000" dirty="0">
                <a:solidFill>
                  <a:schemeClr val="tx1"/>
                </a:solidFill>
                <a:latin typeface="+mj-ea"/>
                <a:ea typeface="+mj-ea"/>
              </a:endParaRPr>
            </a:p>
          </p:txBody>
        </p:sp>
        <p:sp>
          <p:nvSpPr>
            <p:cNvPr id="19" name="AutoShape 7">
              <a:extLst>
                <a:ext uri="{FF2B5EF4-FFF2-40B4-BE49-F238E27FC236}">
                  <a16:creationId xmlns:a16="http://schemas.microsoft.com/office/drawing/2014/main" id="{4A003AA9-BA6C-1C75-78CA-E201DAEAE127}"/>
                </a:ext>
              </a:extLst>
            </p:cNvPr>
            <p:cNvSpPr>
              <a:spLocks noChangeArrowheads="1"/>
            </p:cNvSpPr>
            <p:nvPr/>
          </p:nvSpPr>
          <p:spPr bwMode="auto">
            <a:xfrm>
              <a:off x="1886634" y="3590824"/>
              <a:ext cx="668395" cy="274092"/>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dirty="0">
                  <a:solidFill>
                    <a:schemeClr val="tx1"/>
                  </a:solidFill>
                  <a:latin typeface="+mj-ea"/>
                  <a:ea typeface="+mj-ea"/>
                </a:rPr>
                <a:t>ODS</a:t>
              </a:r>
              <a:endParaRPr lang="en-GB" altLang="en-US" sz="800" dirty="0">
                <a:solidFill>
                  <a:schemeClr val="tx1"/>
                </a:solidFill>
                <a:latin typeface="+mj-ea"/>
                <a:ea typeface="+mj-ea"/>
              </a:endParaRPr>
            </a:p>
          </p:txBody>
        </p:sp>
        <p:sp>
          <p:nvSpPr>
            <p:cNvPr id="20" name="AutoShape 7">
              <a:extLst>
                <a:ext uri="{FF2B5EF4-FFF2-40B4-BE49-F238E27FC236}">
                  <a16:creationId xmlns:a16="http://schemas.microsoft.com/office/drawing/2014/main" id="{2BEE0C3F-31C7-EDF4-F253-C79BC6416359}"/>
                </a:ext>
              </a:extLst>
            </p:cNvPr>
            <p:cNvSpPr>
              <a:spLocks noChangeArrowheads="1"/>
            </p:cNvSpPr>
            <p:nvPr/>
          </p:nvSpPr>
          <p:spPr bwMode="auto">
            <a:xfrm>
              <a:off x="2590566" y="3590822"/>
              <a:ext cx="660414" cy="274093"/>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dirty="0">
                  <a:solidFill>
                    <a:schemeClr val="tx1"/>
                  </a:solidFill>
                  <a:latin typeface="+mj-ea"/>
                  <a:ea typeface="+mj-ea"/>
                </a:rPr>
                <a:t>DWD</a:t>
              </a:r>
              <a:endParaRPr lang="en-GB" altLang="en-US" sz="800" dirty="0">
                <a:solidFill>
                  <a:schemeClr val="tx1"/>
                </a:solidFill>
                <a:latin typeface="+mj-ea"/>
                <a:ea typeface="+mj-ea"/>
              </a:endParaRPr>
            </a:p>
          </p:txBody>
        </p:sp>
        <p:sp>
          <p:nvSpPr>
            <p:cNvPr id="21" name="AutoShape 7">
              <a:extLst>
                <a:ext uri="{FF2B5EF4-FFF2-40B4-BE49-F238E27FC236}">
                  <a16:creationId xmlns:a16="http://schemas.microsoft.com/office/drawing/2014/main" id="{C80C8204-56A7-192A-6336-890E02DD8709}"/>
                </a:ext>
              </a:extLst>
            </p:cNvPr>
            <p:cNvSpPr>
              <a:spLocks noChangeArrowheads="1"/>
            </p:cNvSpPr>
            <p:nvPr/>
          </p:nvSpPr>
          <p:spPr bwMode="auto">
            <a:xfrm>
              <a:off x="3279308" y="3587484"/>
              <a:ext cx="550553" cy="277432"/>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dirty="0">
                  <a:solidFill>
                    <a:schemeClr val="tx1"/>
                  </a:solidFill>
                  <a:latin typeface="+mj-ea"/>
                  <a:ea typeface="+mj-ea"/>
                </a:rPr>
                <a:t>DWS</a:t>
              </a:r>
              <a:endParaRPr lang="en-GB" altLang="en-US" sz="800" dirty="0">
                <a:solidFill>
                  <a:schemeClr val="tx1"/>
                </a:solidFill>
                <a:latin typeface="+mj-ea"/>
                <a:ea typeface="+mj-ea"/>
              </a:endParaRPr>
            </a:p>
          </p:txBody>
        </p:sp>
        <p:sp>
          <p:nvSpPr>
            <p:cNvPr id="22" name="AutoShape 7">
              <a:extLst>
                <a:ext uri="{FF2B5EF4-FFF2-40B4-BE49-F238E27FC236}">
                  <a16:creationId xmlns:a16="http://schemas.microsoft.com/office/drawing/2014/main" id="{83924438-61A8-5CE2-4888-6C2A12CA09EB}"/>
                </a:ext>
              </a:extLst>
            </p:cNvPr>
            <p:cNvSpPr>
              <a:spLocks noChangeArrowheads="1"/>
            </p:cNvSpPr>
            <p:nvPr/>
          </p:nvSpPr>
          <p:spPr bwMode="auto">
            <a:xfrm>
              <a:off x="2723963" y="1414209"/>
              <a:ext cx="766577" cy="193095"/>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dirty="0">
                  <a:solidFill>
                    <a:schemeClr val="tx1"/>
                  </a:solidFill>
                  <a:latin typeface="+mj-ea"/>
                  <a:ea typeface="+mj-ea"/>
                </a:rPr>
                <a:t>Batch</a:t>
              </a:r>
              <a:endParaRPr lang="en-GB" altLang="en-US" sz="800" dirty="0">
                <a:solidFill>
                  <a:schemeClr val="tx1"/>
                </a:solidFill>
                <a:latin typeface="+mj-ea"/>
                <a:ea typeface="+mj-ea"/>
              </a:endParaRPr>
            </a:p>
          </p:txBody>
        </p:sp>
        <p:sp>
          <p:nvSpPr>
            <p:cNvPr id="23" name="AutoShape 7">
              <a:extLst>
                <a:ext uri="{FF2B5EF4-FFF2-40B4-BE49-F238E27FC236}">
                  <a16:creationId xmlns:a16="http://schemas.microsoft.com/office/drawing/2014/main" id="{FC6743B6-389F-C2D1-AC66-EB02D39D4478}"/>
                </a:ext>
              </a:extLst>
            </p:cNvPr>
            <p:cNvSpPr>
              <a:spLocks noChangeArrowheads="1"/>
            </p:cNvSpPr>
            <p:nvPr/>
          </p:nvSpPr>
          <p:spPr bwMode="auto">
            <a:xfrm>
              <a:off x="2721079" y="1631964"/>
              <a:ext cx="773295" cy="20321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dirty="0">
                  <a:solidFill>
                    <a:schemeClr val="bg1">
                      <a:lumMod val="65000"/>
                    </a:schemeClr>
                  </a:solidFill>
                  <a:latin typeface="+mj-ea"/>
                  <a:ea typeface="+mj-ea"/>
                </a:rPr>
                <a:t>Stream</a:t>
              </a:r>
              <a:endParaRPr lang="en-GB" altLang="en-US" sz="800" dirty="0">
                <a:solidFill>
                  <a:schemeClr val="bg1">
                    <a:lumMod val="65000"/>
                  </a:schemeClr>
                </a:solidFill>
                <a:latin typeface="+mj-ea"/>
                <a:ea typeface="+mj-ea"/>
              </a:endParaRPr>
            </a:p>
          </p:txBody>
        </p:sp>
        <p:pic>
          <p:nvPicPr>
            <p:cNvPr id="24" name="Picture 2" descr="Apache Flink - 維基百科，自由的百科全書">
              <a:extLst>
                <a:ext uri="{FF2B5EF4-FFF2-40B4-BE49-F238E27FC236}">
                  <a16:creationId xmlns:a16="http://schemas.microsoft.com/office/drawing/2014/main" id="{CB7E4643-1E7D-7E27-0D32-BE8BDD2A5958}"/>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30193" y="2177612"/>
              <a:ext cx="612815" cy="29972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Apache SeaTunnel – Medium">
              <a:extLst>
                <a:ext uri="{FF2B5EF4-FFF2-40B4-BE49-F238E27FC236}">
                  <a16:creationId xmlns:a16="http://schemas.microsoft.com/office/drawing/2014/main" id="{F96BCE0B-E1EF-BCE1-1BAC-410A13B70DA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763" t="6445" r="15327" b="21201"/>
            <a:stretch/>
          </p:blipFill>
          <p:spPr bwMode="auto">
            <a:xfrm>
              <a:off x="6004679" y="3866832"/>
              <a:ext cx="289616" cy="40911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descr="Apache DolphinScheduler (@dolphinschedule) / X">
              <a:extLst>
                <a:ext uri="{FF2B5EF4-FFF2-40B4-BE49-F238E27FC236}">
                  <a16:creationId xmlns:a16="http://schemas.microsoft.com/office/drawing/2014/main" id="{5CD340F5-F9B9-3F01-EBFB-AF7DDFBFC29E}"/>
                </a:ext>
              </a:extLst>
            </p:cNvPr>
            <p:cNvPicPr>
              <a:picLocks noChangeAspect="1" noChangeArrowheads="1"/>
            </p:cNvPicPr>
            <p:nvPr/>
          </p:nvPicPr>
          <p:blipFill>
            <a:blip r:embed="rId5">
              <a:clrChange>
                <a:clrFrom>
                  <a:srgbClr val="FFFFFF"/>
                </a:clrFrom>
                <a:clrTo>
                  <a:srgbClr val="FFFFFF">
                    <a:alpha val="0"/>
                  </a:srgbClr>
                </a:clrTo>
              </a:clrChange>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3576058" y="1844196"/>
              <a:ext cx="660414" cy="660414"/>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2" descr="如何在Ubuntu 20.04 LTS上安装Apache Nifi-云东方">
              <a:extLst>
                <a:ext uri="{FF2B5EF4-FFF2-40B4-BE49-F238E27FC236}">
                  <a16:creationId xmlns:a16="http://schemas.microsoft.com/office/drawing/2014/main" id="{45F2424B-B5CB-48C4-0D7E-CB23ABB5E2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0972" y="1885056"/>
              <a:ext cx="509255" cy="214923"/>
            </a:xfrm>
            <a:prstGeom prst="rect">
              <a:avLst/>
            </a:prstGeom>
            <a:noFill/>
            <a:extLst>
              <a:ext uri="{909E8E84-426E-40DD-AFC4-6F175D3DCCD1}">
                <a14:hiddenFill xmlns:a14="http://schemas.microsoft.com/office/drawing/2010/main">
                  <a:solidFill>
                    <a:srgbClr val="FFFFFF"/>
                  </a:solidFill>
                </a14:hiddenFill>
              </a:ext>
            </a:extLst>
          </p:spPr>
        </p:pic>
        <p:sp>
          <p:nvSpPr>
            <p:cNvPr id="28" name="AutoShape 7">
              <a:extLst>
                <a:ext uri="{FF2B5EF4-FFF2-40B4-BE49-F238E27FC236}">
                  <a16:creationId xmlns:a16="http://schemas.microsoft.com/office/drawing/2014/main" id="{832B0C87-3C1F-7806-ABC0-0C1B854C044F}"/>
                </a:ext>
              </a:extLst>
            </p:cNvPr>
            <p:cNvSpPr>
              <a:spLocks noChangeArrowheads="1"/>
            </p:cNvSpPr>
            <p:nvPr/>
          </p:nvSpPr>
          <p:spPr bwMode="auto">
            <a:xfrm>
              <a:off x="3513435" y="1631964"/>
              <a:ext cx="766577" cy="20321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排程控制</a:t>
              </a:r>
              <a:endParaRPr lang="en-GB" altLang="en-US" sz="800" dirty="0">
                <a:solidFill>
                  <a:schemeClr val="tx1"/>
                </a:solidFill>
                <a:latin typeface="+mj-ea"/>
                <a:ea typeface="+mj-ea"/>
              </a:endParaRPr>
            </a:p>
          </p:txBody>
        </p:sp>
        <p:sp>
          <p:nvSpPr>
            <p:cNvPr id="29" name="AutoShape 7">
              <a:extLst>
                <a:ext uri="{FF2B5EF4-FFF2-40B4-BE49-F238E27FC236}">
                  <a16:creationId xmlns:a16="http://schemas.microsoft.com/office/drawing/2014/main" id="{A0A45691-2E11-5DCA-45CF-2CE02E7DAA8E}"/>
                </a:ext>
              </a:extLst>
            </p:cNvPr>
            <p:cNvSpPr>
              <a:spLocks noChangeArrowheads="1"/>
            </p:cNvSpPr>
            <p:nvPr/>
          </p:nvSpPr>
          <p:spPr bwMode="auto">
            <a:xfrm>
              <a:off x="3858391" y="3587484"/>
              <a:ext cx="790432" cy="278059"/>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dirty="0">
                  <a:solidFill>
                    <a:schemeClr val="tx1"/>
                  </a:solidFill>
                  <a:latin typeface="+mj-ea"/>
                  <a:ea typeface="+mj-ea"/>
                </a:rPr>
                <a:t>DataMart</a:t>
              </a:r>
              <a:endParaRPr lang="en-GB" altLang="en-US" sz="800" dirty="0">
                <a:solidFill>
                  <a:schemeClr val="tx1"/>
                </a:solidFill>
                <a:latin typeface="+mj-ea"/>
                <a:ea typeface="+mj-ea"/>
              </a:endParaRPr>
            </a:p>
          </p:txBody>
        </p:sp>
        <p:sp>
          <p:nvSpPr>
            <p:cNvPr id="30" name="AutoShape 7">
              <a:extLst>
                <a:ext uri="{FF2B5EF4-FFF2-40B4-BE49-F238E27FC236}">
                  <a16:creationId xmlns:a16="http://schemas.microsoft.com/office/drawing/2014/main" id="{ACEFBA32-F8F1-9446-0860-9D9E1306E031}"/>
                </a:ext>
              </a:extLst>
            </p:cNvPr>
            <p:cNvSpPr>
              <a:spLocks noChangeArrowheads="1"/>
            </p:cNvSpPr>
            <p:nvPr/>
          </p:nvSpPr>
          <p:spPr bwMode="auto">
            <a:xfrm>
              <a:off x="3519203" y="1417759"/>
              <a:ext cx="760809" cy="189545"/>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800" dirty="0">
                  <a:solidFill>
                    <a:schemeClr val="tx1"/>
                  </a:solidFill>
                  <a:latin typeface="+mj-ea"/>
                  <a:ea typeface="+mj-ea"/>
                </a:rPr>
                <a:t>Pipeline</a:t>
              </a:r>
              <a:endParaRPr lang="en-GB" altLang="en-US" sz="800" dirty="0">
                <a:solidFill>
                  <a:schemeClr val="tx1"/>
                </a:solidFill>
                <a:latin typeface="+mj-ea"/>
                <a:ea typeface="+mj-ea"/>
              </a:endParaRPr>
            </a:p>
          </p:txBody>
        </p:sp>
        <p:pic>
          <p:nvPicPr>
            <p:cNvPr id="31" name="Picture 16" descr="Minio and Nextcloud – Stuff I'm Up To">
              <a:extLst>
                <a:ext uri="{FF2B5EF4-FFF2-40B4-BE49-F238E27FC236}">
                  <a16:creationId xmlns:a16="http://schemas.microsoft.com/office/drawing/2014/main" id="{74D0ACD0-74F2-2127-D09E-D4504C99122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2852" y="3882845"/>
              <a:ext cx="1000383" cy="20558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8" descr="Apache Druid vs. ClickHouse - Imply">
              <a:extLst>
                <a:ext uri="{FF2B5EF4-FFF2-40B4-BE49-F238E27FC236}">
                  <a16:creationId xmlns:a16="http://schemas.microsoft.com/office/drawing/2014/main" id="{9806D2F5-A6D0-DB5F-FB96-357EB25627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72075" y="3920999"/>
              <a:ext cx="465564" cy="294570"/>
            </a:xfrm>
            <a:prstGeom prst="rect">
              <a:avLst/>
            </a:prstGeom>
            <a:noFill/>
            <a:extLst>
              <a:ext uri="{909E8E84-426E-40DD-AFC4-6F175D3DCCD1}">
                <a14:hiddenFill xmlns:a14="http://schemas.microsoft.com/office/drawing/2010/main">
                  <a:solidFill>
                    <a:srgbClr val="FFFFFF"/>
                  </a:solidFill>
                </a14:hiddenFill>
              </a:ext>
            </a:extLst>
          </p:spPr>
        </p:pic>
        <p:sp>
          <p:nvSpPr>
            <p:cNvPr id="33" name="Rounded Rectangle 115">
              <a:extLst>
                <a:ext uri="{FF2B5EF4-FFF2-40B4-BE49-F238E27FC236}">
                  <a16:creationId xmlns:a16="http://schemas.microsoft.com/office/drawing/2014/main" id="{0AB6899E-44C5-193C-E167-8572D0A711AD}"/>
                </a:ext>
              </a:extLst>
            </p:cNvPr>
            <p:cNvSpPr>
              <a:spLocks noChangeArrowheads="1"/>
            </p:cNvSpPr>
            <p:nvPr/>
          </p:nvSpPr>
          <p:spPr bwMode="auto">
            <a:xfrm>
              <a:off x="4614477" y="1114195"/>
              <a:ext cx="2205566" cy="1408015"/>
            </a:xfrm>
            <a:prstGeom prst="roundRect">
              <a:avLst>
                <a:gd name="adj" fmla="val 7651"/>
              </a:avLst>
            </a:prstGeom>
            <a:solidFill>
              <a:schemeClr val="bg1"/>
            </a:solidFill>
            <a:ln>
              <a:solidFill>
                <a:schemeClr val="tx1"/>
              </a:solidFill>
            </a:ln>
          </p:spPr>
          <p:txBody>
            <a:bodyPr lIns="0" tIns="36000" rIns="0" anchorCtr="1"/>
            <a:lstStyle/>
            <a:p>
              <a:pPr algn="ctr">
                <a:lnSpc>
                  <a:spcPct val="85000"/>
                </a:lnSpc>
                <a:spcBef>
                  <a:spcPct val="0"/>
                </a:spcBef>
              </a:pPr>
              <a:r>
                <a:rPr lang="zh-TW" altLang="en-US" sz="1600" b="1" dirty="0">
                  <a:latin typeface="+mj-ea"/>
                  <a:ea typeface="+mj-ea"/>
                </a:rPr>
                <a:t>數據探索</a:t>
              </a:r>
              <a:endParaRPr lang="en-US" altLang="en-US" sz="1600" b="1" dirty="0">
                <a:latin typeface="+mj-ea"/>
                <a:ea typeface="+mj-ea"/>
              </a:endParaRPr>
            </a:p>
          </p:txBody>
        </p:sp>
        <p:sp>
          <p:nvSpPr>
            <p:cNvPr id="34" name="Rounded Rectangle 115">
              <a:extLst>
                <a:ext uri="{FF2B5EF4-FFF2-40B4-BE49-F238E27FC236}">
                  <a16:creationId xmlns:a16="http://schemas.microsoft.com/office/drawing/2014/main" id="{604A0EB4-47F1-130B-8C90-4E3F19582365}"/>
                </a:ext>
              </a:extLst>
            </p:cNvPr>
            <p:cNvSpPr>
              <a:spLocks noChangeArrowheads="1"/>
            </p:cNvSpPr>
            <p:nvPr/>
          </p:nvSpPr>
          <p:spPr bwMode="auto">
            <a:xfrm>
              <a:off x="1787389" y="5460982"/>
              <a:ext cx="5020182" cy="723888"/>
            </a:xfrm>
            <a:prstGeom prst="roundRect">
              <a:avLst>
                <a:gd name="adj" fmla="val 7651"/>
              </a:avLst>
            </a:prstGeom>
            <a:solidFill>
              <a:schemeClr val="bg1"/>
            </a:solidFill>
            <a:ln>
              <a:solidFill>
                <a:schemeClr val="tx1"/>
              </a:solidFill>
            </a:ln>
          </p:spPr>
          <p:txBody>
            <a:bodyPr vert="eaVert" lIns="0" tIns="36000" rIns="0" anchor="t" anchorCtr="0"/>
            <a:lstStyle/>
            <a:p>
              <a:pPr algn="ctr">
                <a:lnSpc>
                  <a:spcPct val="85000"/>
                </a:lnSpc>
                <a:spcBef>
                  <a:spcPct val="0"/>
                </a:spcBef>
              </a:pPr>
              <a:r>
                <a:rPr lang="zh-TW" altLang="en-US" sz="1600" b="1" dirty="0">
                  <a:latin typeface="+mj-ea"/>
                  <a:ea typeface="+mj-ea"/>
                </a:rPr>
                <a:t>維運</a:t>
              </a:r>
              <a:endParaRPr lang="en-US" altLang="en-US" sz="1600" b="1" dirty="0">
                <a:latin typeface="+mj-ea"/>
                <a:ea typeface="+mj-ea"/>
              </a:endParaRPr>
            </a:p>
          </p:txBody>
        </p:sp>
        <p:sp>
          <p:nvSpPr>
            <p:cNvPr id="35" name="AutoShape 7">
              <a:extLst>
                <a:ext uri="{FF2B5EF4-FFF2-40B4-BE49-F238E27FC236}">
                  <a16:creationId xmlns:a16="http://schemas.microsoft.com/office/drawing/2014/main" id="{8EFDE3EB-A53A-2365-D4AD-942C0AD347CB}"/>
                </a:ext>
              </a:extLst>
            </p:cNvPr>
            <p:cNvSpPr>
              <a:spLocks noChangeArrowheads="1"/>
            </p:cNvSpPr>
            <p:nvPr/>
          </p:nvSpPr>
          <p:spPr bwMode="auto">
            <a:xfrm>
              <a:off x="4028917" y="5517815"/>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dirty="0">
                  <a:latin typeface="+mj-ea"/>
                  <a:ea typeface="+mj-ea"/>
                </a:rPr>
                <a:t>監控設定</a:t>
              </a:r>
              <a:endParaRPr lang="en-GB" altLang="en-US" sz="800" dirty="0">
                <a:latin typeface="+mj-ea"/>
                <a:ea typeface="+mj-ea"/>
              </a:endParaRPr>
            </a:p>
          </p:txBody>
        </p:sp>
        <p:sp>
          <p:nvSpPr>
            <p:cNvPr id="36" name="AutoShape 7">
              <a:extLst>
                <a:ext uri="{FF2B5EF4-FFF2-40B4-BE49-F238E27FC236}">
                  <a16:creationId xmlns:a16="http://schemas.microsoft.com/office/drawing/2014/main" id="{31BEBBEE-0696-D558-8F0B-BCCB5985E86B}"/>
                </a:ext>
              </a:extLst>
            </p:cNvPr>
            <p:cNvSpPr>
              <a:spLocks noChangeArrowheads="1"/>
            </p:cNvSpPr>
            <p:nvPr/>
          </p:nvSpPr>
          <p:spPr bwMode="auto">
            <a:xfrm>
              <a:off x="4605739" y="5517814"/>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dirty="0">
                  <a:latin typeface="+mj-ea"/>
                  <a:ea typeface="+mj-ea"/>
                </a:rPr>
                <a:t>報警通知</a:t>
              </a:r>
              <a:endParaRPr lang="en-GB" altLang="en-US" sz="800" dirty="0">
                <a:latin typeface="+mj-ea"/>
                <a:ea typeface="+mj-ea"/>
              </a:endParaRPr>
            </a:p>
          </p:txBody>
        </p:sp>
        <p:sp>
          <p:nvSpPr>
            <p:cNvPr id="37" name="AutoShape 7">
              <a:extLst>
                <a:ext uri="{FF2B5EF4-FFF2-40B4-BE49-F238E27FC236}">
                  <a16:creationId xmlns:a16="http://schemas.microsoft.com/office/drawing/2014/main" id="{046F0698-9813-5384-5C54-721AEC2CD5A4}"/>
                </a:ext>
              </a:extLst>
            </p:cNvPr>
            <p:cNvSpPr>
              <a:spLocks noChangeArrowheads="1"/>
            </p:cNvSpPr>
            <p:nvPr/>
          </p:nvSpPr>
          <p:spPr bwMode="auto">
            <a:xfrm>
              <a:off x="1814833" y="5511367"/>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en-US" altLang="en-US" sz="800" dirty="0">
                  <a:latin typeface="+mj-ea"/>
                  <a:ea typeface="+mj-ea"/>
                </a:rPr>
                <a:t>HA</a:t>
              </a:r>
              <a:r>
                <a:rPr lang="zh-TW" altLang="en-US" sz="800" dirty="0">
                  <a:latin typeface="+mj-ea"/>
                  <a:ea typeface="+mj-ea"/>
                </a:rPr>
                <a:t>運行</a:t>
              </a:r>
              <a:endParaRPr lang="en-GB" altLang="en-US" dirty="0"/>
            </a:p>
          </p:txBody>
        </p:sp>
        <p:sp>
          <p:nvSpPr>
            <p:cNvPr id="38" name="AutoShape 7">
              <a:extLst>
                <a:ext uri="{FF2B5EF4-FFF2-40B4-BE49-F238E27FC236}">
                  <a16:creationId xmlns:a16="http://schemas.microsoft.com/office/drawing/2014/main" id="{34C0849E-8591-C82E-CE33-F8ED4542C37A}"/>
                </a:ext>
              </a:extLst>
            </p:cNvPr>
            <p:cNvSpPr>
              <a:spLocks noChangeArrowheads="1"/>
            </p:cNvSpPr>
            <p:nvPr/>
          </p:nvSpPr>
          <p:spPr bwMode="auto">
            <a:xfrm>
              <a:off x="5166035" y="5512588"/>
              <a:ext cx="651649" cy="26820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dirty="0">
                  <a:latin typeface="+mj-ea"/>
                  <a:ea typeface="+mj-ea"/>
                </a:rPr>
                <a:t>備份還原</a:t>
              </a:r>
              <a:endParaRPr lang="en-GB" altLang="en-US" sz="800" dirty="0">
                <a:latin typeface="+mj-ea"/>
                <a:ea typeface="+mj-ea"/>
              </a:endParaRPr>
            </a:p>
          </p:txBody>
        </p:sp>
        <p:sp>
          <p:nvSpPr>
            <p:cNvPr id="39" name="AutoShape 7">
              <a:extLst>
                <a:ext uri="{FF2B5EF4-FFF2-40B4-BE49-F238E27FC236}">
                  <a16:creationId xmlns:a16="http://schemas.microsoft.com/office/drawing/2014/main" id="{01493B52-8044-AC72-CFFE-EE11FD3E2469}"/>
                </a:ext>
              </a:extLst>
            </p:cNvPr>
            <p:cNvSpPr>
              <a:spLocks noChangeArrowheads="1"/>
            </p:cNvSpPr>
            <p:nvPr/>
          </p:nvSpPr>
          <p:spPr bwMode="auto">
            <a:xfrm>
              <a:off x="4693473" y="3586856"/>
              <a:ext cx="562761" cy="278059"/>
            </a:xfrm>
            <a:prstGeom prst="roundRect">
              <a:avLst>
                <a:gd name="adj" fmla="val 10671"/>
              </a:avLst>
            </a:prstGeom>
            <a:solidFill>
              <a:schemeClr val="bg1"/>
            </a:solidFill>
            <a:ln w="9525">
              <a:solidFill>
                <a:srgbClr val="000000"/>
              </a:solidFill>
              <a:round/>
              <a:headEnd/>
              <a:tailEnd/>
            </a:ln>
          </p:spPr>
          <p:txBody>
            <a:bodyPr lIns="18000" tIns="0" rIns="1800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dirty="0">
                  <a:solidFill>
                    <a:schemeClr val="tx1"/>
                  </a:solidFill>
                  <a:latin typeface="+mj-ea"/>
                  <a:ea typeface="+mj-ea"/>
                </a:rPr>
                <a:t>Sematic Layer</a:t>
              </a:r>
              <a:endParaRPr lang="en-GB" altLang="en-US" sz="800" dirty="0">
                <a:solidFill>
                  <a:schemeClr val="tx1"/>
                </a:solidFill>
                <a:latin typeface="+mj-ea"/>
                <a:ea typeface="+mj-ea"/>
              </a:endParaRPr>
            </a:p>
          </p:txBody>
        </p:sp>
        <p:pic>
          <p:nvPicPr>
            <p:cNvPr id="40" name="Picture 20" descr="Cube — The Universal Semantic Layer">
              <a:extLst>
                <a:ext uri="{FF2B5EF4-FFF2-40B4-BE49-F238E27FC236}">
                  <a16:creationId xmlns:a16="http://schemas.microsoft.com/office/drawing/2014/main" id="{40A39CA4-B8B7-7ECC-F66A-26E078BD961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93473" y="3970465"/>
              <a:ext cx="615494" cy="177321"/>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a:extLst>
                <a:ext uri="{FF2B5EF4-FFF2-40B4-BE49-F238E27FC236}">
                  <a16:creationId xmlns:a16="http://schemas.microsoft.com/office/drawing/2014/main" id="{52A87D94-021B-4CBD-B266-06D763EF3C58}"/>
                </a:ext>
              </a:extLst>
            </p:cNvPr>
            <p:cNvSpPr/>
            <p:nvPr/>
          </p:nvSpPr>
          <p:spPr>
            <a:xfrm>
              <a:off x="2689598" y="1859130"/>
              <a:ext cx="827635" cy="645479"/>
            </a:xfrm>
            <a:prstGeom prst="rect">
              <a:avLst/>
            </a:prstGeom>
            <a:noFill/>
            <a:ln w="19050">
              <a:solidFill>
                <a:srgbClr val="92D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2" name="Picture 22" descr="Use Prometheus to Monitor End Devices | by Ken Chen | Medium">
              <a:extLst>
                <a:ext uri="{FF2B5EF4-FFF2-40B4-BE49-F238E27FC236}">
                  <a16:creationId xmlns:a16="http://schemas.microsoft.com/office/drawing/2014/main" id="{0595652C-C2B1-D9D3-6860-A433991C06D7}"/>
                </a:ext>
              </a:extLst>
            </p:cNvPr>
            <p:cNvPicPr>
              <a:picLocks noChangeAspect="1" noChangeArrowheads="1"/>
            </p:cNvPicPr>
            <p:nvPr/>
          </p:nvPicPr>
          <p:blipFill rotWithShape="1">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l="12200" t="33705" r="14000" b="33840"/>
            <a:stretch/>
          </p:blipFill>
          <p:spPr bwMode="auto">
            <a:xfrm>
              <a:off x="4098274" y="5841384"/>
              <a:ext cx="978975" cy="254011"/>
            </a:xfrm>
            <a:prstGeom prst="rect">
              <a:avLst/>
            </a:prstGeom>
            <a:noFill/>
            <a:extLst>
              <a:ext uri="{909E8E84-426E-40DD-AFC4-6F175D3DCCD1}">
                <a14:hiddenFill xmlns:a14="http://schemas.microsoft.com/office/drawing/2010/main">
                  <a:solidFill>
                    <a:srgbClr val="FFFFFF"/>
                  </a:solidFill>
                </a14:hiddenFill>
              </a:ext>
            </a:extLst>
          </p:spPr>
        </p:pic>
        <p:pic>
          <p:nvPicPr>
            <p:cNvPr id="43" name="圖片 42">
              <a:extLst>
                <a:ext uri="{FF2B5EF4-FFF2-40B4-BE49-F238E27FC236}">
                  <a16:creationId xmlns:a16="http://schemas.microsoft.com/office/drawing/2014/main" id="{18E9FAF7-4966-4B8F-37E9-2D1B8888BE27}"/>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3104685" y="3910735"/>
              <a:ext cx="972984" cy="173313"/>
            </a:xfrm>
            <a:prstGeom prst="rect">
              <a:avLst/>
            </a:prstGeom>
          </p:spPr>
        </p:pic>
        <p:sp>
          <p:nvSpPr>
            <p:cNvPr id="44" name="AutoShape 7">
              <a:extLst>
                <a:ext uri="{FF2B5EF4-FFF2-40B4-BE49-F238E27FC236}">
                  <a16:creationId xmlns:a16="http://schemas.microsoft.com/office/drawing/2014/main" id="{29290654-675F-908E-2E88-F2B439A681CB}"/>
                </a:ext>
              </a:extLst>
            </p:cNvPr>
            <p:cNvSpPr>
              <a:spLocks noChangeArrowheads="1"/>
            </p:cNvSpPr>
            <p:nvPr/>
          </p:nvSpPr>
          <p:spPr bwMode="auto">
            <a:xfrm>
              <a:off x="5300884" y="3586856"/>
              <a:ext cx="562761" cy="278059"/>
            </a:xfrm>
            <a:prstGeom prst="roundRect">
              <a:avLst>
                <a:gd name="adj" fmla="val 10671"/>
              </a:avLst>
            </a:prstGeom>
            <a:solidFill>
              <a:schemeClr val="bg1"/>
            </a:solidFill>
            <a:ln w="9525">
              <a:solidFill>
                <a:srgbClr val="000000"/>
              </a:solidFill>
              <a:round/>
              <a:headEnd/>
              <a:tailEnd/>
            </a:ln>
          </p:spPr>
          <p:txBody>
            <a:bodyPr lIns="18000" tIns="0" rIns="1800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GB" altLang="en-US" sz="800" dirty="0">
                  <a:solidFill>
                    <a:schemeClr val="tx1"/>
                  </a:solidFill>
                  <a:latin typeface="+mj-ea"/>
                  <a:ea typeface="+mj-ea"/>
                </a:rPr>
                <a:t>Data</a:t>
              </a:r>
            </a:p>
            <a:p>
              <a:pPr algn="ctr" eaLnBrk="1" hangingPunct="1">
                <a:lnSpc>
                  <a:spcPct val="85000"/>
                </a:lnSpc>
                <a:spcBef>
                  <a:spcPct val="0"/>
                </a:spcBef>
                <a:buFontTx/>
                <a:buNone/>
              </a:pPr>
              <a:r>
                <a:rPr lang="en-GB" altLang="en-US" sz="800" dirty="0">
                  <a:solidFill>
                    <a:schemeClr val="tx1"/>
                  </a:solidFill>
                  <a:latin typeface="+mj-ea"/>
                  <a:ea typeface="+mj-ea"/>
                </a:rPr>
                <a:t>Cache</a:t>
              </a:r>
            </a:p>
          </p:txBody>
        </p:sp>
        <p:sp>
          <p:nvSpPr>
            <p:cNvPr id="45" name="AutoShape 7">
              <a:extLst>
                <a:ext uri="{FF2B5EF4-FFF2-40B4-BE49-F238E27FC236}">
                  <a16:creationId xmlns:a16="http://schemas.microsoft.com/office/drawing/2014/main" id="{0256CD78-896F-C75A-5543-B3E608303AEA}"/>
                </a:ext>
              </a:extLst>
            </p:cNvPr>
            <p:cNvSpPr>
              <a:spLocks noChangeArrowheads="1"/>
            </p:cNvSpPr>
            <p:nvPr/>
          </p:nvSpPr>
          <p:spPr bwMode="auto">
            <a:xfrm>
              <a:off x="5854371" y="5507597"/>
              <a:ext cx="555684" cy="26820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bg1">
                      <a:lumMod val="65000"/>
                    </a:schemeClr>
                  </a:solidFill>
                  <a:latin typeface="+mj-ea"/>
                  <a:ea typeface="+mj-ea"/>
                </a:rPr>
                <a:t>更版部屬</a:t>
              </a:r>
              <a:endParaRPr lang="en-GB" altLang="en-US" sz="800" dirty="0">
                <a:solidFill>
                  <a:schemeClr val="bg1">
                    <a:lumMod val="65000"/>
                  </a:schemeClr>
                </a:solidFill>
                <a:latin typeface="+mj-ea"/>
                <a:ea typeface="+mj-ea"/>
              </a:endParaRPr>
            </a:p>
          </p:txBody>
        </p:sp>
        <p:sp>
          <p:nvSpPr>
            <p:cNvPr id="46" name="AutoShape 7">
              <a:extLst>
                <a:ext uri="{FF2B5EF4-FFF2-40B4-BE49-F238E27FC236}">
                  <a16:creationId xmlns:a16="http://schemas.microsoft.com/office/drawing/2014/main" id="{B3FD7782-A696-EC56-A14D-2254D546C09E}"/>
                </a:ext>
              </a:extLst>
            </p:cNvPr>
            <p:cNvSpPr>
              <a:spLocks noChangeArrowheads="1"/>
            </p:cNvSpPr>
            <p:nvPr/>
          </p:nvSpPr>
          <p:spPr bwMode="auto">
            <a:xfrm>
              <a:off x="4694381" y="3278371"/>
              <a:ext cx="1169264" cy="271263"/>
            </a:xfrm>
            <a:prstGeom prst="roundRect">
              <a:avLst>
                <a:gd name="adj" fmla="val 6967"/>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800" dirty="0">
                  <a:solidFill>
                    <a:schemeClr val="tx1"/>
                  </a:solidFill>
                  <a:latin typeface="+mj-ea"/>
                  <a:ea typeface="+mj-ea"/>
                </a:rPr>
                <a:t>Metric Store</a:t>
              </a:r>
              <a:endParaRPr lang="en-GB" altLang="en-US" sz="800" dirty="0">
                <a:solidFill>
                  <a:schemeClr val="tx1"/>
                </a:solidFill>
                <a:latin typeface="+mj-ea"/>
                <a:ea typeface="+mj-ea"/>
              </a:endParaRPr>
            </a:p>
          </p:txBody>
        </p:sp>
        <p:sp>
          <p:nvSpPr>
            <p:cNvPr id="47" name="AutoShape 7">
              <a:extLst>
                <a:ext uri="{FF2B5EF4-FFF2-40B4-BE49-F238E27FC236}">
                  <a16:creationId xmlns:a16="http://schemas.microsoft.com/office/drawing/2014/main" id="{1A0335CC-D02B-8595-657B-188F8078021B}"/>
                </a:ext>
              </a:extLst>
            </p:cNvPr>
            <p:cNvSpPr>
              <a:spLocks noChangeArrowheads="1"/>
            </p:cNvSpPr>
            <p:nvPr/>
          </p:nvSpPr>
          <p:spPr bwMode="auto">
            <a:xfrm>
              <a:off x="5996330" y="3677173"/>
              <a:ext cx="779062" cy="199243"/>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1000" dirty="0">
                  <a:solidFill>
                    <a:schemeClr val="bg1">
                      <a:lumMod val="65000"/>
                    </a:schemeClr>
                  </a:solidFill>
                  <a:latin typeface="+mj-ea"/>
                  <a:ea typeface="+mj-ea"/>
                </a:rPr>
                <a:t>Pipeline</a:t>
              </a:r>
              <a:endParaRPr lang="en-GB" altLang="en-US" sz="1000" dirty="0">
                <a:solidFill>
                  <a:schemeClr val="bg1">
                    <a:lumMod val="65000"/>
                  </a:schemeClr>
                </a:solidFill>
                <a:latin typeface="+mj-ea"/>
                <a:ea typeface="+mj-ea"/>
              </a:endParaRPr>
            </a:p>
          </p:txBody>
        </p:sp>
        <p:sp>
          <p:nvSpPr>
            <p:cNvPr id="48" name="Rounded Rectangle 115">
              <a:extLst>
                <a:ext uri="{FF2B5EF4-FFF2-40B4-BE49-F238E27FC236}">
                  <a16:creationId xmlns:a16="http://schemas.microsoft.com/office/drawing/2014/main" id="{FF584E79-94A1-A846-5794-045F9822B30B}"/>
                </a:ext>
              </a:extLst>
            </p:cNvPr>
            <p:cNvSpPr>
              <a:spLocks noChangeArrowheads="1"/>
            </p:cNvSpPr>
            <p:nvPr/>
          </p:nvSpPr>
          <p:spPr bwMode="auto">
            <a:xfrm>
              <a:off x="538001" y="1103412"/>
              <a:ext cx="960437" cy="2132320"/>
            </a:xfrm>
            <a:prstGeom prst="roundRect">
              <a:avLst>
                <a:gd name="adj" fmla="val 16667"/>
              </a:avLst>
            </a:prstGeom>
            <a:solidFill>
              <a:srgbClr val="C5E9FF"/>
            </a:solidFill>
            <a:ln>
              <a:noFill/>
            </a:ln>
          </p:spPr>
          <p:txBody>
            <a:bodyPr lIns="0" tIns="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zh-TW" sz="1100" dirty="0">
                  <a:solidFill>
                    <a:schemeClr val="tx1"/>
                  </a:solidFill>
                  <a:latin typeface="Calibri" panose="020F0502020204030204" pitchFamily="34" charset="0"/>
                </a:rPr>
                <a:t>Data Type</a:t>
              </a:r>
              <a:endParaRPr lang="en-US" altLang="en-US" sz="1100" dirty="0">
                <a:solidFill>
                  <a:schemeClr val="tx1"/>
                </a:solidFill>
                <a:latin typeface="Calibri" panose="020F0502020204030204" pitchFamily="34" charset="0"/>
              </a:endParaRPr>
            </a:p>
          </p:txBody>
        </p:sp>
        <p:grpSp>
          <p:nvGrpSpPr>
            <p:cNvPr id="49" name="Group 138">
              <a:extLst>
                <a:ext uri="{FF2B5EF4-FFF2-40B4-BE49-F238E27FC236}">
                  <a16:creationId xmlns:a16="http://schemas.microsoft.com/office/drawing/2014/main" id="{C9055B59-9037-F908-C03A-4ADB26B45513}"/>
                </a:ext>
              </a:extLst>
            </p:cNvPr>
            <p:cNvGrpSpPr>
              <a:grpSpLocks/>
            </p:cNvGrpSpPr>
            <p:nvPr/>
          </p:nvGrpSpPr>
          <p:grpSpPr bwMode="auto">
            <a:xfrm>
              <a:off x="572925" y="1481237"/>
              <a:ext cx="849312" cy="304800"/>
              <a:chOff x="165" y="1083"/>
              <a:chExt cx="535" cy="240"/>
            </a:xfrm>
          </p:grpSpPr>
          <p:sp>
            <p:nvSpPr>
              <p:cNvPr id="126" name="Rounded Rectangle 143">
                <a:extLst>
                  <a:ext uri="{FF2B5EF4-FFF2-40B4-BE49-F238E27FC236}">
                    <a16:creationId xmlns:a16="http://schemas.microsoft.com/office/drawing/2014/main" id="{581E7E31-1414-EDDF-463F-7622E7BDA8D6}"/>
                  </a:ext>
                </a:extLst>
              </p:cNvPr>
              <p:cNvSpPr>
                <a:spLocks noChangeArrowheads="1"/>
              </p:cNvSpPr>
              <p:nvPr/>
            </p:nvSpPr>
            <p:spPr bwMode="auto">
              <a:xfrm>
                <a:off x="165" y="1083"/>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r" eaLnBrk="1" hangingPunct="1">
                  <a:lnSpc>
                    <a:spcPct val="97000"/>
                  </a:lnSpc>
                  <a:spcBef>
                    <a:spcPct val="0"/>
                  </a:spcBef>
                  <a:buClr>
                    <a:srgbClr val="000600"/>
                  </a:buClr>
                  <a:buFont typeface="Arial" panose="020B0604020202020204" pitchFamily="34" charset="0"/>
                  <a:buNone/>
                </a:pPr>
                <a:r>
                  <a:rPr lang="en-US" altLang="en-US" sz="800" b="0" dirty="0"/>
                  <a:t>        Machine &amp;</a:t>
                </a:r>
              </a:p>
              <a:p>
                <a:pPr algn="r" eaLnBrk="1" hangingPunct="1">
                  <a:lnSpc>
                    <a:spcPct val="97000"/>
                  </a:lnSpc>
                  <a:spcBef>
                    <a:spcPct val="0"/>
                  </a:spcBef>
                  <a:buClr>
                    <a:srgbClr val="000600"/>
                  </a:buClr>
                  <a:buFont typeface="Arial" panose="020B0604020202020204" pitchFamily="34" charset="0"/>
                  <a:buNone/>
                </a:pPr>
                <a:r>
                  <a:rPr lang="en-US" altLang="en-US" sz="800" b="0" dirty="0"/>
                  <a:t> Sensor Data </a:t>
                </a:r>
              </a:p>
            </p:txBody>
          </p:sp>
          <p:pic>
            <p:nvPicPr>
              <p:cNvPr id="127" name="Picture 117" descr="18b.png">
                <a:extLst>
                  <a:ext uri="{FF2B5EF4-FFF2-40B4-BE49-F238E27FC236}">
                    <a16:creationId xmlns:a16="http://schemas.microsoft.com/office/drawing/2014/main" id="{26E28AEA-012C-11A7-7AA8-9B4FF3573157}"/>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170" y="1131"/>
                <a:ext cx="118"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0" name="Group 141">
              <a:extLst>
                <a:ext uri="{FF2B5EF4-FFF2-40B4-BE49-F238E27FC236}">
                  <a16:creationId xmlns:a16="http://schemas.microsoft.com/office/drawing/2014/main" id="{1D200A0F-CAC6-8CB6-FB4D-923AFB903F51}"/>
                </a:ext>
              </a:extLst>
            </p:cNvPr>
            <p:cNvGrpSpPr>
              <a:grpSpLocks/>
            </p:cNvGrpSpPr>
            <p:nvPr/>
          </p:nvGrpSpPr>
          <p:grpSpPr bwMode="auto">
            <a:xfrm>
              <a:off x="572925" y="1893987"/>
              <a:ext cx="849312" cy="304800"/>
              <a:chOff x="165" y="1371"/>
              <a:chExt cx="535" cy="240"/>
            </a:xfrm>
          </p:grpSpPr>
          <p:sp>
            <p:nvSpPr>
              <p:cNvPr id="124" name="Rounded Rectangle 143">
                <a:extLst>
                  <a:ext uri="{FF2B5EF4-FFF2-40B4-BE49-F238E27FC236}">
                    <a16:creationId xmlns:a16="http://schemas.microsoft.com/office/drawing/2014/main" id="{DF38207A-EF64-0251-842A-F8204B4B6267}"/>
                  </a:ext>
                </a:extLst>
              </p:cNvPr>
              <p:cNvSpPr>
                <a:spLocks noChangeArrowheads="1"/>
              </p:cNvSpPr>
              <p:nvPr/>
            </p:nvSpPr>
            <p:spPr bwMode="auto">
              <a:xfrm>
                <a:off x="165" y="1371"/>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  Image &amp;     Video </a:t>
                </a:r>
              </a:p>
            </p:txBody>
          </p:sp>
          <p:pic>
            <p:nvPicPr>
              <p:cNvPr id="125" name="Picture 108" descr="16b.png">
                <a:extLst>
                  <a:ext uri="{FF2B5EF4-FFF2-40B4-BE49-F238E27FC236}">
                    <a16:creationId xmlns:a16="http://schemas.microsoft.com/office/drawing/2014/main" id="{29F2DAD8-1268-D9CD-9B55-DED644A23BE8}"/>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172" y="1433"/>
                <a:ext cx="11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1" name="Group 144">
              <a:extLst>
                <a:ext uri="{FF2B5EF4-FFF2-40B4-BE49-F238E27FC236}">
                  <a16:creationId xmlns:a16="http://schemas.microsoft.com/office/drawing/2014/main" id="{85DB9680-6349-FB01-C733-CC276CC1E00C}"/>
                </a:ext>
              </a:extLst>
            </p:cNvPr>
            <p:cNvGrpSpPr>
              <a:grpSpLocks/>
            </p:cNvGrpSpPr>
            <p:nvPr/>
          </p:nvGrpSpPr>
          <p:grpSpPr bwMode="auto">
            <a:xfrm>
              <a:off x="564195" y="2700120"/>
              <a:ext cx="849312" cy="304800"/>
              <a:chOff x="165" y="1715"/>
              <a:chExt cx="535" cy="240"/>
            </a:xfrm>
          </p:grpSpPr>
          <p:sp>
            <p:nvSpPr>
              <p:cNvPr id="122" name="Rounded Rectangle 143">
                <a:extLst>
                  <a:ext uri="{FF2B5EF4-FFF2-40B4-BE49-F238E27FC236}">
                    <a16:creationId xmlns:a16="http://schemas.microsoft.com/office/drawing/2014/main" id="{B5F79E4E-BEA8-990D-8791-0C4C7C6D1385}"/>
                  </a:ext>
                </a:extLst>
              </p:cNvPr>
              <p:cNvSpPr>
                <a:spLocks noChangeArrowheads="1"/>
              </p:cNvSpPr>
              <p:nvPr/>
            </p:nvSpPr>
            <p:spPr bwMode="auto">
              <a:xfrm>
                <a:off x="165" y="1715"/>
                <a:ext cx="535"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    Enterprise</a:t>
                </a:r>
              </a:p>
              <a:p>
                <a:pPr algn="ctr" eaLnBrk="1" hangingPunct="1">
                  <a:lnSpc>
                    <a:spcPct val="97000"/>
                  </a:lnSpc>
                  <a:spcBef>
                    <a:spcPct val="0"/>
                  </a:spcBef>
                  <a:buClr>
                    <a:srgbClr val="000600"/>
                  </a:buClr>
                  <a:buFont typeface="Arial" panose="020B0604020202020204" pitchFamily="34" charset="0"/>
                  <a:buNone/>
                </a:pPr>
                <a:r>
                  <a:rPr lang="en-US" altLang="en-US" sz="800" b="0" dirty="0"/>
                  <a:t>    Content Data</a:t>
                </a:r>
              </a:p>
            </p:txBody>
          </p:sp>
          <p:pic>
            <p:nvPicPr>
              <p:cNvPr id="123" name="Picture 109" descr="16c.png">
                <a:extLst>
                  <a:ext uri="{FF2B5EF4-FFF2-40B4-BE49-F238E27FC236}">
                    <a16:creationId xmlns:a16="http://schemas.microsoft.com/office/drawing/2014/main" id="{B3066642-4C68-36C9-2233-1D86BEA85874}"/>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191" y="1721"/>
                <a:ext cx="77"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2" name="Group 142">
              <a:extLst>
                <a:ext uri="{FF2B5EF4-FFF2-40B4-BE49-F238E27FC236}">
                  <a16:creationId xmlns:a16="http://schemas.microsoft.com/office/drawing/2014/main" id="{2D9AF155-3F26-2090-76BC-D3541B760571}"/>
                </a:ext>
              </a:extLst>
            </p:cNvPr>
            <p:cNvGrpSpPr>
              <a:grpSpLocks/>
            </p:cNvGrpSpPr>
            <p:nvPr/>
          </p:nvGrpSpPr>
          <p:grpSpPr bwMode="auto">
            <a:xfrm>
              <a:off x="538001" y="3310785"/>
              <a:ext cx="960437" cy="2222501"/>
              <a:chOff x="171" y="2320"/>
              <a:chExt cx="605" cy="1400"/>
            </a:xfrm>
          </p:grpSpPr>
          <p:sp>
            <p:nvSpPr>
              <p:cNvPr id="118" name="Rounded Rectangle 115">
                <a:extLst>
                  <a:ext uri="{FF2B5EF4-FFF2-40B4-BE49-F238E27FC236}">
                    <a16:creationId xmlns:a16="http://schemas.microsoft.com/office/drawing/2014/main" id="{AFFC725B-8867-C055-FC3D-4DFC3D28D547}"/>
                  </a:ext>
                </a:extLst>
              </p:cNvPr>
              <p:cNvSpPr>
                <a:spLocks noChangeArrowheads="1"/>
              </p:cNvSpPr>
              <p:nvPr/>
            </p:nvSpPr>
            <p:spPr bwMode="auto">
              <a:xfrm>
                <a:off x="171" y="2320"/>
                <a:ext cx="605" cy="1400"/>
              </a:xfrm>
              <a:prstGeom prst="roundRect">
                <a:avLst>
                  <a:gd name="adj" fmla="val 16667"/>
                </a:avLst>
              </a:prstGeom>
              <a:solidFill>
                <a:srgbClr val="C5E9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en-US" altLang="en-US" sz="1100" dirty="0">
                    <a:solidFill>
                      <a:schemeClr val="tx1"/>
                    </a:solidFill>
                    <a:latin typeface="Calibri" panose="020F0502020204030204" pitchFamily="34" charset="0"/>
                  </a:rPr>
                  <a:t>Sources</a:t>
                </a:r>
              </a:p>
            </p:txBody>
          </p:sp>
          <p:sp>
            <p:nvSpPr>
              <p:cNvPr id="119" name="Rounded Rectangle 143">
                <a:extLst>
                  <a:ext uri="{FF2B5EF4-FFF2-40B4-BE49-F238E27FC236}">
                    <a16:creationId xmlns:a16="http://schemas.microsoft.com/office/drawing/2014/main" id="{2FE79BD6-AA5C-1B2E-F022-6561EC2E789A}"/>
                  </a:ext>
                </a:extLst>
              </p:cNvPr>
              <p:cNvSpPr>
                <a:spLocks noChangeArrowheads="1"/>
              </p:cNvSpPr>
              <p:nvPr/>
            </p:nvSpPr>
            <p:spPr bwMode="auto">
              <a:xfrm>
                <a:off x="206" y="2608"/>
                <a:ext cx="517"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MES</a:t>
                </a:r>
              </a:p>
            </p:txBody>
          </p:sp>
          <p:sp>
            <p:nvSpPr>
              <p:cNvPr id="120" name="Rounded Rectangle 143">
                <a:extLst>
                  <a:ext uri="{FF2B5EF4-FFF2-40B4-BE49-F238E27FC236}">
                    <a16:creationId xmlns:a16="http://schemas.microsoft.com/office/drawing/2014/main" id="{0B35EE06-E68D-E093-FB6F-2D8D40B6FDE1}"/>
                  </a:ext>
                </a:extLst>
              </p:cNvPr>
              <p:cNvSpPr>
                <a:spLocks noChangeArrowheads="1"/>
              </p:cNvSpPr>
              <p:nvPr/>
            </p:nvSpPr>
            <p:spPr bwMode="auto">
              <a:xfrm>
                <a:off x="206" y="2828"/>
                <a:ext cx="522"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IOT</a:t>
                </a:r>
              </a:p>
            </p:txBody>
          </p:sp>
          <p:sp>
            <p:nvSpPr>
              <p:cNvPr id="121" name="Rounded Rectangle 143">
                <a:extLst>
                  <a:ext uri="{FF2B5EF4-FFF2-40B4-BE49-F238E27FC236}">
                    <a16:creationId xmlns:a16="http://schemas.microsoft.com/office/drawing/2014/main" id="{1FD3AE88-43E0-2361-914D-34837C113694}"/>
                  </a:ext>
                </a:extLst>
              </p:cNvPr>
              <p:cNvSpPr>
                <a:spLocks noChangeArrowheads="1"/>
              </p:cNvSpPr>
              <p:nvPr/>
            </p:nvSpPr>
            <p:spPr bwMode="auto">
              <a:xfrm>
                <a:off x="192" y="3052"/>
                <a:ext cx="535"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SAP</a:t>
                </a:r>
              </a:p>
            </p:txBody>
          </p:sp>
        </p:grpSp>
        <p:grpSp>
          <p:nvGrpSpPr>
            <p:cNvPr id="53" name="Group 167">
              <a:extLst>
                <a:ext uri="{FF2B5EF4-FFF2-40B4-BE49-F238E27FC236}">
                  <a16:creationId xmlns:a16="http://schemas.microsoft.com/office/drawing/2014/main" id="{4B810AF4-1DC6-DE93-A930-C9D7C7FF8F07}"/>
                </a:ext>
              </a:extLst>
            </p:cNvPr>
            <p:cNvGrpSpPr>
              <a:grpSpLocks/>
            </p:cNvGrpSpPr>
            <p:nvPr/>
          </p:nvGrpSpPr>
          <p:grpSpPr bwMode="auto">
            <a:xfrm>
              <a:off x="564195" y="2299595"/>
              <a:ext cx="849312" cy="304800"/>
              <a:chOff x="193" y="1975"/>
              <a:chExt cx="535" cy="192"/>
            </a:xfrm>
          </p:grpSpPr>
          <p:sp>
            <p:nvSpPr>
              <p:cNvPr id="116" name="Rounded Rectangle 143">
                <a:extLst>
                  <a:ext uri="{FF2B5EF4-FFF2-40B4-BE49-F238E27FC236}">
                    <a16:creationId xmlns:a16="http://schemas.microsoft.com/office/drawing/2014/main" id="{8B83C7AE-4A9A-340D-2674-B142E2B7A098}"/>
                  </a:ext>
                </a:extLst>
              </p:cNvPr>
              <p:cNvSpPr>
                <a:spLocks noChangeArrowheads="1"/>
              </p:cNvSpPr>
              <p:nvPr/>
            </p:nvSpPr>
            <p:spPr bwMode="auto">
              <a:xfrm>
                <a:off x="193" y="1975"/>
                <a:ext cx="535" cy="19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       Manufacture</a:t>
                </a:r>
              </a:p>
              <a:p>
                <a:pPr algn="ctr" eaLnBrk="1" hangingPunct="1">
                  <a:lnSpc>
                    <a:spcPct val="97000"/>
                  </a:lnSpc>
                  <a:spcBef>
                    <a:spcPct val="0"/>
                  </a:spcBef>
                  <a:buClr>
                    <a:srgbClr val="000600"/>
                  </a:buClr>
                  <a:buFont typeface="Arial" panose="020B0604020202020204" pitchFamily="34" charset="0"/>
                  <a:buNone/>
                </a:pPr>
                <a:r>
                  <a:rPr lang="en-US" altLang="en-US" sz="800" b="0" dirty="0"/>
                  <a:t>   Data </a:t>
                </a:r>
              </a:p>
            </p:txBody>
          </p:sp>
          <p:pic>
            <p:nvPicPr>
              <p:cNvPr id="117" name="Picture 111" descr="16e.png">
                <a:extLst>
                  <a:ext uri="{FF2B5EF4-FFF2-40B4-BE49-F238E27FC236}">
                    <a16:creationId xmlns:a16="http://schemas.microsoft.com/office/drawing/2014/main" id="{DD09D00D-36A2-F71C-6B74-DEECD092E7B7}"/>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05" y="1989"/>
                <a:ext cx="13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4" name="Rounded Rectangle 115">
              <a:extLst>
                <a:ext uri="{FF2B5EF4-FFF2-40B4-BE49-F238E27FC236}">
                  <a16:creationId xmlns:a16="http://schemas.microsoft.com/office/drawing/2014/main" id="{D35BE193-E94E-BF73-F6E2-17BA19C02D27}"/>
                </a:ext>
              </a:extLst>
            </p:cNvPr>
            <p:cNvSpPr>
              <a:spLocks noChangeArrowheads="1"/>
            </p:cNvSpPr>
            <p:nvPr/>
          </p:nvSpPr>
          <p:spPr bwMode="auto">
            <a:xfrm>
              <a:off x="7020776" y="762910"/>
              <a:ext cx="1860550" cy="4845876"/>
            </a:xfrm>
            <a:prstGeom prst="roundRect">
              <a:avLst>
                <a:gd name="adj" fmla="val 4790"/>
              </a:avLst>
            </a:prstGeom>
            <a:solidFill>
              <a:srgbClr val="00B0F0"/>
            </a:solidFill>
            <a:ln>
              <a:noFill/>
            </a:ln>
          </p:spPr>
          <p:txBody>
            <a:bodyPr lIns="0" tIns="0" rIns="0" bIns="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zh-TW" altLang="en-US" sz="1600" b="0" dirty="0">
                  <a:solidFill>
                    <a:schemeClr val="tx1"/>
                  </a:solidFill>
                  <a:latin typeface="微軟正黑體" panose="020B0604030504040204" pitchFamily="34" charset="-120"/>
                  <a:ea typeface="微軟正黑體" panose="020B0604030504040204" pitchFamily="34" charset="-120"/>
                </a:rPr>
                <a:t>數據應用</a:t>
              </a:r>
              <a:endParaRPr lang="en-US" altLang="en-US" sz="1600" b="0" dirty="0">
                <a:solidFill>
                  <a:schemeClr val="tx1"/>
                </a:solidFill>
                <a:latin typeface="微軟正黑體" panose="020B0604030504040204" pitchFamily="34" charset="-120"/>
                <a:ea typeface="微軟正黑體" panose="020B0604030504040204" pitchFamily="34" charset="-120"/>
              </a:endParaRPr>
            </a:p>
          </p:txBody>
        </p:sp>
        <p:grpSp>
          <p:nvGrpSpPr>
            <p:cNvPr id="55" name="Group 188">
              <a:extLst>
                <a:ext uri="{FF2B5EF4-FFF2-40B4-BE49-F238E27FC236}">
                  <a16:creationId xmlns:a16="http://schemas.microsoft.com/office/drawing/2014/main" id="{D2CC1F43-FCFA-21D8-F0D9-DAE88E1D29C6}"/>
                </a:ext>
              </a:extLst>
            </p:cNvPr>
            <p:cNvGrpSpPr>
              <a:grpSpLocks/>
            </p:cNvGrpSpPr>
            <p:nvPr/>
          </p:nvGrpSpPr>
          <p:grpSpPr bwMode="auto">
            <a:xfrm>
              <a:off x="7106501" y="1860731"/>
              <a:ext cx="1676400" cy="1707035"/>
              <a:chOff x="4512" y="1152"/>
              <a:chExt cx="1056" cy="1104"/>
            </a:xfrm>
          </p:grpSpPr>
          <p:sp>
            <p:nvSpPr>
              <p:cNvPr id="107" name="Rounded Rectangle 115">
                <a:extLst>
                  <a:ext uri="{FF2B5EF4-FFF2-40B4-BE49-F238E27FC236}">
                    <a16:creationId xmlns:a16="http://schemas.microsoft.com/office/drawing/2014/main" id="{492B15FB-3182-57DD-C369-C0306F78DAE8}"/>
                  </a:ext>
                </a:extLst>
              </p:cNvPr>
              <p:cNvSpPr>
                <a:spLocks noChangeArrowheads="1"/>
              </p:cNvSpPr>
              <p:nvPr/>
            </p:nvSpPr>
            <p:spPr bwMode="auto">
              <a:xfrm>
                <a:off x="4512" y="1152"/>
                <a:ext cx="1056" cy="1104"/>
              </a:xfrm>
              <a:prstGeom prst="roundRect">
                <a:avLst>
                  <a:gd name="adj" fmla="val 8225"/>
                </a:avLst>
              </a:prstGeom>
              <a:solidFill>
                <a:srgbClr val="C5E9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Reporting, Analysis </a:t>
                </a:r>
              </a:p>
              <a:p>
                <a:pPr algn="ctr" eaLnBrk="1" hangingPunct="1">
                  <a:spcBef>
                    <a:spcPct val="0"/>
                  </a:spcBef>
                  <a:buFontTx/>
                  <a:buNone/>
                </a:pPr>
                <a:r>
                  <a:rPr lang="en-US" altLang="en-US" sz="900">
                    <a:solidFill>
                      <a:schemeClr val="tx1"/>
                    </a:solidFill>
                  </a:rPr>
                  <a:t>&amp; Content Analytics</a:t>
                </a:r>
              </a:p>
            </p:txBody>
          </p:sp>
          <p:sp>
            <p:nvSpPr>
              <p:cNvPr id="108" name="Rounded Rectangle 275">
                <a:extLst>
                  <a:ext uri="{FF2B5EF4-FFF2-40B4-BE49-F238E27FC236}">
                    <a16:creationId xmlns:a16="http://schemas.microsoft.com/office/drawing/2014/main" id="{BB99B30A-2C6B-4BAE-EDA6-050F6A40B3A7}"/>
                  </a:ext>
                </a:extLst>
              </p:cNvPr>
              <p:cNvSpPr>
                <a:spLocks noChangeArrowheads="1"/>
              </p:cNvSpPr>
              <p:nvPr/>
            </p:nvSpPr>
            <p:spPr bwMode="auto">
              <a:xfrm>
                <a:off x="5046" y="1642"/>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Query &amp; Analysis</a:t>
                </a:r>
              </a:p>
            </p:txBody>
          </p:sp>
          <p:sp>
            <p:nvSpPr>
              <p:cNvPr id="109" name="Rounded Rectangle 264">
                <a:extLst>
                  <a:ext uri="{FF2B5EF4-FFF2-40B4-BE49-F238E27FC236}">
                    <a16:creationId xmlns:a16="http://schemas.microsoft.com/office/drawing/2014/main" id="{94A63EB1-7DF8-F50C-C455-1262EC055E77}"/>
                  </a:ext>
                </a:extLst>
              </p:cNvPr>
              <p:cNvSpPr>
                <a:spLocks noChangeArrowheads="1"/>
              </p:cNvSpPr>
              <p:nvPr/>
            </p:nvSpPr>
            <p:spPr bwMode="auto">
              <a:xfrm>
                <a:off x="4560" y="1401"/>
                <a:ext cx="461" cy="211"/>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Planning, Forecasting </a:t>
                </a:r>
              </a:p>
            </p:txBody>
          </p:sp>
          <p:sp>
            <p:nvSpPr>
              <p:cNvPr id="110" name="Rounded Rectangle 269">
                <a:extLst>
                  <a:ext uri="{FF2B5EF4-FFF2-40B4-BE49-F238E27FC236}">
                    <a16:creationId xmlns:a16="http://schemas.microsoft.com/office/drawing/2014/main" id="{9684A93B-3917-E705-C880-E9AE524DAD3C}"/>
                  </a:ext>
                </a:extLst>
              </p:cNvPr>
              <p:cNvSpPr>
                <a:spLocks noChangeArrowheads="1"/>
              </p:cNvSpPr>
              <p:nvPr/>
            </p:nvSpPr>
            <p:spPr bwMode="auto">
              <a:xfrm>
                <a:off x="5046" y="1403"/>
                <a:ext cx="461" cy="211"/>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Scorecards,</a:t>
                </a:r>
              </a:p>
              <a:p>
                <a:pPr algn="ctr" eaLnBrk="1" hangingPunct="1">
                  <a:lnSpc>
                    <a:spcPct val="97000"/>
                  </a:lnSpc>
                  <a:spcBef>
                    <a:spcPct val="0"/>
                  </a:spcBef>
                  <a:buClr>
                    <a:srgbClr val="000600"/>
                  </a:buClr>
                  <a:buFont typeface="Arial" panose="020B0604020202020204" pitchFamily="34" charset="0"/>
                  <a:buNone/>
                </a:pPr>
                <a:r>
                  <a:rPr lang="en-US" altLang="en-US" sz="800" b="0"/>
                  <a:t>Dashboards</a:t>
                </a:r>
              </a:p>
            </p:txBody>
          </p:sp>
          <p:sp>
            <p:nvSpPr>
              <p:cNvPr id="111" name="Rounded Rectangle 271">
                <a:extLst>
                  <a:ext uri="{FF2B5EF4-FFF2-40B4-BE49-F238E27FC236}">
                    <a16:creationId xmlns:a16="http://schemas.microsoft.com/office/drawing/2014/main" id="{B9B3C56C-7859-2C7C-9E8C-9643BFFA1465}"/>
                  </a:ext>
                </a:extLst>
              </p:cNvPr>
              <p:cNvSpPr>
                <a:spLocks noChangeArrowheads="1"/>
              </p:cNvSpPr>
              <p:nvPr/>
            </p:nvSpPr>
            <p:spPr bwMode="auto">
              <a:xfrm>
                <a:off x="4560" y="1646"/>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Budgeting</a:t>
                </a:r>
              </a:p>
            </p:txBody>
          </p:sp>
          <p:sp>
            <p:nvSpPr>
              <p:cNvPr id="112" name="Rounded Rectangle 278">
                <a:extLst>
                  <a:ext uri="{FF2B5EF4-FFF2-40B4-BE49-F238E27FC236}">
                    <a16:creationId xmlns:a16="http://schemas.microsoft.com/office/drawing/2014/main" id="{E6B173E5-78A4-E17D-7DF3-3C8531E42A83}"/>
                  </a:ext>
                </a:extLst>
              </p:cNvPr>
              <p:cNvSpPr>
                <a:spLocks noChangeArrowheads="1"/>
              </p:cNvSpPr>
              <p:nvPr/>
            </p:nvSpPr>
            <p:spPr bwMode="auto">
              <a:xfrm>
                <a:off x="4560" y="1843"/>
                <a:ext cx="461" cy="172"/>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Reporting</a:t>
                </a:r>
              </a:p>
            </p:txBody>
          </p:sp>
          <p:sp>
            <p:nvSpPr>
              <p:cNvPr id="113" name="Rounded Rectangle 280">
                <a:extLst>
                  <a:ext uri="{FF2B5EF4-FFF2-40B4-BE49-F238E27FC236}">
                    <a16:creationId xmlns:a16="http://schemas.microsoft.com/office/drawing/2014/main" id="{10ED6EB7-8F82-A455-0E9A-379F2A9B835C}"/>
                  </a:ext>
                </a:extLst>
              </p:cNvPr>
              <p:cNvSpPr>
                <a:spLocks noChangeArrowheads="1"/>
              </p:cNvSpPr>
              <p:nvPr/>
            </p:nvSpPr>
            <p:spPr bwMode="auto">
              <a:xfrm>
                <a:off x="5040" y="1822"/>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Storytelling</a:t>
                </a:r>
              </a:p>
            </p:txBody>
          </p:sp>
          <p:sp>
            <p:nvSpPr>
              <p:cNvPr id="114" name="Rounded Rectangle 273">
                <a:extLst>
                  <a:ext uri="{FF2B5EF4-FFF2-40B4-BE49-F238E27FC236}">
                    <a16:creationId xmlns:a16="http://schemas.microsoft.com/office/drawing/2014/main" id="{4213842E-3B02-D355-A2D5-89E7098FF008}"/>
                  </a:ext>
                </a:extLst>
              </p:cNvPr>
              <p:cNvSpPr>
                <a:spLocks noChangeArrowheads="1"/>
              </p:cNvSpPr>
              <p:nvPr/>
            </p:nvSpPr>
            <p:spPr bwMode="auto">
              <a:xfrm>
                <a:off x="4560" y="2023"/>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Collaboration</a:t>
                </a:r>
              </a:p>
            </p:txBody>
          </p:sp>
          <p:sp>
            <p:nvSpPr>
              <p:cNvPr id="115" name="Rounded Rectangle 270">
                <a:extLst>
                  <a:ext uri="{FF2B5EF4-FFF2-40B4-BE49-F238E27FC236}">
                    <a16:creationId xmlns:a16="http://schemas.microsoft.com/office/drawing/2014/main" id="{EDBC1540-8869-133F-E253-925D74F6471E}"/>
                  </a:ext>
                </a:extLst>
              </p:cNvPr>
              <p:cNvSpPr>
                <a:spLocks noChangeArrowheads="1"/>
              </p:cNvSpPr>
              <p:nvPr/>
            </p:nvSpPr>
            <p:spPr bwMode="auto">
              <a:xfrm>
                <a:off x="5040" y="2010"/>
                <a:ext cx="461" cy="173"/>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Alerting, Monitoring</a:t>
                </a:r>
              </a:p>
            </p:txBody>
          </p:sp>
        </p:grpSp>
        <p:grpSp>
          <p:nvGrpSpPr>
            <p:cNvPr id="56" name="Group 198">
              <a:extLst>
                <a:ext uri="{FF2B5EF4-FFF2-40B4-BE49-F238E27FC236}">
                  <a16:creationId xmlns:a16="http://schemas.microsoft.com/office/drawing/2014/main" id="{25897A7F-BDD0-638A-4A63-4334F56F7E64}"/>
                </a:ext>
              </a:extLst>
            </p:cNvPr>
            <p:cNvGrpSpPr>
              <a:grpSpLocks/>
            </p:cNvGrpSpPr>
            <p:nvPr/>
          </p:nvGrpSpPr>
          <p:grpSpPr bwMode="auto">
            <a:xfrm>
              <a:off x="7106501" y="1180391"/>
              <a:ext cx="1676400" cy="623130"/>
              <a:chOff x="4512" y="686"/>
              <a:chExt cx="1056" cy="403"/>
            </a:xfrm>
          </p:grpSpPr>
          <p:sp>
            <p:nvSpPr>
              <p:cNvPr id="104" name="Rounded Rectangle 115">
                <a:extLst>
                  <a:ext uri="{FF2B5EF4-FFF2-40B4-BE49-F238E27FC236}">
                    <a16:creationId xmlns:a16="http://schemas.microsoft.com/office/drawing/2014/main" id="{5D1100C1-269F-55BF-C18A-22A1E3A65A22}"/>
                  </a:ext>
                </a:extLst>
              </p:cNvPr>
              <p:cNvSpPr>
                <a:spLocks noChangeArrowheads="1"/>
              </p:cNvSpPr>
              <p:nvPr/>
            </p:nvSpPr>
            <p:spPr bwMode="auto">
              <a:xfrm>
                <a:off x="4512" y="686"/>
                <a:ext cx="1056" cy="403"/>
              </a:xfrm>
              <a:prstGeom prst="roundRect">
                <a:avLst>
                  <a:gd name="adj" fmla="val 16667"/>
                </a:avLst>
              </a:prstGeom>
              <a:solidFill>
                <a:srgbClr val="C5E9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a:solidFill>
                      <a:schemeClr val="tx1"/>
                    </a:solidFill>
                  </a:rPr>
                  <a:t>Decision Management</a:t>
                </a:r>
              </a:p>
            </p:txBody>
          </p:sp>
          <p:sp>
            <p:nvSpPr>
              <p:cNvPr id="105" name="Rounded Rectangle 276">
                <a:extLst>
                  <a:ext uri="{FF2B5EF4-FFF2-40B4-BE49-F238E27FC236}">
                    <a16:creationId xmlns:a16="http://schemas.microsoft.com/office/drawing/2014/main" id="{ABDE761B-D0D1-39EE-13F8-9B0B57AF1455}"/>
                  </a:ext>
                </a:extLst>
              </p:cNvPr>
              <p:cNvSpPr>
                <a:spLocks noChangeArrowheads="1"/>
              </p:cNvSpPr>
              <p:nvPr/>
            </p:nvSpPr>
            <p:spPr bwMode="auto">
              <a:xfrm>
                <a:off x="4574" y="808"/>
                <a:ext cx="461"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Rules Management</a:t>
                </a:r>
              </a:p>
            </p:txBody>
          </p:sp>
          <p:sp>
            <p:nvSpPr>
              <p:cNvPr id="106" name="Rounded Rectangle 281">
                <a:extLst>
                  <a:ext uri="{FF2B5EF4-FFF2-40B4-BE49-F238E27FC236}">
                    <a16:creationId xmlns:a16="http://schemas.microsoft.com/office/drawing/2014/main" id="{09B59826-25BD-9A72-4D74-9DA33F663D18}"/>
                  </a:ext>
                </a:extLst>
              </p:cNvPr>
              <p:cNvSpPr>
                <a:spLocks noChangeArrowheads="1"/>
              </p:cNvSpPr>
              <p:nvPr/>
            </p:nvSpPr>
            <p:spPr bwMode="auto">
              <a:xfrm>
                <a:off x="5060" y="810"/>
                <a:ext cx="461" cy="24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Real Time Decision Management</a:t>
                </a:r>
              </a:p>
            </p:txBody>
          </p:sp>
        </p:grpSp>
        <p:sp>
          <p:nvSpPr>
            <p:cNvPr id="57" name="Rounded Rectangle 115">
              <a:extLst>
                <a:ext uri="{FF2B5EF4-FFF2-40B4-BE49-F238E27FC236}">
                  <a16:creationId xmlns:a16="http://schemas.microsoft.com/office/drawing/2014/main" id="{BA29392F-C2B1-855B-C8F0-B41E25DEE286}"/>
                </a:ext>
              </a:extLst>
            </p:cNvPr>
            <p:cNvSpPr>
              <a:spLocks noChangeArrowheads="1"/>
            </p:cNvSpPr>
            <p:nvPr/>
          </p:nvSpPr>
          <p:spPr bwMode="auto">
            <a:xfrm>
              <a:off x="7106501" y="4102761"/>
              <a:ext cx="1676400" cy="1335940"/>
            </a:xfrm>
            <a:prstGeom prst="roundRect">
              <a:avLst>
                <a:gd name="adj" fmla="val 12641"/>
              </a:avLst>
            </a:prstGeom>
            <a:solidFill>
              <a:srgbClr val="C5E9FF"/>
            </a:solidFill>
            <a:ln>
              <a:noFill/>
            </a:ln>
          </p:spPr>
          <p:txBody>
            <a:bodyPr lIns="0" tIns="0" rIns="0" bIns="0"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900" dirty="0">
                  <a:solidFill>
                    <a:schemeClr val="tx1"/>
                  </a:solidFill>
                </a:rPr>
                <a:t>Predictive Analytics &amp; Modeling</a:t>
              </a:r>
            </a:p>
          </p:txBody>
        </p:sp>
        <p:sp>
          <p:nvSpPr>
            <p:cNvPr id="58" name="Rounded Rectangle 268">
              <a:extLst>
                <a:ext uri="{FF2B5EF4-FFF2-40B4-BE49-F238E27FC236}">
                  <a16:creationId xmlns:a16="http://schemas.microsoft.com/office/drawing/2014/main" id="{22D47904-F49A-44C8-9EB0-375D4E7BC575}"/>
                </a:ext>
              </a:extLst>
            </p:cNvPr>
            <p:cNvSpPr>
              <a:spLocks noChangeArrowheads="1"/>
            </p:cNvSpPr>
            <p:nvPr/>
          </p:nvSpPr>
          <p:spPr bwMode="auto">
            <a:xfrm>
              <a:off x="7965112" y="4474409"/>
              <a:ext cx="730250"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Text Analytics</a:t>
              </a:r>
            </a:p>
          </p:txBody>
        </p:sp>
        <p:sp>
          <p:nvSpPr>
            <p:cNvPr id="59" name="Rounded Rectangle 266">
              <a:extLst>
                <a:ext uri="{FF2B5EF4-FFF2-40B4-BE49-F238E27FC236}">
                  <a16:creationId xmlns:a16="http://schemas.microsoft.com/office/drawing/2014/main" id="{7C219DD7-509D-EB9B-D907-375C50D8E2CB}"/>
                </a:ext>
              </a:extLst>
            </p:cNvPr>
            <p:cNvSpPr>
              <a:spLocks noChangeArrowheads="1"/>
            </p:cNvSpPr>
            <p:nvPr/>
          </p:nvSpPr>
          <p:spPr bwMode="auto">
            <a:xfrm>
              <a:off x="7192000" y="4452762"/>
              <a:ext cx="731838"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Predictive Analytics</a:t>
              </a:r>
            </a:p>
          </p:txBody>
        </p:sp>
        <p:sp>
          <p:nvSpPr>
            <p:cNvPr id="60" name="Rounded Rectangle 265">
              <a:extLst>
                <a:ext uri="{FF2B5EF4-FFF2-40B4-BE49-F238E27FC236}">
                  <a16:creationId xmlns:a16="http://schemas.microsoft.com/office/drawing/2014/main" id="{42FF8909-3D49-4D33-C559-E6D71EEDADD2}"/>
                </a:ext>
              </a:extLst>
            </p:cNvPr>
            <p:cNvSpPr>
              <a:spLocks noChangeArrowheads="1"/>
            </p:cNvSpPr>
            <p:nvPr/>
          </p:nvSpPr>
          <p:spPr bwMode="auto">
            <a:xfrm>
              <a:off x="7192000" y="5057337"/>
              <a:ext cx="730250"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Data Mining</a:t>
              </a:r>
            </a:p>
          </p:txBody>
        </p:sp>
        <p:sp>
          <p:nvSpPr>
            <p:cNvPr id="61" name="Rounded Rectangle 274">
              <a:extLst>
                <a:ext uri="{FF2B5EF4-FFF2-40B4-BE49-F238E27FC236}">
                  <a16:creationId xmlns:a16="http://schemas.microsoft.com/office/drawing/2014/main" id="{059E4A1C-8B95-F78A-1780-7BD6CFD1DA22}"/>
                </a:ext>
              </a:extLst>
            </p:cNvPr>
            <p:cNvSpPr>
              <a:spLocks noChangeArrowheads="1"/>
            </p:cNvSpPr>
            <p:nvPr/>
          </p:nvSpPr>
          <p:spPr bwMode="auto">
            <a:xfrm>
              <a:off x="7963525" y="4765100"/>
              <a:ext cx="731838"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Optimization</a:t>
              </a:r>
            </a:p>
          </p:txBody>
        </p:sp>
        <p:sp>
          <p:nvSpPr>
            <p:cNvPr id="62" name="Rounded Rectangle 267">
              <a:extLst>
                <a:ext uri="{FF2B5EF4-FFF2-40B4-BE49-F238E27FC236}">
                  <a16:creationId xmlns:a16="http://schemas.microsoft.com/office/drawing/2014/main" id="{5B067D42-F149-0EDA-2D5E-6D1131C153D0}"/>
                </a:ext>
              </a:extLst>
            </p:cNvPr>
            <p:cNvSpPr>
              <a:spLocks noChangeArrowheads="1"/>
            </p:cNvSpPr>
            <p:nvPr/>
          </p:nvSpPr>
          <p:spPr bwMode="auto">
            <a:xfrm>
              <a:off x="7192000" y="4754276"/>
              <a:ext cx="731838"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a:t>Simulation</a:t>
              </a:r>
            </a:p>
          </p:txBody>
        </p:sp>
        <p:sp>
          <p:nvSpPr>
            <p:cNvPr id="63" name="Rounded Rectangle 277">
              <a:extLst>
                <a:ext uri="{FF2B5EF4-FFF2-40B4-BE49-F238E27FC236}">
                  <a16:creationId xmlns:a16="http://schemas.microsoft.com/office/drawing/2014/main" id="{04C8B082-F6EF-9BC8-FF92-9DEA8B0AE729}"/>
                </a:ext>
              </a:extLst>
            </p:cNvPr>
            <p:cNvSpPr>
              <a:spLocks noChangeArrowheads="1"/>
            </p:cNvSpPr>
            <p:nvPr/>
          </p:nvSpPr>
          <p:spPr bwMode="auto">
            <a:xfrm>
              <a:off x="7963525" y="5057337"/>
              <a:ext cx="731838" cy="267497"/>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Correlations</a:t>
              </a:r>
            </a:p>
          </p:txBody>
        </p:sp>
        <p:sp>
          <p:nvSpPr>
            <p:cNvPr id="64" name="AutoShape 7">
              <a:extLst>
                <a:ext uri="{FF2B5EF4-FFF2-40B4-BE49-F238E27FC236}">
                  <a16:creationId xmlns:a16="http://schemas.microsoft.com/office/drawing/2014/main" id="{AFF0F8DE-5DEA-EEB1-E846-3E0824B24294}"/>
                </a:ext>
              </a:extLst>
            </p:cNvPr>
            <p:cNvSpPr>
              <a:spLocks noChangeArrowheads="1"/>
            </p:cNvSpPr>
            <p:nvPr/>
          </p:nvSpPr>
          <p:spPr bwMode="auto">
            <a:xfrm>
              <a:off x="5429158" y="1451790"/>
              <a:ext cx="555685" cy="26561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數據遮罩</a:t>
              </a:r>
              <a:endParaRPr lang="en-GB" altLang="en-US" sz="800" dirty="0">
                <a:solidFill>
                  <a:schemeClr val="tx1"/>
                </a:solidFill>
                <a:latin typeface="+mj-ea"/>
                <a:ea typeface="+mj-ea"/>
              </a:endParaRPr>
            </a:p>
          </p:txBody>
        </p:sp>
        <p:sp>
          <p:nvSpPr>
            <p:cNvPr id="65" name="AutoShape 7">
              <a:extLst>
                <a:ext uri="{FF2B5EF4-FFF2-40B4-BE49-F238E27FC236}">
                  <a16:creationId xmlns:a16="http://schemas.microsoft.com/office/drawing/2014/main" id="{414C39B1-DD6E-B0E5-188A-31C7CF4136AF}"/>
                </a:ext>
              </a:extLst>
            </p:cNvPr>
            <p:cNvSpPr>
              <a:spLocks noChangeArrowheads="1"/>
            </p:cNvSpPr>
            <p:nvPr/>
          </p:nvSpPr>
          <p:spPr bwMode="auto">
            <a:xfrm>
              <a:off x="4816780" y="1451790"/>
              <a:ext cx="555685" cy="26561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數據樣本</a:t>
              </a:r>
              <a:endParaRPr lang="en-GB" altLang="en-US" sz="800" dirty="0">
                <a:solidFill>
                  <a:schemeClr val="tx1"/>
                </a:solidFill>
                <a:latin typeface="+mj-ea"/>
                <a:ea typeface="+mj-ea"/>
              </a:endParaRPr>
            </a:p>
          </p:txBody>
        </p:sp>
        <p:sp>
          <p:nvSpPr>
            <p:cNvPr id="66" name="AutoShape 2">
              <a:extLst>
                <a:ext uri="{FF2B5EF4-FFF2-40B4-BE49-F238E27FC236}">
                  <a16:creationId xmlns:a16="http://schemas.microsoft.com/office/drawing/2014/main" id="{15CCF381-7341-FE73-8F2C-46EDF4CEC6AC}"/>
                </a:ext>
              </a:extLst>
            </p:cNvPr>
            <p:cNvSpPr>
              <a:spLocks noChangeArrowheads="1"/>
            </p:cNvSpPr>
            <p:nvPr/>
          </p:nvSpPr>
          <p:spPr bwMode="auto">
            <a:xfrm rot="5400000">
              <a:off x="1501245" y="1664719"/>
              <a:ext cx="284529" cy="329160"/>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67" name="AutoShape 2">
              <a:extLst>
                <a:ext uri="{FF2B5EF4-FFF2-40B4-BE49-F238E27FC236}">
                  <a16:creationId xmlns:a16="http://schemas.microsoft.com/office/drawing/2014/main" id="{3FEC3943-CECF-21EF-6154-8286A771C090}"/>
                </a:ext>
              </a:extLst>
            </p:cNvPr>
            <p:cNvSpPr>
              <a:spLocks noChangeArrowheads="1"/>
            </p:cNvSpPr>
            <p:nvPr/>
          </p:nvSpPr>
          <p:spPr bwMode="auto">
            <a:xfrm>
              <a:off x="2874484" y="2550462"/>
              <a:ext cx="249267" cy="343995"/>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68" name="AutoShape 2">
              <a:extLst>
                <a:ext uri="{FF2B5EF4-FFF2-40B4-BE49-F238E27FC236}">
                  <a16:creationId xmlns:a16="http://schemas.microsoft.com/office/drawing/2014/main" id="{476682F8-FDD8-119A-B38C-750456A2F077}"/>
                </a:ext>
              </a:extLst>
            </p:cNvPr>
            <p:cNvSpPr>
              <a:spLocks noChangeArrowheads="1"/>
            </p:cNvSpPr>
            <p:nvPr/>
          </p:nvSpPr>
          <p:spPr bwMode="auto">
            <a:xfrm rot="10800000">
              <a:off x="2269515" y="2548170"/>
              <a:ext cx="249267" cy="343995"/>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69" name="AutoShape 2">
              <a:extLst>
                <a:ext uri="{FF2B5EF4-FFF2-40B4-BE49-F238E27FC236}">
                  <a16:creationId xmlns:a16="http://schemas.microsoft.com/office/drawing/2014/main" id="{5AF2F545-42FD-CC50-B7E8-456EA0CBC67A}"/>
                </a:ext>
              </a:extLst>
            </p:cNvPr>
            <p:cNvSpPr>
              <a:spLocks noChangeArrowheads="1"/>
            </p:cNvSpPr>
            <p:nvPr/>
          </p:nvSpPr>
          <p:spPr bwMode="auto">
            <a:xfrm rot="10800000">
              <a:off x="3153913" y="2554780"/>
              <a:ext cx="249267" cy="343995"/>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70" name="AutoShape 2">
              <a:extLst>
                <a:ext uri="{FF2B5EF4-FFF2-40B4-BE49-F238E27FC236}">
                  <a16:creationId xmlns:a16="http://schemas.microsoft.com/office/drawing/2014/main" id="{B8B72C8A-2125-8930-327E-BD66429C41C8}"/>
                </a:ext>
              </a:extLst>
            </p:cNvPr>
            <p:cNvSpPr>
              <a:spLocks noChangeArrowheads="1"/>
            </p:cNvSpPr>
            <p:nvPr/>
          </p:nvSpPr>
          <p:spPr bwMode="auto">
            <a:xfrm rot="5400000">
              <a:off x="6886956" y="3428579"/>
              <a:ext cx="262834" cy="370399"/>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dirty="0">
                <a:solidFill>
                  <a:schemeClr val="tx1"/>
                </a:solidFill>
              </a:endParaRPr>
            </a:p>
          </p:txBody>
        </p:sp>
        <p:pic>
          <p:nvPicPr>
            <p:cNvPr id="71" name="Picture 24" descr="What is Oracle? | Webopedia">
              <a:extLst>
                <a:ext uri="{FF2B5EF4-FFF2-40B4-BE49-F238E27FC236}">
                  <a16:creationId xmlns:a16="http://schemas.microsoft.com/office/drawing/2014/main" id="{DA921515-7283-8B76-29C5-15934007731D}"/>
                </a:ext>
              </a:extLst>
            </p:cNvPr>
            <p:cNvPicPr>
              <a:picLocks noChangeAspect="1" noChangeArrowheads="1"/>
            </p:cNvPicPr>
            <p:nvPr/>
          </p:nvPicPr>
          <p:blipFill rotWithShape="1">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l="11332" t="20661" r="10931" b="20033"/>
            <a:stretch/>
          </p:blipFill>
          <p:spPr bwMode="auto">
            <a:xfrm>
              <a:off x="1435911" y="1370266"/>
              <a:ext cx="372961" cy="28452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6" descr="Kafka：大量數據搜集與應用的核心技術平台- AI與MarTech研究">
              <a:extLst>
                <a:ext uri="{FF2B5EF4-FFF2-40B4-BE49-F238E27FC236}">
                  <a16:creationId xmlns:a16="http://schemas.microsoft.com/office/drawing/2014/main" id="{F33C7058-8956-7478-A924-256D5A4580C4}"/>
                </a:ext>
              </a:extLst>
            </p:cNvPr>
            <p:cNvPicPr>
              <a:picLocks noChangeAspect="1" noChangeArrowheads="1"/>
            </p:cNvPicPr>
            <p:nvPr/>
          </p:nvPicPr>
          <p:blipFill rotWithShape="1">
            <a:blip r:embed="rId17">
              <a:clrChange>
                <a:clrFrom>
                  <a:srgbClr val="FDFBFE"/>
                </a:clrFrom>
                <a:clrTo>
                  <a:srgbClr val="FDFBFE">
                    <a:alpha val="0"/>
                  </a:srgbClr>
                </a:clrTo>
              </a:clrChange>
              <a:extLst>
                <a:ext uri="{28A0092B-C50C-407E-A947-70E740481C1C}">
                  <a14:useLocalDpi xmlns:a14="http://schemas.microsoft.com/office/drawing/2010/main" val="0"/>
                </a:ext>
              </a:extLst>
            </a:blip>
            <a:srcRect l="6077" t="13821" r="5614" b="13499"/>
            <a:stretch/>
          </p:blipFill>
          <p:spPr bwMode="auto">
            <a:xfrm>
              <a:off x="1401288" y="979560"/>
              <a:ext cx="435868" cy="201784"/>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16" descr="Minio and Nextcloud – Stuff I'm Up To">
              <a:extLst>
                <a:ext uri="{FF2B5EF4-FFF2-40B4-BE49-F238E27FC236}">
                  <a16:creationId xmlns:a16="http://schemas.microsoft.com/office/drawing/2014/main" id="{DDD81DEB-82C6-5420-BE36-5FA3A6CC42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5145" y="1245544"/>
              <a:ext cx="514831" cy="105800"/>
            </a:xfrm>
            <a:prstGeom prst="rect">
              <a:avLst/>
            </a:prstGeom>
            <a:noFill/>
            <a:extLst>
              <a:ext uri="{909E8E84-426E-40DD-AFC4-6F175D3DCCD1}">
                <a14:hiddenFill xmlns:a14="http://schemas.microsoft.com/office/drawing/2010/main">
                  <a:solidFill>
                    <a:srgbClr val="FFFFFF"/>
                  </a:solidFill>
                </a14:hiddenFill>
              </a:ext>
            </a:extLst>
          </p:spPr>
        </p:pic>
        <p:sp>
          <p:nvSpPr>
            <p:cNvPr id="74" name="AutoShape 2">
              <a:extLst>
                <a:ext uri="{FF2B5EF4-FFF2-40B4-BE49-F238E27FC236}">
                  <a16:creationId xmlns:a16="http://schemas.microsoft.com/office/drawing/2014/main" id="{8C5C0043-8089-C195-38E0-5F3309670AB7}"/>
                </a:ext>
              </a:extLst>
            </p:cNvPr>
            <p:cNvSpPr>
              <a:spLocks noChangeArrowheads="1"/>
            </p:cNvSpPr>
            <p:nvPr/>
          </p:nvSpPr>
          <p:spPr bwMode="auto">
            <a:xfrm>
              <a:off x="5225470" y="2538085"/>
              <a:ext cx="249267" cy="343995"/>
            </a:xfrm>
            <a:prstGeom prst="upArrow">
              <a:avLst>
                <a:gd name="adj1" fmla="val 45056"/>
                <a:gd name="adj2" fmla="val 61914"/>
              </a:avLst>
            </a:prstGeom>
            <a:solidFill>
              <a:srgbClr val="E4E7FE"/>
            </a:solidFill>
            <a:ln w="9525">
              <a:solidFill>
                <a:srgbClr val="000000"/>
              </a:solidFill>
              <a:miter lim="800000"/>
              <a:headEnd/>
              <a:tailEnd/>
            </a:ln>
          </p:spPr>
          <p:txBody>
            <a:bodyPr rot="10800000" vert="eaVert" lIns="0" tIns="0" rIns="0" bIns="0" anchor="ctr" anchorCtr="1"/>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endParaRPr lang="nl-NL" altLang="en-US" sz="1000">
                <a:solidFill>
                  <a:schemeClr val="tx1"/>
                </a:solidFill>
              </a:endParaRPr>
            </a:p>
          </p:txBody>
        </p:sp>
        <p:sp>
          <p:nvSpPr>
            <p:cNvPr id="75" name="AutoShape 7">
              <a:extLst>
                <a:ext uri="{FF2B5EF4-FFF2-40B4-BE49-F238E27FC236}">
                  <a16:creationId xmlns:a16="http://schemas.microsoft.com/office/drawing/2014/main" id="{46E5FBEA-5BCB-C8EF-E9FE-D925760A90CD}"/>
                </a:ext>
              </a:extLst>
            </p:cNvPr>
            <p:cNvSpPr>
              <a:spLocks noChangeArrowheads="1"/>
            </p:cNvSpPr>
            <p:nvPr/>
          </p:nvSpPr>
          <p:spPr bwMode="auto">
            <a:xfrm>
              <a:off x="6054373" y="1451790"/>
              <a:ext cx="555685" cy="26561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數據檢視</a:t>
              </a:r>
              <a:endParaRPr lang="en-GB" altLang="en-US" sz="800" dirty="0">
                <a:solidFill>
                  <a:schemeClr val="tx1"/>
                </a:solidFill>
                <a:latin typeface="+mj-ea"/>
                <a:ea typeface="+mj-ea"/>
              </a:endParaRPr>
            </a:p>
          </p:txBody>
        </p:sp>
        <p:pic>
          <p:nvPicPr>
            <p:cNvPr id="76" name="Picture 30" descr="Data Lakehouse Platform Powered by Apache Iceberg | Dremio">
              <a:extLst>
                <a:ext uri="{FF2B5EF4-FFF2-40B4-BE49-F238E27FC236}">
                  <a16:creationId xmlns:a16="http://schemas.microsoft.com/office/drawing/2014/main" id="{FF4959C8-6203-6EDA-4C46-C6D6F336AC2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64218" y="1820594"/>
              <a:ext cx="1746844" cy="554623"/>
            </a:xfrm>
            <a:prstGeom prst="rect">
              <a:avLst/>
            </a:prstGeom>
            <a:noFill/>
            <a:extLst>
              <a:ext uri="{909E8E84-426E-40DD-AFC4-6F175D3DCCD1}">
                <a14:hiddenFill xmlns:a14="http://schemas.microsoft.com/office/drawing/2010/main">
                  <a:solidFill>
                    <a:srgbClr val="FFFFFF"/>
                  </a:solidFill>
                </a14:hiddenFill>
              </a:ext>
            </a:extLst>
          </p:spPr>
        </p:pic>
        <p:sp>
          <p:nvSpPr>
            <p:cNvPr id="77" name="矩形 76">
              <a:extLst>
                <a:ext uri="{FF2B5EF4-FFF2-40B4-BE49-F238E27FC236}">
                  <a16:creationId xmlns:a16="http://schemas.microsoft.com/office/drawing/2014/main" id="{63FCE638-46CC-0601-D143-4961A7F6A983}"/>
                </a:ext>
              </a:extLst>
            </p:cNvPr>
            <p:cNvSpPr/>
            <p:nvPr/>
          </p:nvSpPr>
          <p:spPr>
            <a:xfrm>
              <a:off x="4725748" y="1147863"/>
              <a:ext cx="2025913" cy="126310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Rounded Rectangle 115">
              <a:extLst>
                <a:ext uri="{FF2B5EF4-FFF2-40B4-BE49-F238E27FC236}">
                  <a16:creationId xmlns:a16="http://schemas.microsoft.com/office/drawing/2014/main" id="{DEC20C39-CACA-0426-80A4-32A0F61464C2}"/>
                </a:ext>
              </a:extLst>
            </p:cNvPr>
            <p:cNvSpPr>
              <a:spLocks noChangeArrowheads="1"/>
            </p:cNvSpPr>
            <p:nvPr/>
          </p:nvSpPr>
          <p:spPr bwMode="auto">
            <a:xfrm>
              <a:off x="1785269" y="4644947"/>
              <a:ext cx="5020182" cy="723888"/>
            </a:xfrm>
            <a:prstGeom prst="roundRect">
              <a:avLst>
                <a:gd name="adj" fmla="val 7651"/>
              </a:avLst>
            </a:prstGeom>
            <a:solidFill>
              <a:schemeClr val="bg1"/>
            </a:solidFill>
            <a:ln>
              <a:solidFill>
                <a:schemeClr val="tx1"/>
              </a:solidFill>
            </a:ln>
          </p:spPr>
          <p:txBody>
            <a:bodyPr vert="eaVert" lIns="0" tIns="36000" rIns="0" anchor="t" anchorCtr="0"/>
            <a:lstStyle/>
            <a:p>
              <a:pPr algn="ctr">
                <a:lnSpc>
                  <a:spcPct val="85000"/>
                </a:lnSpc>
                <a:spcBef>
                  <a:spcPct val="0"/>
                </a:spcBef>
              </a:pPr>
              <a:r>
                <a:rPr lang="zh-TW" altLang="en-US" sz="1600" b="1" dirty="0">
                  <a:latin typeface="+mj-ea"/>
                  <a:ea typeface="+mj-ea"/>
                </a:rPr>
                <a:t>管理</a:t>
              </a:r>
              <a:endParaRPr lang="en-US" altLang="en-US" sz="1600" b="1" dirty="0">
                <a:latin typeface="+mj-ea"/>
                <a:ea typeface="+mj-ea"/>
              </a:endParaRPr>
            </a:p>
          </p:txBody>
        </p:sp>
        <p:sp>
          <p:nvSpPr>
            <p:cNvPr id="79" name="AutoShape 7">
              <a:extLst>
                <a:ext uri="{FF2B5EF4-FFF2-40B4-BE49-F238E27FC236}">
                  <a16:creationId xmlns:a16="http://schemas.microsoft.com/office/drawing/2014/main" id="{687B5CFE-2539-0223-AED1-92C642471DDF}"/>
                </a:ext>
              </a:extLst>
            </p:cNvPr>
            <p:cNvSpPr>
              <a:spLocks noChangeArrowheads="1"/>
            </p:cNvSpPr>
            <p:nvPr/>
          </p:nvSpPr>
          <p:spPr bwMode="auto">
            <a:xfrm>
              <a:off x="2914442" y="5517815"/>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dirty="0">
                  <a:solidFill>
                    <a:schemeClr val="bg1">
                      <a:lumMod val="65000"/>
                    </a:schemeClr>
                  </a:solidFill>
                  <a:latin typeface="+mj-ea"/>
                  <a:ea typeface="+mj-ea"/>
                </a:rPr>
                <a:t>資源配置</a:t>
              </a:r>
              <a:endParaRPr lang="en-GB" altLang="en-US" sz="800" dirty="0">
                <a:solidFill>
                  <a:schemeClr val="bg1">
                    <a:lumMod val="65000"/>
                  </a:schemeClr>
                </a:solidFill>
                <a:latin typeface="+mj-ea"/>
                <a:ea typeface="+mj-ea"/>
              </a:endParaRPr>
            </a:p>
          </p:txBody>
        </p:sp>
        <p:sp>
          <p:nvSpPr>
            <p:cNvPr id="80" name="矩形 79">
              <a:extLst>
                <a:ext uri="{FF2B5EF4-FFF2-40B4-BE49-F238E27FC236}">
                  <a16:creationId xmlns:a16="http://schemas.microsoft.com/office/drawing/2014/main" id="{9B61E23E-364B-64B4-59FC-3C1BAF45E6C4}"/>
                </a:ext>
              </a:extLst>
            </p:cNvPr>
            <p:cNvSpPr/>
            <p:nvPr/>
          </p:nvSpPr>
          <p:spPr>
            <a:xfrm>
              <a:off x="1864106" y="4680469"/>
              <a:ext cx="4555056" cy="63123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r>
                <a:rPr lang="zh-TW" altLang="en-US" sz="1200" dirty="0">
                  <a:solidFill>
                    <a:schemeClr val="tx1"/>
                  </a:solidFill>
                </a:rPr>
                <a:t>客製化</a:t>
              </a:r>
            </a:p>
          </p:txBody>
        </p:sp>
        <p:sp>
          <p:nvSpPr>
            <p:cNvPr id="81" name="AutoShape 7">
              <a:extLst>
                <a:ext uri="{FF2B5EF4-FFF2-40B4-BE49-F238E27FC236}">
                  <a16:creationId xmlns:a16="http://schemas.microsoft.com/office/drawing/2014/main" id="{872A77D3-972F-FB55-7C74-C6CE7CFDE67D}"/>
                </a:ext>
              </a:extLst>
            </p:cNvPr>
            <p:cNvSpPr>
              <a:spLocks noChangeArrowheads="1"/>
            </p:cNvSpPr>
            <p:nvPr/>
          </p:nvSpPr>
          <p:spPr bwMode="auto">
            <a:xfrm>
              <a:off x="4326155" y="2953475"/>
              <a:ext cx="555685" cy="255561"/>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數據權限</a:t>
              </a:r>
              <a:endParaRPr lang="en-GB" altLang="en-US" sz="800" dirty="0">
                <a:solidFill>
                  <a:schemeClr val="tx1"/>
                </a:solidFill>
                <a:latin typeface="+mj-ea"/>
                <a:ea typeface="+mj-ea"/>
              </a:endParaRPr>
            </a:p>
          </p:txBody>
        </p:sp>
        <p:sp>
          <p:nvSpPr>
            <p:cNvPr id="82" name="AutoShape 7">
              <a:extLst>
                <a:ext uri="{FF2B5EF4-FFF2-40B4-BE49-F238E27FC236}">
                  <a16:creationId xmlns:a16="http://schemas.microsoft.com/office/drawing/2014/main" id="{491BE75A-31DC-3EFA-9E21-0A2906E04EEA}"/>
                </a:ext>
              </a:extLst>
            </p:cNvPr>
            <p:cNvSpPr>
              <a:spLocks noChangeArrowheads="1"/>
            </p:cNvSpPr>
            <p:nvPr/>
          </p:nvSpPr>
          <p:spPr bwMode="auto">
            <a:xfrm>
              <a:off x="3753042" y="4718778"/>
              <a:ext cx="981503" cy="256012"/>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數據使用者權限管理</a:t>
              </a:r>
              <a:endParaRPr lang="en-GB" altLang="en-US" sz="800" dirty="0">
                <a:solidFill>
                  <a:schemeClr val="tx1"/>
                </a:solidFill>
                <a:latin typeface="+mj-ea"/>
                <a:ea typeface="+mj-ea"/>
              </a:endParaRPr>
            </a:p>
          </p:txBody>
        </p:sp>
        <p:sp>
          <p:nvSpPr>
            <p:cNvPr id="83" name="AutoShape 7">
              <a:extLst>
                <a:ext uri="{FF2B5EF4-FFF2-40B4-BE49-F238E27FC236}">
                  <a16:creationId xmlns:a16="http://schemas.microsoft.com/office/drawing/2014/main" id="{93FDDC46-03A5-715E-CE55-0C4D59A3C98D}"/>
                </a:ext>
              </a:extLst>
            </p:cNvPr>
            <p:cNvSpPr>
              <a:spLocks noChangeArrowheads="1"/>
            </p:cNvSpPr>
            <p:nvPr/>
          </p:nvSpPr>
          <p:spPr bwMode="auto">
            <a:xfrm>
              <a:off x="1967204" y="4726349"/>
              <a:ext cx="555685" cy="249189"/>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用戶入口</a:t>
              </a:r>
              <a:endParaRPr lang="en-GB" altLang="en-US" sz="800" dirty="0">
                <a:solidFill>
                  <a:schemeClr val="tx1"/>
                </a:solidFill>
                <a:latin typeface="+mj-ea"/>
                <a:ea typeface="+mj-ea"/>
              </a:endParaRPr>
            </a:p>
          </p:txBody>
        </p:sp>
        <p:sp>
          <p:nvSpPr>
            <p:cNvPr id="84" name="AutoShape 7">
              <a:extLst>
                <a:ext uri="{FF2B5EF4-FFF2-40B4-BE49-F238E27FC236}">
                  <a16:creationId xmlns:a16="http://schemas.microsoft.com/office/drawing/2014/main" id="{A0A2CC1F-8253-FC16-2C76-B40DA97AF1A5}"/>
                </a:ext>
              </a:extLst>
            </p:cNvPr>
            <p:cNvSpPr>
              <a:spLocks noChangeArrowheads="1"/>
            </p:cNvSpPr>
            <p:nvPr/>
          </p:nvSpPr>
          <p:spPr bwMode="auto">
            <a:xfrm>
              <a:off x="2572364" y="4725600"/>
              <a:ext cx="1117947" cy="24958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開發</a:t>
              </a:r>
              <a:r>
                <a:rPr lang="en-US" altLang="zh-TW" sz="800" dirty="0">
                  <a:solidFill>
                    <a:schemeClr val="tx1"/>
                  </a:solidFill>
                  <a:latin typeface="+mj-ea"/>
                  <a:ea typeface="+mj-ea"/>
                </a:rPr>
                <a:t>UI</a:t>
              </a:r>
              <a:r>
                <a:rPr lang="zh-TW" altLang="en-US" sz="800" dirty="0">
                  <a:solidFill>
                    <a:schemeClr val="tx1"/>
                  </a:solidFill>
                  <a:latin typeface="+mj-ea"/>
                  <a:ea typeface="+mj-ea"/>
                </a:rPr>
                <a:t>與版本控制</a:t>
              </a:r>
              <a:endParaRPr lang="en-GB" altLang="en-US" sz="800" dirty="0">
                <a:solidFill>
                  <a:schemeClr val="tx1"/>
                </a:solidFill>
                <a:latin typeface="+mj-ea"/>
                <a:ea typeface="+mj-ea"/>
              </a:endParaRPr>
            </a:p>
          </p:txBody>
        </p:sp>
        <p:sp>
          <p:nvSpPr>
            <p:cNvPr id="85" name="矩形 84">
              <a:extLst>
                <a:ext uri="{FF2B5EF4-FFF2-40B4-BE49-F238E27FC236}">
                  <a16:creationId xmlns:a16="http://schemas.microsoft.com/office/drawing/2014/main" id="{17AFB649-1A3C-B741-D59C-81E97E49B208}"/>
                </a:ext>
              </a:extLst>
            </p:cNvPr>
            <p:cNvSpPr/>
            <p:nvPr/>
          </p:nvSpPr>
          <p:spPr>
            <a:xfrm>
              <a:off x="5996331" y="3906091"/>
              <a:ext cx="324101" cy="369858"/>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86" name="Picture 34" descr="GitHub - zer0beat/apache-ranger-compiled: Here you can find the compiled  packages for every version (starting on 2.0.0) of Apache Ranger">
              <a:extLst>
                <a:ext uri="{FF2B5EF4-FFF2-40B4-BE49-F238E27FC236}">
                  <a16:creationId xmlns:a16="http://schemas.microsoft.com/office/drawing/2014/main" id="{E09F8298-1CCD-27CF-50AE-004D1F7545AC}"/>
                </a:ext>
              </a:extLst>
            </p:cNvPr>
            <p:cNvPicPr>
              <a:picLocks noChangeAspect="1" noChangeArrowheads="1"/>
            </p:cNvPicPr>
            <p:nvPr/>
          </p:nvPicPr>
          <p:blipFill>
            <a:blip r:embed="rId1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98503" y="2980447"/>
              <a:ext cx="981780" cy="207220"/>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6" descr="Apache SeaTunnel – Medium">
              <a:extLst>
                <a:ext uri="{FF2B5EF4-FFF2-40B4-BE49-F238E27FC236}">
                  <a16:creationId xmlns:a16="http://schemas.microsoft.com/office/drawing/2014/main" id="{D018DA77-4E00-2530-C18E-1960B709886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763" t="6445" r="15327" b="21201"/>
            <a:stretch/>
          </p:blipFill>
          <p:spPr bwMode="auto">
            <a:xfrm>
              <a:off x="2092629" y="1858449"/>
              <a:ext cx="440257" cy="621915"/>
            </a:xfrm>
            <a:prstGeom prst="rect">
              <a:avLst/>
            </a:prstGeom>
            <a:noFill/>
            <a:extLst>
              <a:ext uri="{909E8E84-426E-40DD-AFC4-6F175D3DCCD1}">
                <a14:hiddenFill xmlns:a14="http://schemas.microsoft.com/office/drawing/2010/main">
                  <a:solidFill>
                    <a:srgbClr val="FFFFFF"/>
                  </a:solidFill>
                </a14:hiddenFill>
              </a:ext>
            </a:extLst>
          </p:spPr>
        </p:pic>
        <p:sp>
          <p:nvSpPr>
            <p:cNvPr id="88" name="Rounded Rectangle 143">
              <a:extLst>
                <a:ext uri="{FF2B5EF4-FFF2-40B4-BE49-F238E27FC236}">
                  <a16:creationId xmlns:a16="http://schemas.microsoft.com/office/drawing/2014/main" id="{527C3369-7D9A-BFC9-8E53-7ABE98873CD1}"/>
                </a:ext>
              </a:extLst>
            </p:cNvPr>
            <p:cNvSpPr>
              <a:spLocks noChangeArrowheads="1"/>
            </p:cNvSpPr>
            <p:nvPr/>
          </p:nvSpPr>
          <p:spPr bwMode="auto">
            <a:xfrm>
              <a:off x="580862" y="4833634"/>
              <a:ext cx="849312" cy="304800"/>
            </a:xfrm>
            <a:prstGeom prst="roundRect">
              <a:avLst>
                <a:gd name="adj" fmla="val 16667"/>
              </a:avLst>
            </a:prstGeom>
            <a:solidFill>
              <a:schemeClr val="bg1"/>
            </a:solidFill>
            <a:ln w="3175" algn="ctr">
              <a:solidFill>
                <a:srgbClr val="969696"/>
              </a:solidFill>
              <a:round/>
              <a:headEnd/>
              <a:tailEnd/>
            </a:ln>
          </p:spPr>
          <p:txBody>
            <a:bodyPr lIns="0" tIns="0" rIns="0" bIns="0" anchor="ctr" anchorCtr="1"/>
            <a:lstStyle>
              <a:lvl1pPr defTabSz="457200"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defTabSz="45720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defTabSz="4572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defTabSz="4572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defTabSz="4572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97000"/>
                </a:lnSpc>
                <a:spcBef>
                  <a:spcPct val="0"/>
                </a:spcBef>
                <a:buClr>
                  <a:srgbClr val="000600"/>
                </a:buClr>
                <a:buFont typeface="Arial" panose="020B0604020202020204" pitchFamily="34" charset="0"/>
                <a:buNone/>
              </a:pPr>
              <a:r>
                <a:rPr lang="en-US" altLang="en-US" sz="800" b="0" dirty="0"/>
                <a:t>Corp</a:t>
              </a:r>
              <a:r>
                <a:rPr lang="zh-TW" altLang="en-US" sz="800" b="0" dirty="0"/>
                <a:t> </a:t>
              </a:r>
              <a:r>
                <a:rPr lang="en-US" altLang="zh-TW" sz="800" b="0" dirty="0"/>
                <a:t>DP</a:t>
              </a:r>
              <a:endParaRPr lang="en-US" altLang="en-US" sz="800" b="0" dirty="0"/>
            </a:p>
          </p:txBody>
        </p:sp>
        <p:pic>
          <p:nvPicPr>
            <p:cNvPr id="89" name="Picture 40">
              <a:extLst>
                <a:ext uri="{FF2B5EF4-FFF2-40B4-BE49-F238E27FC236}">
                  <a16:creationId xmlns:a16="http://schemas.microsoft.com/office/drawing/2014/main" id="{B2D96284-3051-A3D7-949A-4A1D4074D649}"/>
                </a:ext>
              </a:extLst>
            </p:cNvPr>
            <p:cNvPicPr>
              <a:picLocks noChangeAspect="1" noChangeArrowheads="1"/>
            </p:cNvPicPr>
            <p:nvPr/>
          </p:nvPicPr>
          <p:blipFill rotWithShape="1">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l="2397" t="30533" r="2239" b="28530"/>
            <a:stretch/>
          </p:blipFill>
          <p:spPr bwMode="auto">
            <a:xfrm>
              <a:off x="2860667" y="4123715"/>
              <a:ext cx="730716" cy="155389"/>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Quickstart — Delta Lake Documentation">
              <a:extLst>
                <a:ext uri="{FF2B5EF4-FFF2-40B4-BE49-F238E27FC236}">
                  <a16:creationId xmlns:a16="http://schemas.microsoft.com/office/drawing/2014/main" id="{2506FED2-3AF2-FF2D-2755-E43F3C7B4DF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93242" y="4125986"/>
              <a:ext cx="774563" cy="158299"/>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 descr="Apache Hudi (Part 1): History, Getting Started | by Dipankar Mazumdar |  Medium">
              <a:extLst>
                <a:ext uri="{FF2B5EF4-FFF2-40B4-BE49-F238E27FC236}">
                  <a16:creationId xmlns:a16="http://schemas.microsoft.com/office/drawing/2014/main" id="{04E6F01C-E1A5-2808-1D10-803C9D86B483}"/>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4386" t="15404" r="5430" b="20078"/>
            <a:stretch/>
          </p:blipFill>
          <p:spPr bwMode="auto">
            <a:xfrm>
              <a:off x="3720258" y="4099361"/>
              <a:ext cx="551630" cy="169109"/>
            </a:xfrm>
            <a:prstGeom prst="rect">
              <a:avLst/>
            </a:prstGeom>
            <a:noFill/>
            <a:extLst>
              <a:ext uri="{909E8E84-426E-40DD-AFC4-6F175D3DCCD1}">
                <a14:hiddenFill xmlns:a14="http://schemas.microsoft.com/office/drawing/2010/main">
                  <a:solidFill>
                    <a:srgbClr val="FFFFFF"/>
                  </a:solidFill>
                </a14:hiddenFill>
              </a:ext>
            </a:extLst>
          </p:spPr>
        </p:pic>
        <p:sp>
          <p:nvSpPr>
            <p:cNvPr id="92" name="矩形 91">
              <a:extLst>
                <a:ext uri="{FF2B5EF4-FFF2-40B4-BE49-F238E27FC236}">
                  <a16:creationId xmlns:a16="http://schemas.microsoft.com/office/drawing/2014/main" id="{E874E095-3D62-C080-6FCB-010AAE6E9AE3}"/>
                </a:ext>
              </a:extLst>
            </p:cNvPr>
            <p:cNvSpPr/>
            <p:nvPr/>
          </p:nvSpPr>
          <p:spPr>
            <a:xfrm>
              <a:off x="1884540" y="4083838"/>
              <a:ext cx="2441615" cy="200447"/>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3" name="Picture 6" descr="What's new in Apache Spark 2.2 - Knoldus Blogs">
              <a:extLst>
                <a:ext uri="{FF2B5EF4-FFF2-40B4-BE49-F238E27FC236}">
                  <a16:creationId xmlns:a16="http://schemas.microsoft.com/office/drawing/2014/main" id="{318F39B5-AD3A-5BC4-8CFF-E642ECDE205A}"/>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70428" y="1996523"/>
              <a:ext cx="518465" cy="275012"/>
            </a:xfrm>
            <a:prstGeom prst="rect">
              <a:avLst/>
            </a:prstGeom>
            <a:noFill/>
            <a:extLst>
              <a:ext uri="{909E8E84-426E-40DD-AFC4-6F175D3DCCD1}">
                <a14:hiddenFill xmlns:a14="http://schemas.microsoft.com/office/drawing/2010/main">
                  <a:solidFill>
                    <a:srgbClr val="FFFFFF"/>
                  </a:solidFill>
                </a14:hiddenFill>
              </a:ext>
            </a:extLst>
          </p:spPr>
        </p:pic>
        <p:sp>
          <p:nvSpPr>
            <p:cNvPr id="94" name="矩形 93">
              <a:extLst>
                <a:ext uri="{FF2B5EF4-FFF2-40B4-BE49-F238E27FC236}">
                  <a16:creationId xmlns:a16="http://schemas.microsoft.com/office/drawing/2014/main" id="{0785C3A5-2A27-514B-F4D3-9912073A859C}"/>
                </a:ext>
              </a:extLst>
            </p:cNvPr>
            <p:cNvSpPr/>
            <p:nvPr/>
          </p:nvSpPr>
          <p:spPr>
            <a:xfrm>
              <a:off x="2709404" y="1881397"/>
              <a:ext cx="788338" cy="605855"/>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pic>
          <p:nvPicPr>
            <p:cNvPr id="95" name="圖片 94">
              <a:extLst>
                <a:ext uri="{FF2B5EF4-FFF2-40B4-BE49-F238E27FC236}">
                  <a16:creationId xmlns:a16="http://schemas.microsoft.com/office/drawing/2014/main" id="{A4BE4548-9665-2590-403A-82845E4448A9}"/>
                </a:ext>
              </a:extLst>
            </p:cNvPr>
            <p:cNvPicPr>
              <a:picLocks noChangeAspect="1"/>
            </p:cNvPicPr>
            <p:nvPr/>
          </p:nvPicPr>
          <p:blipFill>
            <a:blip r:embed="rId24">
              <a:clrChange>
                <a:clrFrom>
                  <a:srgbClr val="FFFFFF"/>
                </a:clrFrom>
                <a:clrTo>
                  <a:srgbClr val="FFFFFF">
                    <a:alpha val="0"/>
                  </a:srgbClr>
                </a:clrTo>
              </a:clrChange>
            </a:blip>
            <a:stretch>
              <a:fillRect/>
            </a:stretch>
          </p:blipFill>
          <p:spPr>
            <a:xfrm>
              <a:off x="2117968" y="5795883"/>
              <a:ext cx="1106322" cy="333257"/>
            </a:xfrm>
            <a:prstGeom prst="rect">
              <a:avLst/>
            </a:prstGeom>
          </p:spPr>
        </p:pic>
        <p:sp>
          <p:nvSpPr>
            <p:cNvPr id="96" name="AutoShape 7">
              <a:extLst>
                <a:ext uri="{FF2B5EF4-FFF2-40B4-BE49-F238E27FC236}">
                  <a16:creationId xmlns:a16="http://schemas.microsoft.com/office/drawing/2014/main" id="{73063C0D-B318-F002-2B67-373EE224F4CA}"/>
                </a:ext>
              </a:extLst>
            </p:cNvPr>
            <p:cNvSpPr>
              <a:spLocks noChangeArrowheads="1"/>
            </p:cNvSpPr>
            <p:nvPr/>
          </p:nvSpPr>
          <p:spPr bwMode="auto">
            <a:xfrm>
              <a:off x="2363102" y="5511367"/>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zh-TW" altLang="en-US" sz="800" dirty="0">
                  <a:latin typeface="+mj-ea"/>
                  <a:ea typeface="+mj-ea"/>
                </a:rPr>
                <a:t>彈性擴展</a:t>
              </a:r>
              <a:endParaRPr lang="en-GB" altLang="en-US" dirty="0"/>
            </a:p>
          </p:txBody>
        </p:sp>
        <p:sp>
          <p:nvSpPr>
            <p:cNvPr id="97" name="AutoShape 7">
              <a:extLst>
                <a:ext uri="{FF2B5EF4-FFF2-40B4-BE49-F238E27FC236}">
                  <a16:creationId xmlns:a16="http://schemas.microsoft.com/office/drawing/2014/main" id="{E6822811-3D48-B0A9-B710-58395EE555E6}"/>
                </a:ext>
              </a:extLst>
            </p:cNvPr>
            <p:cNvSpPr>
              <a:spLocks noChangeArrowheads="1"/>
            </p:cNvSpPr>
            <p:nvPr/>
          </p:nvSpPr>
          <p:spPr bwMode="auto">
            <a:xfrm>
              <a:off x="3468621" y="5517814"/>
              <a:ext cx="532509" cy="264394"/>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a:lnSpc>
                  <a:spcPct val="85000"/>
                </a:lnSpc>
                <a:spcBef>
                  <a:spcPct val="0"/>
                </a:spcBef>
                <a:buNone/>
              </a:pPr>
              <a:r>
                <a:rPr lang="en-US" altLang="zh-TW" sz="800" dirty="0">
                  <a:latin typeface="+mj-ea"/>
                  <a:ea typeface="+mj-ea"/>
                </a:rPr>
                <a:t>Log</a:t>
              </a:r>
              <a:r>
                <a:rPr lang="zh-TW" altLang="en-US" sz="800" dirty="0">
                  <a:latin typeface="+mj-ea"/>
                  <a:ea typeface="+mj-ea"/>
                </a:rPr>
                <a:t>分析</a:t>
              </a:r>
              <a:endParaRPr lang="en-GB" altLang="en-US" dirty="0"/>
            </a:p>
          </p:txBody>
        </p:sp>
        <p:pic>
          <p:nvPicPr>
            <p:cNvPr id="98" name="圖片 97">
              <a:extLst>
                <a:ext uri="{FF2B5EF4-FFF2-40B4-BE49-F238E27FC236}">
                  <a16:creationId xmlns:a16="http://schemas.microsoft.com/office/drawing/2014/main" id="{9253D235-B64C-B17D-D26F-EB8F630E7720}"/>
                </a:ext>
              </a:extLst>
            </p:cNvPr>
            <p:cNvPicPr>
              <a:picLocks noChangeAspect="1"/>
            </p:cNvPicPr>
            <p:nvPr/>
          </p:nvPicPr>
          <p:blipFill>
            <a:blip r:embed="rId25">
              <a:clrChange>
                <a:clrFrom>
                  <a:srgbClr val="FFFFFF"/>
                </a:clrFrom>
                <a:clrTo>
                  <a:srgbClr val="FFFFFF">
                    <a:alpha val="0"/>
                  </a:srgbClr>
                </a:clrTo>
              </a:clrChange>
            </a:blip>
            <a:stretch>
              <a:fillRect/>
            </a:stretch>
          </p:blipFill>
          <p:spPr>
            <a:xfrm>
              <a:off x="3455882" y="5862347"/>
              <a:ext cx="589280" cy="253376"/>
            </a:xfrm>
            <a:prstGeom prst="rect">
              <a:avLst/>
            </a:prstGeom>
          </p:spPr>
        </p:pic>
        <p:cxnSp>
          <p:nvCxnSpPr>
            <p:cNvPr id="99" name="直線接點 98">
              <a:extLst>
                <a:ext uri="{FF2B5EF4-FFF2-40B4-BE49-F238E27FC236}">
                  <a16:creationId xmlns:a16="http://schemas.microsoft.com/office/drawing/2014/main" id="{AB1F1A1D-0B70-C230-AC42-A8D950F9282B}"/>
                </a:ext>
              </a:extLst>
            </p:cNvPr>
            <p:cNvCxnSpPr>
              <a:cxnSpLocks/>
            </p:cNvCxnSpPr>
            <p:nvPr/>
          </p:nvCxnSpPr>
          <p:spPr>
            <a:xfrm>
              <a:off x="1707661" y="4471671"/>
              <a:ext cx="5217422"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00" name="Picture 20" descr="Cube — The Universal Semantic Layer">
              <a:extLst>
                <a:ext uri="{FF2B5EF4-FFF2-40B4-BE49-F238E27FC236}">
                  <a16:creationId xmlns:a16="http://schemas.microsoft.com/office/drawing/2014/main" id="{6E100735-07FD-842A-2432-4F27A7A4C85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17600" y="4035206"/>
              <a:ext cx="451485" cy="130071"/>
            </a:xfrm>
            <a:prstGeom prst="rect">
              <a:avLst/>
            </a:prstGeom>
            <a:noFill/>
            <a:extLst>
              <a:ext uri="{909E8E84-426E-40DD-AFC4-6F175D3DCCD1}">
                <a14:hiddenFill xmlns:a14="http://schemas.microsoft.com/office/drawing/2010/main">
                  <a:solidFill>
                    <a:srgbClr val="FFFFFF"/>
                  </a:solidFill>
                </a14:hiddenFill>
              </a:ext>
            </a:extLst>
          </p:spPr>
        </p:pic>
        <p:sp>
          <p:nvSpPr>
            <p:cNvPr id="101" name="文字方塊 100">
              <a:extLst>
                <a:ext uri="{FF2B5EF4-FFF2-40B4-BE49-F238E27FC236}">
                  <a16:creationId xmlns:a16="http://schemas.microsoft.com/office/drawing/2014/main" id="{9BF02512-D63D-ED86-DC94-FA266D00B08F}"/>
                </a:ext>
              </a:extLst>
            </p:cNvPr>
            <p:cNvSpPr txBox="1"/>
            <p:nvPr/>
          </p:nvSpPr>
          <p:spPr>
            <a:xfrm>
              <a:off x="3069785" y="2161400"/>
              <a:ext cx="500458" cy="276999"/>
            </a:xfrm>
            <a:prstGeom prst="rect">
              <a:avLst/>
            </a:prstGeom>
            <a:noFill/>
          </p:spPr>
          <p:txBody>
            <a:bodyPr wrap="none" rtlCol="0">
              <a:spAutoFit/>
            </a:bodyPr>
            <a:lstStyle/>
            <a:p>
              <a:r>
                <a:rPr lang="en-US" altLang="zh-TW" sz="1200" b="1" dirty="0">
                  <a:solidFill>
                    <a:srgbClr val="FFC000"/>
                  </a:solidFill>
                  <a:effectLst>
                    <a:glow rad="127000">
                      <a:schemeClr val="bg1"/>
                    </a:glow>
                  </a:effectLst>
                </a:rPr>
                <a:t>TBD</a:t>
              </a:r>
              <a:endParaRPr lang="zh-TW" altLang="en-US" sz="1200" b="1" dirty="0">
                <a:solidFill>
                  <a:srgbClr val="FFC000"/>
                </a:solidFill>
                <a:effectLst>
                  <a:glow rad="127000">
                    <a:schemeClr val="bg1"/>
                  </a:glow>
                </a:effectLst>
              </a:endParaRPr>
            </a:p>
          </p:txBody>
        </p:sp>
        <p:sp>
          <p:nvSpPr>
            <p:cNvPr id="102" name="AutoShape 7">
              <a:extLst>
                <a:ext uri="{FF2B5EF4-FFF2-40B4-BE49-F238E27FC236}">
                  <a16:creationId xmlns:a16="http://schemas.microsoft.com/office/drawing/2014/main" id="{B8608C90-B5B7-3B8A-C2C6-9523FABE5633}"/>
                </a:ext>
              </a:extLst>
            </p:cNvPr>
            <p:cNvSpPr>
              <a:spLocks noChangeArrowheads="1"/>
            </p:cNvSpPr>
            <p:nvPr/>
          </p:nvSpPr>
          <p:spPr bwMode="auto">
            <a:xfrm>
              <a:off x="4797276" y="4725600"/>
              <a:ext cx="763347" cy="24597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數據地圖</a:t>
              </a:r>
              <a:endParaRPr lang="en-GB" altLang="en-US" sz="800" dirty="0">
                <a:solidFill>
                  <a:schemeClr val="tx1"/>
                </a:solidFill>
                <a:latin typeface="+mj-ea"/>
                <a:ea typeface="+mj-ea"/>
              </a:endParaRPr>
            </a:p>
          </p:txBody>
        </p:sp>
        <p:sp>
          <p:nvSpPr>
            <p:cNvPr id="103" name="AutoShape 7">
              <a:extLst>
                <a:ext uri="{FF2B5EF4-FFF2-40B4-BE49-F238E27FC236}">
                  <a16:creationId xmlns:a16="http://schemas.microsoft.com/office/drawing/2014/main" id="{7EF6F166-9049-1B5A-25F2-4DF7CD13EA55}"/>
                </a:ext>
              </a:extLst>
            </p:cNvPr>
            <p:cNvSpPr>
              <a:spLocks noChangeArrowheads="1"/>
            </p:cNvSpPr>
            <p:nvPr/>
          </p:nvSpPr>
          <p:spPr bwMode="auto">
            <a:xfrm>
              <a:off x="5618677" y="4725600"/>
              <a:ext cx="763347" cy="245976"/>
            </a:xfrm>
            <a:prstGeom prst="roundRect">
              <a:avLst>
                <a:gd name="adj" fmla="val 10671"/>
              </a:avLst>
            </a:prstGeom>
            <a:solidFill>
              <a:schemeClr val="bg1"/>
            </a:solidFill>
            <a:ln w="9525">
              <a:solidFill>
                <a:srgbClr val="000000"/>
              </a:solidFill>
              <a:round/>
              <a:headEnd/>
              <a:tailEnd/>
            </a:ln>
          </p:spPr>
          <p:txBody>
            <a:bodyPr lIns="0" tIns="36000" rIns="0" bIns="0" anchor="ctr" anchorCtr="0"/>
            <a:lstStyle>
              <a:lvl1pPr eaLnBrk="0" hangingPunct="0">
                <a:spcBef>
                  <a:spcPct val="20000"/>
                </a:spcBef>
                <a:buFont typeface="Wingdings" panose="05000000000000000000" pitchFamily="2" charset="2"/>
                <a:buChar char="§"/>
                <a:defRPr sz="2000" b="1">
                  <a:solidFill>
                    <a:srgbClr val="000000"/>
                  </a:solidFill>
                  <a:latin typeface="Arial" panose="020B0604020202020204" pitchFamily="34" charset="0"/>
                  <a:ea typeface="MS PGothic" panose="020B0600070205080204" pitchFamily="34" charset="-128"/>
                </a:defRPr>
              </a:lvl1pPr>
              <a:lvl2pPr marL="742950" indent="-285750" eaLnBrk="0" hangingPunct="0">
                <a:spcBef>
                  <a:spcPct val="20000"/>
                </a:spcBef>
                <a:buFont typeface="Wingdings" panose="05000000000000000000" pitchFamily="2" charset="2"/>
                <a:buChar char="§"/>
                <a:defRPr sz="20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20000"/>
                </a:spcBef>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20000"/>
                </a:spcBef>
                <a:buClr>
                  <a:schemeClr val="tx1"/>
                </a:buClr>
                <a:buChar char="•"/>
                <a:defRPr sz="14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20000"/>
                </a:spcBef>
                <a:buClr>
                  <a:schemeClr val="tx1"/>
                </a:buClr>
                <a:buChar char="»"/>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ea typeface="MS PGothic" panose="020B0600070205080204" pitchFamily="34" charset="-128"/>
                </a:defRPr>
              </a:lvl9pPr>
            </a:lstStyle>
            <a:p>
              <a:pPr algn="ctr" eaLnBrk="1" hangingPunct="1">
                <a:lnSpc>
                  <a:spcPct val="85000"/>
                </a:lnSpc>
                <a:spcBef>
                  <a:spcPct val="0"/>
                </a:spcBef>
                <a:buFontTx/>
                <a:buNone/>
              </a:pPr>
              <a:r>
                <a:rPr lang="zh-TW" altLang="en-US" sz="800" dirty="0">
                  <a:solidFill>
                    <a:schemeClr val="tx1"/>
                  </a:solidFill>
                  <a:latin typeface="+mj-ea"/>
                  <a:ea typeface="+mj-ea"/>
                </a:rPr>
                <a:t>報警配置</a:t>
              </a:r>
              <a:endParaRPr lang="en-GB" altLang="en-US" sz="800" dirty="0">
                <a:solidFill>
                  <a:schemeClr val="tx1"/>
                </a:solidFill>
                <a:latin typeface="+mj-ea"/>
                <a:ea typeface="+mj-ea"/>
              </a:endParaRPr>
            </a:p>
          </p:txBody>
        </p:sp>
      </p:grpSp>
      <p:sp>
        <p:nvSpPr>
          <p:cNvPr id="128" name="文字方塊 127">
            <a:extLst>
              <a:ext uri="{FF2B5EF4-FFF2-40B4-BE49-F238E27FC236}">
                <a16:creationId xmlns:a16="http://schemas.microsoft.com/office/drawing/2014/main" id="{DB2F2FCC-66B7-F842-C158-6A6890605479}"/>
              </a:ext>
            </a:extLst>
          </p:cNvPr>
          <p:cNvSpPr txBox="1"/>
          <p:nvPr/>
        </p:nvSpPr>
        <p:spPr>
          <a:xfrm>
            <a:off x="8513926" y="705289"/>
            <a:ext cx="3583032" cy="5816977"/>
          </a:xfrm>
          <a:prstGeom prst="rect">
            <a:avLst/>
          </a:prstGeom>
          <a:noFill/>
        </p:spPr>
        <p:txBody>
          <a:bodyPr wrap="none" rtlCol="0">
            <a:spAutoFit/>
          </a:bodyPr>
          <a:lstStyle/>
          <a:p>
            <a:r>
              <a:rPr lang="en-US" altLang="zh-TW" sz="1200" b="1" u="sng" dirty="0">
                <a:solidFill>
                  <a:schemeClr val="accent1">
                    <a:lumMod val="75000"/>
                  </a:schemeClr>
                </a:solidFill>
              </a:rPr>
              <a:t>POC1</a:t>
            </a:r>
            <a:r>
              <a:rPr lang="zh-TW" altLang="en-US" sz="1200" b="1" u="sng" dirty="0">
                <a:solidFill>
                  <a:schemeClr val="accent1">
                    <a:lumMod val="75000"/>
                  </a:schemeClr>
                </a:solidFill>
              </a:rPr>
              <a:t>結果對應清單</a:t>
            </a:r>
            <a:r>
              <a:rPr lang="en-US" altLang="zh-TW" sz="1200" b="1" u="sng" dirty="0">
                <a:solidFill>
                  <a:schemeClr val="accent1">
                    <a:lumMod val="75000"/>
                  </a:schemeClr>
                </a:solidFill>
              </a:rPr>
              <a:t>:</a:t>
            </a:r>
          </a:p>
          <a:p>
            <a:r>
              <a:rPr lang="zh-TW" altLang="en-US" sz="1200" dirty="0"/>
              <a:t>數據擷取</a:t>
            </a:r>
            <a:r>
              <a:rPr lang="en-US" altLang="zh-TW" sz="1200" dirty="0"/>
              <a:t>(</a:t>
            </a:r>
            <a:r>
              <a:rPr lang="zh-TW" altLang="en-US" sz="1200" dirty="0"/>
              <a:t>數據匯流</a:t>
            </a:r>
            <a:r>
              <a:rPr lang="en-US" altLang="zh-TW" sz="1200" dirty="0"/>
              <a:t>/</a:t>
            </a:r>
            <a:r>
              <a:rPr lang="zh-TW" altLang="en-US" sz="1200" dirty="0"/>
              <a:t>格式轉換</a:t>
            </a:r>
            <a:endParaRPr lang="en-US" altLang="zh-TW" sz="1200" dirty="0"/>
          </a:p>
          <a:p>
            <a:r>
              <a:rPr lang="en-US" altLang="zh-TW" sz="1200" dirty="0">
                <a:sym typeface="Wingdings" panose="05000000000000000000" pitchFamily="2" charset="2"/>
              </a:rPr>
              <a:t></a:t>
            </a:r>
            <a:r>
              <a:rPr lang="en-US" altLang="zh-TW" sz="1200" i="1" dirty="0">
                <a:sym typeface="Wingdings" panose="05000000000000000000" pitchFamily="2" charset="2"/>
              </a:rPr>
              <a:t>Apache </a:t>
            </a:r>
            <a:r>
              <a:rPr lang="en-US" altLang="zh-TW" sz="1200" i="1" dirty="0" err="1">
                <a:sym typeface="Wingdings" panose="05000000000000000000" pitchFamily="2" charset="2"/>
              </a:rPr>
              <a:t>Seatunnel</a:t>
            </a:r>
            <a:endParaRPr lang="en-US" altLang="zh-TW" sz="1200" i="1" dirty="0">
              <a:sym typeface="Wingdings" panose="05000000000000000000" pitchFamily="2" charset="2"/>
            </a:endParaRPr>
          </a:p>
          <a:p>
            <a:r>
              <a:rPr lang="zh-TW" altLang="en-US" sz="1200" dirty="0"/>
              <a:t>排程控制</a:t>
            </a:r>
            <a:endParaRPr lang="en-US" altLang="zh-TW" sz="1200" dirty="0"/>
          </a:p>
          <a:p>
            <a:pPr marL="171450" indent="-171450">
              <a:buFont typeface="Wingdings" panose="05000000000000000000" pitchFamily="2" charset="2"/>
              <a:buChar char="à"/>
            </a:pPr>
            <a:r>
              <a:rPr lang="en-US" altLang="zh-TW" sz="1200" i="1" dirty="0">
                <a:sym typeface="Wingdings" panose="05000000000000000000" pitchFamily="2" charset="2"/>
              </a:rPr>
              <a:t>Apache </a:t>
            </a:r>
            <a:r>
              <a:rPr lang="en-US" altLang="zh-TW" sz="1200" i="1" dirty="0" err="1">
                <a:sym typeface="Wingdings" panose="05000000000000000000" pitchFamily="2" charset="2"/>
              </a:rPr>
              <a:t>DophineScheduler</a:t>
            </a:r>
            <a:endParaRPr lang="en-US" altLang="zh-TW" sz="1200" i="1" dirty="0">
              <a:sym typeface="Wingdings" panose="05000000000000000000" pitchFamily="2" charset="2"/>
            </a:endParaRPr>
          </a:p>
          <a:p>
            <a:r>
              <a:rPr lang="zh-TW" altLang="en-US" sz="1200" dirty="0">
                <a:sym typeface="Wingdings" panose="05000000000000000000" pitchFamily="2" charset="2"/>
              </a:rPr>
              <a:t>數據湖泊</a:t>
            </a:r>
            <a:r>
              <a:rPr lang="en-US" altLang="zh-TW" sz="1200" dirty="0">
                <a:sym typeface="Wingdings" panose="05000000000000000000" pitchFamily="2" charset="2"/>
              </a:rPr>
              <a:t>(</a:t>
            </a:r>
            <a:r>
              <a:rPr lang="zh-TW" altLang="en-US" sz="1200" dirty="0">
                <a:sym typeface="Wingdings" panose="05000000000000000000" pitchFamily="2" charset="2"/>
              </a:rPr>
              <a:t>半結構化</a:t>
            </a:r>
            <a:r>
              <a:rPr lang="en-US" altLang="zh-TW" sz="1200" dirty="0">
                <a:sym typeface="Wingdings" panose="05000000000000000000" pitchFamily="2" charset="2"/>
              </a:rPr>
              <a:t>/</a:t>
            </a:r>
            <a:r>
              <a:rPr lang="zh-TW" altLang="en-US" sz="1200" dirty="0">
                <a:sym typeface="Wingdings" panose="05000000000000000000" pitchFamily="2" charset="2"/>
              </a:rPr>
              <a:t>結構化</a:t>
            </a:r>
            <a:r>
              <a:rPr lang="en-US" altLang="zh-TW" sz="1200" dirty="0">
                <a:sym typeface="Wingdings" panose="05000000000000000000" pitchFamily="2" charset="2"/>
              </a:rPr>
              <a:t>/</a:t>
            </a:r>
            <a:r>
              <a:rPr lang="en-US" altLang="zh-TW" sz="1000" dirty="0">
                <a:sym typeface="Wingdings" panose="05000000000000000000" pitchFamily="2" charset="2"/>
              </a:rPr>
              <a:t>ODS/DWD/DWS/DataMart</a:t>
            </a:r>
            <a:r>
              <a:rPr lang="en-US" altLang="zh-TW" sz="1200" dirty="0">
                <a:sym typeface="Wingdings" panose="05000000000000000000" pitchFamily="2" charset="2"/>
              </a:rPr>
              <a:t>)</a:t>
            </a:r>
          </a:p>
          <a:p>
            <a:r>
              <a:rPr lang="en-US" altLang="zh-TW" sz="1200" dirty="0">
                <a:sym typeface="Wingdings" panose="05000000000000000000" pitchFamily="2" charset="2"/>
              </a:rPr>
              <a:t></a:t>
            </a:r>
            <a:r>
              <a:rPr lang="en-US" altLang="zh-TW" sz="1200" i="1" dirty="0">
                <a:sym typeface="Wingdings" panose="05000000000000000000" pitchFamily="2" charset="2"/>
              </a:rPr>
              <a:t>Apache Doris </a:t>
            </a:r>
            <a:r>
              <a:rPr lang="en-US" altLang="zh-TW" sz="1200" dirty="0">
                <a:sym typeface="Wingdings" panose="05000000000000000000" pitchFamily="2" charset="2"/>
              </a:rPr>
              <a:t>( &lt;1PB )</a:t>
            </a:r>
          </a:p>
          <a:p>
            <a:r>
              <a:rPr lang="zh-TW" altLang="en-US" sz="1200" dirty="0">
                <a:sym typeface="Wingdings" panose="05000000000000000000" pitchFamily="2" charset="2"/>
              </a:rPr>
              <a:t>數據湖泊</a:t>
            </a:r>
            <a:r>
              <a:rPr lang="en-US" altLang="zh-TW" sz="1200" dirty="0">
                <a:sym typeface="Wingdings" panose="05000000000000000000" pitchFamily="2" charset="2"/>
              </a:rPr>
              <a:t>(Sematic Layer/Data Cache)</a:t>
            </a:r>
          </a:p>
          <a:p>
            <a:r>
              <a:rPr lang="en-US" altLang="zh-TW" sz="1200" dirty="0">
                <a:sym typeface="Wingdings" panose="05000000000000000000" pitchFamily="2" charset="2"/>
              </a:rPr>
              <a:t></a:t>
            </a:r>
            <a:r>
              <a:rPr lang="en-US" altLang="zh-TW" sz="1200" i="1" dirty="0" err="1">
                <a:sym typeface="Wingdings" panose="05000000000000000000" pitchFamily="2" charset="2"/>
              </a:rPr>
              <a:t>CubeJs</a:t>
            </a:r>
            <a:r>
              <a:rPr lang="en-US" altLang="zh-TW" sz="1200" i="1" dirty="0">
                <a:sym typeface="Wingdings" panose="05000000000000000000" pitchFamily="2" charset="2"/>
              </a:rPr>
              <a:t> / </a:t>
            </a:r>
            <a:r>
              <a:rPr lang="en-US" altLang="zh-TW" sz="1200" i="1" dirty="0" err="1">
                <a:sym typeface="Wingdings" panose="05000000000000000000" pitchFamily="2" charset="2"/>
              </a:rPr>
              <a:t>Clickhouse</a:t>
            </a:r>
            <a:endParaRPr lang="en-US" altLang="zh-TW" sz="1200" i="1" dirty="0">
              <a:sym typeface="Wingdings" panose="05000000000000000000" pitchFamily="2" charset="2"/>
            </a:endParaRPr>
          </a:p>
          <a:p>
            <a:r>
              <a:rPr lang="zh-TW" altLang="en-US" sz="1200" dirty="0">
                <a:sym typeface="Wingdings" panose="05000000000000000000" pitchFamily="2" charset="2"/>
              </a:rPr>
              <a:t>數據權限</a:t>
            </a:r>
            <a:r>
              <a:rPr lang="en-US" altLang="zh-TW" sz="1200" dirty="0">
                <a:sym typeface="Wingdings" panose="05000000000000000000" pitchFamily="2" charset="2"/>
              </a:rPr>
              <a:t>(Doris)</a:t>
            </a:r>
          </a:p>
          <a:p>
            <a:r>
              <a:rPr lang="en-US" altLang="zh-TW" sz="1200" dirty="0">
                <a:sym typeface="Wingdings" panose="05000000000000000000" pitchFamily="2" charset="2"/>
              </a:rPr>
              <a:t></a:t>
            </a:r>
            <a:r>
              <a:rPr lang="en-US" altLang="zh-TW" sz="1200" i="1" dirty="0">
                <a:sym typeface="Wingdings" panose="05000000000000000000" pitchFamily="2" charset="2"/>
              </a:rPr>
              <a:t>Apache Ranger</a:t>
            </a:r>
          </a:p>
          <a:p>
            <a:r>
              <a:rPr lang="zh-TW" altLang="en-US" sz="1200" dirty="0">
                <a:sym typeface="Wingdings" panose="05000000000000000000" pitchFamily="2" charset="2"/>
              </a:rPr>
              <a:t>數據提供</a:t>
            </a:r>
            <a:r>
              <a:rPr lang="en-US" altLang="zh-TW" sz="1200" dirty="0">
                <a:sym typeface="Wingdings" panose="05000000000000000000" pitchFamily="2" charset="2"/>
              </a:rPr>
              <a:t>(API)</a:t>
            </a:r>
          </a:p>
          <a:p>
            <a:pPr marL="171450" indent="-171450">
              <a:buFont typeface="Wingdings" panose="05000000000000000000" pitchFamily="2" charset="2"/>
              <a:buChar char="à"/>
            </a:pPr>
            <a:r>
              <a:rPr lang="en-US" altLang="zh-TW" sz="1200" i="1" dirty="0" err="1">
                <a:sym typeface="Wingdings" panose="05000000000000000000" pitchFamily="2" charset="2"/>
              </a:rPr>
              <a:t>Cube.Js</a:t>
            </a:r>
            <a:endParaRPr lang="en-US" altLang="zh-TW" sz="1200" i="1" dirty="0">
              <a:sym typeface="Wingdings" panose="05000000000000000000" pitchFamily="2" charset="2"/>
            </a:endParaRPr>
          </a:p>
          <a:p>
            <a:endParaRPr lang="en-US" altLang="zh-TW" sz="1200" dirty="0">
              <a:sym typeface="Wingdings" panose="05000000000000000000" pitchFamily="2" charset="2"/>
            </a:endParaRPr>
          </a:p>
          <a:p>
            <a:r>
              <a:rPr lang="zh-TW" altLang="en-US" sz="1200" b="1" u="sng" dirty="0">
                <a:solidFill>
                  <a:schemeClr val="accent1">
                    <a:lumMod val="75000"/>
                  </a:schemeClr>
                </a:solidFill>
                <a:sym typeface="Wingdings" panose="05000000000000000000" pitchFamily="2" charset="2"/>
              </a:rPr>
              <a:t>數據中台第一階段開發</a:t>
            </a:r>
            <a:r>
              <a:rPr lang="en-US" altLang="zh-TW" sz="1200" b="1" u="sng" dirty="0">
                <a:solidFill>
                  <a:schemeClr val="accent1">
                    <a:lumMod val="75000"/>
                  </a:schemeClr>
                </a:solidFill>
                <a:sym typeface="Wingdings" panose="05000000000000000000" pitchFamily="2" charset="2"/>
              </a:rPr>
              <a:t>:</a:t>
            </a:r>
          </a:p>
          <a:p>
            <a:r>
              <a:rPr lang="zh-TW" altLang="en-US" sz="1200" dirty="0"/>
              <a:t>管理</a:t>
            </a:r>
            <a:endParaRPr lang="en-US" altLang="zh-TW" sz="1200" dirty="0"/>
          </a:p>
          <a:p>
            <a:r>
              <a:rPr lang="en-US" altLang="zh-TW" sz="1200" dirty="0">
                <a:sym typeface="Wingdings" panose="05000000000000000000" pitchFamily="2" charset="2"/>
              </a:rPr>
              <a:t></a:t>
            </a:r>
            <a:r>
              <a:rPr lang="zh-TW" altLang="en-US" sz="1200" dirty="0">
                <a:sym typeface="Wingdings" panose="05000000000000000000" pitchFamily="2" charset="2"/>
              </a:rPr>
              <a:t>客製化</a:t>
            </a:r>
            <a:r>
              <a:rPr lang="en-US" altLang="zh-TW" sz="1200" dirty="0">
                <a:sym typeface="Wingdings" panose="05000000000000000000" pitchFamily="2" charset="2"/>
              </a:rPr>
              <a:t>(</a:t>
            </a:r>
            <a:r>
              <a:rPr lang="zh-TW" altLang="en-US" sz="1200" dirty="0">
                <a:sym typeface="Wingdings" panose="05000000000000000000" pitchFamily="2" charset="2"/>
              </a:rPr>
              <a:t> 數據中台第一階段開發案</a:t>
            </a:r>
            <a:r>
              <a:rPr lang="en-US" altLang="zh-TW" sz="1200" dirty="0">
                <a:sym typeface="Wingdings" panose="05000000000000000000" pitchFamily="2" charset="2"/>
              </a:rPr>
              <a:t>)</a:t>
            </a:r>
          </a:p>
          <a:p>
            <a:endParaRPr lang="en-US" altLang="zh-TW" sz="1200" dirty="0">
              <a:sym typeface="Wingdings" panose="05000000000000000000" pitchFamily="2" charset="2"/>
            </a:endParaRPr>
          </a:p>
          <a:p>
            <a:r>
              <a:rPr lang="en-US" altLang="zh-TW" sz="1200" b="1" u="sng" dirty="0">
                <a:solidFill>
                  <a:schemeClr val="accent1">
                    <a:lumMod val="75000"/>
                  </a:schemeClr>
                </a:solidFill>
              </a:rPr>
              <a:t>POC2</a:t>
            </a:r>
            <a:r>
              <a:rPr lang="zh-TW" altLang="en-US" sz="1200" b="1" u="sng" dirty="0">
                <a:solidFill>
                  <a:schemeClr val="accent1">
                    <a:lumMod val="75000"/>
                  </a:schemeClr>
                </a:solidFill>
              </a:rPr>
              <a:t>預計測試對應清單</a:t>
            </a:r>
            <a:r>
              <a:rPr lang="en-US" altLang="zh-TW" sz="1200" b="1" u="sng" dirty="0">
                <a:solidFill>
                  <a:schemeClr val="accent1">
                    <a:lumMod val="75000"/>
                  </a:schemeClr>
                </a:solidFill>
              </a:rPr>
              <a:t>:</a:t>
            </a:r>
            <a:endParaRPr lang="en-US" altLang="zh-TW" sz="1200" dirty="0"/>
          </a:p>
          <a:p>
            <a:r>
              <a:rPr lang="zh-TW" altLang="en-US" sz="1200" dirty="0">
                <a:sym typeface="Wingdings" panose="05000000000000000000" pitchFamily="2" charset="2"/>
              </a:rPr>
              <a:t>數據處裡</a:t>
            </a:r>
            <a:r>
              <a:rPr lang="en-US" altLang="zh-TW" sz="1200" dirty="0">
                <a:sym typeface="Wingdings" panose="05000000000000000000" pitchFamily="2" charset="2"/>
              </a:rPr>
              <a:t>(Batch/Stream)</a:t>
            </a:r>
          </a:p>
          <a:p>
            <a:r>
              <a:rPr lang="en-US" altLang="zh-TW" sz="1200" dirty="0">
                <a:sym typeface="Wingdings" panose="05000000000000000000" pitchFamily="2" charset="2"/>
              </a:rPr>
              <a:t></a:t>
            </a:r>
            <a:r>
              <a:rPr lang="en-US" altLang="zh-TW" sz="1200" i="1" dirty="0">
                <a:sym typeface="Wingdings" panose="05000000000000000000" pitchFamily="2" charset="2"/>
              </a:rPr>
              <a:t>Apache Spark/Apache </a:t>
            </a:r>
            <a:r>
              <a:rPr lang="en-US" altLang="zh-TW" sz="1200" i="1" dirty="0" err="1">
                <a:sym typeface="Wingdings" panose="05000000000000000000" pitchFamily="2" charset="2"/>
              </a:rPr>
              <a:t>Flink</a:t>
            </a:r>
            <a:endParaRPr lang="en-US" altLang="zh-TW" sz="1200" i="1" dirty="0">
              <a:sym typeface="Wingdings" panose="05000000000000000000" pitchFamily="2" charset="2"/>
            </a:endParaRPr>
          </a:p>
          <a:p>
            <a:r>
              <a:rPr lang="zh-TW" altLang="en-US" sz="1200" dirty="0">
                <a:sym typeface="Wingdings" panose="05000000000000000000" pitchFamily="2" charset="2"/>
              </a:rPr>
              <a:t>數據湖泊</a:t>
            </a:r>
            <a:r>
              <a:rPr lang="en-US" altLang="zh-TW" sz="1200" dirty="0">
                <a:sym typeface="Wingdings" panose="05000000000000000000" pitchFamily="2" charset="2"/>
              </a:rPr>
              <a:t>(</a:t>
            </a:r>
            <a:r>
              <a:rPr lang="zh-TW" altLang="en-US" sz="1200" dirty="0">
                <a:sym typeface="Wingdings" panose="05000000000000000000" pitchFamily="2" charset="2"/>
              </a:rPr>
              <a:t>檔案</a:t>
            </a:r>
            <a:r>
              <a:rPr lang="en-US" altLang="zh-TW" sz="1200" dirty="0">
                <a:sym typeface="Wingdings" panose="05000000000000000000" pitchFamily="2" charset="2"/>
              </a:rPr>
              <a:t>)</a:t>
            </a:r>
          </a:p>
          <a:p>
            <a:r>
              <a:rPr lang="en-US" altLang="zh-TW" sz="1200" dirty="0">
                <a:sym typeface="Wingdings" panose="05000000000000000000" pitchFamily="2" charset="2"/>
              </a:rPr>
              <a:t></a:t>
            </a:r>
            <a:r>
              <a:rPr lang="en-US" altLang="zh-TW" sz="1200" i="1" dirty="0">
                <a:sym typeface="Wingdings" panose="05000000000000000000" pitchFamily="2" charset="2"/>
              </a:rPr>
              <a:t>MINIO(S3)</a:t>
            </a:r>
            <a:endParaRPr lang="en-US" altLang="zh-TW" sz="1200" i="1" dirty="0"/>
          </a:p>
          <a:p>
            <a:r>
              <a:rPr lang="zh-TW" altLang="en-US" sz="1200" dirty="0">
                <a:sym typeface="Wingdings" panose="05000000000000000000" pitchFamily="2" charset="2"/>
              </a:rPr>
              <a:t>數據湖泊</a:t>
            </a:r>
            <a:r>
              <a:rPr lang="en-US" altLang="zh-TW" sz="1200" dirty="0">
                <a:sym typeface="Wingdings" panose="05000000000000000000" pitchFamily="2" charset="2"/>
              </a:rPr>
              <a:t>(</a:t>
            </a:r>
            <a:r>
              <a:rPr lang="zh-TW" altLang="en-US" sz="1200" dirty="0">
                <a:sym typeface="Wingdings" panose="05000000000000000000" pitchFamily="2" charset="2"/>
              </a:rPr>
              <a:t>大數據 </a:t>
            </a:r>
            <a:r>
              <a:rPr lang="en-US" altLang="zh-TW" sz="1200" dirty="0">
                <a:sym typeface="Wingdings" panose="05000000000000000000" pitchFamily="2" charset="2"/>
              </a:rPr>
              <a:t>&gt; 1PB)</a:t>
            </a:r>
          </a:p>
          <a:p>
            <a:r>
              <a:rPr lang="en-US" altLang="zh-TW" sz="1200" dirty="0">
                <a:sym typeface="Wingdings" panose="05000000000000000000" pitchFamily="2" charset="2"/>
              </a:rPr>
              <a:t></a:t>
            </a:r>
            <a:r>
              <a:rPr lang="en-US" altLang="zh-TW" sz="1200" i="1" dirty="0">
                <a:sym typeface="Wingdings" panose="05000000000000000000" pitchFamily="2" charset="2"/>
              </a:rPr>
              <a:t>Iceberg / Hudi / Delta Lake</a:t>
            </a:r>
            <a:endParaRPr lang="en-US" altLang="zh-TW" sz="1200" i="1" dirty="0"/>
          </a:p>
          <a:p>
            <a:r>
              <a:rPr lang="zh-TW" altLang="en-US" sz="1200" dirty="0">
                <a:sym typeface="Wingdings" panose="05000000000000000000" pitchFamily="2" charset="2"/>
              </a:rPr>
              <a:t>維運</a:t>
            </a:r>
            <a:r>
              <a:rPr lang="en-US" altLang="zh-TW" sz="1200" dirty="0">
                <a:sym typeface="Wingdings" panose="05000000000000000000" pitchFamily="2" charset="2"/>
              </a:rPr>
              <a:t>(HA</a:t>
            </a:r>
            <a:r>
              <a:rPr lang="zh-TW" altLang="en-US" sz="1200" dirty="0">
                <a:sym typeface="Wingdings" panose="05000000000000000000" pitchFamily="2" charset="2"/>
              </a:rPr>
              <a:t>運行</a:t>
            </a:r>
            <a:r>
              <a:rPr lang="en-US" altLang="zh-TW" sz="1200" dirty="0">
                <a:sym typeface="Wingdings" panose="05000000000000000000" pitchFamily="2" charset="2"/>
              </a:rPr>
              <a:t>/</a:t>
            </a:r>
            <a:r>
              <a:rPr lang="zh-TW" altLang="en-US" sz="1200" dirty="0">
                <a:sym typeface="Wingdings" panose="05000000000000000000" pitchFamily="2" charset="2"/>
              </a:rPr>
              <a:t>彈性擴展</a:t>
            </a:r>
            <a:r>
              <a:rPr lang="en-US" altLang="zh-TW" sz="1200" dirty="0">
                <a:sym typeface="Wingdings" panose="05000000000000000000" pitchFamily="2" charset="2"/>
              </a:rPr>
              <a:t>)</a:t>
            </a:r>
          </a:p>
          <a:p>
            <a:r>
              <a:rPr lang="en-US" altLang="zh-TW" sz="1200" dirty="0">
                <a:sym typeface="Wingdings" panose="05000000000000000000" pitchFamily="2" charset="2"/>
              </a:rPr>
              <a:t></a:t>
            </a:r>
            <a:r>
              <a:rPr lang="en-US" altLang="zh-TW" sz="1200" i="1" dirty="0">
                <a:sym typeface="Wingdings" panose="05000000000000000000" pitchFamily="2" charset="2"/>
              </a:rPr>
              <a:t>MicroK8S</a:t>
            </a:r>
          </a:p>
          <a:p>
            <a:r>
              <a:rPr lang="zh-TW" altLang="en-US" sz="1200" dirty="0"/>
              <a:t>維運</a:t>
            </a:r>
            <a:r>
              <a:rPr lang="en-US" altLang="zh-TW" sz="1200" dirty="0"/>
              <a:t>(Log</a:t>
            </a:r>
            <a:r>
              <a:rPr lang="zh-TW" altLang="en-US" sz="1200" dirty="0"/>
              <a:t>分析</a:t>
            </a:r>
            <a:r>
              <a:rPr lang="en-US" altLang="zh-TW" sz="1200" dirty="0"/>
              <a:t>/</a:t>
            </a:r>
            <a:r>
              <a:rPr lang="zh-TW" altLang="en-US" sz="1200" dirty="0"/>
              <a:t>監控設定</a:t>
            </a:r>
            <a:r>
              <a:rPr lang="en-US" altLang="zh-TW" sz="1200" dirty="0"/>
              <a:t>/</a:t>
            </a:r>
            <a:r>
              <a:rPr lang="zh-TW" altLang="en-US" sz="1200" dirty="0"/>
              <a:t>警報通知</a:t>
            </a:r>
            <a:r>
              <a:rPr lang="en-US" altLang="zh-TW" sz="1200" dirty="0"/>
              <a:t>)</a:t>
            </a:r>
          </a:p>
          <a:p>
            <a:r>
              <a:rPr lang="en-US" altLang="zh-TW" sz="1200" dirty="0">
                <a:sym typeface="Wingdings" panose="05000000000000000000" pitchFamily="2" charset="2"/>
              </a:rPr>
              <a:t></a:t>
            </a:r>
            <a:r>
              <a:rPr lang="en-US" altLang="zh-TW" sz="1200" i="1" dirty="0">
                <a:sym typeface="Wingdings" panose="05000000000000000000" pitchFamily="2" charset="2"/>
              </a:rPr>
              <a:t>PLG + Prometheus</a:t>
            </a:r>
          </a:p>
          <a:p>
            <a:r>
              <a:rPr lang="zh-TW" altLang="en-US" sz="1200" dirty="0">
                <a:sym typeface="Wingdings" panose="05000000000000000000" pitchFamily="2" charset="2"/>
              </a:rPr>
              <a:t>維運</a:t>
            </a:r>
            <a:r>
              <a:rPr lang="en-US" altLang="zh-TW" sz="1200" dirty="0">
                <a:sym typeface="Wingdings" panose="05000000000000000000" pitchFamily="2" charset="2"/>
              </a:rPr>
              <a:t>(</a:t>
            </a:r>
            <a:r>
              <a:rPr lang="zh-TW" altLang="en-US" sz="1200" dirty="0">
                <a:sym typeface="Wingdings" panose="05000000000000000000" pitchFamily="2" charset="2"/>
              </a:rPr>
              <a:t>備份還原</a:t>
            </a:r>
            <a:r>
              <a:rPr lang="en-US" altLang="zh-TW" sz="1200" dirty="0">
                <a:sym typeface="Wingdings" panose="05000000000000000000" pitchFamily="2" charset="2"/>
              </a:rPr>
              <a:t>)</a:t>
            </a:r>
          </a:p>
          <a:p>
            <a:r>
              <a:rPr lang="en-US" altLang="zh-TW" sz="1200" dirty="0">
                <a:sym typeface="Wingdings" panose="05000000000000000000" pitchFamily="2" charset="2"/>
              </a:rPr>
              <a:t>TBD</a:t>
            </a:r>
          </a:p>
        </p:txBody>
      </p:sp>
    </p:spTree>
    <p:extLst>
      <p:ext uri="{BB962C8B-B14F-4D97-AF65-F5344CB8AC3E}">
        <p14:creationId xmlns:p14="http://schemas.microsoft.com/office/powerpoint/2010/main" val="261839368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a:extLst>
              <a:ext uri="{FF2B5EF4-FFF2-40B4-BE49-F238E27FC236}">
                <a16:creationId xmlns:a16="http://schemas.microsoft.com/office/drawing/2014/main" id="{C3B5C26A-9CCB-03CE-127A-AEA7EECDDF7B}"/>
              </a:ext>
            </a:extLst>
          </p:cNvPr>
          <p:cNvSpPr>
            <a:spLocks noGrp="1"/>
          </p:cNvSpPr>
          <p:nvPr>
            <p:ph idx="1"/>
          </p:nvPr>
        </p:nvSpPr>
        <p:spPr/>
        <p:txBody>
          <a:bodyPr/>
          <a:lstStyle/>
          <a:p>
            <a:r>
              <a:rPr lang="zh-TW" altLang="en-US" sz="2000" dirty="0"/>
              <a:t>數據擷取</a:t>
            </a:r>
            <a:r>
              <a:rPr lang="en-US" altLang="zh-TW" sz="2000" dirty="0"/>
              <a:t>(</a:t>
            </a:r>
            <a:r>
              <a:rPr lang="zh-TW" altLang="en-US" sz="2000" dirty="0"/>
              <a:t>數據匯流</a:t>
            </a:r>
            <a:r>
              <a:rPr lang="en-US" altLang="zh-TW" sz="2000" dirty="0"/>
              <a:t>/</a:t>
            </a:r>
            <a:r>
              <a:rPr lang="zh-TW" altLang="en-US" sz="2000" dirty="0"/>
              <a:t>格式轉換</a:t>
            </a:r>
            <a:r>
              <a:rPr lang="en-US" altLang="zh-TW" sz="2000" dirty="0"/>
              <a:t>)</a:t>
            </a:r>
            <a:r>
              <a:rPr lang="zh-TW" altLang="en-US" dirty="0"/>
              <a:t>工具評測比較表</a:t>
            </a:r>
            <a:endParaRPr lang="en-US" altLang="zh-TW" sz="2000" dirty="0"/>
          </a:p>
          <a:p>
            <a:r>
              <a:rPr lang="zh-TW" altLang="en-US" sz="2000" dirty="0"/>
              <a:t>排程控制</a:t>
            </a:r>
            <a:r>
              <a:rPr lang="zh-TW" altLang="en-US" dirty="0"/>
              <a:t>工具評測比較表</a:t>
            </a:r>
            <a:endParaRPr lang="en-US" altLang="zh-TW" sz="2000" dirty="0"/>
          </a:p>
          <a:p>
            <a:r>
              <a:rPr lang="zh-TW" altLang="en-US" dirty="0"/>
              <a:t>數據上架工具評測比較表</a:t>
            </a:r>
            <a:endParaRPr lang="en-US" altLang="zh-TW" dirty="0"/>
          </a:p>
          <a:p>
            <a:r>
              <a:rPr lang="zh-TW" altLang="en-US" sz="2000" dirty="0"/>
              <a:t>數據接口工具評測比較表</a:t>
            </a:r>
            <a:endParaRPr lang="en-US" altLang="zh-TW" sz="2000" dirty="0"/>
          </a:p>
          <a:p>
            <a:endParaRPr lang="en-US" altLang="zh-TW" sz="2000" dirty="0"/>
          </a:p>
          <a:p>
            <a:endParaRPr lang="en-US" altLang="zh-TW" sz="2000" dirty="0"/>
          </a:p>
          <a:p>
            <a:endParaRPr lang="zh-TW" altLang="en-US" dirty="0"/>
          </a:p>
        </p:txBody>
      </p:sp>
      <p:sp>
        <p:nvSpPr>
          <p:cNvPr id="2" name="標題 1">
            <a:extLst>
              <a:ext uri="{FF2B5EF4-FFF2-40B4-BE49-F238E27FC236}">
                <a16:creationId xmlns:a16="http://schemas.microsoft.com/office/drawing/2014/main" id="{5A7F305B-F53C-DD1B-CB5A-5416804DD689}"/>
              </a:ext>
            </a:extLst>
          </p:cNvPr>
          <p:cNvSpPr>
            <a:spLocks noGrp="1"/>
          </p:cNvSpPr>
          <p:nvPr>
            <p:ph type="title"/>
          </p:nvPr>
        </p:nvSpPr>
        <p:spPr/>
        <p:txBody>
          <a:bodyPr/>
          <a:lstStyle/>
          <a:p>
            <a:r>
              <a:rPr lang="zh-TW" altLang="en-US" dirty="0"/>
              <a:t>數據中台各功能模組選型測試結果</a:t>
            </a:r>
          </a:p>
        </p:txBody>
      </p:sp>
    </p:spTree>
    <p:extLst>
      <p:ext uri="{BB962C8B-B14F-4D97-AF65-F5344CB8AC3E}">
        <p14:creationId xmlns:p14="http://schemas.microsoft.com/office/powerpoint/2010/main" val="4257654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1C9482-68B1-ADDA-3CE4-1A3256CBEB5B}"/>
              </a:ext>
            </a:extLst>
          </p:cNvPr>
          <p:cNvSpPr>
            <a:spLocks noGrp="1"/>
          </p:cNvSpPr>
          <p:nvPr>
            <p:ph type="title"/>
          </p:nvPr>
        </p:nvSpPr>
        <p:spPr/>
        <p:txBody>
          <a:bodyPr>
            <a:normAutofit/>
          </a:bodyPr>
          <a:lstStyle/>
          <a:p>
            <a:r>
              <a:rPr lang="zh-TW" altLang="en-US" sz="2800" dirty="0"/>
              <a:t>數據擷取</a:t>
            </a:r>
            <a:r>
              <a:rPr lang="zh-TW" altLang="en-US" dirty="0"/>
              <a:t>工具評測比較表</a:t>
            </a:r>
          </a:p>
        </p:txBody>
      </p:sp>
      <p:sp>
        <p:nvSpPr>
          <p:cNvPr id="3" name="投影片編號版面配置區 2">
            <a:extLst>
              <a:ext uri="{FF2B5EF4-FFF2-40B4-BE49-F238E27FC236}">
                <a16:creationId xmlns:a16="http://schemas.microsoft.com/office/drawing/2014/main" id="{BF594BDF-7413-7EE8-4774-115325C4A32C}"/>
              </a:ext>
            </a:extLst>
          </p:cNvPr>
          <p:cNvSpPr>
            <a:spLocks noGrp="1"/>
          </p:cNvSpPr>
          <p:nvPr>
            <p:ph type="sldNum" sz="quarter" idx="10"/>
          </p:nvPr>
        </p:nvSpPr>
        <p:spPr/>
        <p:txBody>
          <a:bodyPr/>
          <a:lstStyle/>
          <a:p>
            <a:pPr>
              <a:defRPr/>
            </a:pPr>
            <a:fld id="{1972D583-6F43-4BEE-A241-C30732397DD6}" type="slidenum">
              <a:rPr lang="zh-TW" altLang="en-US" smtClean="0">
                <a:solidFill>
                  <a:srgbClr val="000000">
                    <a:tint val="75000"/>
                  </a:srgbClr>
                </a:solidFill>
              </a:rPr>
              <a:pPr>
                <a:defRPr/>
              </a:pPr>
              <a:t>22</a:t>
            </a:fld>
            <a:endParaRPr lang="zh-TW" altLang="en-US" dirty="0">
              <a:solidFill>
                <a:srgbClr val="000000">
                  <a:tint val="75000"/>
                </a:srgbClr>
              </a:solidFill>
            </a:endParaRPr>
          </a:p>
        </p:txBody>
      </p:sp>
      <p:graphicFrame>
        <p:nvGraphicFramePr>
          <p:cNvPr id="7" name="表格 6">
            <a:extLst>
              <a:ext uri="{FF2B5EF4-FFF2-40B4-BE49-F238E27FC236}">
                <a16:creationId xmlns:a16="http://schemas.microsoft.com/office/drawing/2014/main" id="{BD6D9DF6-7225-121E-59D9-2408E9950495}"/>
              </a:ext>
            </a:extLst>
          </p:cNvPr>
          <p:cNvGraphicFramePr>
            <a:graphicFrameLocks noGrp="1"/>
          </p:cNvGraphicFramePr>
          <p:nvPr>
            <p:extLst>
              <p:ext uri="{D42A27DB-BD31-4B8C-83A1-F6EECF244321}">
                <p14:modId xmlns:p14="http://schemas.microsoft.com/office/powerpoint/2010/main" val="3954684396"/>
              </p:ext>
            </p:extLst>
          </p:nvPr>
        </p:nvGraphicFramePr>
        <p:xfrm>
          <a:off x="4359965" y="1164249"/>
          <a:ext cx="6095599" cy="5284552"/>
        </p:xfrm>
        <a:graphic>
          <a:graphicData uri="http://schemas.openxmlformats.org/drawingml/2006/table">
            <a:tbl>
              <a:tblPr firstRow="1" firstCol="1">
                <a:tableStyleId>{5C22544A-7EE6-4342-B048-85BDC9FD1C3A}</a:tableStyleId>
              </a:tblPr>
              <a:tblGrid>
                <a:gridCol w="266620">
                  <a:extLst>
                    <a:ext uri="{9D8B030D-6E8A-4147-A177-3AD203B41FA5}">
                      <a16:colId xmlns:a16="http://schemas.microsoft.com/office/drawing/2014/main" val="3952518632"/>
                    </a:ext>
                  </a:extLst>
                </a:gridCol>
                <a:gridCol w="1004449">
                  <a:extLst>
                    <a:ext uri="{9D8B030D-6E8A-4147-A177-3AD203B41FA5}">
                      <a16:colId xmlns:a16="http://schemas.microsoft.com/office/drawing/2014/main" val="3844782388"/>
                    </a:ext>
                  </a:extLst>
                </a:gridCol>
                <a:gridCol w="2118275">
                  <a:extLst>
                    <a:ext uri="{9D8B030D-6E8A-4147-A177-3AD203B41FA5}">
                      <a16:colId xmlns:a16="http://schemas.microsoft.com/office/drawing/2014/main" val="2090038922"/>
                    </a:ext>
                  </a:extLst>
                </a:gridCol>
                <a:gridCol w="2706255">
                  <a:extLst>
                    <a:ext uri="{9D8B030D-6E8A-4147-A177-3AD203B41FA5}">
                      <a16:colId xmlns:a16="http://schemas.microsoft.com/office/drawing/2014/main" val="3740534063"/>
                    </a:ext>
                  </a:extLst>
                </a:gridCol>
              </a:tblGrid>
              <a:tr h="313680">
                <a:tc>
                  <a:txBody>
                    <a:bodyPr/>
                    <a:lstStyle/>
                    <a:p>
                      <a:pPr algn="ctr">
                        <a:lnSpc>
                          <a:spcPct val="115000"/>
                        </a:lnSpc>
                        <a:spcAft>
                          <a:spcPts val="1000"/>
                        </a:spcAft>
                      </a:pPr>
                      <a:r>
                        <a:rPr lang="en-US" sz="900">
                          <a:effectLst/>
                        </a:rPr>
                        <a:t>ID</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ctr">
                        <a:lnSpc>
                          <a:spcPct val="115000"/>
                        </a:lnSpc>
                        <a:spcAft>
                          <a:spcPts val="1000"/>
                        </a:spcAft>
                      </a:pPr>
                      <a:r>
                        <a:rPr lang="en-US" sz="900" dirty="0" err="1">
                          <a:effectLst/>
                        </a:rPr>
                        <a:t>功能性項目</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ctr">
                        <a:lnSpc>
                          <a:spcPct val="115000"/>
                        </a:lnSpc>
                        <a:spcAft>
                          <a:spcPts val="1000"/>
                        </a:spcAft>
                      </a:pPr>
                      <a:r>
                        <a:rPr lang="en-US" sz="900" dirty="0" err="1">
                          <a:effectLst/>
                        </a:rPr>
                        <a:t>Airbyte</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ctr">
                        <a:lnSpc>
                          <a:spcPct val="115000"/>
                        </a:lnSpc>
                        <a:spcAft>
                          <a:spcPts val="1000"/>
                        </a:spcAft>
                      </a:pPr>
                      <a:r>
                        <a:rPr lang="en-US" sz="900" dirty="0">
                          <a:effectLst/>
                        </a:rPr>
                        <a:t>Apache </a:t>
                      </a:r>
                      <a:r>
                        <a:rPr lang="en-US" sz="900" dirty="0" err="1">
                          <a:effectLst/>
                        </a:rPr>
                        <a:t>SeaTunnel</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2971010201"/>
                  </a:ext>
                </a:extLst>
              </a:tr>
              <a:tr h="437642">
                <a:tc>
                  <a:txBody>
                    <a:bodyPr/>
                    <a:lstStyle/>
                    <a:p>
                      <a:pPr>
                        <a:lnSpc>
                          <a:spcPct val="115000"/>
                        </a:lnSpc>
                        <a:spcAft>
                          <a:spcPts val="1000"/>
                        </a:spcAft>
                      </a:pPr>
                      <a:r>
                        <a:rPr lang="en-US" sz="900" u="sng">
                          <a:effectLst/>
                        </a:rPr>
                        <a:t>1</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a:effectLst/>
                        </a:rPr>
                        <a:t>一般 - 定位</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dirty="0">
                          <a:effectLst/>
                        </a:rPr>
                        <a:t>EL, </a:t>
                      </a:r>
                      <a:r>
                        <a:rPr lang="zh-TW" sz="900" dirty="0">
                          <a:effectLst/>
                        </a:rPr>
                        <a:t>支持高性能數據提取和加載，適合大批量數據同步。</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a:effectLst/>
                        </a:rPr>
                        <a:t>EtL, </a:t>
                      </a:r>
                      <a:r>
                        <a:rPr lang="zh-TW" sz="900">
                          <a:effectLst/>
                        </a:rPr>
                        <a:t>支持高性能數據提取、加載和實時處理，適合大規模數據同步和流數據處理。</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3398297063"/>
                  </a:ext>
                </a:extLst>
              </a:tr>
              <a:tr h="472522">
                <a:tc>
                  <a:txBody>
                    <a:bodyPr/>
                    <a:lstStyle/>
                    <a:p>
                      <a:pPr>
                        <a:lnSpc>
                          <a:spcPct val="115000"/>
                        </a:lnSpc>
                        <a:spcAft>
                          <a:spcPts val="1000"/>
                        </a:spcAft>
                      </a:pPr>
                      <a:r>
                        <a:rPr lang="en-US" sz="900" u="sng">
                          <a:effectLst/>
                        </a:rPr>
                        <a:t>2</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a:effectLst/>
                        </a:rPr>
                        <a:t>一般 - 數據持久性</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dirty="0" err="1">
                          <a:effectLst/>
                        </a:rPr>
                        <a:t>基本</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dirty="0" err="1">
                          <a:effectLst/>
                        </a:rPr>
                        <a:t>完整</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1429969347"/>
                  </a:ext>
                </a:extLst>
              </a:tr>
              <a:tr h="405832">
                <a:tc>
                  <a:txBody>
                    <a:bodyPr/>
                    <a:lstStyle/>
                    <a:p>
                      <a:pPr>
                        <a:lnSpc>
                          <a:spcPct val="115000"/>
                        </a:lnSpc>
                        <a:spcAft>
                          <a:spcPts val="1000"/>
                        </a:spcAft>
                      </a:pPr>
                      <a:r>
                        <a:rPr lang="en-US" sz="900">
                          <a:effectLst/>
                        </a:rPr>
                        <a:t>3</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a:effectLst/>
                        </a:rPr>
                        <a:t>一般 - Stream Processing</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a:effectLst/>
                        </a:rPr>
                        <a:t>X</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dirty="0">
                          <a:effectLst/>
                        </a:rPr>
                        <a:t>V</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2531986051"/>
                  </a:ext>
                </a:extLst>
              </a:tr>
              <a:tr h="453033">
                <a:tc>
                  <a:txBody>
                    <a:bodyPr/>
                    <a:lstStyle/>
                    <a:p>
                      <a:pPr>
                        <a:lnSpc>
                          <a:spcPct val="115000"/>
                        </a:lnSpc>
                        <a:spcAft>
                          <a:spcPts val="1000"/>
                        </a:spcAft>
                      </a:pPr>
                      <a:r>
                        <a:rPr lang="en-US" sz="900" u="sng">
                          <a:effectLst/>
                        </a:rPr>
                        <a:t>4</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dirty="0" err="1">
                          <a:effectLst/>
                        </a:rPr>
                        <a:t>一般</a:t>
                      </a:r>
                      <a:r>
                        <a:rPr lang="en-US" sz="900" dirty="0">
                          <a:effectLst/>
                        </a:rPr>
                        <a:t> - </a:t>
                      </a:r>
                      <a:r>
                        <a:rPr lang="en-US" sz="900" dirty="0" err="1">
                          <a:effectLst/>
                        </a:rPr>
                        <a:t>數據結構保留</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dirty="0">
                          <a:effectLst/>
                        </a:rPr>
                        <a:t>X </a:t>
                      </a:r>
                      <a:r>
                        <a:rPr lang="zh-TW" sz="900" dirty="0">
                          <a:effectLst/>
                        </a:rPr>
                        <a:t>數據結構簡化，將原始數據壓縮成單一欄位，並附加元數據數據</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dirty="0">
                          <a:effectLst/>
                        </a:rPr>
                        <a:t>V </a:t>
                      </a:r>
                      <a:r>
                        <a:rPr lang="zh-TW" sz="900" dirty="0">
                          <a:effectLst/>
                        </a:rPr>
                        <a:t>精確映射原始數據至目標欄位，保持數據結構完整，便於後續分析</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3910715857"/>
                  </a:ext>
                </a:extLst>
              </a:tr>
              <a:tr h="597365">
                <a:tc>
                  <a:txBody>
                    <a:bodyPr/>
                    <a:lstStyle/>
                    <a:p>
                      <a:pPr>
                        <a:lnSpc>
                          <a:spcPct val="115000"/>
                        </a:lnSpc>
                        <a:spcAft>
                          <a:spcPts val="1000"/>
                        </a:spcAft>
                      </a:pPr>
                      <a:r>
                        <a:rPr lang="en-US" sz="900">
                          <a:effectLst/>
                        </a:rPr>
                        <a:t>5</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a:effectLst/>
                        </a:rPr>
                        <a:t>一般 - 數據轉換</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900" dirty="0">
                          <a:effectLst/>
                        </a:rPr>
                        <a:t>基本 </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900" dirty="0">
                          <a:effectLst/>
                        </a:rPr>
                        <a:t>豐富，包括字段映射、類型轉換、數據清洗、聚合等複雜數據處理，具有較高的彈性</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910522235"/>
                  </a:ext>
                </a:extLst>
              </a:tr>
              <a:tr h="603316">
                <a:tc>
                  <a:txBody>
                    <a:bodyPr/>
                    <a:lstStyle/>
                    <a:p>
                      <a:pPr>
                        <a:lnSpc>
                          <a:spcPct val="115000"/>
                        </a:lnSpc>
                        <a:spcAft>
                          <a:spcPts val="1000"/>
                        </a:spcAft>
                      </a:pPr>
                      <a:r>
                        <a:rPr lang="en-US" sz="900" u="sng">
                          <a:effectLst/>
                        </a:rPr>
                        <a:t>6</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a:effectLst/>
                        </a:rPr>
                        <a:t>一般 -數據源支持</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900" dirty="0">
                          <a:effectLst/>
                        </a:rPr>
                        <a:t>適合基本的數據同步需求，可根據具體需要進行調整，但自定義能力有限。</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900" dirty="0">
                          <a:effectLst/>
                        </a:rPr>
                        <a:t>根據具體需求定義數據源和目標，靈活性更高，特別適用於複雜的數據處理場景。</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857738460"/>
                  </a:ext>
                </a:extLst>
              </a:tr>
              <a:tr h="499620">
                <a:tc>
                  <a:txBody>
                    <a:bodyPr/>
                    <a:lstStyle/>
                    <a:p>
                      <a:pPr>
                        <a:lnSpc>
                          <a:spcPct val="115000"/>
                        </a:lnSpc>
                        <a:spcAft>
                          <a:spcPts val="1000"/>
                        </a:spcAft>
                      </a:pPr>
                      <a:r>
                        <a:rPr lang="en-US" sz="900" u="sng">
                          <a:effectLst/>
                        </a:rPr>
                        <a:t>7</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900">
                          <a:effectLst/>
                        </a:rPr>
                        <a:t>一般 -冷熱數據處理</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900" dirty="0">
                          <a:effectLst/>
                        </a:rPr>
                        <a:t>無法使用冷熱數據分別處理</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900" dirty="0">
                          <a:effectLst/>
                        </a:rPr>
                        <a:t>不支持冷熱數據分別處理，需依賴外部工具或額外設置來實現</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3919620315"/>
                  </a:ext>
                </a:extLst>
              </a:tr>
              <a:tr h="570491">
                <a:tc>
                  <a:txBody>
                    <a:bodyPr/>
                    <a:lstStyle/>
                    <a:p>
                      <a:pPr>
                        <a:lnSpc>
                          <a:spcPct val="115000"/>
                        </a:lnSpc>
                        <a:spcAft>
                          <a:spcPts val="1000"/>
                        </a:spcAft>
                      </a:pPr>
                      <a:r>
                        <a:rPr lang="en-US" sz="900" u="sng">
                          <a:effectLst/>
                        </a:rPr>
                        <a:t>8</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000" dirty="0" err="1">
                          <a:effectLst/>
                          <a:latin typeface="+mn-ea"/>
                          <a:ea typeface="+mn-ea"/>
                        </a:rPr>
                        <a:t>效能</a:t>
                      </a:r>
                      <a:r>
                        <a:rPr lang="en-US" sz="1000" dirty="0">
                          <a:effectLst/>
                          <a:latin typeface="+mn-ea"/>
                          <a:ea typeface="+mn-ea"/>
                        </a:rPr>
                        <a:t> - </a:t>
                      </a:r>
                      <a:r>
                        <a:rPr lang="en-US" sz="1000" dirty="0" err="1">
                          <a:effectLst/>
                          <a:latin typeface="+mn-ea"/>
                          <a:ea typeface="+mn-ea"/>
                        </a:rPr>
                        <a:t>吞吐量</a:t>
                      </a:r>
                      <a:r>
                        <a:rPr lang="en-US" sz="1000" dirty="0">
                          <a:effectLst/>
                          <a:latin typeface="+mn-ea"/>
                          <a:ea typeface="+mn-ea"/>
                        </a:rPr>
                        <a:t> (Throughput)</a:t>
                      </a:r>
                      <a:endParaRPr lang="zh-TW" sz="1000" dirty="0">
                        <a:effectLst/>
                        <a:latin typeface="+mn-ea"/>
                        <a:ea typeface="+mn-ea"/>
                        <a:cs typeface="Cordia New" panose="020B0304020202020204" pitchFamily="34" charset="-34"/>
                      </a:endParaRPr>
                    </a:p>
                  </a:txBody>
                  <a:tcPr marL="32657" marR="32657" marT="0" marB="0" anchor="ctr"/>
                </a:tc>
                <a:tc>
                  <a:txBody>
                    <a:bodyPr/>
                    <a:lstStyle/>
                    <a:p>
                      <a:pPr>
                        <a:lnSpc>
                          <a:spcPct val="115000"/>
                        </a:lnSpc>
                        <a:spcAft>
                          <a:spcPts val="1000"/>
                        </a:spcAft>
                      </a:pPr>
                      <a:r>
                        <a:rPr lang="en-US" sz="1000" dirty="0">
                          <a:effectLst/>
                          <a:latin typeface="+mn-ea"/>
                          <a:ea typeface="+mn-ea"/>
                        </a:rPr>
                        <a:t>M, 1x , </a:t>
                      </a:r>
                      <a:r>
                        <a:rPr lang="zh-TW" sz="1000" dirty="0">
                          <a:effectLst/>
                          <a:latin typeface="+mn-ea"/>
                          <a:ea typeface="+mn-ea"/>
                        </a:rPr>
                        <a:t>數千</a:t>
                      </a:r>
                      <a:r>
                        <a:rPr lang="en-US" sz="1000" dirty="0">
                          <a:effectLst/>
                          <a:latin typeface="+mn-ea"/>
                          <a:ea typeface="+mn-ea"/>
                        </a:rPr>
                        <a:t>/s </a:t>
                      </a:r>
                      <a:r>
                        <a:rPr lang="zh-TW" sz="1000" dirty="0">
                          <a:effectLst/>
                          <a:latin typeface="+mn-ea"/>
                          <a:ea typeface="+mn-ea"/>
                        </a:rPr>
                        <a:t>適合處理中等規模的數據同步。</a:t>
                      </a:r>
                      <a:endParaRPr lang="zh-TW" sz="1000" dirty="0">
                        <a:effectLst/>
                        <a:latin typeface="+mn-ea"/>
                        <a:ea typeface="+mn-ea"/>
                        <a:cs typeface="Cordia New" panose="020B0304020202020204" pitchFamily="34" charset="-34"/>
                      </a:endParaRPr>
                    </a:p>
                  </a:txBody>
                  <a:tcPr marL="32657" marR="32657" marT="0" marB="0" anchor="ctr"/>
                </a:tc>
                <a:tc>
                  <a:txBody>
                    <a:bodyPr/>
                    <a:lstStyle/>
                    <a:p>
                      <a:pPr>
                        <a:lnSpc>
                          <a:spcPct val="115000"/>
                        </a:lnSpc>
                        <a:spcAft>
                          <a:spcPts val="1000"/>
                        </a:spcAft>
                      </a:pPr>
                      <a:r>
                        <a:rPr lang="en-US" sz="1000" dirty="0">
                          <a:effectLst/>
                          <a:latin typeface="+mn-ea"/>
                          <a:ea typeface="+mn-ea"/>
                        </a:rPr>
                        <a:t>H, 10x~30x, </a:t>
                      </a:r>
                      <a:r>
                        <a:rPr lang="zh-TW" sz="1000" dirty="0">
                          <a:effectLst/>
                          <a:latin typeface="+mn-ea"/>
                          <a:ea typeface="+mn-ea"/>
                        </a:rPr>
                        <a:t>數萬</a:t>
                      </a:r>
                      <a:r>
                        <a:rPr lang="en-US" sz="1000" dirty="0">
                          <a:effectLst/>
                          <a:latin typeface="+mn-ea"/>
                          <a:ea typeface="+mn-ea"/>
                        </a:rPr>
                        <a:t>/s </a:t>
                      </a:r>
                      <a:r>
                        <a:rPr lang="zh-TW" sz="1000" dirty="0">
                          <a:effectLst/>
                          <a:latin typeface="+mn-ea"/>
                          <a:ea typeface="+mn-ea"/>
                        </a:rPr>
                        <a:t>適合大規模實時數據處理和高頻次數據流。</a:t>
                      </a:r>
                    </a:p>
                  </a:txBody>
                  <a:tcPr marL="32657" marR="32657" marT="0" marB="0" anchor="ctr"/>
                </a:tc>
                <a:extLst>
                  <a:ext uri="{0D108BD9-81ED-4DB2-BD59-A6C34878D82A}">
                    <a16:rowId xmlns:a16="http://schemas.microsoft.com/office/drawing/2014/main" val="1875590490"/>
                  </a:ext>
                </a:extLst>
              </a:tr>
              <a:tr h="528285">
                <a:tc>
                  <a:txBody>
                    <a:bodyPr/>
                    <a:lstStyle/>
                    <a:p>
                      <a:pPr>
                        <a:lnSpc>
                          <a:spcPct val="115000"/>
                        </a:lnSpc>
                        <a:spcAft>
                          <a:spcPts val="1000"/>
                        </a:spcAft>
                      </a:pPr>
                      <a:r>
                        <a:rPr lang="en-US" sz="900" u="sng">
                          <a:effectLst/>
                        </a:rPr>
                        <a:t>9</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000">
                          <a:effectLst/>
                          <a:latin typeface="+mn-ea"/>
                          <a:ea typeface="+mn-ea"/>
                        </a:rPr>
                        <a:t>效能 - 延遲 (Latency)</a:t>
                      </a:r>
                      <a:endParaRPr lang="zh-TW" sz="1000">
                        <a:effectLst/>
                        <a:latin typeface="+mn-ea"/>
                        <a:ea typeface="+mn-ea"/>
                        <a:cs typeface="Cordia New" panose="020B0304020202020204" pitchFamily="34" charset="-34"/>
                      </a:endParaRPr>
                    </a:p>
                  </a:txBody>
                  <a:tcPr marL="32657" marR="32657" marT="0" marB="0" anchor="ctr"/>
                </a:tc>
                <a:tc>
                  <a:txBody>
                    <a:bodyPr/>
                    <a:lstStyle/>
                    <a:p>
                      <a:pPr>
                        <a:lnSpc>
                          <a:spcPct val="115000"/>
                        </a:lnSpc>
                        <a:spcAft>
                          <a:spcPts val="1000"/>
                        </a:spcAft>
                      </a:pPr>
                      <a:r>
                        <a:rPr lang="en-US" sz="1000" dirty="0">
                          <a:effectLst/>
                          <a:latin typeface="+mn-ea"/>
                          <a:ea typeface="+mn-ea"/>
                        </a:rPr>
                        <a:t>H </a:t>
                      </a:r>
                      <a:r>
                        <a:rPr lang="zh-TW" sz="1000" dirty="0">
                          <a:effectLst/>
                          <a:latin typeface="+mn-ea"/>
                          <a:ea typeface="+mn-ea"/>
                        </a:rPr>
                        <a:t>數據處理的延遲較高，適合批量處理</a:t>
                      </a:r>
                      <a:endParaRPr lang="zh-TW" sz="1000" dirty="0">
                        <a:effectLst/>
                        <a:latin typeface="+mn-ea"/>
                        <a:ea typeface="+mn-ea"/>
                        <a:cs typeface="Cordia New" panose="020B0304020202020204" pitchFamily="34" charset="-34"/>
                      </a:endParaRPr>
                    </a:p>
                  </a:txBody>
                  <a:tcPr marL="32657" marR="32657" marT="0" marB="0" anchor="ctr"/>
                </a:tc>
                <a:tc>
                  <a:txBody>
                    <a:bodyPr/>
                    <a:lstStyle/>
                    <a:p>
                      <a:pPr>
                        <a:lnSpc>
                          <a:spcPct val="115000"/>
                        </a:lnSpc>
                        <a:spcAft>
                          <a:spcPts val="1000"/>
                        </a:spcAft>
                      </a:pPr>
                      <a:r>
                        <a:rPr lang="en-US" sz="1000" dirty="0">
                          <a:effectLst/>
                          <a:latin typeface="+mn-ea"/>
                          <a:ea typeface="+mn-ea"/>
                        </a:rPr>
                        <a:t>L </a:t>
                      </a:r>
                      <a:r>
                        <a:rPr lang="zh-TW" sz="1000" dirty="0">
                          <a:effectLst/>
                          <a:latin typeface="+mn-ea"/>
                          <a:ea typeface="+mn-ea"/>
                        </a:rPr>
                        <a:t>延遲性低，並可依據資源及數據量調整</a:t>
                      </a:r>
                      <a:r>
                        <a:rPr lang="zh-TW" altLang="en-US" sz="1000" dirty="0">
                          <a:effectLst/>
                          <a:latin typeface="+mn-ea"/>
                          <a:ea typeface="+mn-ea"/>
                        </a:rPr>
                        <a:t> </a:t>
                      </a:r>
                      <a:r>
                        <a:rPr lang="en-US" sz="1000" dirty="0">
                          <a:effectLst/>
                          <a:latin typeface="+mn-ea"/>
                          <a:ea typeface="+mn-ea"/>
                        </a:rPr>
                        <a:t>Batch size</a:t>
                      </a:r>
                      <a:endParaRPr lang="zh-TW" sz="1000" dirty="0">
                        <a:effectLst/>
                        <a:latin typeface="+mn-ea"/>
                        <a:ea typeface="+mn-ea"/>
                        <a:cs typeface="Cordia New" panose="020B0304020202020204" pitchFamily="34" charset="-34"/>
                      </a:endParaRPr>
                    </a:p>
                  </a:txBody>
                  <a:tcPr marL="32657" marR="32657" marT="0" marB="0" anchor="ctr"/>
                </a:tc>
                <a:extLst>
                  <a:ext uri="{0D108BD9-81ED-4DB2-BD59-A6C34878D82A}">
                    <a16:rowId xmlns:a16="http://schemas.microsoft.com/office/drawing/2014/main" val="2650612494"/>
                  </a:ext>
                </a:extLst>
              </a:tr>
              <a:tr h="402766">
                <a:tc>
                  <a:txBody>
                    <a:bodyPr/>
                    <a:lstStyle/>
                    <a:p>
                      <a:pPr>
                        <a:lnSpc>
                          <a:spcPct val="115000"/>
                        </a:lnSpc>
                        <a:spcAft>
                          <a:spcPts val="1000"/>
                        </a:spcAft>
                      </a:pPr>
                      <a:r>
                        <a:rPr lang="en-US" sz="900" u="sng">
                          <a:effectLst/>
                        </a:rPr>
                        <a:t>10</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100">
                          <a:effectLst/>
                          <a:latin typeface="微軟正黑體" panose="020B0604030504040204" pitchFamily="34" charset="-120"/>
                          <a:ea typeface="微軟正黑體" panose="020B0604030504040204" pitchFamily="34" charset="-120"/>
                          <a:cs typeface="Calibri" panose="020F0502020204030204" pitchFamily="34" charset="0"/>
                        </a:rPr>
                        <a:t>維護</a:t>
                      </a:r>
                      <a:r>
                        <a:rPr lang="en-US" sz="1100">
                          <a:effectLst/>
                          <a:latin typeface="Calibri" panose="020F0502020204030204" pitchFamily="34" charset="0"/>
                          <a:ea typeface="微軟正黑體" panose="020B0604030504040204" pitchFamily="34" charset="-120"/>
                          <a:cs typeface="Cordia New" panose="020B0304020202020204" pitchFamily="34" charset="-34"/>
                        </a:rPr>
                        <a:t> - </a:t>
                      </a:r>
                      <a:r>
                        <a:rPr lang="en-US" sz="1100">
                          <a:effectLst/>
                          <a:latin typeface="微軟正黑體" panose="020B0604030504040204" pitchFamily="34" charset="-120"/>
                          <a:ea typeface="微軟正黑體" panose="020B0604030504040204" pitchFamily="34" charset="-120"/>
                          <a:cs typeface="Calibri" panose="020F0502020204030204" pitchFamily="34" charset="0"/>
                        </a:rPr>
                        <a:t>可靠性</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100" dirty="0">
                          <a:effectLst/>
                          <a:latin typeface="Calibri" panose="020F0502020204030204" pitchFamily="34" charset="0"/>
                          <a:ea typeface="微軟正黑體" panose="020B0604030504040204" pitchFamily="34" charset="-120"/>
                          <a:cs typeface="Cordia New" panose="020B0304020202020204" pitchFamily="34" charset="-34"/>
                        </a:rPr>
                        <a:t>99.9% </a:t>
                      </a:r>
                      <a:r>
                        <a:rPr lang="en-US" sz="1100" dirty="0" err="1">
                          <a:effectLst/>
                          <a:latin typeface="微軟正黑體" panose="020B0604030504040204" pitchFamily="34" charset="-120"/>
                          <a:ea typeface="微軟正黑體" panose="020B0604030504040204" pitchFamily="34" charset="-120"/>
                          <a:cs typeface="Calibri" panose="020F0502020204030204" pitchFamily="34" charset="0"/>
                        </a:rPr>
                        <a:t>可用性</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100" dirty="0">
                          <a:effectLst/>
                          <a:latin typeface="Calibri" panose="020F0502020204030204" pitchFamily="34" charset="0"/>
                          <a:ea typeface="微軟正黑體" panose="020B0604030504040204" pitchFamily="34" charset="-120"/>
                          <a:cs typeface="Cordia New" panose="020B0304020202020204" pitchFamily="34" charset="-34"/>
                        </a:rPr>
                        <a:t>99.95% </a:t>
                      </a:r>
                      <a:r>
                        <a:rPr lang="en-US" sz="1100" dirty="0" err="1">
                          <a:effectLst/>
                          <a:latin typeface="微軟正黑體" panose="020B0604030504040204" pitchFamily="34" charset="-120"/>
                          <a:ea typeface="微軟正黑體" panose="020B0604030504040204" pitchFamily="34" charset="-120"/>
                          <a:cs typeface="Calibri" panose="020F0502020204030204" pitchFamily="34" charset="0"/>
                        </a:rPr>
                        <a:t>可用性</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3848733837"/>
                  </a:ext>
                </a:extLst>
              </a:tr>
            </a:tbl>
          </a:graphicData>
        </a:graphic>
      </p:graphicFrame>
      <p:sp>
        <p:nvSpPr>
          <p:cNvPr id="6" name="文字方塊 5">
            <a:extLst>
              <a:ext uri="{FF2B5EF4-FFF2-40B4-BE49-F238E27FC236}">
                <a16:creationId xmlns:a16="http://schemas.microsoft.com/office/drawing/2014/main" id="{CF32EC2A-CA38-2B60-AAB5-C4F7CB123758}"/>
              </a:ext>
            </a:extLst>
          </p:cNvPr>
          <p:cNvSpPr txBox="1"/>
          <p:nvPr/>
        </p:nvSpPr>
        <p:spPr>
          <a:xfrm>
            <a:off x="606964" y="1119753"/>
            <a:ext cx="3268133" cy="523220"/>
          </a:xfrm>
          <a:prstGeom prst="rect">
            <a:avLst/>
          </a:prstGeom>
          <a:noFill/>
        </p:spPr>
        <p:txBody>
          <a:bodyPr wrap="square" rtlCol="0">
            <a:spAutoFit/>
          </a:bodyPr>
          <a:lstStyle/>
          <a:p>
            <a:pPr defTabSz="609523">
              <a:lnSpc>
                <a:spcPct val="100000"/>
              </a:lnSpc>
            </a:pPr>
            <a:r>
              <a:rPr lang="zh-TW" altLang="en-US" sz="1400" b="1" dirty="0">
                <a:solidFill>
                  <a:prstClr val="black"/>
                </a:solidFill>
                <a:latin typeface="Arial"/>
                <a:ea typeface=""/>
                <a:cs typeface=""/>
              </a:rPr>
              <a:t>比較工具</a:t>
            </a:r>
            <a:r>
              <a:rPr lang="zh-TW" altLang="en-US" sz="1400" dirty="0">
                <a:solidFill>
                  <a:prstClr val="black"/>
                </a:solidFill>
                <a:latin typeface="Arial"/>
                <a:ea typeface=""/>
                <a:cs typeface=""/>
              </a:rPr>
              <a:t>：</a:t>
            </a:r>
            <a:endParaRPr lang="en-US" altLang="zh-TW" sz="1400" dirty="0">
              <a:solidFill>
                <a:prstClr val="black"/>
              </a:solidFill>
              <a:latin typeface="Arial"/>
              <a:ea typeface=""/>
              <a:cs typeface=""/>
            </a:endParaRPr>
          </a:p>
          <a:p>
            <a:pPr defTabSz="609523">
              <a:lnSpc>
                <a:spcPct val="100000"/>
              </a:lnSpc>
            </a:pPr>
            <a:r>
              <a:rPr lang="en-US" altLang="zh-TW" sz="1400" dirty="0">
                <a:solidFill>
                  <a:prstClr val="black"/>
                </a:solidFill>
                <a:latin typeface="Arial"/>
                <a:ea typeface=""/>
                <a:cs typeface=""/>
              </a:rPr>
              <a:t>Apache </a:t>
            </a:r>
            <a:r>
              <a:rPr lang="en-US" altLang="zh-TW" sz="1400" dirty="0" err="1">
                <a:solidFill>
                  <a:prstClr val="black"/>
                </a:solidFill>
                <a:latin typeface="Arial"/>
                <a:ea typeface=""/>
                <a:cs typeface=""/>
              </a:rPr>
              <a:t>SeatTunnel</a:t>
            </a:r>
            <a:r>
              <a:rPr lang="en-US" altLang="zh-TW" sz="1400" dirty="0">
                <a:solidFill>
                  <a:prstClr val="black"/>
                </a:solidFill>
                <a:latin typeface="Arial"/>
                <a:ea typeface=""/>
                <a:cs typeface=""/>
              </a:rPr>
              <a:t> </a:t>
            </a:r>
            <a:r>
              <a:rPr lang="zh-TW" altLang="en-US" sz="1400" dirty="0">
                <a:solidFill>
                  <a:prstClr val="black"/>
                </a:solidFill>
                <a:latin typeface="Arial"/>
                <a:ea typeface=""/>
                <a:cs typeface=""/>
              </a:rPr>
              <a:t> </a:t>
            </a:r>
            <a:r>
              <a:rPr lang="en-US" altLang="zh-TW" sz="1400" dirty="0" err="1">
                <a:solidFill>
                  <a:prstClr val="black"/>
                </a:solidFill>
                <a:latin typeface="Arial"/>
                <a:ea typeface=""/>
                <a:cs typeface=""/>
              </a:rPr>
              <a:t>v.s</a:t>
            </a:r>
            <a:r>
              <a:rPr lang="en-US" altLang="zh-TW" sz="1400" dirty="0">
                <a:solidFill>
                  <a:prstClr val="black"/>
                </a:solidFill>
                <a:latin typeface="Arial"/>
                <a:ea typeface=""/>
                <a:cs typeface=""/>
              </a:rPr>
              <a:t> </a:t>
            </a:r>
            <a:r>
              <a:rPr lang="en-US" altLang="zh-TW" sz="1400" dirty="0" err="1">
                <a:solidFill>
                  <a:prstClr val="black"/>
                </a:solidFill>
                <a:latin typeface="Arial"/>
                <a:ea typeface=""/>
                <a:cs typeface=""/>
              </a:rPr>
              <a:t>Airbyte</a:t>
            </a:r>
            <a:endParaRPr lang="en-US" altLang="zh-TW" sz="1400" dirty="0">
              <a:solidFill>
                <a:prstClr val="black"/>
              </a:solidFill>
              <a:latin typeface="Arial"/>
              <a:ea typeface=""/>
              <a:cs typeface=""/>
            </a:endParaRPr>
          </a:p>
        </p:txBody>
      </p:sp>
      <p:grpSp>
        <p:nvGrpSpPr>
          <p:cNvPr id="10" name="群組 9">
            <a:extLst>
              <a:ext uri="{FF2B5EF4-FFF2-40B4-BE49-F238E27FC236}">
                <a16:creationId xmlns:a16="http://schemas.microsoft.com/office/drawing/2014/main" id="{107E87A8-FC3C-9E60-7A12-4C6F1075574C}"/>
              </a:ext>
            </a:extLst>
          </p:cNvPr>
          <p:cNvGrpSpPr/>
          <p:nvPr/>
        </p:nvGrpSpPr>
        <p:grpSpPr>
          <a:xfrm>
            <a:off x="606963" y="2775241"/>
            <a:ext cx="3177309" cy="471941"/>
            <a:chOff x="2364910" y="5961551"/>
            <a:chExt cx="3177309" cy="471941"/>
          </a:xfrm>
        </p:grpSpPr>
        <p:sp>
          <p:nvSpPr>
            <p:cNvPr id="5" name="文字方塊 4">
              <a:extLst>
                <a:ext uri="{FF2B5EF4-FFF2-40B4-BE49-F238E27FC236}">
                  <a16:creationId xmlns:a16="http://schemas.microsoft.com/office/drawing/2014/main" id="{95661073-9819-CC51-88D2-C064CD2E0EFF}"/>
                </a:ext>
              </a:extLst>
            </p:cNvPr>
            <p:cNvSpPr txBox="1"/>
            <p:nvPr/>
          </p:nvSpPr>
          <p:spPr>
            <a:xfrm>
              <a:off x="2364910" y="6171882"/>
              <a:ext cx="3177309" cy="261610"/>
            </a:xfrm>
            <a:prstGeom prst="rect">
              <a:avLst/>
            </a:prstGeom>
            <a:noFill/>
          </p:spPr>
          <p:txBody>
            <a:bodyPr wrap="square" rtlCol="0">
              <a:spAutoFit/>
            </a:bodyPr>
            <a:lstStyle/>
            <a:p>
              <a:r>
                <a:rPr lang="zh-TW" altLang="en-US" sz="1100" dirty="0"/>
                <a:t>註</a:t>
              </a:r>
              <a:r>
                <a:rPr lang="en-US" altLang="zh-TW" sz="1100" dirty="0"/>
                <a:t>2:</a:t>
              </a:r>
              <a:r>
                <a:rPr lang="zh-TW" altLang="en-US" sz="1100" dirty="0"/>
                <a:t> 詳細比較表可參考 數據中台工具選型報告書</a:t>
              </a:r>
            </a:p>
          </p:txBody>
        </p:sp>
        <p:sp>
          <p:nvSpPr>
            <p:cNvPr id="9" name="文字方塊 8">
              <a:extLst>
                <a:ext uri="{FF2B5EF4-FFF2-40B4-BE49-F238E27FC236}">
                  <a16:creationId xmlns:a16="http://schemas.microsoft.com/office/drawing/2014/main" id="{4BE29063-3D53-549C-A99B-CE1378516438}"/>
                </a:ext>
              </a:extLst>
            </p:cNvPr>
            <p:cNvSpPr txBox="1"/>
            <p:nvPr/>
          </p:nvSpPr>
          <p:spPr>
            <a:xfrm>
              <a:off x="2364910" y="5961551"/>
              <a:ext cx="3177309" cy="261610"/>
            </a:xfrm>
            <a:prstGeom prst="rect">
              <a:avLst/>
            </a:prstGeom>
            <a:noFill/>
          </p:spPr>
          <p:txBody>
            <a:bodyPr wrap="square" rtlCol="0">
              <a:spAutoFit/>
            </a:bodyPr>
            <a:lstStyle/>
            <a:p>
              <a:r>
                <a:rPr lang="zh-TW" altLang="en-US" sz="1100" dirty="0"/>
                <a:t>註</a:t>
              </a:r>
              <a:r>
                <a:rPr lang="en-US" altLang="zh-TW" sz="1100" dirty="0"/>
                <a:t>1:</a:t>
              </a:r>
              <a:r>
                <a:rPr lang="zh-TW" altLang="en-US" sz="1100" dirty="0"/>
                <a:t> 摘錄 </a:t>
              </a:r>
              <a:r>
                <a:rPr lang="en-US" altLang="zh-TW" sz="1100" dirty="0"/>
                <a:t>10</a:t>
              </a:r>
              <a:r>
                <a:rPr lang="zh-TW" altLang="en-US" sz="1100" dirty="0"/>
                <a:t>個指標 </a:t>
              </a:r>
              <a:r>
                <a:rPr lang="en-US" altLang="zh-TW" sz="1100" dirty="0"/>
                <a:t>(</a:t>
              </a:r>
              <a:r>
                <a:rPr lang="zh-TW" altLang="en-US" sz="1100" dirty="0"/>
                <a:t>共</a:t>
              </a:r>
              <a:r>
                <a:rPr lang="en-US" altLang="zh-TW" sz="1100" dirty="0"/>
                <a:t>27</a:t>
              </a:r>
              <a:r>
                <a:rPr lang="zh-TW" altLang="en-US" sz="1100" dirty="0"/>
                <a:t>個評比項目</a:t>
              </a:r>
              <a:r>
                <a:rPr lang="en-US" altLang="zh-TW" sz="1100" dirty="0"/>
                <a:t>)</a:t>
              </a:r>
              <a:endParaRPr lang="zh-TW" altLang="en-US" sz="1100" dirty="0"/>
            </a:p>
          </p:txBody>
        </p:sp>
      </p:grpSp>
      <p:sp>
        <p:nvSpPr>
          <p:cNvPr id="11" name="文字方塊 10">
            <a:extLst>
              <a:ext uri="{FF2B5EF4-FFF2-40B4-BE49-F238E27FC236}">
                <a16:creationId xmlns:a16="http://schemas.microsoft.com/office/drawing/2014/main" id="{B8420C1A-7AD8-3EBE-6840-A7CCA8462115}"/>
              </a:ext>
            </a:extLst>
          </p:cNvPr>
          <p:cNvSpPr txBox="1"/>
          <p:nvPr/>
        </p:nvSpPr>
        <p:spPr>
          <a:xfrm>
            <a:off x="606963" y="1872516"/>
            <a:ext cx="3268133" cy="738664"/>
          </a:xfrm>
          <a:prstGeom prst="rect">
            <a:avLst/>
          </a:prstGeom>
          <a:noFill/>
        </p:spPr>
        <p:txBody>
          <a:bodyPr wrap="square" rtlCol="0">
            <a:spAutoFit/>
          </a:bodyPr>
          <a:lstStyle/>
          <a:p>
            <a:pPr defTabSz="609523"/>
            <a:r>
              <a:rPr lang="zh-TW" altLang="en-US" sz="1400" b="1" dirty="0">
                <a:solidFill>
                  <a:prstClr val="black"/>
                </a:solidFill>
                <a:latin typeface="Arial"/>
                <a:ea typeface=""/>
                <a:cs typeface=""/>
              </a:rPr>
              <a:t>選型結論 </a:t>
            </a:r>
            <a:r>
              <a:rPr lang="en-US" altLang="zh-TW" sz="1400" dirty="0">
                <a:solidFill>
                  <a:prstClr val="black"/>
                </a:solidFill>
                <a:latin typeface="Arial"/>
                <a:ea typeface=""/>
                <a:cs typeface=""/>
              </a:rPr>
              <a:t>:</a:t>
            </a:r>
            <a:r>
              <a:rPr lang="zh-TW" altLang="en-US" sz="1400" dirty="0">
                <a:solidFill>
                  <a:prstClr val="black"/>
                </a:solidFill>
                <a:latin typeface="Arial"/>
                <a:ea typeface=""/>
                <a:cs typeface=""/>
              </a:rPr>
              <a:t> </a:t>
            </a:r>
            <a:r>
              <a:rPr lang="en-US" altLang="zh-TW" sz="1400" dirty="0">
                <a:solidFill>
                  <a:prstClr val="black"/>
                </a:solidFill>
                <a:latin typeface="Arial"/>
                <a:ea typeface=""/>
                <a:cs typeface=""/>
              </a:rPr>
              <a:t>Apache </a:t>
            </a:r>
            <a:r>
              <a:rPr lang="en-US" altLang="zh-TW" sz="1400" dirty="0" err="1">
                <a:solidFill>
                  <a:prstClr val="black"/>
                </a:solidFill>
                <a:latin typeface="Arial"/>
                <a:ea typeface=""/>
                <a:cs typeface=""/>
              </a:rPr>
              <a:t>SeatTunnel</a:t>
            </a:r>
            <a:r>
              <a:rPr lang="en-US" altLang="zh-TW" sz="1400" dirty="0">
                <a:solidFill>
                  <a:prstClr val="black"/>
                </a:solidFill>
                <a:latin typeface="Arial"/>
                <a:ea typeface=""/>
                <a:cs typeface=""/>
              </a:rPr>
              <a:t> </a:t>
            </a:r>
          </a:p>
          <a:p>
            <a:pPr defTabSz="609523">
              <a:lnSpc>
                <a:spcPct val="100000"/>
              </a:lnSpc>
            </a:pPr>
            <a:r>
              <a:rPr lang="zh-TW" altLang="zh-TW" sz="1400" dirty="0">
                <a:effectLst/>
                <a:latin typeface="Calibri" panose="020F0502020204030204" pitchFamily="34" charset="0"/>
                <a:ea typeface="微軟正黑體" panose="020B0604030504040204" pitchFamily="34" charset="-120"/>
                <a:cs typeface="Calibri" panose="020F0502020204030204" pitchFamily="34" charset="0"/>
              </a:rPr>
              <a:t>需高效且靈活的數據處理與大規模數據的</a:t>
            </a:r>
            <a:r>
              <a:rPr lang="zh-TW" altLang="en-US" sz="1400" dirty="0">
                <a:effectLst/>
                <a:latin typeface="Calibri" panose="020F0502020204030204" pitchFamily="34" charset="0"/>
                <a:ea typeface="微軟正黑體" panose="020B0604030504040204" pitchFamily="34" charset="-120"/>
                <a:cs typeface="Calibri" panose="020F0502020204030204" pitchFamily="34" charset="0"/>
              </a:rPr>
              <a:t>即</a:t>
            </a:r>
            <a:r>
              <a:rPr lang="zh-TW" altLang="zh-TW" sz="1400" dirty="0">
                <a:effectLst/>
                <a:latin typeface="Calibri" panose="020F0502020204030204" pitchFamily="34" charset="0"/>
                <a:ea typeface="微軟正黑體" panose="020B0604030504040204" pitchFamily="34" charset="-120"/>
                <a:cs typeface="Calibri" panose="020F0502020204030204" pitchFamily="34" charset="0"/>
              </a:rPr>
              <a:t>時處理</a:t>
            </a:r>
            <a:endParaRPr lang="en-US" altLang="zh-TW" sz="1400" dirty="0">
              <a:solidFill>
                <a:prstClr val="black"/>
              </a:solidFill>
              <a:latin typeface="Arial"/>
              <a:ea typeface=""/>
              <a:cs typeface=""/>
            </a:endParaRPr>
          </a:p>
        </p:txBody>
      </p:sp>
    </p:spTree>
    <p:extLst>
      <p:ext uri="{BB962C8B-B14F-4D97-AF65-F5344CB8AC3E}">
        <p14:creationId xmlns:p14="http://schemas.microsoft.com/office/powerpoint/2010/main" val="251587572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1C9482-68B1-ADDA-3CE4-1A3256CBEB5B}"/>
              </a:ext>
            </a:extLst>
          </p:cNvPr>
          <p:cNvSpPr>
            <a:spLocks noGrp="1"/>
          </p:cNvSpPr>
          <p:nvPr>
            <p:ph type="title"/>
          </p:nvPr>
        </p:nvSpPr>
        <p:spPr/>
        <p:txBody>
          <a:bodyPr>
            <a:normAutofit/>
          </a:bodyPr>
          <a:lstStyle/>
          <a:p>
            <a:r>
              <a:rPr lang="zh-TW" altLang="en-US" sz="2800" dirty="0"/>
              <a:t>排程控制</a:t>
            </a:r>
            <a:r>
              <a:rPr lang="zh-TW" altLang="en-US" dirty="0"/>
              <a:t>工具評測比較表</a:t>
            </a:r>
          </a:p>
        </p:txBody>
      </p:sp>
      <p:sp>
        <p:nvSpPr>
          <p:cNvPr id="3" name="投影片編號版面配置區 2">
            <a:extLst>
              <a:ext uri="{FF2B5EF4-FFF2-40B4-BE49-F238E27FC236}">
                <a16:creationId xmlns:a16="http://schemas.microsoft.com/office/drawing/2014/main" id="{BF594BDF-7413-7EE8-4774-115325C4A32C}"/>
              </a:ext>
            </a:extLst>
          </p:cNvPr>
          <p:cNvSpPr>
            <a:spLocks noGrp="1"/>
          </p:cNvSpPr>
          <p:nvPr>
            <p:ph type="sldNum" sz="quarter" idx="10"/>
          </p:nvPr>
        </p:nvSpPr>
        <p:spPr/>
        <p:txBody>
          <a:bodyPr/>
          <a:lstStyle/>
          <a:p>
            <a:pPr>
              <a:defRPr/>
            </a:pPr>
            <a:fld id="{1972D583-6F43-4BEE-A241-C30732397DD6}" type="slidenum">
              <a:rPr lang="zh-TW" altLang="en-US" smtClean="0">
                <a:solidFill>
                  <a:srgbClr val="000000">
                    <a:tint val="75000"/>
                  </a:srgbClr>
                </a:solidFill>
              </a:rPr>
              <a:pPr>
                <a:defRPr/>
              </a:pPr>
              <a:t>23</a:t>
            </a:fld>
            <a:endParaRPr lang="zh-TW" altLang="en-US" dirty="0">
              <a:solidFill>
                <a:srgbClr val="000000">
                  <a:tint val="75000"/>
                </a:srgbClr>
              </a:solidFill>
            </a:endParaRPr>
          </a:p>
        </p:txBody>
      </p:sp>
      <p:graphicFrame>
        <p:nvGraphicFramePr>
          <p:cNvPr id="7" name="表格 6">
            <a:extLst>
              <a:ext uri="{FF2B5EF4-FFF2-40B4-BE49-F238E27FC236}">
                <a16:creationId xmlns:a16="http://schemas.microsoft.com/office/drawing/2014/main" id="{BD6D9DF6-7225-121E-59D9-2408E9950495}"/>
              </a:ext>
            </a:extLst>
          </p:cNvPr>
          <p:cNvGraphicFramePr>
            <a:graphicFrameLocks noGrp="1"/>
          </p:cNvGraphicFramePr>
          <p:nvPr>
            <p:extLst>
              <p:ext uri="{D42A27DB-BD31-4B8C-83A1-F6EECF244321}">
                <p14:modId xmlns:p14="http://schemas.microsoft.com/office/powerpoint/2010/main" val="2974922252"/>
              </p:ext>
            </p:extLst>
          </p:nvPr>
        </p:nvGraphicFramePr>
        <p:xfrm>
          <a:off x="4359965" y="1164249"/>
          <a:ext cx="6852980" cy="5253945"/>
        </p:xfrm>
        <a:graphic>
          <a:graphicData uri="http://schemas.openxmlformats.org/drawingml/2006/table">
            <a:tbl>
              <a:tblPr firstRow="1" firstCol="1">
                <a:tableStyleId>{5C22544A-7EE6-4342-B048-85BDC9FD1C3A}</a:tableStyleId>
              </a:tblPr>
              <a:tblGrid>
                <a:gridCol w="266620">
                  <a:extLst>
                    <a:ext uri="{9D8B030D-6E8A-4147-A177-3AD203B41FA5}">
                      <a16:colId xmlns:a16="http://schemas.microsoft.com/office/drawing/2014/main" val="3952518632"/>
                    </a:ext>
                  </a:extLst>
                </a:gridCol>
                <a:gridCol w="1004449">
                  <a:extLst>
                    <a:ext uri="{9D8B030D-6E8A-4147-A177-3AD203B41FA5}">
                      <a16:colId xmlns:a16="http://schemas.microsoft.com/office/drawing/2014/main" val="3844782388"/>
                    </a:ext>
                  </a:extLst>
                </a:gridCol>
                <a:gridCol w="2303002">
                  <a:extLst>
                    <a:ext uri="{9D8B030D-6E8A-4147-A177-3AD203B41FA5}">
                      <a16:colId xmlns:a16="http://schemas.microsoft.com/office/drawing/2014/main" val="2090038922"/>
                    </a:ext>
                  </a:extLst>
                </a:gridCol>
                <a:gridCol w="3278909">
                  <a:extLst>
                    <a:ext uri="{9D8B030D-6E8A-4147-A177-3AD203B41FA5}">
                      <a16:colId xmlns:a16="http://schemas.microsoft.com/office/drawing/2014/main" val="3740534063"/>
                    </a:ext>
                  </a:extLst>
                </a:gridCol>
              </a:tblGrid>
              <a:tr h="313680">
                <a:tc>
                  <a:txBody>
                    <a:bodyPr/>
                    <a:lstStyle/>
                    <a:p>
                      <a:pPr algn="ctr">
                        <a:lnSpc>
                          <a:spcPct val="115000"/>
                        </a:lnSpc>
                        <a:spcAft>
                          <a:spcPts val="1000"/>
                        </a:spcAft>
                      </a:pPr>
                      <a:r>
                        <a:rPr lang="en-US" sz="900" dirty="0">
                          <a:effectLst/>
                        </a:rPr>
                        <a:t>ID</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ctr">
                        <a:lnSpc>
                          <a:spcPct val="115000"/>
                        </a:lnSpc>
                        <a:spcAft>
                          <a:spcPts val="1000"/>
                        </a:spcAft>
                      </a:pPr>
                      <a:r>
                        <a:rPr lang="en-US" sz="900" dirty="0" err="1">
                          <a:effectLst/>
                        </a:rPr>
                        <a:t>功能性項目</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ctr">
                        <a:lnSpc>
                          <a:spcPct val="115000"/>
                        </a:lnSpc>
                        <a:spcAft>
                          <a:spcPts val="1000"/>
                        </a:spcAft>
                      </a:pPr>
                      <a:r>
                        <a:rPr lang="en-US" sz="900" dirty="0" err="1">
                          <a:effectLst/>
                        </a:rPr>
                        <a:t>DolphinScheduler</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ctr">
                        <a:lnSpc>
                          <a:spcPct val="115000"/>
                        </a:lnSpc>
                        <a:spcAft>
                          <a:spcPts val="1000"/>
                        </a:spcAft>
                      </a:pPr>
                      <a:r>
                        <a:rPr lang="en-US" sz="900" dirty="0">
                          <a:effectLst/>
                        </a:rPr>
                        <a:t>Prefect</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extLst>
                  <a:ext uri="{0D108BD9-81ED-4DB2-BD59-A6C34878D82A}">
                    <a16:rowId xmlns:a16="http://schemas.microsoft.com/office/drawing/2014/main" val="2971010201"/>
                  </a:ext>
                </a:extLst>
              </a:tr>
              <a:tr h="437642">
                <a:tc>
                  <a:txBody>
                    <a:bodyPr/>
                    <a:lstStyle/>
                    <a:p>
                      <a:pPr>
                        <a:lnSpc>
                          <a:spcPct val="115000"/>
                        </a:lnSpc>
                        <a:spcAft>
                          <a:spcPts val="1000"/>
                        </a:spcAft>
                      </a:pPr>
                      <a:r>
                        <a:rPr lang="en-US" sz="900" u="sng">
                          <a:effectLst/>
                        </a:rPr>
                        <a:t>1</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000">
                          <a:solidFill>
                            <a:srgbClr val="000000"/>
                          </a:solidFill>
                          <a:effectLst/>
                          <a:latin typeface="微軟正黑體" panose="020B0604030504040204" pitchFamily="34" charset="-120"/>
                          <a:ea typeface="微軟正黑體" panose="020B0604030504040204" pitchFamily="34" charset="-120"/>
                          <a:cs typeface="Calibri" panose="020F0502020204030204" pitchFamily="34" charset="0"/>
                        </a:rPr>
                        <a:t>一般</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en-US" sz="1000">
                          <a:solidFill>
                            <a:srgbClr val="000000"/>
                          </a:solidFill>
                          <a:effectLst/>
                          <a:latin typeface="微軟正黑體" panose="020B0604030504040204" pitchFamily="34" charset="-120"/>
                          <a:ea typeface="微軟正黑體" panose="020B0604030504040204" pitchFamily="34" charset="-120"/>
                          <a:cs typeface="Calibri" panose="020F0502020204030204" pitchFamily="34" charset="0"/>
                        </a:rPr>
                        <a:t>定位</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分布式</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Data Pipeline</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編排工具，實作多種任務節點與拖拉式</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GUI</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，適合調度各種數據管道需求。</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輕量級、</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Python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原生的動態數據工作流編排工具，配置靈活。但都</a:t>
                      </a:r>
                      <a:r>
                        <a:rPr lang="zh-TW" sz="10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須透過</a:t>
                      </a:r>
                      <a:r>
                        <a:rPr lang="en-US" sz="1000" b="1"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Python </a:t>
                      </a:r>
                      <a:r>
                        <a:rPr lang="zh-TW" sz="10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程式碼實現</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9525" marR="9525" marT="9525" marB="9525" anchor="ctr"/>
                </a:tc>
                <a:extLst>
                  <a:ext uri="{0D108BD9-81ED-4DB2-BD59-A6C34878D82A}">
                    <a16:rowId xmlns:a16="http://schemas.microsoft.com/office/drawing/2014/main" val="3398297063"/>
                  </a:ext>
                </a:extLst>
              </a:tr>
              <a:tr h="472522">
                <a:tc>
                  <a:txBody>
                    <a:bodyPr/>
                    <a:lstStyle/>
                    <a:p>
                      <a:pPr>
                        <a:lnSpc>
                          <a:spcPct val="115000"/>
                        </a:lnSpc>
                        <a:spcAft>
                          <a:spcPts val="1000"/>
                        </a:spcAft>
                      </a:pPr>
                      <a:r>
                        <a:rPr lang="en-US" sz="900" u="sng">
                          <a:effectLst/>
                        </a:rPr>
                        <a:t>2</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000">
                          <a:solidFill>
                            <a:srgbClr val="000000"/>
                          </a:solidFill>
                          <a:effectLst/>
                          <a:latin typeface="微軟正黑體" panose="020B0604030504040204" pitchFamily="34" charset="-120"/>
                          <a:ea typeface="微軟正黑體" panose="020B0604030504040204" pitchFamily="34" charset="-120"/>
                          <a:cs typeface="Calibri" panose="020F0502020204030204" pitchFamily="34" charset="0"/>
                        </a:rPr>
                        <a:t>一般</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任務編排方式</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en-US" sz="1000" b="1"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DAG</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。可透過圖形化界面編排，支持靜態任務配置和依賴管理，適合設計結構化工作流。</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透過</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Python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程式碼動態定義</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flow &amp; task</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，可在運行時依據條件靈活配置。</a:t>
                      </a:r>
                      <a:r>
                        <a:rPr lang="zh-TW" sz="10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無需強制以</a:t>
                      </a:r>
                      <a:r>
                        <a:rPr lang="en-US" sz="1000" b="1"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DAG </a:t>
                      </a:r>
                      <a:r>
                        <a:rPr lang="zh-TW" sz="10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編排</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9525" marR="9525" marT="9525" marB="9525" anchor="ctr"/>
                </a:tc>
                <a:extLst>
                  <a:ext uri="{0D108BD9-81ED-4DB2-BD59-A6C34878D82A}">
                    <a16:rowId xmlns:a16="http://schemas.microsoft.com/office/drawing/2014/main" val="1429969347"/>
                  </a:ext>
                </a:extLst>
              </a:tr>
              <a:tr h="405832">
                <a:tc>
                  <a:txBody>
                    <a:bodyPr/>
                    <a:lstStyle/>
                    <a:p>
                      <a:pPr>
                        <a:lnSpc>
                          <a:spcPct val="115000"/>
                        </a:lnSpc>
                        <a:spcAft>
                          <a:spcPts val="1000"/>
                        </a:spcAft>
                      </a:pPr>
                      <a:r>
                        <a:rPr lang="en-US" sz="900">
                          <a:effectLst/>
                        </a:rPr>
                        <a:t>3</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一般</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跨</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DAG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呼叫傳遞參數</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支持：可通過</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DAG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間調用實現跨工作流操作，但需手動配置。</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支持：可在</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A DAG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中觸發或引用</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B DAG</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，並將參數傳遞到下游工作流。</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9525" marR="9525" marT="9525" marB="9525" anchor="ctr"/>
                </a:tc>
                <a:extLst>
                  <a:ext uri="{0D108BD9-81ED-4DB2-BD59-A6C34878D82A}">
                    <a16:rowId xmlns:a16="http://schemas.microsoft.com/office/drawing/2014/main" val="2531986051"/>
                  </a:ext>
                </a:extLst>
              </a:tr>
              <a:tr h="453033">
                <a:tc>
                  <a:txBody>
                    <a:bodyPr/>
                    <a:lstStyle/>
                    <a:p>
                      <a:pPr>
                        <a:lnSpc>
                          <a:spcPct val="115000"/>
                        </a:lnSpc>
                        <a:spcAft>
                          <a:spcPts val="1000"/>
                        </a:spcAft>
                      </a:pPr>
                      <a:r>
                        <a:rPr lang="en-US" sz="900" u="sng">
                          <a:effectLst/>
                        </a:rPr>
                        <a:t>4</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一般</a:t>
                      </a:r>
                      <a:r>
                        <a:rPr lang="zh-TW" sz="100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工作流群組管理監控</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支持：以</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project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作為最上層的組織概念。一個</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project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可建立多個</a:t>
                      </a:r>
                      <a:r>
                        <a:rPr lang="zh-TW"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DAG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並在其中查看工作流實例執行結果。</a:t>
                      </a:r>
                      <a:r>
                        <a:rPr lang="zh-TW" sz="10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不同</a:t>
                      </a:r>
                      <a:r>
                        <a:rPr lang="zh-TW" sz="1000" b="1"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b="1"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project </a:t>
                      </a:r>
                      <a:r>
                        <a:rPr lang="zh-TW" sz="10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之間的</a:t>
                      </a:r>
                      <a:r>
                        <a:rPr lang="zh-TW" sz="1000" b="1"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b="1"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DAG</a:t>
                      </a:r>
                      <a:r>
                        <a:rPr lang="zh-TW" sz="10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互相隔離，無法複用與呼叫</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marL="63500" indent="-63500">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強大：透過</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deployment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提供高效且靈活的方式來組織與執行工作流。一個</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deployment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可包含多個</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flow</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，一個</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flow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也可以不同設定創建多個</a:t>
                      </a:r>
                      <a:r>
                        <a:rPr lang="zh-TW"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deployment</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9525" marR="9525" marT="9525" marB="9525" anchor="ctr"/>
                </a:tc>
                <a:extLst>
                  <a:ext uri="{0D108BD9-81ED-4DB2-BD59-A6C34878D82A}">
                    <a16:rowId xmlns:a16="http://schemas.microsoft.com/office/drawing/2014/main" val="3910715857"/>
                  </a:ext>
                </a:extLst>
              </a:tr>
              <a:tr h="474223">
                <a:tc>
                  <a:txBody>
                    <a:bodyPr/>
                    <a:lstStyle/>
                    <a:p>
                      <a:pPr>
                        <a:lnSpc>
                          <a:spcPct val="115000"/>
                        </a:lnSpc>
                        <a:spcAft>
                          <a:spcPts val="1000"/>
                        </a:spcAft>
                      </a:pPr>
                      <a:r>
                        <a:rPr lang="en-US" sz="900">
                          <a:effectLst/>
                        </a:rPr>
                        <a:t>5</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維護</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安全性與訪問控制</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強大：支持</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LDAP</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Kerberos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認證，提供細粒度訪問控制和數據加密功能。</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基本：支持基於角色的訪問控制，但安全特性較弱，需自行配置更多細粒度訪問策略。</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9525" marR="9525" marT="9525" marB="9525" anchor="ctr"/>
                </a:tc>
                <a:extLst>
                  <a:ext uri="{0D108BD9-81ED-4DB2-BD59-A6C34878D82A}">
                    <a16:rowId xmlns:a16="http://schemas.microsoft.com/office/drawing/2014/main" val="910522235"/>
                  </a:ext>
                </a:extLst>
              </a:tr>
              <a:tr h="452581">
                <a:tc>
                  <a:txBody>
                    <a:bodyPr/>
                    <a:lstStyle/>
                    <a:p>
                      <a:pPr>
                        <a:lnSpc>
                          <a:spcPct val="115000"/>
                        </a:lnSpc>
                        <a:spcAft>
                          <a:spcPts val="1000"/>
                        </a:spcAft>
                      </a:pPr>
                      <a:r>
                        <a:rPr lang="en-US" sz="900" u="sng">
                          <a:effectLst/>
                        </a:rPr>
                        <a:t>6</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000">
                          <a:solidFill>
                            <a:srgbClr val="000000"/>
                          </a:solidFill>
                          <a:effectLst/>
                          <a:latin typeface="微軟正黑體" panose="020B0604030504040204" pitchFamily="34" charset="-120"/>
                          <a:ea typeface="微軟正黑體" panose="020B0604030504040204" pitchFamily="34" charset="-120"/>
                          <a:cs typeface="Calibri" panose="020F0502020204030204" pitchFamily="34" charset="0"/>
                        </a:rPr>
                        <a:t>擴展性</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Docker </a:t>
                      </a:r>
                      <a:r>
                        <a:rPr lang="en-US" sz="1000">
                          <a:solidFill>
                            <a:srgbClr val="000000"/>
                          </a:solidFill>
                          <a:effectLst/>
                          <a:latin typeface="微軟正黑體" panose="020B0604030504040204" pitchFamily="34" charset="-120"/>
                          <a:ea typeface="微軟正黑體" panose="020B0604030504040204" pitchFamily="34" charset="-120"/>
                          <a:cs typeface="Calibri" panose="020F0502020204030204" pitchFamily="34" charset="0"/>
                        </a:rPr>
                        <a:t>部署與支持</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出色：提供官方打包的</a:t>
                      </a:r>
                      <a:r>
                        <a:rPr lang="zh-TW"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Image</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以及部署</a:t>
                      </a:r>
                      <a:r>
                        <a:rPr lang="zh-TW"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cluster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的</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Docker Compose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腳本。</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出色：適合容器化部署，能輕鬆在</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Docker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環境中運行和管理。</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9525" marR="9525" marT="9525" marB="9525" anchor="ctr"/>
                </a:tc>
                <a:extLst>
                  <a:ext uri="{0D108BD9-81ED-4DB2-BD59-A6C34878D82A}">
                    <a16:rowId xmlns:a16="http://schemas.microsoft.com/office/drawing/2014/main" val="857738460"/>
                  </a:ext>
                </a:extLst>
              </a:tr>
              <a:tr h="499620">
                <a:tc>
                  <a:txBody>
                    <a:bodyPr/>
                    <a:lstStyle/>
                    <a:p>
                      <a:pPr>
                        <a:lnSpc>
                          <a:spcPct val="115000"/>
                        </a:lnSpc>
                        <a:spcAft>
                          <a:spcPts val="1000"/>
                        </a:spcAft>
                      </a:pPr>
                      <a:r>
                        <a:rPr lang="en-US" sz="900" u="sng">
                          <a:effectLst/>
                        </a:rPr>
                        <a:t>7</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一般</a:t>
                      </a:r>
                      <a:r>
                        <a:rPr lang="zh-TW" sz="100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工作流群組管理監控</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支持：以</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project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作為最上層的組織概念。一個</a:t>
                      </a: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project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可建立多個</a:t>
                      </a:r>
                      <a:r>
                        <a:rPr lang="zh-TW" sz="100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a:solidFill>
                            <a:srgbClr val="000000"/>
                          </a:solidFill>
                          <a:effectLst/>
                          <a:latin typeface="Cambria" panose="02040503050406030204" pitchFamily="18" charset="0"/>
                          <a:ea typeface="Calibri" panose="020F0502020204030204" pitchFamily="34" charset="0"/>
                          <a:cs typeface="Cordia New" panose="020B0304020202020204" pitchFamily="34" charset="-34"/>
                        </a:rPr>
                        <a:t>DAG </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並在其中查看工作流實例執行結果。</a:t>
                      </a:r>
                      <a:r>
                        <a:rPr lang="zh-TW" sz="10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不同</a:t>
                      </a:r>
                      <a:r>
                        <a:rPr lang="zh-TW" sz="1000" b="1">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b="1">
                          <a:solidFill>
                            <a:srgbClr val="000000"/>
                          </a:solidFill>
                          <a:effectLst/>
                          <a:latin typeface="Cambria" panose="02040503050406030204" pitchFamily="18" charset="0"/>
                          <a:ea typeface="Calibri" panose="020F0502020204030204" pitchFamily="34" charset="0"/>
                          <a:cs typeface="Cordia New" panose="020B0304020202020204" pitchFamily="34" charset="-34"/>
                        </a:rPr>
                        <a:t>project </a:t>
                      </a:r>
                      <a:r>
                        <a:rPr lang="zh-TW" sz="10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之間的</a:t>
                      </a:r>
                      <a:r>
                        <a:rPr lang="zh-TW" sz="1000" b="1">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b="1">
                          <a:solidFill>
                            <a:srgbClr val="000000"/>
                          </a:solidFill>
                          <a:effectLst/>
                          <a:latin typeface="Cambria" panose="02040503050406030204" pitchFamily="18" charset="0"/>
                          <a:ea typeface="Calibri" panose="020F0502020204030204" pitchFamily="34" charset="0"/>
                          <a:cs typeface="Cordia New" panose="020B0304020202020204" pitchFamily="34" charset="-34"/>
                        </a:rPr>
                        <a:t>DAG</a:t>
                      </a:r>
                      <a:r>
                        <a:rPr lang="zh-TW" sz="10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互相隔離，無法複用與呼叫</a:t>
                      </a:r>
                      <a:r>
                        <a:rPr lang="zh-TW" sz="10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marL="63500" indent="-63500">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強大：透過</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deployment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提供高效且靈活的方式來組織與執行工作流。一個</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deployment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可包含多個</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flow</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，一個</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flow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也可以不同設定創建多個</a:t>
                      </a:r>
                      <a:r>
                        <a:rPr lang="zh-TW"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deployment</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9525" marR="9525" marT="9525" marB="9525" anchor="ctr"/>
                </a:tc>
                <a:extLst>
                  <a:ext uri="{0D108BD9-81ED-4DB2-BD59-A6C34878D82A}">
                    <a16:rowId xmlns:a16="http://schemas.microsoft.com/office/drawing/2014/main" val="3919620315"/>
                  </a:ext>
                </a:extLst>
              </a:tr>
              <a:tr h="570491">
                <a:tc>
                  <a:txBody>
                    <a:bodyPr/>
                    <a:lstStyle/>
                    <a:p>
                      <a:pPr>
                        <a:lnSpc>
                          <a:spcPct val="115000"/>
                        </a:lnSpc>
                        <a:spcAft>
                          <a:spcPts val="1000"/>
                        </a:spcAft>
                      </a:pPr>
                      <a:r>
                        <a:rPr lang="en-US" sz="900" u="sng">
                          <a:effectLst/>
                        </a:rPr>
                        <a:t>8</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0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task_type_shell</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支持：原生支持</a:t>
                      </a:r>
                      <a:r>
                        <a:rPr lang="en-US" sz="10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Shell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腳本任務節點，適合執行系統級操作或調用外部腳本。</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71755" marR="71755" marT="36195" marB="36195" anchor="ctr"/>
                </a:tc>
                <a:tc>
                  <a:txBody>
                    <a:bodyPr/>
                    <a:lstStyle/>
                    <a:p>
                      <a:pPr>
                        <a:lnSpc>
                          <a:spcPct val="115000"/>
                        </a:lnSpc>
                        <a:spcAft>
                          <a:spcPts val="1000"/>
                        </a:spcAft>
                      </a:pPr>
                      <a:r>
                        <a:rPr lang="zh-TW" sz="1000" i="1" dirty="0">
                          <a:solidFill>
                            <a:srgbClr val="C00000"/>
                          </a:solidFill>
                          <a:effectLst/>
                          <a:latin typeface="Calibri" panose="020F0502020204030204" pitchFamily="34" charset="0"/>
                          <a:ea typeface="微軟正黑體" panose="020B0604030504040204" pitchFamily="34" charset="-120"/>
                          <a:cs typeface="Calibri" panose="020F0502020204030204" pitchFamily="34" charset="0"/>
                        </a:rPr>
                        <a:t>部分支持</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：需要透過</a:t>
                      </a:r>
                      <a:r>
                        <a:rPr lang="zh-TW"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 </a:t>
                      </a:r>
                      <a:r>
                        <a:rPr lang="en-US" sz="1000" dirty="0">
                          <a:solidFill>
                            <a:srgbClr val="000000"/>
                          </a:solidFill>
                          <a:effectLst/>
                          <a:latin typeface="Cambria" panose="02040503050406030204" pitchFamily="18" charset="0"/>
                          <a:ea typeface="Calibri" panose="020F0502020204030204" pitchFamily="34" charset="0"/>
                          <a:cs typeface="Cordia New" panose="020B0304020202020204" pitchFamily="34" charset="-34"/>
                        </a:rPr>
                        <a:t>python </a:t>
                      </a:r>
                      <a:r>
                        <a:rPr lang="zh-TW" sz="10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編碼與套件的能力完成。</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9525" marR="9525" marT="9525" marB="9525" anchor="ctr"/>
                </a:tc>
                <a:extLst>
                  <a:ext uri="{0D108BD9-81ED-4DB2-BD59-A6C34878D82A}">
                    <a16:rowId xmlns:a16="http://schemas.microsoft.com/office/drawing/2014/main" val="1875590490"/>
                  </a:ext>
                </a:extLst>
              </a:tr>
            </a:tbl>
          </a:graphicData>
        </a:graphic>
      </p:graphicFrame>
      <p:sp>
        <p:nvSpPr>
          <p:cNvPr id="6" name="文字方塊 5">
            <a:extLst>
              <a:ext uri="{FF2B5EF4-FFF2-40B4-BE49-F238E27FC236}">
                <a16:creationId xmlns:a16="http://schemas.microsoft.com/office/drawing/2014/main" id="{CF32EC2A-CA38-2B60-AAB5-C4F7CB123758}"/>
              </a:ext>
            </a:extLst>
          </p:cNvPr>
          <p:cNvSpPr txBox="1"/>
          <p:nvPr/>
        </p:nvSpPr>
        <p:spPr>
          <a:xfrm>
            <a:off x="606964" y="1119753"/>
            <a:ext cx="3268133" cy="523220"/>
          </a:xfrm>
          <a:prstGeom prst="rect">
            <a:avLst/>
          </a:prstGeom>
          <a:noFill/>
        </p:spPr>
        <p:txBody>
          <a:bodyPr wrap="square" rtlCol="0">
            <a:spAutoFit/>
          </a:bodyPr>
          <a:lstStyle/>
          <a:p>
            <a:pPr defTabSz="609523">
              <a:lnSpc>
                <a:spcPct val="100000"/>
              </a:lnSpc>
            </a:pPr>
            <a:r>
              <a:rPr lang="zh-TW" altLang="en-US" sz="1400" b="1" dirty="0">
                <a:solidFill>
                  <a:prstClr val="black"/>
                </a:solidFill>
                <a:latin typeface="Arial"/>
                <a:ea typeface=""/>
                <a:cs typeface=""/>
              </a:rPr>
              <a:t>比較工具</a:t>
            </a:r>
            <a:r>
              <a:rPr lang="zh-TW" altLang="en-US" sz="1400" dirty="0">
                <a:solidFill>
                  <a:prstClr val="black"/>
                </a:solidFill>
                <a:latin typeface="Arial"/>
                <a:ea typeface=""/>
                <a:cs typeface=""/>
              </a:rPr>
              <a:t>：</a:t>
            </a:r>
            <a:endParaRPr lang="en-US" altLang="zh-TW" sz="1400" dirty="0">
              <a:solidFill>
                <a:prstClr val="black"/>
              </a:solidFill>
              <a:latin typeface="Arial"/>
              <a:ea typeface=""/>
              <a:cs typeface=""/>
            </a:endParaRPr>
          </a:p>
          <a:p>
            <a:pPr defTabSz="609523">
              <a:lnSpc>
                <a:spcPct val="100000"/>
              </a:lnSpc>
            </a:pPr>
            <a:r>
              <a:rPr lang="en-US" altLang="zh-TW" sz="1400" dirty="0" err="1">
                <a:solidFill>
                  <a:prstClr val="black"/>
                </a:solidFill>
                <a:latin typeface="Arial"/>
                <a:ea typeface=""/>
                <a:cs typeface=""/>
              </a:rPr>
              <a:t>DolphinScheduler</a:t>
            </a:r>
            <a:r>
              <a:rPr lang="en-US" altLang="zh-TW" sz="1400" dirty="0">
                <a:solidFill>
                  <a:prstClr val="black"/>
                </a:solidFill>
                <a:latin typeface="Arial"/>
                <a:ea typeface=""/>
                <a:cs typeface=""/>
              </a:rPr>
              <a:t> </a:t>
            </a:r>
            <a:r>
              <a:rPr lang="en-US" altLang="zh-TW" sz="1400" dirty="0" err="1">
                <a:solidFill>
                  <a:prstClr val="black"/>
                </a:solidFill>
                <a:latin typeface="Arial"/>
                <a:ea typeface=""/>
                <a:cs typeface=""/>
              </a:rPr>
              <a:t>v.s</a:t>
            </a:r>
            <a:r>
              <a:rPr lang="en-US" altLang="zh-TW" sz="1400" dirty="0">
                <a:solidFill>
                  <a:prstClr val="black"/>
                </a:solidFill>
                <a:latin typeface="Arial"/>
                <a:ea typeface=""/>
                <a:cs typeface=""/>
              </a:rPr>
              <a:t> Prefect</a:t>
            </a:r>
          </a:p>
        </p:txBody>
      </p:sp>
      <p:grpSp>
        <p:nvGrpSpPr>
          <p:cNvPr id="10" name="群組 9">
            <a:extLst>
              <a:ext uri="{FF2B5EF4-FFF2-40B4-BE49-F238E27FC236}">
                <a16:creationId xmlns:a16="http://schemas.microsoft.com/office/drawing/2014/main" id="{107E87A8-FC3C-9E60-7A12-4C6F1075574C}"/>
              </a:ext>
            </a:extLst>
          </p:cNvPr>
          <p:cNvGrpSpPr/>
          <p:nvPr/>
        </p:nvGrpSpPr>
        <p:grpSpPr>
          <a:xfrm>
            <a:off x="606963" y="2775241"/>
            <a:ext cx="3177309" cy="471941"/>
            <a:chOff x="2364910" y="5961551"/>
            <a:chExt cx="3177309" cy="471941"/>
          </a:xfrm>
        </p:grpSpPr>
        <p:sp>
          <p:nvSpPr>
            <p:cNvPr id="5" name="文字方塊 4">
              <a:extLst>
                <a:ext uri="{FF2B5EF4-FFF2-40B4-BE49-F238E27FC236}">
                  <a16:creationId xmlns:a16="http://schemas.microsoft.com/office/drawing/2014/main" id="{95661073-9819-CC51-88D2-C064CD2E0EFF}"/>
                </a:ext>
              </a:extLst>
            </p:cNvPr>
            <p:cNvSpPr txBox="1"/>
            <p:nvPr/>
          </p:nvSpPr>
          <p:spPr>
            <a:xfrm>
              <a:off x="2364910" y="6171882"/>
              <a:ext cx="3177309" cy="261610"/>
            </a:xfrm>
            <a:prstGeom prst="rect">
              <a:avLst/>
            </a:prstGeom>
            <a:noFill/>
          </p:spPr>
          <p:txBody>
            <a:bodyPr wrap="square" rtlCol="0">
              <a:spAutoFit/>
            </a:bodyPr>
            <a:lstStyle/>
            <a:p>
              <a:r>
                <a:rPr lang="zh-TW" altLang="en-US" sz="1100" dirty="0"/>
                <a:t>註</a:t>
              </a:r>
              <a:r>
                <a:rPr lang="en-US" altLang="zh-TW" sz="1100" dirty="0"/>
                <a:t>2:</a:t>
              </a:r>
              <a:r>
                <a:rPr lang="zh-TW" altLang="en-US" sz="1100" dirty="0"/>
                <a:t> 詳細比較表可參考 數據中台工具選型報告書</a:t>
              </a:r>
            </a:p>
          </p:txBody>
        </p:sp>
        <p:sp>
          <p:nvSpPr>
            <p:cNvPr id="9" name="文字方塊 8">
              <a:extLst>
                <a:ext uri="{FF2B5EF4-FFF2-40B4-BE49-F238E27FC236}">
                  <a16:creationId xmlns:a16="http://schemas.microsoft.com/office/drawing/2014/main" id="{4BE29063-3D53-549C-A99B-CE1378516438}"/>
                </a:ext>
              </a:extLst>
            </p:cNvPr>
            <p:cNvSpPr txBox="1"/>
            <p:nvPr/>
          </p:nvSpPr>
          <p:spPr>
            <a:xfrm>
              <a:off x="2364910" y="5961551"/>
              <a:ext cx="3177309" cy="261610"/>
            </a:xfrm>
            <a:prstGeom prst="rect">
              <a:avLst/>
            </a:prstGeom>
            <a:noFill/>
          </p:spPr>
          <p:txBody>
            <a:bodyPr wrap="square" rtlCol="0">
              <a:spAutoFit/>
            </a:bodyPr>
            <a:lstStyle/>
            <a:p>
              <a:r>
                <a:rPr lang="zh-TW" altLang="en-US" sz="1100" dirty="0"/>
                <a:t>註</a:t>
              </a:r>
              <a:r>
                <a:rPr lang="en-US" altLang="zh-TW" sz="1100" dirty="0"/>
                <a:t>1:</a:t>
              </a:r>
              <a:r>
                <a:rPr lang="zh-TW" altLang="en-US" sz="1100" dirty="0"/>
                <a:t> 摘錄</a:t>
              </a:r>
              <a:r>
                <a:rPr lang="en-US" altLang="zh-TW" sz="1100" dirty="0"/>
                <a:t>8</a:t>
              </a:r>
              <a:r>
                <a:rPr lang="zh-TW" altLang="en-US" sz="1100" dirty="0"/>
                <a:t>個指標 </a:t>
              </a:r>
              <a:r>
                <a:rPr lang="en-US" altLang="zh-TW" sz="1100" dirty="0"/>
                <a:t>(</a:t>
              </a:r>
              <a:r>
                <a:rPr lang="zh-TW" altLang="en-US" sz="1100" dirty="0"/>
                <a:t>共</a:t>
              </a:r>
              <a:r>
                <a:rPr lang="en-US" altLang="zh-TW" sz="1100" dirty="0"/>
                <a:t>20</a:t>
              </a:r>
              <a:r>
                <a:rPr lang="zh-TW" altLang="en-US" sz="1100" dirty="0"/>
                <a:t>個評比項目</a:t>
              </a:r>
              <a:r>
                <a:rPr lang="en-US" altLang="zh-TW" sz="1100" dirty="0"/>
                <a:t>)</a:t>
              </a:r>
              <a:endParaRPr lang="zh-TW" altLang="en-US" sz="1100" dirty="0"/>
            </a:p>
          </p:txBody>
        </p:sp>
      </p:grpSp>
      <p:sp>
        <p:nvSpPr>
          <p:cNvPr id="11" name="文字方塊 10">
            <a:extLst>
              <a:ext uri="{FF2B5EF4-FFF2-40B4-BE49-F238E27FC236}">
                <a16:creationId xmlns:a16="http://schemas.microsoft.com/office/drawing/2014/main" id="{B8420C1A-7AD8-3EBE-6840-A7CCA8462115}"/>
              </a:ext>
            </a:extLst>
          </p:cNvPr>
          <p:cNvSpPr txBox="1"/>
          <p:nvPr/>
        </p:nvSpPr>
        <p:spPr>
          <a:xfrm>
            <a:off x="606963" y="1872516"/>
            <a:ext cx="3268133" cy="523220"/>
          </a:xfrm>
          <a:prstGeom prst="rect">
            <a:avLst/>
          </a:prstGeom>
          <a:noFill/>
        </p:spPr>
        <p:txBody>
          <a:bodyPr wrap="square" rtlCol="0">
            <a:spAutoFit/>
          </a:bodyPr>
          <a:lstStyle/>
          <a:p>
            <a:pPr defTabSz="609523"/>
            <a:r>
              <a:rPr lang="zh-TW" altLang="en-US" sz="1400" b="1" dirty="0">
                <a:solidFill>
                  <a:prstClr val="black"/>
                </a:solidFill>
                <a:latin typeface="Arial"/>
                <a:ea typeface=""/>
                <a:cs typeface=""/>
              </a:rPr>
              <a:t>選型結論 </a:t>
            </a:r>
            <a:r>
              <a:rPr lang="en-US" altLang="zh-TW" sz="1400" dirty="0">
                <a:solidFill>
                  <a:prstClr val="black"/>
                </a:solidFill>
                <a:latin typeface="Arial"/>
                <a:ea typeface=""/>
                <a:cs typeface=""/>
              </a:rPr>
              <a:t>:</a:t>
            </a:r>
            <a:r>
              <a:rPr lang="zh-TW" altLang="en-US" sz="1400" dirty="0">
                <a:solidFill>
                  <a:prstClr val="black"/>
                </a:solidFill>
                <a:latin typeface="Arial"/>
                <a:ea typeface=""/>
                <a:cs typeface=""/>
              </a:rPr>
              <a:t> </a:t>
            </a:r>
            <a:r>
              <a:rPr lang="en-US" altLang="zh-TW" sz="1400" dirty="0" err="1">
                <a:solidFill>
                  <a:prstClr val="black"/>
                </a:solidFill>
                <a:latin typeface="Arial"/>
                <a:ea typeface=""/>
                <a:cs typeface=""/>
              </a:rPr>
              <a:t>DolphinScheduler</a:t>
            </a:r>
            <a:endParaRPr lang="en-US" altLang="zh-TW" sz="1400" dirty="0">
              <a:solidFill>
                <a:prstClr val="black"/>
              </a:solidFill>
              <a:latin typeface="Arial"/>
              <a:ea typeface=""/>
              <a:cs typeface=""/>
            </a:endParaRPr>
          </a:p>
          <a:p>
            <a:pPr defTabSz="609523"/>
            <a:r>
              <a:rPr lang="zh-TW" altLang="en-US" sz="1400" dirty="0">
                <a:latin typeface="Calibri" panose="020F0502020204030204" pitchFamily="34" charset="0"/>
                <a:ea typeface="微軟正黑體" panose="020B0604030504040204" pitchFamily="34" charset="-120"/>
                <a:cs typeface="Angsana New" panose="02020603050405020304" pitchFamily="18" charset="-34"/>
              </a:rPr>
              <a:t>適合處理</a:t>
            </a:r>
            <a:r>
              <a:rPr lang="zh-TW" altLang="zh-TW" sz="1400" dirty="0">
                <a:effectLst/>
                <a:latin typeface="Calibri" panose="020F0502020204030204" pitchFamily="34" charset="0"/>
                <a:ea typeface="微軟正黑體" panose="020B0604030504040204" pitchFamily="34" charset="-120"/>
                <a:cs typeface="Angsana New" panose="02020603050405020304" pitchFamily="18" charset="-34"/>
              </a:rPr>
              <a:t>企業級的大規模數據管道需求</a:t>
            </a:r>
            <a:endParaRPr lang="en-US" altLang="zh-TW" sz="1400" dirty="0">
              <a:solidFill>
                <a:prstClr val="black"/>
              </a:solidFill>
              <a:latin typeface="Arial"/>
              <a:ea typeface=""/>
              <a:cs typeface=""/>
            </a:endParaRPr>
          </a:p>
        </p:txBody>
      </p:sp>
    </p:spTree>
    <p:extLst>
      <p:ext uri="{BB962C8B-B14F-4D97-AF65-F5344CB8AC3E}">
        <p14:creationId xmlns:p14="http://schemas.microsoft.com/office/powerpoint/2010/main" val="77426304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1C9482-68B1-ADDA-3CE4-1A3256CBEB5B}"/>
              </a:ext>
            </a:extLst>
          </p:cNvPr>
          <p:cNvSpPr>
            <a:spLocks noGrp="1"/>
          </p:cNvSpPr>
          <p:nvPr>
            <p:ph type="title"/>
          </p:nvPr>
        </p:nvSpPr>
        <p:spPr/>
        <p:txBody>
          <a:bodyPr>
            <a:normAutofit/>
          </a:bodyPr>
          <a:lstStyle/>
          <a:p>
            <a:r>
              <a:rPr lang="zh-TW" altLang="en-US" dirty="0"/>
              <a:t>數據上架工具評測比較表</a:t>
            </a:r>
            <a:endParaRPr lang="en-US" altLang="zh-TW" dirty="0"/>
          </a:p>
        </p:txBody>
      </p:sp>
      <p:sp>
        <p:nvSpPr>
          <p:cNvPr id="3" name="投影片編號版面配置區 2">
            <a:extLst>
              <a:ext uri="{FF2B5EF4-FFF2-40B4-BE49-F238E27FC236}">
                <a16:creationId xmlns:a16="http://schemas.microsoft.com/office/drawing/2014/main" id="{BF594BDF-7413-7EE8-4774-115325C4A32C}"/>
              </a:ext>
            </a:extLst>
          </p:cNvPr>
          <p:cNvSpPr>
            <a:spLocks noGrp="1"/>
          </p:cNvSpPr>
          <p:nvPr>
            <p:ph type="sldNum" sz="quarter" idx="10"/>
          </p:nvPr>
        </p:nvSpPr>
        <p:spPr/>
        <p:txBody>
          <a:bodyPr/>
          <a:lstStyle/>
          <a:p>
            <a:pPr>
              <a:defRPr/>
            </a:pPr>
            <a:fld id="{1972D583-6F43-4BEE-A241-C30732397DD6}" type="slidenum">
              <a:rPr lang="zh-TW" altLang="en-US" smtClean="0">
                <a:solidFill>
                  <a:srgbClr val="000000">
                    <a:tint val="75000"/>
                  </a:srgbClr>
                </a:solidFill>
              </a:rPr>
              <a:pPr>
                <a:defRPr/>
              </a:pPr>
              <a:t>24</a:t>
            </a:fld>
            <a:endParaRPr lang="zh-TW" altLang="en-US" dirty="0">
              <a:solidFill>
                <a:srgbClr val="000000">
                  <a:tint val="75000"/>
                </a:srgbClr>
              </a:solidFill>
            </a:endParaRPr>
          </a:p>
        </p:txBody>
      </p:sp>
      <p:graphicFrame>
        <p:nvGraphicFramePr>
          <p:cNvPr id="7" name="表格 6">
            <a:extLst>
              <a:ext uri="{FF2B5EF4-FFF2-40B4-BE49-F238E27FC236}">
                <a16:creationId xmlns:a16="http://schemas.microsoft.com/office/drawing/2014/main" id="{BD6D9DF6-7225-121E-59D9-2408E9950495}"/>
              </a:ext>
            </a:extLst>
          </p:cNvPr>
          <p:cNvGraphicFramePr>
            <a:graphicFrameLocks noGrp="1"/>
          </p:cNvGraphicFramePr>
          <p:nvPr>
            <p:extLst>
              <p:ext uri="{D42A27DB-BD31-4B8C-83A1-F6EECF244321}">
                <p14:modId xmlns:p14="http://schemas.microsoft.com/office/powerpoint/2010/main" val="2537586520"/>
              </p:ext>
            </p:extLst>
          </p:nvPr>
        </p:nvGraphicFramePr>
        <p:xfrm>
          <a:off x="4359965" y="1164249"/>
          <a:ext cx="6852980" cy="5501082"/>
        </p:xfrm>
        <a:graphic>
          <a:graphicData uri="http://schemas.openxmlformats.org/drawingml/2006/table">
            <a:tbl>
              <a:tblPr firstRow="1" firstCol="1">
                <a:tableStyleId>{5C22544A-7EE6-4342-B048-85BDC9FD1C3A}</a:tableStyleId>
              </a:tblPr>
              <a:tblGrid>
                <a:gridCol w="266620">
                  <a:extLst>
                    <a:ext uri="{9D8B030D-6E8A-4147-A177-3AD203B41FA5}">
                      <a16:colId xmlns:a16="http://schemas.microsoft.com/office/drawing/2014/main" val="3952518632"/>
                    </a:ext>
                  </a:extLst>
                </a:gridCol>
                <a:gridCol w="1284688">
                  <a:extLst>
                    <a:ext uri="{9D8B030D-6E8A-4147-A177-3AD203B41FA5}">
                      <a16:colId xmlns:a16="http://schemas.microsoft.com/office/drawing/2014/main" val="3844782388"/>
                    </a:ext>
                  </a:extLst>
                </a:gridCol>
                <a:gridCol w="2152072">
                  <a:extLst>
                    <a:ext uri="{9D8B030D-6E8A-4147-A177-3AD203B41FA5}">
                      <a16:colId xmlns:a16="http://schemas.microsoft.com/office/drawing/2014/main" val="2090038922"/>
                    </a:ext>
                  </a:extLst>
                </a:gridCol>
                <a:gridCol w="3149600">
                  <a:extLst>
                    <a:ext uri="{9D8B030D-6E8A-4147-A177-3AD203B41FA5}">
                      <a16:colId xmlns:a16="http://schemas.microsoft.com/office/drawing/2014/main" val="3740534063"/>
                    </a:ext>
                  </a:extLst>
                </a:gridCol>
              </a:tblGrid>
              <a:tr h="313680">
                <a:tc>
                  <a:txBody>
                    <a:bodyPr/>
                    <a:lstStyle/>
                    <a:p>
                      <a:pPr algn="ctr">
                        <a:lnSpc>
                          <a:spcPct val="115000"/>
                        </a:lnSpc>
                        <a:spcAft>
                          <a:spcPts val="1000"/>
                        </a:spcAft>
                      </a:pPr>
                      <a:r>
                        <a:rPr lang="en-US" sz="900" dirty="0">
                          <a:effectLst/>
                        </a:rPr>
                        <a:t>ID</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ctr">
                        <a:lnSpc>
                          <a:spcPct val="115000"/>
                        </a:lnSpc>
                        <a:spcAft>
                          <a:spcPts val="1000"/>
                        </a:spcAft>
                      </a:pPr>
                      <a:r>
                        <a:rPr lang="en-US" sz="900" dirty="0" err="1">
                          <a:effectLst/>
                        </a:rPr>
                        <a:t>功能性項目</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just">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Doris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可接</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a:t>
                      </a:r>
                      <a:r>
                        <a:rPr lang="en-US" sz="1000" dirty="0" err="1">
                          <a:effectLst/>
                          <a:latin typeface="Calibri" panose="020F0502020204030204" pitchFamily="34" charset="0"/>
                          <a:ea typeface="微軟正黑體" panose="020B0604030504040204" pitchFamily="34" charset="-120"/>
                          <a:cs typeface="Cordia New" panose="020B0304020202020204" pitchFamily="34" charset="-34"/>
                        </a:rPr>
                        <a:t>ClickHouse</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gn="just">
                        <a:lnSpc>
                          <a:spcPct val="115000"/>
                        </a:lnSpc>
                        <a:spcAft>
                          <a:spcPts val="1000"/>
                        </a:spcAft>
                      </a:pPr>
                      <a:r>
                        <a:rPr lang="en-US" sz="1000" dirty="0" err="1">
                          <a:effectLst/>
                          <a:latin typeface="Calibri" panose="020F0502020204030204" pitchFamily="34" charset="0"/>
                          <a:ea typeface="微軟正黑體" panose="020B0604030504040204" pitchFamily="34" charset="-120"/>
                          <a:cs typeface="Cordia New" panose="020B0304020202020204" pitchFamily="34" charset="-34"/>
                        </a:rPr>
                        <a:t>ClickHouse</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2971010201"/>
                  </a:ext>
                </a:extLst>
              </a:tr>
              <a:tr h="437642">
                <a:tc>
                  <a:txBody>
                    <a:bodyPr/>
                    <a:lstStyle/>
                    <a:p>
                      <a:pPr>
                        <a:lnSpc>
                          <a:spcPct val="115000"/>
                        </a:lnSpc>
                        <a:spcAft>
                          <a:spcPts val="1000"/>
                        </a:spcAft>
                      </a:pPr>
                      <a:r>
                        <a:rPr lang="en-US" sz="900" u="sng">
                          <a:effectLst/>
                        </a:rPr>
                        <a:t>1</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原生數據</a:t>
                      </a:r>
                      <a:r>
                        <a:rPr lang="en-US" sz="1000">
                          <a:effectLst/>
                          <a:latin typeface="Calibri" panose="020F0502020204030204" pitchFamily="34" charset="0"/>
                          <a:ea typeface="微軟正黑體" panose="020B0604030504040204" pitchFamily="34" charset="-120"/>
                          <a:cs typeface="Cordia New" panose="020B0304020202020204" pitchFamily="34" charset="-34"/>
                        </a:rPr>
                        <a:t> - </a:t>
                      </a:r>
                      <a:r>
                        <a:rPr lang="zh-TW" sz="1000">
                          <a:effectLst/>
                          <a:latin typeface="Calibri" panose="020F0502020204030204" pitchFamily="34" charset="0"/>
                          <a:ea typeface="微軟正黑體" panose="020B0604030504040204" pitchFamily="34" charset="-120"/>
                          <a:cs typeface="Calibri" panose="020F0502020204030204" pitchFamily="34" charset="0"/>
                        </a:rPr>
                        <a:t>儲存能力</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V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列式存儲</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a:t>
                      </a:r>
                      <a:r>
                        <a:rPr lang="zh-TW" sz="1000" dirty="0">
                          <a:effectLst/>
                          <a:latin typeface="Calibri" panose="020F0502020204030204" pitchFamily="34" charset="0"/>
                          <a:ea typeface="微軟正黑體" panose="020B0604030504040204" pitchFamily="34" charset="-120"/>
                          <a:cs typeface="Calibri" panose="020F0502020204030204" pitchFamily="34" charset="0"/>
                        </a:rPr>
                        <a:t>數據壓縮</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a:t>
                      </a:r>
                      <a:r>
                        <a:rPr lang="zh-TW" sz="1000" dirty="0">
                          <a:effectLst/>
                          <a:latin typeface="Calibri" panose="020F0502020204030204" pitchFamily="34" charset="0"/>
                          <a:ea typeface="微軟正黑體" panose="020B0604030504040204" pitchFamily="34" charset="-120"/>
                          <a:cs typeface="Calibri" panose="020F0502020204030204" pitchFamily="34" charset="0"/>
                        </a:rPr>
                        <a:t>高效查詢處理</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V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列式存儲</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分區</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壓縮</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3398297063"/>
                  </a:ext>
                </a:extLst>
              </a:tr>
              <a:tr h="472522">
                <a:tc>
                  <a:txBody>
                    <a:bodyPr/>
                    <a:lstStyle/>
                    <a:p>
                      <a:pPr>
                        <a:lnSpc>
                          <a:spcPct val="115000"/>
                        </a:lnSpc>
                        <a:spcAft>
                          <a:spcPts val="1000"/>
                        </a:spcAft>
                      </a:pPr>
                      <a:r>
                        <a:rPr lang="en-US" sz="900" u="sng">
                          <a:effectLst/>
                        </a:rPr>
                        <a:t>2</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原生數據</a:t>
                      </a:r>
                      <a:r>
                        <a:rPr lang="en-US" sz="1000">
                          <a:effectLst/>
                          <a:latin typeface="Calibri" panose="020F0502020204030204" pitchFamily="34" charset="0"/>
                          <a:ea typeface="微軟正黑體" panose="020B0604030504040204" pitchFamily="34" charset="-120"/>
                          <a:cs typeface="Cordia New" panose="020B0304020202020204" pitchFamily="34" charset="-34"/>
                        </a:rPr>
                        <a:t> - </a:t>
                      </a:r>
                      <a:r>
                        <a:rPr lang="zh-TW" sz="1000">
                          <a:effectLst/>
                          <a:latin typeface="Calibri" panose="020F0502020204030204" pitchFamily="34" charset="0"/>
                          <a:ea typeface="微軟正黑體" panose="020B0604030504040204" pitchFamily="34" charset="-120"/>
                          <a:cs typeface="Calibri" panose="020F0502020204030204" pitchFamily="34" charset="0"/>
                        </a:rPr>
                        <a:t>讀取加速</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V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列式存儲、分布式計算、</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Material View</a:t>
                      </a:r>
                      <a:r>
                        <a:rPr lang="zh-TW" sz="1000" dirty="0">
                          <a:effectLst/>
                          <a:latin typeface="Calibri" panose="020F0502020204030204" pitchFamily="34" charset="0"/>
                          <a:ea typeface="微軟正黑體" panose="020B0604030504040204" pitchFamily="34" charset="-120"/>
                          <a:cs typeface="Calibri" panose="020F0502020204030204" pitchFamily="34" charset="0"/>
                        </a:rPr>
                        <a:t>、支持</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Apache Arrow Flight SQL)</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V (Pre aggregation</a:t>
                      </a:r>
                      <a:r>
                        <a:rPr lang="zh-TW" sz="1000" dirty="0">
                          <a:effectLst/>
                          <a:latin typeface="Calibri" panose="020F0502020204030204" pitchFamily="34" charset="0"/>
                          <a:ea typeface="微軟正黑體" panose="020B0604030504040204" pitchFamily="34" charset="-120"/>
                          <a:cs typeface="Calibri" panose="020F0502020204030204" pitchFamily="34" charset="0"/>
                        </a:rPr>
                        <a:t>設定</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列式存儲、數據壓縮、向量化處理、</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Material View</a:t>
                      </a:r>
                      <a:r>
                        <a:rPr lang="en-US" sz="1100" u="none" strike="noStrike" dirty="0">
                          <a:solidFill>
                            <a:srgbClr val="0000FF"/>
                          </a:solidFill>
                          <a:effectLst/>
                          <a:latin typeface="Cambria" panose="02040503050406030204" pitchFamily="18" charset="0"/>
                          <a:ea typeface="微軟正黑體" panose="020B0604030504040204" pitchFamily="34" charset="-120"/>
                          <a:cs typeface="Cordia New" panose="020B0304020202020204" pitchFamily="34" charset="-34"/>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1429969347"/>
                  </a:ext>
                </a:extLst>
              </a:tr>
              <a:tr h="405832">
                <a:tc>
                  <a:txBody>
                    <a:bodyPr/>
                    <a:lstStyle/>
                    <a:p>
                      <a:pPr>
                        <a:lnSpc>
                          <a:spcPct val="115000"/>
                        </a:lnSpc>
                        <a:spcAft>
                          <a:spcPts val="1000"/>
                        </a:spcAft>
                      </a:pPr>
                      <a:r>
                        <a:rPr lang="en-US" sz="900">
                          <a:effectLst/>
                        </a:rPr>
                        <a:t>3</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dirty="0">
                          <a:effectLst/>
                          <a:latin typeface="Calibri" panose="020F0502020204030204" pitchFamily="34" charset="0"/>
                          <a:ea typeface="微軟正黑體" panose="020B0604030504040204" pitchFamily="34" charset="-120"/>
                          <a:cs typeface="Calibri" panose="020F0502020204030204" pitchFamily="34" charset="0"/>
                        </a:rPr>
                        <a:t>原生數據</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寫入效能</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V (</a:t>
                      </a:r>
                      <a:r>
                        <a:rPr lang="zh-TW" sz="1000" dirty="0">
                          <a:effectLst/>
                          <a:latin typeface="Calibri" panose="020F0502020204030204" pitchFamily="34" charset="0"/>
                          <a:ea typeface="微軟正黑體" panose="020B0604030504040204" pitchFamily="34" charset="-120"/>
                          <a:cs typeface="Calibri" panose="020F0502020204030204" pitchFamily="34" charset="0"/>
                        </a:rPr>
                        <a:t>支持大規模資料寫入，</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Doris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可實現</a:t>
                      </a:r>
                      <a:r>
                        <a:rPr lang="zh-TW" sz="1000" u="sng" dirty="0">
                          <a:solidFill>
                            <a:srgbClr val="0000FF"/>
                          </a:solidFill>
                          <a:effectLst/>
                          <a:latin typeface="Calibri" panose="020F0502020204030204" pitchFamily="34" charset="0"/>
                          <a:ea typeface="微軟正黑體" panose="020B0604030504040204" pitchFamily="34" charset="-120"/>
                          <a:cs typeface="Calibri" panose="020F0502020204030204" pitchFamily="34" charset="0"/>
                        </a:rPr>
                        <a:t>每秒處理數十萬行數，吞吐量</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196,153 row/sec</a:t>
                      </a:r>
                      <a:r>
                        <a:rPr lang="zh-TW" sz="1000" dirty="0">
                          <a:effectLst/>
                          <a:latin typeface="Calibri" panose="020F0502020204030204" pitchFamily="34" charset="0"/>
                          <a:ea typeface="微軟正黑體" panose="020B0604030504040204" pitchFamily="34" charset="-120"/>
                          <a:cs typeface="Calibri" panose="020F0502020204030204" pitchFamily="34" charset="0"/>
                        </a:rPr>
                        <a:t>，</a:t>
                      </a:r>
                      <a:r>
                        <a:rPr lang="zh-TW" sz="1000" u="sng" dirty="0">
                          <a:solidFill>
                            <a:srgbClr val="0000FF"/>
                          </a:solidFill>
                          <a:effectLst/>
                          <a:latin typeface="Calibri" panose="020F0502020204030204" pitchFamily="34" charset="0"/>
                          <a:ea typeface="微軟正黑體" panose="020B0604030504040204" pitchFamily="34" charset="-120"/>
                          <a:cs typeface="Calibri" panose="020F0502020204030204" pitchFamily="34" charset="0"/>
                        </a:rPr>
                        <a:t>字節吞吐量為</a:t>
                      </a:r>
                      <a:r>
                        <a:rPr lang="zh-TW" sz="1000" dirty="0">
                          <a:effectLst/>
                          <a:latin typeface="Cambria" panose="02040503050406030204" pitchFamily="18" charset="0"/>
                          <a:ea typeface="Calibri" panose="020F0502020204030204" pitchFamily="34" charset="0"/>
                          <a:cs typeface="Cordia New" panose="020B0304020202020204" pitchFamily="34" charset="-34"/>
                        </a:rPr>
                        <a:t> </a:t>
                      </a:r>
                      <a:r>
                        <a:rPr lang="en-US" sz="1000" dirty="0">
                          <a:effectLst/>
                          <a:latin typeface="Cambria" panose="02040503050406030204" pitchFamily="18" charset="0"/>
                          <a:ea typeface="Calibri" panose="020F0502020204030204" pitchFamily="34" charset="0"/>
                          <a:cs typeface="Cordia New" panose="020B0304020202020204" pitchFamily="34" charset="-34"/>
                        </a:rPr>
                        <a:t>94.5 Mb/sec</a:t>
                      </a:r>
                      <a:r>
                        <a:rPr lang="zh-TW" sz="1000" dirty="0">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V (</a:t>
                      </a:r>
                      <a:r>
                        <a:rPr lang="zh-TW" sz="1000" dirty="0">
                          <a:effectLst/>
                          <a:latin typeface="Calibri" panose="020F0502020204030204" pitchFamily="34" charset="0"/>
                          <a:ea typeface="微軟正黑體" panose="020B0604030504040204" pitchFamily="34" charset="-120"/>
                          <a:cs typeface="Calibri" panose="020F0502020204030204" pitchFamily="34" charset="0"/>
                        </a:rPr>
                        <a:t>在處理大量資料時的寫入效能優於</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Doris</a:t>
                      </a:r>
                      <a:r>
                        <a:rPr lang="zh-TW" sz="1000" dirty="0">
                          <a:effectLst/>
                          <a:latin typeface="Calibri" panose="020F0502020204030204" pitchFamily="34" charset="0"/>
                          <a:ea typeface="微軟正黑體" panose="020B0604030504040204" pitchFamily="34" charset="-120"/>
                          <a:cs typeface="Calibri" panose="020F0502020204030204" pitchFamily="34" charset="0"/>
                        </a:rPr>
                        <a:t>，特別是在大表格如</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LINEITEM</a:t>
                      </a:r>
                      <a:r>
                        <a:rPr lang="zh-TW" sz="1000" dirty="0">
                          <a:effectLst/>
                          <a:latin typeface="Calibri" panose="020F0502020204030204" pitchFamily="34" charset="0"/>
                          <a:ea typeface="微軟正黑體" panose="020B0604030504040204" pitchFamily="34" charset="-120"/>
                          <a:cs typeface="Calibri" panose="020F0502020204030204" pitchFamily="34" charset="0"/>
                        </a:rPr>
                        <a:t>和</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PARTSUPP</a:t>
                      </a:r>
                      <a:r>
                        <a:rPr lang="zh-TW" sz="1000" dirty="0">
                          <a:effectLst/>
                          <a:latin typeface="Calibri" panose="020F0502020204030204" pitchFamily="34" charset="0"/>
                          <a:ea typeface="微軟正黑體" panose="020B0604030504040204" pitchFamily="34" charset="-120"/>
                          <a:cs typeface="Calibri" panose="020F0502020204030204" pitchFamily="34" charset="0"/>
                        </a:rPr>
                        <a:t>的寫入</a:t>
                      </a:r>
                      <a:r>
                        <a:rPr lang="en-US" altLang="zh-TW" sz="1000" dirty="0">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2531986051"/>
                  </a:ext>
                </a:extLst>
              </a:tr>
              <a:tr h="453033">
                <a:tc>
                  <a:txBody>
                    <a:bodyPr/>
                    <a:lstStyle/>
                    <a:p>
                      <a:pPr>
                        <a:lnSpc>
                          <a:spcPct val="115000"/>
                        </a:lnSpc>
                        <a:spcAft>
                          <a:spcPts val="1000"/>
                        </a:spcAft>
                      </a:pPr>
                      <a:r>
                        <a:rPr lang="en-US" sz="900" u="sng">
                          <a:effectLst/>
                        </a:rPr>
                        <a:t>4</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000" u="sng">
                          <a:solidFill>
                            <a:srgbClr val="0000FF"/>
                          </a:solidFill>
                          <a:effectLst/>
                          <a:latin typeface="Calibri" panose="020F0502020204030204" pitchFamily="34" charset="0"/>
                          <a:ea typeface="微軟正黑體" panose="020B0604030504040204" pitchFamily="34" charset="-120"/>
                          <a:cs typeface="Cordia New" panose="020B0304020202020204" pitchFamily="34" charset="-34"/>
                        </a:rPr>
                        <a:t>TPCH</a:t>
                      </a:r>
                      <a:r>
                        <a:rPr lang="zh-TW" sz="1000">
                          <a:effectLst/>
                          <a:latin typeface="Calibri" panose="020F0502020204030204" pitchFamily="34" charset="0"/>
                          <a:ea typeface="微軟正黑體" panose="020B0604030504040204" pitchFamily="34" charset="-120"/>
                          <a:cs typeface="Calibri" panose="020F0502020204030204" pitchFamily="34" charset="0"/>
                        </a:rPr>
                        <a:t>數據</a:t>
                      </a:r>
                      <a:r>
                        <a:rPr lang="en-US" sz="1000">
                          <a:effectLst/>
                          <a:latin typeface="Calibri" panose="020F0502020204030204" pitchFamily="34" charset="0"/>
                          <a:ea typeface="微軟正黑體" panose="020B0604030504040204" pitchFamily="34" charset="-120"/>
                          <a:cs typeface="Cordia New" panose="020B0304020202020204" pitchFamily="34" charset="-34"/>
                        </a:rPr>
                        <a:t>-</a:t>
                      </a:r>
                      <a:r>
                        <a:rPr lang="zh-TW" sz="1000">
                          <a:effectLst/>
                          <a:latin typeface="Calibri" panose="020F0502020204030204" pitchFamily="34" charset="0"/>
                          <a:ea typeface="微軟正黑體" panose="020B0604030504040204" pitchFamily="34" charset="-120"/>
                          <a:cs typeface="Calibri" panose="020F0502020204030204" pitchFamily="34" charset="0"/>
                        </a:rPr>
                        <a:t>寫入效能</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dirty="0">
                          <a:effectLst/>
                          <a:latin typeface="Calibri" panose="020F0502020204030204" pitchFamily="34" charset="0"/>
                          <a:ea typeface="微軟正黑體" panose="020B0604030504040204" pitchFamily="34" charset="-120"/>
                          <a:cs typeface="Angsana New" panose="02020603050405020304" pitchFamily="18" charset="-34"/>
                        </a:rPr>
                        <a:t>寫入</a:t>
                      </a:r>
                      <a:r>
                        <a:rPr lang="en-US" sz="1100" dirty="0">
                          <a:solidFill>
                            <a:srgbClr val="0D0D0D"/>
                          </a:solidFill>
                          <a:effectLst/>
                          <a:latin typeface="Calibri" panose="020F0502020204030204" pitchFamily="34" charset="0"/>
                          <a:ea typeface="微軟正黑體" panose="020B0604030504040204" pitchFamily="34" charset="-120"/>
                          <a:cs typeface="Angsana New" panose="02020603050405020304" pitchFamily="18" charset="-34"/>
                        </a:rPr>
                        <a:t>10GB</a:t>
                      </a:r>
                      <a:r>
                        <a:rPr lang="zh-TW" sz="1000" dirty="0">
                          <a:effectLst/>
                          <a:latin typeface="Calibri" panose="020F0502020204030204" pitchFamily="34" charset="0"/>
                          <a:ea typeface="微軟正黑體" panose="020B0604030504040204" pitchFamily="34" charset="-120"/>
                          <a:cs typeface="Angsana New" panose="02020603050405020304" pitchFamily="18" charset="-34"/>
                        </a:rPr>
                        <a:t>數據集時，</a:t>
                      </a:r>
                      <a:r>
                        <a:rPr lang="zh-TW" sz="1000" u="sng" dirty="0">
                          <a:solidFill>
                            <a:srgbClr val="0000FF"/>
                          </a:solidFill>
                          <a:effectLst/>
                          <a:latin typeface="Calibri" panose="020F0502020204030204" pitchFamily="34" charset="0"/>
                          <a:ea typeface="微軟正黑體" panose="020B0604030504040204" pitchFamily="34" charset="-120"/>
                          <a:cs typeface="Angsana New" panose="02020603050405020304" pitchFamily="18" charset="-34"/>
                        </a:rPr>
                        <a:t>所需的時間為</a:t>
                      </a:r>
                      <a:r>
                        <a:rPr lang="en-US" sz="1000" dirty="0">
                          <a:effectLst/>
                          <a:latin typeface="Calibri" panose="020F0502020204030204" pitchFamily="34" charset="0"/>
                          <a:ea typeface="微軟正黑體" panose="020B0604030504040204" pitchFamily="34" charset="-120"/>
                          <a:cs typeface="Angsana New" panose="02020603050405020304" pitchFamily="18" charset="-34"/>
                        </a:rPr>
                        <a:t>418.680</a:t>
                      </a:r>
                      <a:r>
                        <a:rPr lang="zh-TW" sz="1000" dirty="0">
                          <a:effectLst/>
                          <a:latin typeface="Calibri" panose="020F0502020204030204" pitchFamily="34" charset="0"/>
                          <a:ea typeface="微軟正黑體" panose="020B0604030504040204" pitchFamily="34" charset="-120"/>
                          <a:cs typeface="Angsana New" panose="02020603050405020304" pitchFamily="18" charset="-34"/>
                        </a:rPr>
                        <a:t>秒。</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dirty="0">
                          <a:effectLst/>
                          <a:latin typeface="Calibri" panose="020F0502020204030204" pitchFamily="34" charset="0"/>
                          <a:ea typeface="微軟正黑體" panose="020B0604030504040204" pitchFamily="34" charset="-120"/>
                          <a:cs typeface="Angsana New" panose="02020603050405020304" pitchFamily="18" charset="-34"/>
                        </a:rPr>
                        <a:t>寫入</a:t>
                      </a:r>
                      <a:r>
                        <a:rPr lang="en-US" sz="1100" dirty="0">
                          <a:solidFill>
                            <a:srgbClr val="0D0D0D"/>
                          </a:solidFill>
                          <a:effectLst/>
                          <a:latin typeface="Calibri" panose="020F0502020204030204" pitchFamily="34" charset="0"/>
                          <a:ea typeface="微軟正黑體" panose="020B0604030504040204" pitchFamily="34" charset="-120"/>
                          <a:cs typeface="Angsana New" panose="02020603050405020304" pitchFamily="18" charset="-34"/>
                        </a:rPr>
                        <a:t>10GB</a:t>
                      </a:r>
                      <a:r>
                        <a:rPr lang="zh-TW" sz="1000" dirty="0">
                          <a:effectLst/>
                          <a:latin typeface="Calibri" panose="020F0502020204030204" pitchFamily="34" charset="0"/>
                          <a:ea typeface="微軟正黑體" panose="020B0604030504040204" pitchFamily="34" charset="-120"/>
                          <a:cs typeface="Angsana New" panose="02020603050405020304" pitchFamily="18" charset="-34"/>
                        </a:rPr>
                        <a:t>數據集時，所需的時間為</a:t>
                      </a:r>
                      <a:r>
                        <a:rPr lang="en-US" sz="1000" dirty="0">
                          <a:effectLst/>
                          <a:latin typeface="Calibri" panose="020F0502020204030204" pitchFamily="34" charset="0"/>
                          <a:ea typeface="微軟正黑體" panose="020B0604030504040204" pitchFamily="34" charset="-120"/>
                          <a:cs typeface="Angsana New" panose="02020603050405020304" pitchFamily="18" charset="-34"/>
                        </a:rPr>
                        <a:t>190.262</a:t>
                      </a:r>
                      <a:r>
                        <a:rPr lang="zh-TW" sz="1000" dirty="0">
                          <a:effectLst/>
                          <a:latin typeface="Calibri" panose="020F0502020204030204" pitchFamily="34" charset="0"/>
                          <a:ea typeface="微軟正黑體" panose="020B0604030504040204" pitchFamily="34" charset="-120"/>
                          <a:cs typeface="Angsana New" panose="02020603050405020304" pitchFamily="18" charset="-34"/>
                        </a:rPr>
                        <a:t>秒。</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3910715857"/>
                  </a:ext>
                </a:extLst>
              </a:tr>
              <a:tr h="474223">
                <a:tc>
                  <a:txBody>
                    <a:bodyPr/>
                    <a:lstStyle/>
                    <a:p>
                      <a:pPr>
                        <a:lnSpc>
                          <a:spcPct val="115000"/>
                        </a:lnSpc>
                        <a:spcAft>
                          <a:spcPts val="1000"/>
                        </a:spcAft>
                      </a:pPr>
                      <a:r>
                        <a:rPr lang="en-US" sz="900">
                          <a:effectLst/>
                        </a:rPr>
                        <a:t>5</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000">
                          <a:effectLst/>
                          <a:latin typeface="Calibri" panose="020F0502020204030204" pitchFamily="34" charset="0"/>
                          <a:ea typeface="微軟正黑體" panose="020B0604030504040204" pitchFamily="34" charset="-120"/>
                          <a:cs typeface="Cordia New" panose="020B0304020202020204" pitchFamily="34" charset="-34"/>
                        </a:rPr>
                        <a:t>TPCH</a:t>
                      </a:r>
                      <a:r>
                        <a:rPr lang="zh-TW" sz="1000">
                          <a:effectLst/>
                          <a:latin typeface="Calibri" panose="020F0502020204030204" pitchFamily="34" charset="0"/>
                          <a:ea typeface="微軟正黑體" panose="020B0604030504040204" pitchFamily="34" charset="-120"/>
                          <a:cs typeface="Calibri" panose="020F0502020204030204" pitchFamily="34" charset="0"/>
                        </a:rPr>
                        <a:t>數據</a:t>
                      </a:r>
                      <a:r>
                        <a:rPr lang="en-US" sz="1000">
                          <a:effectLst/>
                          <a:latin typeface="Calibri" panose="020F0502020204030204" pitchFamily="34" charset="0"/>
                          <a:ea typeface="微軟正黑體" panose="020B0604030504040204" pitchFamily="34" charset="-120"/>
                          <a:cs typeface="Cordia New" panose="020B0304020202020204" pitchFamily="34" charset="-34"/>
                        </a:rPr>
                        <a:t>-</a:t>
                      </a:r>
                      <a:r>
                        <a:rPr lang="zh-TW" sz="1000">
                          <a:effectLst/>
                          <a:latin typeface="Calibri" panose="020F0502020204030204" pitchFamily="34" charset="0"/>
                          <a:ea typeface="微軟正黑體" panose="020B0604030504040204" pitchFamily="34" charset="-120"/>
                          <a:cs typeface="Calibri" panose="020F0502020204030204" pitchFamily="34" charset="0"/>
                        </a:rPr>
                        <a:t>查詢效能</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u="sng" dirty="0">
                          <a:solidFill>
                            <a:srgbClr val="0000FF"/>
                          </a:solidFill>
                          <a:effectLst/>
                          <a:latin typeface="Calibri" panose="020F0502020204030204" pitchFamily="34" charset="0"/>
                          <a:ea typeface="微軟正黑體" panose="020B0604030504040204" pitchFamily="34" charset="-120"/>
                          <a:cs typeface="Angsana New" panose="02020603050405020304" pitchFamily="18" charset="-34"/>
                        </a:rPr>
                        <a:t>執行</a:t>
                      </a:r>
                      <a:r>
                        <a:rPr lang="en-US" sz="1000" dirty="0">
                          <a:effectLst/>
                          <a:latin typeface="Calibri" panose="020F0502020204030204" pitchFamily="34" charset="0"/>
                          <a:ea typeface="微軟正黑體" panose="020B0604030504040204" pitchFamily="34" charset="-120"/>
                          <a:cs typeface="Angsana New" panose="02020603050405020304" pitchFamily="18" charset="-34"/>
                        </a:rPr>
                        <a:t>22</a:t>
                      </a:r>
                      <a:r>
                        <a:rPr lang="zh-TW" sz="1000" dirty="0">
                          <a:effectLst/>
                          <a:latin typeface="Calibri" panose="020F0502020204030204" pitchFamily="34" charset="0"/>
                          <a:ea typeface="微軟正黑體" panose="020B0604030504040204" pitchFamily="34" charset="-120"/>
                          <a:cs typeface="Angsana New" panose="02020603050405020304" pitchFamily="18" charset="-34"/>
                        </a:rPr>
                        <a:t>個</a:t>
                      </a:r>
                      <a:r>
                        <a:rPr lang="en-US" sz="1000" dirty="0">
                          <a:effectLst/>
                          <a:latin typeface="Calibri" panose="020F0502020204030204" pitchFamily="34" charset="0"/>
                          <a:ea typeface="微軟正黑體" panose="020B0604030504040204" pitchFamily="34" charset="-120"/>
                          <a:cs typeface="Angsana New" panose="02020603050405020304" pitchFamily="18" charset="-34"/>
                        </a:rPr>
                        <a:t>TPCH</a:t>
                      </a:r>
                      <a:r>
                        <a:rPr lang="zh-TW" sz="1000" dirty="0">
                          <a:effectLst/>
                          <a:latin typeface="Calibri" panose="020F0502020204030204" pitchFamily="34" charset="0"/>
                          <a:ea typeface="微軟正黑體" panose="020B0604030504040204" pitchFamily="34" charset="-120"/>
                          <a:cs typeface="Angsana New" panose="02020603050405020304" pitchFamily="18" charset="-34"/>
                        </a:rPr>
                        <a:t>查詢時，</a:t>
                      </a:r>
                      <a:r>
                        <a:rPr lang="zh-TW" sz="1000" u="sng" dirty="0">
                          <a:solidFill>
                            <a:srgbClr val="0000FF"/>
                          </a:solidFill>
                          <a:effectLst/>
                          <a:latin typeface="Calibri" panose="020F0502020204030204" pitchFamily="34" charset="0"/>
                          <a:ea typeface="微軟正黑體" panose="020B0604030504040204" pitchFamily="34" charset="-120"/>
                          <a:cs typeface="Angsana New" panose="02020603050405020304" pitchFamily="18" charset="-34"/>
                        </a:rPr>
                        <a:t>花費</a:t>
                      </a:r>
                      <a:r>
                        <a:rPr lang="en-US" sz="1000" dirty="0">
                          <a:effectLst/>
                          <a:latin typeface="Calibri" panose="020F0502020204030204" pitchFamily="34" charset="0"/>
                          <a:ea typeface="微軟正黑體" panose="020B0604030504040204" pitchFamily="34" charset="-120"/>
                          <a:cs typeface="Angsana New" panose="02020603050405020304" pitchFamily="18" charset="-34"/>
                        </a:rPr>
                        <a:t>32.210 </a:t>
                      </a:r>
                      <a:r>
                        <a:rPr lang="zh-TW" sz="1000" dirty="0">
                          <a:effectLst/>
                          <a:latin typeface="Calibri" panose="020F0502020204030204" pitchFamily="34" charset="0"/>
                          <a:ea typeface="微軟正黑體" panose="020B0604030504040204" pitchFamily="34" charset="-120"/>
                          <a:cs typeface="Angsana New" panose="02020603050405020304" pitchFamily="18" charset="-34"/>
                        </a:rPr>
                        <a:t>秒。</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dirty="0">
                          <a:effectLst/>
                          <a:latin typeface="Calibri" panose="020F0502020204030204" pitchFamily="34" charset="0"/>
                          <a:ea typeface="微軟正黑體" panose="020B0604030504040204" pitchFamily="34" charset="-120"/>
                          <a:cs typeface="Calibri" panose="020F0502020204030204" pitchFamily="34" charset="0"/>
                        </a:rPr>
                        <a:t>執行</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22</a:t>
                      </a:r>
                      <a:r>
                        <a:rPr lang="zh-TW" sz="1000" dirty="0">
                          <a:effectLst/>
                          <a:latin typeface="Calibri" panose="020F0502020204030204" pitchFamily="34" charset="0"/>
                          <a:ea typeface="微軟正黑體" panose="020B0604030504040204" pitchFamily="34" charset="-120"/>
                          <a:cs typeface="Calibri" panose="020F0502020204030204" pitchFamily="34" charset="0"/>
                        </a:rPr>
                        <a:t>個</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TPCH</a:t>
                      </a:r>
                      <a:r>
                        <a:rPr lang="zh-TW" sz="1000" dirty="0">
                          <a:effectLst/>
                          <a:latin typeface="Calibri" panose="020F0502020204030204" pitchFamily="34" charset="0"/>
                          <a:ea typeface="微軟正黑體" panose="020B0604030504040204" pitchFamily="34" charset="-120"/>
                          <a:cs typeface="Calibri" panose="020F0502020204030204" pitchFamily="34" charset="0"/>
                        </a:rPr>
                        <a:t>查詢時，花費</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204.089 </a:t>
                      </a:r>
                      <a:r>
                        <a:rPr lang="zh-TW" sz="1000" dirty="0">
                          <a:effectLst/>
                          <a:latin typeface="Calibri" panose="020F0502020204030204" pitchFamily="34" charset="0"/>
                          <a:ea typeface="微軟正黑體" panose="020B0604030504040204" pitchFamily="34" charset="-120"/>
                          <a:cs typeface="Calibri" panose="020F0502020204030204" pitchFamily="34" charset="0"/>
                        </a:rPr>
                        <a:t>秒，複雜查詢上可能存在性能瓶頸</a:t>
                      </a:r>
                      <a:r>
                        <a:rPr lang="zh-TW" sz="1000" u="sng" dirty="0">
                          <a:solidFill>
                            <a:srgbClr val="0000FF"/>
                          </a:solidFill>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910522235"/>
                  </a:ext>
                </a:extLst>
              </a:tr>
              <a:tr h="452581">
                <a:tc>
                  <a:txBody>
                    <a:bodyPr/>
                    <a:lstStyle/>
                    <a:p>
                      <a:pPr>
                        <a:lnSpc>
                          <a:spcPct val="115000"/>
                        </a:lnSpc>
                        <a:spcAft>
                          <a:spcPts val="1000"/>
                        </a:spcAft>
                      </a:pPr>
                      <a:r>
                        <a:rPr lang="en-US" sz="900" u="sng">
                          <a:effectLst/>
                        </a:rPr>
                        <a:t>6</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維護</a:t>
                      </a:r>
                      <a:r>
                        <a:rPr lang="en-US" sz="1000">
                          <a:effectLst/>
                          <a:latin typeface="Calibri" panose="020F0502020204030204" pitchFamily="34" charset="0"/>
                          <a:ea typeface="微軟正黑體" panose="020B0604030504040204" pitchFamily="34" charset="-120"/>
                          <a:cs typeface="Cordia New" panose="020B0304020202020204" pitchFamily="34" charset="-34"/>
                        </a:rPr>
                        <a:t> - </a:t>
                      </a:r>
                      <a:r>
                        <a:rPr lang="zh-TW" sz="1000">
                          <a:effectLst/>
                          <a:latin typeface="Calibri" panose="020F0502020204030204" pitchFamily="34" charset="0"/>
                          <a:ea typeface="微軟正黑體" panose="020B0604030504040204" pitchFamily="34" charset="-120"/>
                          <a:cs typeface="Calibri" panose="020F0502020204030204" pitchFamily="34" charset="0"/>
                        </a:rPr>
                        <a:t>部署難度</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部署和設置需要更多手動操作，學習曲線較陡峭。</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需要專業知識進行配置和優化，學習曲線陡峭。</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857738460"/>
                  </a:ext>
                </a:extLst>
              </a:tr>
              <a:tr h="499620">
                <a:tc>
                  <a:txBody>
                    <a:bodyPr/>
                    <a:lstStyle/>
                    <a:p>
                      <a:pPr>
                        <a:lnSpc>
                          <a:spcPct val="115000"/>
                        </a:lnSpc>
                        <a:spcAft>
                          <a:spcPts val="1000"/>
                        </a:spcAft>
                      </a:pPr>
                      <a:r>
                        <a:rPr lang="en-US" sz="900" u="sng">
                          <a:effectLst/>
                        </a:rPr>
                        <a:t>7</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維護</a:t>
                      </a:r>
                      <a:r>
                        <a:rPr lang="en-US" sz="1000">
                          <a:effectLst/>
                          <a:latin typeface="Calibri" panose="020F0502020204030204" pitchFamily="34" charset="0"/>
                          <a:ea typeface="微軟正黑體" panose="020B0604030504040204" pitchFamily="34" charset="-120"/>
                          <a:cs typeface="Cordia New" panose="020B0304020202020204" pitchFamily="34" charset="-34"/>
                        </a:rPr>
                        <a:t> - Alert/</a:t>
                      </a:r>
                      <a:r>
                        <a:rPr lang="zh-TW" sz="1000">
                          <a:effectLst/>
                          <a:latin typeface="Calibri" panose="020F0502020204030204" pitchFamily="34" charset="0"/>
                          <a:ea typeface="微軟正黑體" panose="020B0604030504040204" pitchFamily="34" charset="-120"/>
                          <a:cs typeface="Calibri" panose="020F0502020204030204" pitchFamily="34" charset="0"/>
                        </a:rPr>
                        <a:t>通知</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dirty="0">
                          <a:effectLst/>
                          <a:latin typeface="Calibri" panose="020F0502020204030204" pitchFamily="34" charset="0"/>
                          <a:ea typeface="微軟正黑體" panose="020B0604030504040204" pitchFamily="34" charset="-120"/>
                          <a:cs typeface="Calibri" panose="020F0502020204030204" pitchFamily="34" charset="0"/>
                        </a:rPr>
                        <a:t>已整合</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Prometheus Grafana</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X (</a:t>
                      </a:r>
                      <a:r>
                        <a:rPr lang="zh-TW" sz="1000" dirty="0">
                          <a:effectLst/>
                          <a:latin typeface="Calibri" panose="020F0502020204030204" pitchFamily="34" charset="0"/>
                          <a:ea typeface="微軟正黑體" panose="020B0604030504040204" pitchFamily="34" charset="-120"/>
                          <a:cs typeface="Calibri" panose="020F0502020204030204" pitchFamily="34" charset="0"/>
                        </a:rPr>
                        <a:t>需自行整合</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3919620315"/>
                  </a:ext>
                </a:extLst>
              </a:tr>
              <a:tr h="570491">
                <a:tc>
                  <a:txBody>
                    <a:bodyPr/>
                    <a:lstStyle/>
                    <a:p>
                      <a:pPr>
                        <a:lnSpc>
                          <a:spcPct val="115000"/>
                        </a:lnSpc>
                        <a:spcAft>
                          <a:spcPts val="1000"/>
                        </a:spcAft>
                      </a:pPr>
                      <a:r>
                        <a:rPr lang="en-US" sz="900" u="sng">
                          <a:effectLst/>
                        </a:rPr>
                        <a:t>8</a:t>
                      </a:r>
                      <a:endParaRPr lang="zh-TW" sz="90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dirty="0">
                          <a:effectLst/>
                          <a:latin typeface="Calibri" panose="020F0502020204030204" pitchFamily="34" charset="0"/>
                          <a:ea typeface="微軟正黑體" panose="020B0604030504040204" pitchFamily="34" charset="-120"/>
                          <a:cs typeface="Calibri" panose="020F0502020204030204" pitchFamily="34" charset="0"/>
                        </a:rPr>
                        <a:t>維護</a:t>
                      </a:r>
                      <a:r>
                        <a:rPr lang="en-US" sz="1000" dirty="0">
                          <a:effectLst/>
                          <a:latin typeface="Calibri" panose="020F0502020204030204" pitchFamily="34" charset="0"/>
                          <a:ea typeface="微軟正黑體" panose="020B0604030504040204" pitchFamily="34" charset="-120"/>
                          <a:cs typeface="Cordia New" panose="020B0304020202020204" pitchFamily="34" charset="-34"/>
                        </a:rPr>
                        <a:t> - </a:t>
                      </a:r>
                      <a:r>
                        <a:rPr lang="zh-TW" sz="1000" dirty="0">
                          <a:effectLst/>
                          <a:latin typeface="Calibri" panose="020F0502020204030204" pitchFamily="34" charset="0"/>
                          <a:ea typeface="微軟正黑體" panose="020B0604030504040204" pitchFamily="34" charset="-120"/>
                          <a:cs typeface="Calibri" panose="020F0502020204030204" pitchFamily="34" charset="0"/>
                        </a:rPr>
                        <a:t>水平擴展性</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40% / Node</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en-US" sz="1000" dirty="0">
                          <a:effectLst/>
                          <a:latin typeface="Calibri" panose="020F0502020204030204" pitchFamily="34" charset="0"/>
                          <a:ea typeface="微軟正黑體" panose="020B0604030504040204" pitchFamily="34" charset="-120"/>
                          <a:cs typeface="Cordia New" panose="020B0304020202020204" pitchFamily="34" charset="-34"/>
                        </a:rPr>
                        <a:t>50% up / Node</a:t>
                      </a:r>
                      <a:r>
                        <a:rPr lang="en-US" sz="1100" b="1" dirty="0">
                          <a:solidFill>
                            <a:srgbClr val="1F497D"/>
                          </a:solidFill>
                          <a:effectLst/>
                          <a:latin typeface="Cambria" panose="02040503050406030204" pitchFamily="18" charset="0"/>
                          <a:ea typeface="微軟正黑體" panose="020B0604030504040204" pitchFamily="34" charset="-120"/>
                          <a:cs typeface="Cordia New" panose="020B0304020202020204" pitchFamily="34" charset="-34"/>
                        </a:rPr>
                        <a:t> </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1875590490"/>
                  </a:ext>
                </a:extLst>
              </a:tr>
              <a:tr h="570491">
                <a:tc>
                  <a:txBody>
                    <a:bodyPr/>
                    <a:lstStyle/>
                    <a:p>
                      <a:pPr>
                        <a:lnSpc>
                          <a:spcPct val="115000"/>
                        </a:lnSpc>
                        <a:spcAft>
                          <a:spcPts val="1000"/>
                        </a:spcAft>
                      </a:pPr>
                      <a:r>
                        <a:rPr lang="en-US" altLang="zh-TW" sz="900" dirty="0">
                          <a:effectLst/>
                          <a:latin typeface="Cambria" panose="02040503050406030204" pitchFamily="18" charset="0"/>
                          <a:ea typeface="微軟正黑體" panose="020B0604030504040204" pitchFamily="34" charset="-120"/>
                          <a:cs typeface="Cordia New" panose="020B0304020202020204" pitchFamily="34" charset="-34"/>
                        </a:rPr>
                        <a:t>9</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維護</a:t>
                      </a:r>
                      <a:r>
                        <a:rPr lang="en-US" sz="1000">
                          <a:effectLst/>
                          <a:latin typeface="Calibri" panose="020F0502020204030204" pitchFamily="34" charset="0"/>
                          <a:ea typeface="微軟正黑體" panose="020B0604030504040204" pitchFamily="34" charset="-120"/>
                          <a:cs typeface="Cordia New" panose="020B0304020202020204" pitchFamily="34" charset="-34"/>
                        </a:rPr>
                        <a:t> - </a:t>
                      </a:r>
                      <a:r>
                        <a:rPr lang="zh-TW" sz="1000">
                          <a:effectLst/>
                          <a:latin typeface="Calibri" panose="020F0502020204030204" pitchFamily="34" charset="0"/>
                          <a:ea typeface="微軟正黑體" panose="020B0604030504040204" pitchFamily="34" charset="-120"/>
                          <a:cs typeface="Calibri" panose="020F0502020204030204" pitchFamily="34" charset="0"/>
                        </a:rPr>
                        <a:t>數據備份</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支持數據庫和表級別的備份和恢復。</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dirty="0">
                          <a:effectLst/>
                          <a:latin typeface="Calibri" panose="020F0502020204030204" pitchFamily="34" charset="0"/>
                          <a:ea typeface="微軟正黑體" panose="020B0604030504040204" pitchFamily="34" charset="-120"/>
                          <a:cs typeface="Calibri" panose="020F0502020204030204" pitchFamily="34" charset="0"/>
                        </a:rPr>
                        <a:t>支持表級別的備份和恢復，提供數據快照功能。</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3267777046"/>
                  </a:ext>
                </a:extLst>
              </a:tr>
              <a:tr h="570491">
                <a:tc>
                  <a:txBody>
                    <a:bodyPr/>
                    <a:lstStyle/>
                    <a:p>
                      <a:pPr>
                        <a:lnSpc>
                          <a:spcPct val="115000"/>
                        </a:lnSpc>
                        <a:spcAft>
                          <a:spcPts val="1000"/>
                        </a:spcAft>
                      </a:pPr>
                      <a:r>
                        <a:rPr lang="en-US" altLang="zh-TW" sz="900" dirty="0">
                          <a:effectLst/>
                          <a:latin typeface="Cambria" panose="02040503050406030204" pitchFamily="18" charset="0"/>
                          <a:ea typeface="微軟正黑體" panose="020B0604030504040204" pitchFamily="34" charset="-120"/>
                          <a:cs typeface="Cordia New" panose="020B0304020202020204" pitchFamily="34" charset="-34"/>
                        </a:rPr>
                        <a:t>10</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維護</a:t>
                      </a:r>
                      <a:r>
                        <a:rPr lang="en-US" sz="1000">
                          <a:effectLst/>
                          <a:latin typeface="Calibri" panose="020F0502020204030204" pitchFamily="34" charset="0"/>
                          <a:ea typeface="微軟正黑體" panose="020B0604030504040204" pitchFamily="34" charset="-120"/>
                          <a:cs typeface="Cordia New" panose="020B0304020202020204" pitchFamily="34" charset="-34"/>
                        </a:rPr>
                        <a:t> - </a:t>
                      </a:r>
                      <a:r>
                        <a:rPr lang="zh-TW" sz="1000">
                          <a:effectLst/>
                          <a:latin typeface="Calibri" panose="020F0502020204030204" pitchFamily="34" charset="0"/>
                          <a:ea typeface="微軟正黑體" panose="020B0604030504040204" pitchFamily="34" charset="-120"/>
                          <a:cs typeface="Calibri" panose="020F0502020204030204" pitchFamily="34" charset="0"/>
                        </a:rPr>
                        <a:t>高可用和災備</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a:effectLst/>
                          <a:latin typeface="Calibri" panose="020F0502020204030204" pitchFamily="34" charset="0"/>
                          <a:ea typeface="微軟正黑體" panose="020B0604030504040204" pitchFamily="34" charset="-120"/>
                          <a:cs typeface="Calibri" panose="020F0502020204030204" pitchFamily="34" charset="0"/>
                        </a:rPr>
                        <a:t>支持高可用和基本的災難恢復功能，能夠進行數據備份和恢復。</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tc>
                  <a:txBody>
                    <a:bodyPr/>
                    <a:lstStyle/>
                    <a:p>
                      <a:pPr>
                        <a:lnSpc>
                          <a:spcPct val="115000"/>
                        </a:lnSpc>
                        <a:spcAft>
                          <a:spcPts val="1000"/>
                        </a:spcAft>
                      </a:pPr>
                      <a:r>
                        <a:rPr lang="zh-TW" sz="1000" dirty="0">
                          <a:effectLst/>
                          <a:latin typeface="Calibri" panose="020F0502020204030204" pitchFamily="34" charset="0"/>
                          <a:ea typeface="微軟正黑體" panose="020B0604030504040204" pitchFamily="34" charset="-120"/>
                          <a:cs typeface="Calibri" panose="020F0502020204030204" pitchFamily="34" charset="0"/>
                        </a:rPr>
                        <a:t>提供高可用性和災難恢復功能，但需要額外配置和管理</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8580" marR="68580" marT="0" marB="0" anchor="ctr"/>
                </a:tc>
                <a:extLst>
                  <a:ext uri="{0D108BD9-81ED-4DB2-BD59-A6C34878D82A}">
                    <a16:rowId xmlns:a16="http://schemas.microsoft.com/office/drawing/2014/main" val="313268627"/>
                  </a:ext>
                </a:extLst>
              </a:tr>
            </a:tbl>
          </a:graphicData>
        </a:graphic>
      </p:graphicFrame>
      <p:sp>
        <p:nvSpPr>
          <p:cNvPr id="6" name="文字方塊 5">
            <a:extLst>
              <a:ext uri="{FF2B5EF4-FFF2-40B4-BE49-F238E27FC236}">
                <a16:creationId xmlns:a16="http://schemas.microsoft.com/office/drawing/2014/main" id="{CF32EC2A-CA38-2B60-AAB5-C4F7CB123758}"/>
              </a:ext>
            </a:extLst>
          </p:cNvPr>
          <p:cNvSpPr txBox="1"/>
          <p:nvPr/>
        </p:nvSpPr>
        <p:spPr>
          <a:xfrm>
            <a:off x="606964" y="1119753"/>
            <a:ext cx="3268133" cy="523220"/>
          </a:xfrm>
          <a:prstGeom prst="rect">
            <a:avLst/>
          </a:prstGeom>
          <a:noFill/>
        </p:spPr>
        <p:txBody>
          <a:bodyPr wrap="square" rtlCol="0">
            <a:spAutoFit/>
          </a:bodyPr>
          <a:lstStyle/>
          <a:p>
            <a:pPr defTabSz="609523">
              <a:lnSpc>
                <a:spcPct val="100000"/>
              </a:lnSpc>
            </a:pPr>
            <a:r>
              <a:rPr lang="zh-TW" altLang="en-US" sz="1400" b="1" dirty="0">
                <a:solidFill>
                  <a:prstClr val="black"/>
                </a:solidFill>
                <a:latin typeface="Arial"/>
                <a:ea typeface=""/>
                <a:cs typeface=""/>
              </a:rPr>
              <a:t>比較工具</a:t>
            </a:r>
            <a:r>
              <a:rPr lang="zh-TW" altLang="en-US" sz="1400" dirty="0">
                <a:solidFill>
                  <a:prstClr val="black"/>
                </a:solidFill>
                <a:latin typeface="Arial"/>
                <a:ea typeface=""/>
                <a:cs typeface=""/>
              </a:rPr>
              <a:t>：</a:t>
            </a:r>
            <a:endParaRPr lang="en-US" altLang="zh-TW" sz="1400" dirty="0">
              <a:solidFill>
                <a:prstClr val="black"/>
              </a:solidFill>
              <a:latin typeface="Arial"/>
              <a:ea typeface=""/>
              <a:cs typeface=""/>
            </a:endParaRPr>
          </a:p>
          <a:p>
            <a:pPr defTabSz="609523">
              <a:lnSpc>
                <a:spcPct val="100000"/>
              </a:lnSpc>
            </a:pPr>
            <a:r>
              <a:rPr lang="en-US" altLang="zh-TW" sz="1400" dirty="0">
                <a:solidFill>
                  <a:prstClr val="black"/>
                </a:solidFill>
                <a:latin typeface="Arial"/>
                <a:ea typeface=""/>
                <a:cs typeface=""/>
              </a:rPr>
              <a:t>Doris </a:t>
            </a:r>
            <a:r>
              <a:rPr lang="en-US" altLang="zh-TW" sz="1400" dirty="0" err="1">
                <a:solidFill>
                  <a:prstClr val="black"/>
                </a:solidFill>
                <a:latin typeface="Arial"/>
                <a:ea typeface=""/>
                <a:cs typeface=""/>
              </a:rPr>
              <a:t>v.s</a:t>
            </a:r>
            <a:r>
              <a:rPr lang="en-US" altLang="zh-TW" sz="1400" dirty="0">
                <a:solidFill>
                  <a:prstClr val="black"/>
                </a:solidFill>
                <a:latin typeface="Arial"/>
                <a:ea typeface=""/>
                <a:cs typeface=""/>
              </a:rPr>
              <a:t> </a:t>
            </a:r>
            <a:r>
              <a:rPr lang="en-US" altLang="zh-TW" sz="1400" dirty="0" err="1">
                <a:solidFill>
                  <a:prstClr val="black"/>
                </a:solidFill>
                <a:latin typeface="Arial"/>
                <a:ea typeface=""/>
                <a:cs typeface=""/>
              </a:rPr>
              <a:t>Clickhouse</a:t>
            </a:r>
            <a:endParaRPr lang="en-US" altLang="zh-TW" sz="1400" dirty="0">
              <a:solidFill>
                <a:prstClr val="black"/>
              </a:solidFill>
              <a:latin typeface="Arial"/>
              <a:ea typeface=""/>
              <a:cs typeface=""/>
            </a:endParaRPr>
          </a:p>
        </p:txBody>
      </p:sp>
      <p:grpSp>
        <p:nvGrpSpPr>
          <p:cNvPr id="10" name="群組 9">
            <a:extLst>
              <a:ext uri="{FF2B5EF4-FFF2-40B4-BE49-F238E27FC236}">
                <a16:creationId xmlns:a16="http://schemas.microsoft.com/office/drawing/2014/main" id="{107E87A8-FC3C-9E60-7A12-4C6F1075574C}"/>
              </a:ext>
            </a:extLst>
          </p:cNvPr>
          <p:cNvGrpSpPr/>
          <p:nvPr/>
        </p:nvGrpSpPr>
        <p:grpSpPr>
          <a:xfrm>
            <a:off x="606963" y="2775241"/>
            <a:ext cx="3177309" cy="471941"/>
            <a:chOff x="2364910" y="5961551"/>
            <a:chExt cx="3177309" cy="471941"/>
          </a:xfrm>
        </p:grpSpPr>
        <p:sp>
          <p:nvSpPr>
            <p:cNvPr id="5" name="文字方塊 4">
              <a:extLst>
                <a:ext uri="{FF2B5EF4-FFF2-40B4-BE49-F238E27FC236}">
                  <a16:creationId xmlns:a16="http://schemas.microsoft.com/office/drawing/2014/main" id="{95661073-9819-CC51-88D2-C064CD2E0EFF}"/>
                </a:ext>
              </a:extLst>
            </p:cNvPr>
            <p:cNvSpPr txBox="1"/>
            <p:nvPr/>
          </p:nvSpPr>
          <p:spPr>
            <a:xfrm>
              <a:off x="2364910" y="6171882"/>
              <a:ext cx="3177309" cy="261610"/>
            </a:xfrm>
            <a:prstGeom prst="rect">
              <a:avLst/>
            </a:prstGeom>
            <a:noFill/>
          </p:spPr>
          <p:txBody>
            <a:bodyPr wrap="square" rtlCol="0">
              <a:spAutoFit/>
            </a:bodyPr>
            <a:lstStyle/>
            <a:p>
              <a:r>
                <a:rPr lang="zh-TW" altLang="en-US" sz="1100" dirty="0"/>
                <a:t>註</a:t>
              </a:r>
              <a:r>
                <a:rPr lang="en-US" altLang="zh-TW" sz="1100" dirty="0"/>
                <a:t>2:</a:t>
              </a:r>
              <a:r>
                <a:rPr lang="zh-TW" altLang="en-US" sz="1100" dirty="0"/>
                <a:t> 詳細比較表可參考 數據中台工具選型報告書</a:t>
              </a:r>
            </a:p>
          </p:txBody>
        </p:sp>
        <p:sp>
          <p:nvSpPr>
            <p:cNvPr id="9" name="文字方塊 8">
              <a:extLst>
                <a:ext uri="{FF2B5EF4-FFF2-40B4-BE49-F238E27FC236}">
                  <a16:creationId xmlns:a16="http://schemas.microsoft.com/office/drawing/2014/main" id="{4BE29063-3D53-549C-A99B-CE1378516438}"/>
                </a:ext>
              </a:extLst>
            </p:cNvPr>
            <p:cNvSpPr txBox="1"/>
            <p:nvPr/>
          </p:nvSpPr>
          <p:spPr>
            <a:xfrm>
              <a:off x="2364910" y="5961551"/>
              <a:ext cx="3177309" cy="261610"/>
            </a:xfrm>
            <a:prstGeom prst="rect">
              <a:avLst/>
            </a:prstGeom>
            <a:noFill/>
          </p:spPr>
          <p:txBody>
            <a:bodyPr wrap="square" rtlCol="0">
              <a:spAutoFit/>
            </a:bodyPr>
            <a:lstStyle/>
            <a:p>
              <a:r>
                <a:rPr lang="zh-TW" altLang="en-US" sz="1100" dirty="0"/>
                <a:t>註</a:t>
              </a:r>
              <a:r>
                <a:rPr lang="en-US" altLang="zh-TW" sz="1100" dirty="0"/>
                <a:t>1:</a:t>
              </a:r>
              <a:r>
                <a:rPr lang="zh-TW" altLang="en-US" sz="1100" dirty="0"/>
                <a:t> 摘錄</a:t>
              </a:r>
              <a:r>
                <a:rPr lang="en-US" altLang="zh-TW" sz="1100" dirty="0"/>
                <a:t>10</a:t>
              </a:r>
              <a:r>
                <a:rPr lang="zh-TW" altLang="en-US" sz="1100" dirty="0"/>
                <a:t>個指標 </a:t>
              </a:r>
              <a:r>
                <a:rPr lang="en-US" altLang="zh-TW" sz="1100" dirty="0"/>
                <a:t>(</a:t>
              </a:r>
              <a:r>
                <a:rPr lang="zh-TW" altLang="en-US" sz="1100" dirty="0"/>
                <a:t>共</a:t>
              </a:r>
              <a:r>
                <a:rPr lang="en-US" altLang="zh-TW" sz="1100" dirty="0"/>
                <a:t>18</a:t>
              </a:r>
              <a:r>
                <a:rPr lang="zh-TW" altLang="en-US" sz="1100" dirty="0"/>
                <a:t>個評比項目</a:t>
              </a:r>
              <a:r>
                <a:rPr lang="en-US" altLang="zh-TW" sz="1100" dirty="0"/>
                <a:t>)</a:t>
              </a:r>
              <a:endParaRPr lang="zh-TW" altLang="en-US" sz="1100" dirty="0"/>
            </a:p>
          </p:txBody>
        </p:sp>
      </p:grpSp>
      <p:sp>
        <p:nvSpPr>
          <p:cNvPr id="11" name="文字方塊 10">
            <a:extLst>
              <a:ext uri="{FF2B5EF4-FFF2-40B4-BE49-F238E27FC236}">
                <a16:creationId xmlns:a16="http://schemas.microsoft.com/office/drawing/2014/main" id="{B8420C1A-7AD8-3EBE-6840-A7CCA8462115}"/>
              </a:ext>
            </a:extLst>
          </p:cNvPr>
          <p:cNvSpPr txBox="1"/>
          <p:nvPr/>
        </p:nvSpPr>
        <p:spPr>
          <a:xfrm>
            <a:off x="606963" y="1872516"/>
            <a:ext cx="3268133" cy="738664"/>
          </a:xfrm>
          <a:prstGeom prst="rect">
            <a:avLst/>
          </a:prstGeom>
          <a:noFill/>
        </p:spPr>
        <p:txBody>
          <a:bodyPr wrap="square" rtlCol="0">
            <a:spAutoFit/>
          </a:bodyPr>
          <a:lstStyle/>
          <a:p>
            <a:pPr defTabSz="609523"/>
            <a:r>
              <a:rPr lang="zh-TW" altLang="en-US" sz="1400" b="1" dirty="0">
                <a:solidFill>
                  <a:prstClr val="black"/>
                </a:solidFill>
                <a:latin typeface="Arial"/>
                <a:ea typeface=""/>
                <a:cs typeface=""/>
              </a:rPr>
              <a:t>選型結論 </a:t>
            </a:r>
            <a:r>
              <a:rPr lang="en-US" altLang="zh-TW" sz="1400" dirty="0">
                <a:solidFill>
                  <a:prstClr val="black"/>
                </a:solidFill>
                <a:latin typeface="Arial"/>
                <a:ea typeface=""/>
                <a:cs typeface=""/>
              </a:rPr>
              <a:t>:</a:t>
            </a:r>
            <a:r>
              <a:rPr lang="zh-TW" altLang="en-US" sz="1400" dirty="0">
                <a:solidFill>
                  <a:prstClr val="black"/>
                </a:solidFill>
                <a:latin typeface="Arial"/>
                <a:ea typeface=""/>
                <a:cs typeface=""/>
              </a:rPr>
              <a:t> </a:t>
            </a:r>
            <a:r>
              <a:rPr lang="en-US" altLang="zh-TW" sz="1400" dirty="0">
                <a:solidFill>
                  <a:prstClr val="black"/>
                </a:solidFill>
                <a:latin typeface="Arial"/>
                <a:ea typeface=""/>
                <a:cs typeface=""/>
              </a:rPr>
              <a:t>Doris</a:t>
            </a:r>
          </a:p>
          <a:p>
            <a:pPr defTabSz="609523"/>
            <a:r>
              <a:rPr lang="zh-TW" altLang="en-US" sz="1400" dirty="0">
                <a:solidFill>
                  <a:prstClr val="black"/>
                </a:solidFill>
                <a:latin typeface="Arial"/>
                <a:ea typeface=""/>
                <a:cs typeface=""/>
              </a:rPr>
              <a:t>強大的數據處理能力和擴展性使其在大數據分析中具備明顯優勢</a:t>
            </a:r>
            <a:endParaRPr lang="en-US" altLang="zh-TW" sz="1400" dirty="0">
              <a:solidFill>
                <a:prstClr val="black"/>
              </a:solidFill>
              <a:latin typeface="Arial"/>
              <a:ea typeface=""/>
              <a:cs typeface=""/>
            </a:endParaRPr>
          </a:p>
        </p:txBody>
      </p:sp>
    </p:spTree>
    <p:extLst>
      <p:ext uri="{BB962C8B-B14F-4D97-AF65-F5344CB8AC3E}">
        <p14:creationId xmlns:p14="http://schemas.microsoft.com/office/powerpoint/2010/main" val="398760821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1C9482-68B1-ADDA-3CE4-1A3256CBEB5B}"/>
              </a:ext>
            </a:extLst>
          </p:cNvPr>
          <p:cNvSpPr>
            <a:spLocks noGrp="1"/>
          </p:cNvSpPr>
          <p:nvPr>
            <p:ph type="title"/>
          </p:nvPr>
        </p:nvSpPr>
        <p:spPr/>
        <p:txBody>
          <a:bodyPr>
            <a:normAutofit/>
          </a:bodyPr>
          <a:lstStyle/>
          <a:p>
            <a:r>
              <a:rPr lang="zh-TW" altLang="en-US" sz="2800" dirty="0"/>
              <a:t>數據接口工具評測比較表</a:t>
            </a:r>
            <a:endParaRPr lang="en-US" altLang="zh-TW" sz="2800" dirty="0"/>
          </a:p>
        </p:txBody>
      </p:sp>
      <p:sp>
        <p:nvSpPr>
          <p:cNvPr id="3" name="投影片編號版面配置區 2">
            <a:extLst>
              <a:ext uri="{FF2B5EF4-FFF2-40B4-BE49-F238E27FC236}">
                <a16:creationId xmlns:a16="http://schemas.microsoft.com/office/drawing/2014/main" id="{BF594BDF-7413-7EE8-4774-115325C4A32C}"/>
              </a:ext>
            </a:extLst>
          </p:cNvPr>
          <p:cNvSpPr>
            <a:spLocks noGrp="1"/>
          </p:cNvSpPr>
          <p:nvPr>
            <p:ph type="sldNum" sz="quarter" idx="10"/>
          </p:nvPr>
        </p:nvSpPr>
        <p:spPr/>
        <p:txBody>
          <a:bodyPr/>
          <a:lstStyle/>
          <a:p>
            <a:pPr>
              <a:defRPr/>
            </a:pPr>
            <a:fld id="{1972D583-6F43-4BEE-A241-C30732397DD6}" type="slidenum">
              <a:rPr lang="zh-TW" altLang="en-US" smtClean="0">
                <a:solidFill>
                  <a:srgbClr val="000000">
                    <a:tint val="75000"/>
                  </a:srgbClr>
                </a:solidFill>
              </a:rPr>
              <a:pPr>
                <a:defRPr/>
              </a:pPr>
              <a:t>25</a:t>
            </a:fld>
            <a:endParaRPr lang="zh-TW" altLang="en-US" dirty="0">
              <a:solidFill>
                <a:srgbClr val="000000">
                  <a:tint val="75000"/>
                </a:srgbClr>
              </a:solidFill>
            </a:endParaRPr>
          </a:p>
        </p:txBody>
      </p:sp>
      <p:graphicFrame>
        <p:nvGraphicFramePr>
          <p:cNvPr id="7" name="表格 6">
            <a:extLst>
              <a:ext uri="{FF2B5EF4-FFF2-40B4-BE49-F238E27FC236}">
                <a16:creationId xmlns:a16="http://schemas.microsoft.com/office/drawing/2014/main" id="{BD6D9DF6-7225-121E-59D9-2408E9950495}"/>
              </a:ext>
            </a:extLst>
          </p:cNvPr>
          <p:cNvGraphicFramePr>
            <a:graphicFrameLocks noGrp="1"/>
          </p:cNvGraphicFramePr>
          <p:nvPr>
            <p:extLst>
              <p:ext uri="{D42A27DB-BD31-4B8C-83A1-F6EECF244321}">
                <p14:modId xmlns:p14="http://schemas.microsoft.com/office/powerpoint/2010/main" val="1169482750"/>
              </p:ext>
            </p:extLst>
          </p:nvPr>
        </p:nvGraphicFramePr>
        <p:xfrm>
          <a:off x="4359965" y="1164249"/>
          <a:ext cx="6852980" cy="5280569"/>
        </p:xfrm>
        <a:graphic>
          <a:graphicData uri="http://schemas.openxmlformats.org/drawingml/2006/table">
            <a:tbl>
              <a:tblPr firstRow="1" firstCol="1">
                <a:tableStyleId>{5C22544A-7EE6-4342-B048-85BDC9FD1C3A}</a:tableStyleId>
              </a:tblPr>
              <a:tblGrid>
                <a:gridCol w="266620">
                  <a:extLst>
                    <a:ext uri="{9D8B030D-6E8A-4147-A177-3AD203B41FA5}">
                      <a16:colId xmlns:a16="http://schemas.microsoft.com/office/drawing/2014/main" val="3952518632"/>
                    </a:ext>
                  </a:extLst>
                </a:gridCol>
                <a:gridCol w="1284688">
                  <a:extLst>
                    <a:ext uri="{9D8B030D-6E8A-4147-A177-3AD203B41FA5}">
                      <a16:colId xmlns:a16="http://schemas.microsoft.com/office/drawing/2014/main" val="3844782388"/>
                    </a:ext>
                  </a:extLst>
                </a:gridCol>
                <a:gridCol w="2152072">
                  <a:extLst>
                    <a:ext uri="{9D8B030D-6E8A-4147-A177-3AD203B41FA5}">
                      <a16:colId xmlns:a16="http://schemas.microsoft.com/office/drawing/2014/main" val="2090038922"/>
                    </a:ext>
                  </a:extLst>
                </a:gridCol>
                <a:gridCol w="3149600">
                  <a:extLst>
                    <a:ext uri="{9D8B030D-6E8A-4147-A177-3AD203B41FA5}">
                      <a16:colId xmlns:a16="http://schemas.microsoft.com/office/drawing/2014/main" val="3740534063"/>
                    </a:ext>
                  </a:extLst>
                </a:gridCol>
              </a:tblGrid>
              <a:tr h="313680">
                <a:tc>
                  <a:txBody>
                    <a:bodyPr/>
                    <a:lstStyle/>
                    <a:p>
                      <a:pPr algn="ctr">
                        <a:lnSpc>
                          <a:spcPct val="115000"/>
                        </a:lnSpc>
                        <a:spcAft>
                          <a:spcPts val="1000"/>
                        </a:spcAft>
                      </a:pPr>
                      <a:r>
                        <a:rPr lang="en-US" sz="900" dirty="0">
                          <a:effectLst/>
                        </a:rPr>
                        <a:t>ID</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ctr">
                        <a:lnSpc>
                          <a:spcPct val="115000"/>
                        </a:lnSpc>
                        <a:spcAft>
                          <a:spcPts val="1000"/>
                        </a:spcAft>
                      </a:pPr>
                      <a:r>
                        <a:rPr lang="en-US" sz="900" dirty="0" err="1">
                          <a:effectLst/>
                        </a:rPr>
                        <a:t>功能性項目</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gn="just">
                        <a:lnSpc>
                          <a:spcPct val="115000"/>
                        </a:lnSpc>
                        <a:spcAft>
                          <a:spcPts val="1000"/>
                        </a:spcAft>
                      </a:pPr>
                      <a:r>
                        <a:rPr lang="en-US" sz="1100" b="1">
                          <a:solidFill>
                            <a:schemeClr val="bg1"/>
                          </a:solidFill>
                          <a:effectLst/>
                          <a:latin typeface="Calibri" panose="020F0502020204030204" pitchFamily="34" charset="0"/>
                          <a:ea typeface="微軟正黑體" panose="020B0604030504040204" pitchFamily="34" charset="-120"/>
                          <a:cs typeface="Cordia New" panose="020B0304020202020204" pitchFamily="34" charset="-34"/>
                        </a:rPr>
                        <a:t>ROAPI</a:t>
                      </a:r>
                      <a:endParaRPr lang="zh-TW" sz="1100">
                        <a:solidFill>
                          <a:schemeClr val="bg1"/>
                        </a:solidFill>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en-US" sz="1100" b="1" dirty="0">
                          <a:solidFill>
                            <a:schemeClr val="bg1"/>
                          </a:solidFill>
                          <a:effectLst/>
                          <a:latin typeface="Calibri" panose="020F0502020204030204" pitchFamily="34" charset="0"/>
                          <a:ea typeface="微軟正黑體" panose="020B0604030504040204" pitchFamily="34" charset="-120"/>
                          <a:cs typeface="Cordia New" panose="020B0304020202020204" pitchFamily="34" charset="-34"/>
                        </a:rPr>
                        <a:t>Cube</a:t>
                      </a:r>
                      <a:endParaRPr lang="zh-TW" sz="1100" dirty="0">
                        <a:solidFill>
                          <a:schemeClr val="bg1"/>
                        </a:solidFill>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2971010201"/>
                  </a:ext>
                </a:extLst>
              </a:tr>
              <a:tr h="437642">
                <a:tc>
                  <a:txBody>
                    <a:bodyPr/>
                    <a:lstStyle/>
                    <a:p>
                      <a:pPr>
                        <a:lnSpc>
                          <a:spcPct val="115000"/>
                        </a:lnSpc>
                        <a:spcAft>
                          <a:spcPts val="1000"/>
                        </a:spcAft>
                      </a:pPr>
                      <a:r>
                        <a:rPr lang="en-US" sz="900" b="1" u="none" dirty="0">
                          <a:effectLst/>
                        </a:rPr>
                        <a:t>1</a:t>
                      </a:r>
                      <a:endParaRPr lang="zh-TW" sz="900" b="1" u="none"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一般</a:t>
                      </a:r>
                      <a:r>
                        <a:rPr lang="en-US" sz="1100" b="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定位</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en-US" sz="1100" dirty="0">
                          <a:effectLst/>
                          <a:latin typeface="Calibri" panose="020F0502020204030204" pitchFamily="34" charset="0"/>
                          <a:ea typeface="微軟正黑體" panose="020B0604030504040204" pitchFamily="34" charset="-120"/>
                          <a:cs typeface="Cordia New" panose="020B0304020202020204" pitchFamily="34" charset="-34"/>
                        </a:rPr>
                        <a:t>ROAPI </a:t>
                      </a:r>
                      <a:r>
                        <a:rPr lang="zh-TW" sz="1100" dirty="0">
                          <a:effectLst/>
                          <a:latin typeface="Calibri" panose="020F0502020204030204" pitchFamily="34" charset="0"/>
                          <a:ea typeface="微軟正黑體" panose="020B0604030504040204" pitchFamily="34" charset="-120"/>
                          <a:cs typeface="Calibri" panose="020F0502020204030204" pitchFamily="34" charset="0"/>
                        </a:rPr>
                        <a:t>是一個開源的工具，主要用於將各種數據源（如文件、資料庫、</a:t>
                      </a:r>
                      <a:r>
                        <a:rPr lang="en-US" sz="1100" dirty="0">
                          <a:effectLst/>
                          <a:latin typeface="Calibri" panose="020F0502020204030204" pitchFamily="34" charset="0"/>
                          <a:ea typeface="微軟正黑體" panose="020B0604030504040204" pitchFamily="34" charset="-120"/>
                          <a:cs typeface="Cordia New" panose="020B0304020202020204" pitchFamily="34" charset="-34"/>
                        </a:rPr>
                        <a:t>API</a:t>
                      </a:r>
                      <a:r>
                        <a:rPr lang="zh-TW" sz="1100" dirty="0">
                          <a:effectLst/>
                          <a:latin typeface="Calibri" panose="020F0502020204030204" pitchFamily="34" charset="0"/>
                          <a:ea typeface="微軟正黑體" panose="020B0604030504040204" pitchFamily="34" charset="-120"/>
                          <a:cs typeface="Calibri" panose="020F0502020204030204" pitchFamily="34" charset="0"/>
                        </a:rPr>
                        <a:t>）快速轉換為</a:t>
                      </a:r>
                      <a:r>
                        <a:rPr lang="en-US" altLang="zh-TW" sz="1100" dirty="0">
                          <a:effectLst/>
                          <a:latin typeface="Calibri" panose="020F0502020204030204" pitchFamily="34" charset="0"/>
                          <a:ea typeface="微軟正黑體" panose="020B0604030504040204" pitchFamily="34" charset="-120"/>
                          <a:cs typeface="Calibri" panose="020F0502020204030204" pitchFamily="34" charset="0"/>
                        </a:rPr>
                        <a:t> </a:t>
                      </a:r>
                      <a:r>
                        <a:rPr lang="en-US" sz="1100" dirty="0">
                          <a:effectLst/>
                          <a:latin typeface="Calibri" panose="020F0502020204030204" pitchFamily="34" charset="0"/>
                          <a:ea typeface="微軟正黑體" panose="020B0604030504040204" pitchFamily="34" charset="-120"/>
                          <a:cs typeface="Cordia New" panose="020B0304020202020204" pitchFamily="34" charset="-34"/>
                        </a:rPr>
                        <a:t>REST API</a:t>
                      </a:r>
                      <a:r>
                        <a:rPr lang="zh-TW" sz="1100" dirty="0">
                          <a:effectLst/>
                          <a:latin typeface="Calibri" panose="020F0502020204030204" pitchFamily="34" charset="0"/>
                          <a:ea typeface="微軟正黑體" panose="020B0604030504040204" pitchFamily="34" charset="-120"/>
                          <a:cs typeface="Calibri" panose="020F0502020204030204" pitchFamily="34" charset="0"/>
                        </a:rPr>
                        <a:t>。</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Cube </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是一個開源的分析框架，專門設計用來構建數據應用。它提供了從</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ETL</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到數據建模、</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API</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生成的一站式解決方案。</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3398297063"/>
                  </a:ext>
                </a:extLst>
              </a:tr>
              <a:tr h="472522">
                <a:tc>
                  <a:txBody>
                    <a:bodyPr/>
                    <a:lstStyle/>
                    <a:p>
                      <a:pPr>
                        <a:lnSpc>
                          <a:spcPct val="115000"/>
                        </a:lnSpc>
                        <a:spcAft>
                          <a:spcPts val="1000"/>
                        </a:spcAft>
                      </a:pPr>
                      <a:r>
                        <a:rPr lang="en-US" sz="900" b="1" u="none">
                          <a:effectLst/>
                        </a:rPr>
                        <a:t>2</a:t>
                      </a:r>
                      <a:endParaRPr lang="zh-TW" sz="900" b="1" u="none">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1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一般</a:t>
                      </a:r>
                      <a:r>
                        <a:rPr lang="en-US" sz="1100" b="1"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1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優勢</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簡單好用，部署方式靈活簡易</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強大的數據建模能力、能夠處理大量數據的聚合和查詢</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1429969347"/>
                  </a:ext>
                </a:extLst>
              </a:tr>
              <a:tr h="405832">
                <a:tc>
                  <a:txBody>
                    <a:bodyPr/>
                    <a:lstStyle/>
                    <a:p>
                      <a:pPr>
                        <a:lnSpc>
                          <a:spcPct val="115000"/>
                        </a:lnSpc>
                        <a:spcAft>
                          <a:spcPts val="1000"/>
                        </a:spcAft>
                      </a:pPr>
                      <a:r>
                        <a:rPr lang="en-US" sz="900" b="1" u="none" dirty="0">
                          <a:effectLst/>
                        </a:rPr>
                        <a:t>3</a:t>
                      </a:r>
                      <a:endParaRPr lang="zh-TW" sz="900" b="1" u="none"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1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一般</a:t>
                      </a:r>
                      <a:r>
                        <a:rPr lang="en-US" sz="1100" b="1"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100" b="1"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內建</a:t>
                      </a:r>
                      <a:r>
                        <a:rPr lang="en-US" sz="1100" b="1"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Data Model</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無</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en-US" sz="1100" dirty="0" err="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Cube+View</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2531986051"/>
                  </a:ext>
                </a:extLst>
              </a:tr>
              <a:tr h="453033">
                <a:tc>
                  <a:txBody>
                    <a:bodyPr/>
                    <a:lstStyle/>
                    <a:p>
                      <a:pPr>
                        <a:lnSpc>
                          <a:spcPct val="115000"/>
                        </a:lnSpc>
                        <a:spcAft>
                          <a:spcPts val="1000"/>
                        </a:spcAft>
                      </a:pPr>
                      <a:r>
                        <a:rPr lang="en-US" sz="900" b="1" u="none" dirty="0">
                          <a:effectLst/>
                        </a:rPr>
                        <a:t>4</a:t>
                      </a:r>
                      <a:endParaRPr lang="zh-TW" sz="900" b="1" u="none"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一般</a:t>
                      </a:r>
                      <a:r>
                        <a:rPr lang="en-US" sz="1100" b="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Sematic Layer </a:t>
                      </a: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整合</a:t>
                      </a:r>
                      <a:r>
                        <a:rPr lang="en-US" sz="1100" b="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SuperSet</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無</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支援</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3910715857"/>
                  </a:ext>
                </a:extLst>
              </a:tr>
              <a:tr h="474223">
                <a:tc>
                  <a:txBody>
                    <a:bodyPr/>
                    <a:lstStyle/>
                    <a:p>
                      <a:pPr marL="0" algn="just" defTabSz="914354" rtl="0" eaLnBrk="1" latinLnBrk="0" hangingPunct="1">
                        <a:lnSpc>
                          <a:spcPct val="100000"/>
                        </a:lnSpc>
                        <a:spcAft>
                          <a:spcPts val="0"/>
                        </a:spcAft>
                      </a:pPr>
                      <a:r>
                        <a:rPr lang="en-US" sz="1100" b="1" u="none" kern="1200" dirty="0">
                          <a:solidFill>
                            <a:schemeClr val="bg1"/>
                          </a:solidFill>
                          <a:effectLst/>
                          <a:latin typeface="Calibri" panose="020F0502020204030204" pitchFamily="34" charset="0"/>
                          <a:ea typeface="微軟正黑體" panose="020B0604030504040204" pitchFamily="34" charset="-120"/>
                          <a:cs typeface="Calibri" panose="020F0502020204030204" pitchFamily="34" charset="0"/>
                        </a:rPr>
                        <a:t>5</a:t>
                      </a:r>
                      <a:endParaRPr lang="zh-TW" altLang="en-US" sz="1100" b="1" u="none" kern="1200" dirty="0">
                        <a:solidFill>
                          <a:schemeClr val="bg1"/>
                        </a:solidFill>
                        <a:effectLst/>
                        <a:latin typeface="Calibri" panose="020F0502020204030204" pitchFamily="34" charset="0"/>
                        <a:ea typeface="微軟正黑體" panose="020B0604030504040204" pitchFamily="34" charset="-120"/>
                        <a:cs typeface="Calibri" panose="020F0502020204030204" pitchFamily="34" charset="0"/>
                      </a:endParaRPr>
                    </a:p>
                  </a:txBody>
                  <a:tcPr marL="62103" marR="62103" marT="0" marB="0" anchor="ctr"/>
                </a:tc>
                <a:tc>
                  <a:txBody>
                    <a:bodyPr/>
                    <a:lstStyle/>
                    <a:p>
                      <a:pPr marL="0" algn="just" defTabSz="914354" rtl="0" eaLnBrk="1" latinLnBrk="0" hangingPunct="1">
                        <a:lnSpc>
                          <a:spcPct val="100000"/>
                        </a:lnSpc>
                        <a:spcAft>
                          <a:spcPts val="0"/>
                        </a:spcAft>
                      </a:pPr>
                      <a:r>
                        <a:rPr lang="zh-TW" alt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數據庫支援</a:t>
                      </a:r>
                      <a:r>
                        <a:rPr 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 – </a:t>
                      </a:r>
                      <a:r>
                        <a:rPr lang="en-US" sz="1100" kern="1200" dirty="0" err="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MySql</a:t>
                      </a:r>
                      <a:endParaRPr 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endParaRPr>
                    </a:p>
                    <a:p>
                      <a:pPr marL="0" algn="just" defTabSz="914354" rtl="0" eaLnBrk="1" latinLnBrk="0" hangingPunct="1">
                        <a:lnSpc>
                          <a:spcPct val="100000"/>
                        </a:lnSpc>
                        <a:spcAft>
                          <a:spcPts val="0"/>
                        </a:spcAft>
                      </a:pPr>
                      <a:r>
                        <a:rPr 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 ( Doris )</a:t>
                      </a:r>
                      <a:endParaRPr lang="zh-TW" alt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支援</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但</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Doris </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不支援</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a:t>
                      </a:r>
                      <a:r>
                        <a:rPr lang="en-US" sz="1100" u="sng" dirty="0">
                          <a:solidFill>
                            <a:srgbClr val="0000FF"/>
                          </a:solidFill>
                          <a:effectLst/>
                          <a:latin typeface="Calibri" panose="020F0502020204030204" pitchFamily="34" charset="0"/>
                          <a:ea typeface="微軟正黑體" panose="020B0604030504040204" pitchFamily="34" charset="-120"/>
                          <a:cs typeface="Cordia New" panose="020B0304020202020204" pitchFamily="34" charset="-34"/>
                          <a:hlinkClick r:id="rId3"/>
                        </a:rPr>
                        <a:t>Ref</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支援，但</a:t>
                      </a:r>
                      <a:r>
                        <a:rPr lang="en-US" sz="1100" dirty="0" err="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Mysql</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8.0</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以上連線會有連線問題</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910522235"/>
                  </a:ext>
                </a:extLst>
              </a:tr>
              <a:tr h="452581">
                <a:tc>
                  <a:txBody>
                    <a:bodyPr/>
                    <a:lstStyle/>
                    <a:p>
                      <a:pPr>
                        <a:lnSpc>
                          <a:spcPct val="115000"/>
                        </a:lnSpc>
                        <a:spcAft>
                          <a:spcPts val="1000"/>
                        </a:spcAft>
                      </a:pPr>
                      <a:r>
                        <a:rPr lang="en-US" sz="900" b="1" u="none" dirty="0">
                          <a:effectLst/>
                        </a:rPr>
                        <a:t>6</a:t>
                      </a:r>
                      <a:endParaRPr lang="zh-TW" sz="900" b="1" u="none"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數據庫支援</a:t>
                      </a:r>
                      <a:r>
                        <a:rPr lang="en-US" sz="1100" b="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CSV on S3</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支援</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支援</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857738460"/>
                  </a:ext>
                </a:extLst>
              </a:tr>
              <a:tr h="499620">
                <a:tc>
                  <a:txBody>
                    <a:bodyPr/>
                    <a:lstStyle/>
                    <a:p>
                      <a:pPr>
                        <a:lnSpc>
                          <a:spcPct val="115000"/>
                        </a:lnSpc>
                        <a:spcAft>
                          <a:spcPts val="1000"/>
                        </a:spcAft>
                      </a:pPr>
                      <a:r>
                        <a:rPr lang="en-US" sz="900" b="1" u="none" dirty="0">
                          <a:effectLst/>
                        </a:rPr>
                        <a:t>7</a:t>
                      </a:r>
                      <a:endParaRPr lang="zh-TW" sz="900" b="1" u="none"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en-US" sz="1100" b="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API - REST</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支援</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支援</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3919620315"/>
                  </a:ext>
                </a:extLst>
              </a:tr>
              <a:tr h="570491">
                <a:tc>
                  <a:txBody>
                    <a:bodyPr/>
                    <a:lstStyle/>
                    <a:p>
                      <a:pPr>
                        <a:lnSpc>
                          <a:spcPct val="115000"/>
                        </a:lnSpc>
                        <a:spcAft>
                          <a:spcPts val="1000"/>
                        </a:spcAft>
                      </a:pPr>
                      <a:r>
                        <a:rPr lang="en-US" sz="900" b="1" u="none" dirty="0">
                          <a:effectLst/>
                        </a:rPr>
                        <a:t>8</a:t>
                      </a:r>
                      <a:endParaRPr lang="zh-TW" sz="900" b="1" u="none"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維護</a:t>
                      </a:r>
                      <a:r>
                        <a:rPr lang="en-US" sz="1100" b="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被</a:t>
                      </a:r>
                      <a:r>
                        <a:rPr lang="en-US" sz="1100" b="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Integration</a:t>
                      </a: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能力</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弱，僅透過</a:t>
                      </a:r>
                      <a:r>
                        <a:rPr lang="en-US" sz="110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API</a:t>
                      </a:r>
                      <a:r>
                        <a:rPr lang="zh-TW" sz="110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方式整合</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中，可透過</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API </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和建立連線存取</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Cube data model </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資料</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1875590490"/>
                  </a:ext>
                </a:extLst>
              </a:tr>
              <a:tr h="502120">
                <a:tc>
                  <a:txBody>
                    <a:bodyPr/>
                    <a:lstStyle/>
                    <a:p>
                      <a:pPr>
                        <a:lnSpc>
                          <a:spcPct val="115000"/>
                        </a:lnSpc>
                        <a:spcAft>
                          <a:spcPts val="1000"/>
                        </a:spcAft>
                      </a:pPr>
                      <a:r>
                        <a:rPr lang="en-US" altLang="zh-TW" sz="900" dirty="0">
                          <a:effectLst/>
                          <a:latin typeface="Cambria" panose="02040503050406030204" pitchFamily="18" charset="0"/>
                          <a:ea typeface="微軟正黑體" panose="020B0604030504040204" pitchFamily="34" charset="-120"/>
                          <a:cs typeface="Cordia New" panose="020B0304020202020204" pitchFamily="34" charset="-34"/>
                        </a:rPr>
                        <a:t>9</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維護</a:t>
                      </a:r>
                      <a:r>
                        <a:rPr lang="en-US" sz="1100" b="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 </a:t>
                      </a: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易用性</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中，僅能透過指令操作</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15000"/>
                        </a:lnSpc>
                        <a:spcAft>
                          <a:spcPts val="100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高，可透過</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UI</a:t>
                      </a: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方式存取修改</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data model</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extLst>
                  <a:ext uri="{0D108BD9-81ED-4DB2-BD59-A6C34878D82A}">
                    <a16:rowId xmlns:a16="http://schemas.microsoft.com/office/drawing/2014/main" val="3267777046"/>
                  </a:ext>
                </a:extLst>
              </a:tr>
              <a:tr h="570491">
                <a:tc>
                  <a:txBody>
                    <a:bodyPr/>
                    <a:lstStyle/>
                    <a:p>
                      <a:pPr>
                        <a:lnSpc>
                          <a:spcPct val="115000"/>
                        </a:lnSpc>
                        <a:spcAft>
                          <a:spcPts val="1000"/>
                        </a:spcAft>
                      </a:pPr>
                      <a:r>
                        <a:rPr lang="en-US" altLang="zh-TW" sz="900" dirty="0">
                          <a:effectLst/>
                          <a:latin typeface="Cambria" panose="02040503050406030204" pitchFamily="18" charset="0"/>
                          <a:ea typeface="微軟正黑體" panose="020B0604030504040204" pitchFamily="34" charset="-120"/>
                          <a:cs typeface="Cordia New" panose="020B0304020202020204" pitchFamily="34" charset="-34"/>
                        </a:rPr>
                        <a:t>10</a:t>
                      </a:r>
                      <a:endParaRPr lang="zh-TW" sz="9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62103" marR="62103" marT="0" marB="0" anchor="ctr"/>
                </a:tc>
                <a:tc>
                  <a:txBody>
                    <a:bodyPr/>
                    <a:lstStyle/>
                    <a:p>
                      <a:pPr>
                        <a:lnSpc>
                          <a:spcPct val="115000"/>
                        </a:lnSpc>
                        <a:spcAft>
                          <a:spcPts val="1000"/>
                        </a:spcAft>
                      </a:pPr>
                      <a:r>
                        <a:rPr lang="zh-TW" sz="1100" b="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數據量測試</a:t>
                      </a:r>
                      <a:endParaRPr lang="zh-TW" sz="110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algn="just">
                        <a:lnSpc>
                          <a:spcPct val="100000"/>
                        </a:lnSpc>
                        <a:spcAft>
                          <a:spcPts val="0"/>
                        </a:spcAft>
                      </a:pPr>
                      <a:r>
                        <a:rPr lang="zh-TW" sz="11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使用</a:t>
                      </a:r>
                      <a:r>
                        <a:rPr lang="en-US" sz="1100" dirty="0" err="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Mysql</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p>
                      <a:pPr algn="just">
                        <a:lnSpc>
                          <a:spcPct val="100000"/>
                        </a:lnSpc>
                        <a:spcAft>
                          <a:spcPts val="0"/>
                        </a:spcAft>
                      </a:pP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113 MB (1115 </a:t>
                      </a:r>
                      <a:r>
                        <a:rPr lang="en-US" sz="1100" dirty="0" err="1">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ms</a:t>
                      </a: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 </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p>
                      <a:pPr algn="just">
                        <a:lnSpc>
                          <a:spcPct val="100000"/>
                        </a:lnSpc>
                        <a:spcAft>
                          <a:spcPts val="0"/>
                        </a:spcAft>
                      </a:pPr>
                      <a:r>
                        <a:rPr lang="en-US" sz="1100" dirty="0">
                          <a:solidFill>
                            <a:srgbClr val="000000"/>
                          </a:solidFill>
                          <a:effectLst/>
                          <a:latin typeface="Calibri" panose="020F0502020204030204" pitchFamily="34" charset="0"/>
                          <a:ea typeface="微軟正黑體" panose="020B0604030504040204" pitchFamily="34" charset="-120"/>
                          <a:cs typeface="Cordia New" panose="020B0304020202020204" pitchFamily="34" charset="-34"/>
                        </a:rPr>
                        <a:t>786 MB (4.5 s)</a:t>
                      </a:r>
                      <a:endParaRPr lang="zh-TW" sz="1100" dirty="0">
                        <a:effectLst/>
                        <a:latin typeface="Cambria" panose="02040503050406030204" pitchFamily="18" charset="0"/>
                        <a:ea typeface="微軟正黑體" panose="020B0604030504040204" pitchFamily="34" charset="-120"/>
                        <a:cs typeface="Cordia New" panose="020B0304020202020204" pitchFamily="34" charset="-34"/>
                      </a:endParaRPr>
                    </a:p>
                  </a:txBody>
                  <a:tcPr marL="17780" marR="17780" marT="0" marB="0" anchor="ctr"/>
                </a:tc>
                <a:tc>
                  <a:txBody>
                    <a:bodyPr/>
                    <a:lstStyle/>
                    <a:p>
                      <a:pPr marL="0" algn="just" defTabSz="914354" rtl="0" eaLnBrk="1" latinLnBrk="0" hangingPunct="1">
                        <a:lnSpc>
                          <a:spcPct val="100000"/>
                        </a:lnSpc>
                        <a:spcAft>
                          <a:spcPts val="0"/>
                        </a:spcAft>
                      </a:pPr>
                      <a:r>
                        <a:rPr lang="zh-TW" alt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使用</a:t>
                      </a:r>
                      <a:r>
                        <a:rPr 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Doris </a:t>
                      </a:r>
                      <a:endParaRPr lang="zh-TW" alt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endParaRPr>
                    </a:p>
                    <a:p>
                      <a:pPr marL="0" algn="just" defTabSz="914354" rtl="0" eaLnBrk="1" latinLnBrk="0" hangingPunct="1">
                        <a:lnSpc>
                          <a:spcPct val="100000"/>
                        </a:lnSpc>
                        <a:spcAft>
                          <a:spcPts val="0"/>
                        </a:spcAft>
                      </a:pPr>
                      <a:r>
                        <a:rPr 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113 MB (1822 </a:t>
                      </a:r>
                      <a:r>
                        <a:rPr lang="en-US" sz="1100" kern="1200" dirty="0" err="1">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ms</a:t>
                      </a:r>
                      <a:r>
                        <a:rPr 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 </a:t>
                      </a:r>
                      <a:endParaRPr lang="zh-TW" alt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endParaRPr>
                    </a:p>
                    <a:p>
                      <a:pPr marL="0" algn="just" defTabSz="914354" rtl="0" eaLnBrk="1" latinLnBrk="0" hangingPunct="1">
                        <a:lnSpc>
                          <a:spcPct val="100000"/>
                        </a:lnSpc>
                        <a:spcAft>
                          <a:spcPts val="0"/>
                        </a:spcAft>
                      </a:pPr>
                      <a:r>
                        <a:rPr 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rPr>
                        <a:t>786 MB (5.6 s) </a:t>
                      </a:r>
                      <a:endParaRPr lang="zh-TW" altLang="en-US" sz="1100" kern="1200" dirty="0">
                        <a:solidFill>
                          <a:srgbClr val="000000"/>
                        </a:solidFill>
                        <a:effectLst/>
                        <a:latin typeface="Calibri" panose="020F0502020204030204" pitchFamily="34" charset="0"/>
                        <a:ea typeface="微軟正黑體" panose="020B0604030504040204" pitchFamily="34" charset="-120"/>
                        <a:cs typeface="Calibri" panose="020F0502020204030204" pitchFamily="34" charset="0"/>
                      </a:endParaRPr>
                    </a:p>
                  </a:txBody>
                  <a:tcPr marL="17780" marR="17780" marT="0" marB="0" anchor="ctr"/>
                </a:tc>
                <a:extLst>
                  <a:ext uri="{0D108BD9-81ED-4DB2-BD59-A6C34878D82A}">
                    <a16:rowId xmlns:a16="http://schemas.microsoft.com/office/drawing/2014/main" val="313268627"/>
                  </a:ext>
                </a:extLst>
              </a:tr>
            </a:tbl>
          </a:graphicData>
        </a:graphic>
      </p:graphicFrame>
      <p:sp>
        <p:nvSpPr>
          <p:cNvPr id="6" name="文字方塊 5">
            <a:extLst>
              <a:ext uri="{FF2B5EF4-FFF2-40B4-BE49-F238E27FC236}">
                <a16:creationId xmlns:a16="http://schemas.microsoft.com/office/drawing/2014/main" id="{CF32EC2A-CA38-2B60-AAB5-C4F7CB123758}"/>
              </a:ext>
            </a:extLst>
          </p:cNvPr>
          <p:cNvSpPr txBox="1"/>
          <p:nvPr/>
        </p:nvSpPr>
        <p:spPr>
          <a:xfrm>
            <a:off x="606964" y="1119753"/>
            <a:ext cx="3268133" cy="523220"/>
          </a:xfrm>
          <a:prstGeom prst="rect">
            <a:avLst/>
          </a:prstGeom>
          <a:noFill/>
        </p:spPr>
        <p:txBody>
          <a:bodyPr wrap="square" rtlCol="0">
            <a:spAutoFit/>
          </a:bodyPr>
          <a:lstStyle/>
          <a:p>
            <a:pPr defTabSz="609523">
              <a:lnSpc>
                <a:spcPct val="100000"/>
              </a:lnSpc>
            </a:pPr>
            <a:r>
              <a:rPr lang="zh-TW" altLang="en-US" sz="1400" b="1" dirty="0">
                <a:solidFill>
                  <a:prstClr val="black"/>
                </a:solidFill>
                <a:latin typeface="Arial"/>
                <a:ea typeface=""/>
                <a:cs typeface=""/>
              </a:rPr>
              <a:t>比較工具</a:t>
            </a:r>
            <a:r>
              <a:rPr lang="zh-TW" altLang="en-US" sz="1400" dirty="0">
                <a:solidFill>
                  <a:prstClr val="black"/>
                </a:solidFill>
                <a:latin typeface="Arial"/>
                <a:ea typeface=""/>
                <a:cs typeface=""/>
              </a:rPr>
              <a:t>：</a:t>
            </a:r>
            <a:endParaRPr lang="en-US" altLang="zh-TW" sz="1400" dirty="0">
              <a:solidFill>
                <a:prstClr val="black"/>
              </a:solidFill>
              <a:latin typeface="Arial"/>
              <a:ea typeface=""/>
              <a:cs typeface=""/>
            </a:endParaRPr>
          </a:p>
          <a:p>
            <a:pPr defTabSz="609523">
              <a:lnSpc>
                <a:spcPct val="100000"/>
              </a:lnSpc>
            </a:pPr>
            <a:r>
              <a:rPr lang="en-US" altLang="zh-TW" sz="1400" dirty="0">
                <a:solidFill>
                  <a:prstClr val="black"/>
                </a:solidFill>
                <a:latin typeface="Arial"/>
                <a:ea typeface=""/>
                <a:cs typeface=""/>
              </a:rPr>
              <a:t>ROAPI </a:t>
            </a:r>
            <a:r>
              <a:rPr lang="en-US" altLang="zh-TW" sz="1400" dirty="0" err="1">
                <a:solidFill>
                  <a:prstClr val="black"/>
                </a:solidFill>
                <a:latin typeface="Arial"/>
                <a:ea typeface=""/>
                <a:cs typeface=""/>
              </a:rPr>
              <a:t>v.s</a:t>
            </a:r>
            <a:r>
              <a:rPr lang="en-US" altLang="zh-TW" sz="1400" dirty="0">
                <a:solidFill>
                  <a:prstClr val="black"/>
                </a:solidFill>
                <a:latin typeface="Arial"/>
                <a:ea typeface=""/>
                <a:cs typeface=""/>
              </a:rPr>
              <a:t> Cube</a:t>
            </a:r>
          </a:p>
        </p:txBody>
      </p:sp>
      <p:grpSp>
        <p:nvGrpSpPr>
          <p:cNvPr id="10" name="群組 9">
            <a:extLst>
              <a:ext uri="{FF2B5EF4-FFF2-40B4-BE49-F238E27FC236}">
                <a16:creationId xmlns:a16="http://schemas.microsoft.com/office/drawing/2014/main" id="{107E87A8-FC3C-9E60-7A12-4C6F1075574C}"/>
              </a:ext>
            </a:extLst>
          </p:cNvPr>
          <p:cNvGrpSpPr/>
          <p:nvPr/>
        </p:nvGrpSpPr>
        <p:grpSpPr>
          <a:xfrm>
            <a:off x="606963" y="2775241"/>
            <a:ext cx="3177309" cy="471941"/>
            <a:chOff x="2364910" y="5961551"/>
            <a:chExt cx="3177309" cy="471941"/>
          </a:xfrm>
        </p:grpSpPr>
        <p:sp>
          <p:nvSpPr>
            <p:cNvPr id="5" name="文字方塊 4">
              <a:extLst>
                <a:ext uri="{FF2B5EF4-FFF2-40B4-BE49-F238E27FC236}">
                  <a16:creationId xmlns:a16="http://schemas.microsoft.com/office/drawing/2014/main" id="{95661073-9819-CC51-88D2-C064CD2E0EFF}"/>
                </a:ext>
              </a:extLst>
            </p:cNvPr>
            <p:cNvSpPr txBox="1"/>
            <p:nvPr/>
          </p:nvSpPr>
          <p:spPr>
            <a:xfrm>
              <a:off x="2364910" y="6171882"/>
              <a:ext cx="3177309" cy="261610"/>
            </a:xfrm>
            <a:prstGeom prst="rect">
              <a:avLst/>
            </a:prstGeom>
            <a:noFill/>
          </p:spPr>
          <p:txBody>
            <a:bodyPr wrap="square" rtlCol="0">
              <a:spAutoFit/>
            </a:bodyPr>
            <a:lstStyle/>
            <a:p>
              <a:r>
                <a:rPr lang="zh-TW" altLang="en-US" sz="1100" dirty="0"/>
                <a:t>註</a:t>
              </a:r>
              <a:r>
                <a:rPr lang="en-US" altLang="zh-TW" sz="1100" dirty="0"/>
                <a:t>2:</a:t>
              </a:r>
              <a:r>
                <a:rPr lang="zh-TW" altLang="en-US" sz="1100" dirty="0"/>
                <a:t> 詳細比較表可參考 數據中台工具選型報告書</a:t>
              </a:r>
            </a:p>
          </p:txBody>
        </p:sp>
        <p:sp>
          <p:nvSpPr>
            <p:cNvPr id="9" name="文字方塊 8">
              <a:extLst>
                <a:ext uri="{FF2B5EF4-FFF2-40B4-BE49-F238E27FC236}">
                  <a16:creationId xmlns:a16="http://schemas.microsoft.com/office/drawing/2014/main" id="{4BE29063-3D53-549C-A99B-CE1378516438}"/>
                </a:ext>
              </a:extLst>
            </p:cNvPr>
            <p:cNvSpPr txBox="1"/>
            <p:nvPr/>
          </p:nvSpPr>
          <p:spPr>
            <a:xfrm>
              <a:off x="2364910" y="5961551"/>
              <a:ext cx="3177309" cy="261610"/>
            </a:xfrm>
            <a:prstGeom prst="rect">
              <a:avLst/>
            </a:prstGeom>
            <a:noFill/>
          </p:spPr>
          <p:txBody>
            <a:bodyPr wrap="square" rtlCol="0">
              <a:spAutoFit/>
            </a:bodyPr>
            <a:lstStyle/>
            <a:p>
              <a:r>
                <a:rPr lang="zh-TW" altLang="en-US" sz="1100" dirty="0"/>
                <a:t>註</a:t>
              </a:r>
              <a:r>
                <a:rPr lang="en-US" altLang="zh-TW" sz="1100" dirty="0"/>
                <a:t>1:</a:t>
              </a:r>
              <a:r>
                <a:rPr lang="zh-TW" altLang="en-US" sz="1100" dirty="0"/>
                <a:t> 摘錄</a:t>
              </a:r>
              <a:r>
                <a:rPr lang="en-US" altLang="zh-TW" sz="1100" dirty="0"/>
                <a:t>10</a:t>
              </a:r>
              <a:r>
                <a:rPr lang="zh-TW" altLang="en-US" sz="1100" dirty="0"/>
                <a:t>個指標 </a:t>
              </a:r>
              <a:r>
                <a:rPr lang="en-US" altLang="zh-TW" sz="1100" dirty="0"/>
                <a:t>(</a:t>
              </a:r>
              <a:r>
                <a:rPr lang="zh-TW" altLang="en-US" sz="1100" dirty="0"/>
                <a:t>共</a:t>
              </a:r>
              <a:r>
                <a:rPr lang="en-US" altLang="zh-TW" sz="1100" dirty="0"/>
                <a:t>26</a:t>
              </a:r>
              <a:r>
                <a:rPr lang="zh-TW" altLang="en-US" sz="1100" dirty="0"/>
                <a:t>個評比項目</a:t>
              </a:r>
              <a:r>
                <a:rPr lang="en-US" altLang="zh-TW" sz="1100" dirty="0"/>
                <a:t>)</a:t>
              </a:r>
              <a:endParaRPr lang="zh-TW" altLang="en-US" sz="1100" dirty="0"/>
            </a:p>
          </p:txBody>
        </p:sp>
      </p:grpSp>
      <p:sp>
        <p:nvSpPr>
          <p:cNvPr id="11" name="文字方塊 10">
            <a:extLst>
              <a:ext uri="{FF2B5EF4-FFF2-40B4-BE49-F238E27FC236}">
                <a16:creationId xmlns:a16="http://schemas.microsoft.com/office/drawing/2014/main" id="{B8420C1A-7AD8-3EBE-6840-A7CCA8462115}"/>
              </a:ext>
            </a:extLst>
          </p:cNvPr>
          <p:cNvSpPr txBox="1"/>
          <p:nvPr/>
        </p:nvSpPr>
        <p:spPr>
          <a:xfrm>
            <a:off x="606963" y="1872516"/>
            <a:ext cx="3268133" cy="738664"/>
          </a:xfrm>
          <a:prstGeom prst="rect">
            <a:avLst/>
          </a:prstGeom>
          <a:noFill/>
        </p:spPr>
        <p:txBody>
          <a:bodyPr wrap="square" rtlCol="0">
            <a:spAutoFit/>
          </a:bodyPr>
          <a:lstStyle/>
          <a:p>
            <a:pPr defTabSz="609523"/>
            <a:r>
              <a:rPr lang="zh-TW" altLang="en-US" sz="1400" b="1" dirty="0">
                <a:solidFill>
                  <a:prstClr val="black"/>
                </a:solidFill>
                <a:latin typeface="Arial"/>
                <a:ea typeface=""/>
                <a:cs typeface=""/>
              </a:rPr>
              <a:t>選型結論 </a:t>
            </a:r>
            <a:r>
              <a:rPr lang="en-US" altLang="zh-TW" sz="1400" dirty="0">
                <a:solidFill>
                  <a:prstClr val="black"/>
                </a:solidFill>
                <a:latin typeface="Arial"/>
                <a:ea typeface=""/>
                <a:cs typeface=""/>
              </a:rPr>
              <a:t>:</a:t>
            </a:r>
            <a:r>
              <a:rPr lang="zh-TW" altLang="en-US" sz="1400" dirty="0">
                <a:solidFill>
                  <a:prstClr val="black"/>
                </a:solidFill>
                <a:latin typeface="Arial"/>
                <a:ea typeface=""/>
                <a:cs typeface=""/>
              </a:rPr>
              <a:t> </a:t>
            </a:r>
            <a:r>
              <a:rPr lang="en-US" altLang="zh-TW" sz="1400" dirty="0">
                <a:solidFill>
                  <a:prstClr val="black"/>
                </a:solidFill>
                <a:latin typeface="Arial"/>
                <a:ea typeface=""/>
                <a:cs typeface=""/>
              </a:rPr>
              <a:t>Cube</a:t>
            </a:r>
          </a:p>
          <a:p>
            <a:pPr defTabSz="609523"/>
            <a:r>
              <a:rPr lang="zh-TW" altLang="en-US" sz="1400" dirty="0">
                <a:solidFill>
                  <a:prstClr val="black"/>
                </a:solidFill>
                <a:latin typeface="Arial"/>
                <a:ea typeface=""/>
                <a:cs typeface=""/>
              </a:rPr>
              <a:t>可處理複雜的數據建模和聚合，並可與多種前端框架和</a:t>
            </a:r>
            <a:r>
              <a:rPr lang="en-US" altLang="zh-TW" sz="1400" dirty="0">
                <a:solidFill>
                  <a:prstClr val="black"/>
                </a:solidFill>
                <a:latin typeface="Arial"/>
                <a:ea typeface=""/>
                <a:cs typeface=""/>
              </a:rPr>
              <a:t>BI</a:t>
            </a:r>
            <a:r>
              <a:rPr lang="zh-TW" altLang="en-US" sz="1400" dirty="0">
                <a:solidFill>
                  <a:prstClr val="black"/>
                </a:solidFill>
                <a:latin typeface="Arial"/>
                <a:ea typeface=""/>
                <a:cs typeface=""/>
              </a:rPr>
              <a:t>工具整合</a:t>
            </a:r>
            <a:endParaRPr lang="en-US" altLang="zh-TW" sz="1400" dirty="0">
              <a:solidFill>
                <a:prstClr val="black"/>
              </a:solidFill>
              <a:latin typeface="Arial"/>
              <a:ea typeface=""/>
              <a:cs typeface=""/>
            </a:endParaRPr>
          </a:p>
        </p:txBody>
      </p:sp>
    </p:spTree>
    <p:extLst>
      <p:ext uri="{BB962C8B-B14F-4D97-AF65-F5344CB8AC3E}">
        <p14:creationId xmlns:p14="http://schemas.microsoft.com/office/powerpoint/2010/main" val="131631414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標題 1">
            <a:extLst>
              <a:ext uri="{FF2B5EF4-FFF2-40B4-BE49-F238E27FC236}">
                <a16:creationId xmlns:a16="http://schemas.microsoft.com/office/drawing/2014/main" id="{485B37FE-B419-FDAC-FEA0-029772B73F69}"/>
              </a:ext>
            </a:extLst>
          </p:cNvPr>
          <p:cNvSpPr txBox="1">
            <a:spLocks/>
          </p:cNvSpPr>
          <p:nvPr/>
        </p:nvSpPr>
        <p:spPr>
          <a:xfrm>
            <a:off x="2416189" y="0"/>
            <a:ext cx="7200000" cy="679396"/>
          </a:xfrm>
          <a:prstGeom prst="rect">
            <a:avLst/>
          </a:prstGeom>
        </p:spPr>
        <p:txBody>
          <a:bodyPr vert="horz" lIns="0" tIns="45720" rIns="0" bIns="45720" rtlCol="0" anchor="b">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zh-TW" altLang="en-US" sz="2800" b="1" i="0" u="none" strike="noStrike" kern="1200" cap="none" spc="0" normalizeH="0" baseline="0" noProof="0">
                <a:ln>
                  <a:noFill/>
                </a:ln>
                <a:solidFill>
                  <a:srgbClr val="0087DC"/>
                </a:solidFill>
                <a:effectLst/>
                <a:uLnTx/>
                <a:uFillTx/>
                <a:latin typeface="Arial"/>
                <a:ea typeface="Microsoft JhengHei"/>
                <a:cs typeface="+mj-cs"/>
              </a:rPr>
              <a:t>數據中台</a:t>
            </a:r>
            <a:r>
              <a:rPr kumimoji="0" lang="en-US" altLang="zh-TW" sz="2800" b="1" i="0" u="none" strike="noStrike" kern="1200" cap="none" spc="0" normalizeH="0" baseline="0" noProof="0">
                <a:ln>
                  <a:noFill/>
                </a:ln>
                <a:solidFill>
                  <a:srgbClr val="0087DC"/>
                </a:solidFill>
                <a:effectLst/>
                <a:uLnTx/>
                <a:uFillTx/>
                <a:latin typeface="Arial"/>
                <a:ea typeface="Microsoft JhengHei"/>
                <a:cs typeface="+mj-cs"/>
              </a:rPr>
              <a:t>POC1</a:t>
            </a:r>
            <a:endParaRPr kumimoji="0" lang="zh-TW" altLang="en-US" sz="2800" b="1" i="0" u="none" strike="noStrike" kern="1200" cap="none" spc="0" normalizeH="0" baseline="0" noProof="0">
              <a:ln>
                <a:noFill/>
              </a:ln>
              <a:solidFill>
                <a:srgbClr val="0087DC"/>
              </a:solidFill>
              <a:effectLst/>
              <a:uLnTx/>
              <a:uFillTx/>
              <a:latin typeface="Arial"/>
              <a:ea typeface="Microsoft JhengHei"/>
              <a:cs typeface="+mj-cs"/>
            </a:endParaRPr>
          </a:p>
        </p:txBody>
      </p:sp>
      <p:sp>
        <p:nvSpPr>
          <p:cNvPr id="46" name="標題 1">
            <a:extLst>
              <a:ext uri="{FF2B5EF4-FFF2-40B4-BE49-F238E27FC236}">
                <a16:creationId xmlns:a16="http://schemas.microsoft.com/office/drawing/2014/main" id="{187F4E4E-DCA3-E6B3-C3C4-80507FE13763}"/>
              </a:ext>
            </a:extLst>
          </p:cNvPr>
          <p:cNvSpPr txBox="1">
            <a:spLocks/>
          </p:cNvSpPr>
          <p:nvPr/>
        </p:nvSpPr>
        <p:spPr>
          <a:xfrm>
            <a:off x="9616189" y="186908"/>
            <a:ext cx="2271011" cy="492488"/>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lnSpc>
                <a:spcPct val="100000"/>
              </a:lnSpc>
            </a:pPr>
            <a:r>
              <a:rPr lang="zh-CN" altLang="en-US" sz="1200">
                <a:solidFill>
                  <a:schemeClr val="tx1"/>
                </a:solidFill>
                <a:latin typeface="+mn-ea"/>
                <a:ea typeface="+mn-ea"/>
              </a:rPr>
              <a:t>專案屬性：</a:t>
            </a:r>
            <a:r>
              <a:rPr lang="en-US" altLang="zh-CN" sz="1200" b="0">
                <a:solidFill>
                  <a:srgbClr val="C00000"/>
                </a:solidFill>
                <a:ea typeface="+mn-ea"/>
              </a:rPr>
              <a:t>General Solution</a:t>
            </a:r>
          </a:p>
          <a:p>
            <a:pPr algn="l">
              <a:lnSpc>
                <a:spcPct val="100000"/>
              </a:lnSpc>
            </a:pPr>
            <a:r>
              <a:rPr lang="zh-CN" altLang="en-US" sz="1200">
                <a:solidFill>
                  <a:schemeClr val="tx1"/>
                </a:solidFill>
                <a:latin typeface="+mn-ea"/>
                <a:ea typeface="+mn-ea"/>
              </a:rPr>
              <a:t>專案編號：</a:t>
            </a:r>
            <a:r>
              <a:rPr lang="en-US" altLang="zh-CN" sz="1200" b="0">
                <a:solidFill>
                  <a:srgbClr val="C00000"/>
                </a:solidFill>
                <a:ea typeface="+mn-ea"/>
              </a:rPr>
              <a:t>PM</a:t>
            </a:r>
            <a:r>
              <a:rPr lang="en-US" altLang="zh-TW" sz="1200" b="0">
                <a:solidFill>
                  <a:srgbClr val="C00000"/>
                </a:solidFill>
                <a:ea typeface="+mn-ea"/>
              </a:rPr>
              <a:t>6W3</a:t>
            </a:r>
            <a:endParaRPr lang="en-US" sz="1200" b="0">
              <a:solidFill>
                <a:srgbClr val="C00000"/>
              </a:solidFill>
              <a:ea typeface="+mn-ea"/>
            </a:endParaRPr>
          </a:p>
        </p:txBody>
      </p:sp>
      <p:sp>
        <p:nvSpPr>
          <p:cNvPr id="47" name="標題 1">
            <a:extLst>
              <a:ext uri="{FF2B5EF4-FFF2-40B4-BE49-F238E27FC236}">
                <a16:creationId xmlns:a16="http://schemas.microsoft.com/office/drawing/2014/main" id="{3ECED9ED-A611-4F10-5239-1A016A0A9FF2}"/>
              </a:ext>
            </a:extLst>
          </p:cNvPr>
          <p:cNvSpPr txBox="1">
            <a:spLocks/>
          </p:cNvSpPr>
          <p:nvPr/>
        </p:nvSpPr>
        <p:spPr>
          <a:xfrm>
            <a:off x="392185" y="301369"/>
            <a:ext cx="1760293" cy="358479"/>
          </a:xfrm>
          <a:prstGeom prst="rect">
            <a:avLst/>
          </a:prstGeom>
        </p:spPr>
        <p:txBody>
          <a:bodyPr vert="horz" lIns="0" tIns="45720" rIns="0" bIns="45720" rtlCol="0" anchor="ctr">
            <a:normAutofit/>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CN" sz="1400">
                <a:solidFill>
                  <a:schemeClr val="tx1"/>
                </a:solidFill>
                <a:latin typeface="+mj-lt"/>
                <a:ea typeface="+mn-ea"/>
              </a:rPr>
              <a:t>PO/PM</a:t>
            </a:r>
            <a:r>
              <a:rPr lang="zh-CN" altLang="en-US" sz="1400">
                <a:solidFill>
                  <a:schemeClr val="tx1"/>
                </a:solidFill>
                <a:latin typeface="+mj-lt"/>
                <a:ea typeface="+mn-ea"/>
              </a:rPr>
              <a:t>：</a:t>
            </a:r>
            <a:r>
              <a:rPr lang="zh-TW" altLang="en-US" sz="1400">
                <a:solidFill>
                  <a:srgbClr val="C00000"/>
                </a:solidFill>
                <a:latin typeface="+mj-lt"/>
                <a:ea typeface="+mn-ea"/>
              </a:rPr>
              <a:t>孫得皓</a:t>
            </a:r>
            <a:endParaRPr lang="en-US" sz="1400">
              <a:solidFill>
                <a:srgbClr val="C00000"/>
              </a:solidFill>
              <a:latin typeface="+mj-lt"/>
              <a:ea typeface="+mn-ea"/>
            </a:endParaRPr>
          </a:p>
        </p:txBody>
      </p:sp>
      <p:sp>
        <p:nvSpPr>
          <p:cNvPr id="48" name="文字方塊 47">
            <a:extLst>
              <a:ext uri="{FF2B5EF4-FFF2-40B4-BE49-F238E27FC236}">
                <a16:creationId xmlns:a16="http://schemas.microsoft.com/office/drawing/2014/main" id="{93CB214D-76AA-7201-6E93-A96D3F0EE216}"/>
              </a:ext>
            </a:extLst>
          </p:cNvPr>
          <p:cNvSpPr txBox="1"/>
          <p:nvPr/>
        </p:nvSpPr>
        <p:spPr>
          <a:xfrm>
            <a:off x="347135" y="863598"/>
            <a:ext cx="3268133" cy="461665"/>
          </a:xfrm>
          <a:prstGeom prst="rect">
            <a:avLst/>
          </a:prstGeom>
          <a:noFill/>
        </p:spPr>
        <p:txBody>
          <a:bodyPr wrap="square" rtlCol="0">
            <a:spAutoFit/>
          </a:bodyPr>
          <a:lstStyle/>
          <a:p>
            <a:r>
              <a:rPr lang="en-US" altLang="zh-TW" sz="1200" b="1">
                <a:solidFill>
                  <a:srgbClr val="0070C0"/>
                </a:solidFill>
              </a:rPr>
              <a:t>D</a:t>
            </a:r>
            <a:r>
              <a:rPr lang="en-US" altLang="zh-CN" sz="1200" b="1">
                <a:solidFill>
                  <a:srgbClr val="0070C0"/>
                </a:solidFill>
              </a:rPr>
              <a:t>escription of Project / Product</a:t>
            </a:r>
            <a:br>
              <a:rPr lang="en-US" altLang="zh-CN" sz="1200" b="1">
                <a:solidFill>
                  <a:srgbClr val="0070C0"/>
                </a:solidFill>
              </a:rPr>
            </a:br>
            <a:r>
              <a:rPr lang="zh-CN" altLang="en-US" sz="1200" b="1">
                <a:solidFill>
                  <a:srgbClr val="0070C0"/>
                </a:solidFill>
                <a:latin typeface="+mn-ea"/>
              </a:rPr>
              <a:t>專案</a:t>
            </a:r>
            <a:r>
              <a:rPr lang="en-US" altLang="zh-CN" sz="1200" b="1">
                <a:solidFill>
                  <a:srgbClr val="0070C0"/>
                </a:solidFill>
                <a:latin typeface="+mn-ea"/>
              </a:rPr>
              <a:t>/</a:t>
            </a:r>
            <a:r>
              <a:rPr lang="zh-CN" altLang="en-US" sz="1200" b="1">
                <a:solidFill>
                  <a:srgbClr val="0070C0"/>
                </a:solidFill>
                <a:latin typeface="+mn-ea"/>
              </a:rPr>
              <a:t>產品描述 </a:t>
            </a:r>
            <a:r>
              <a:rPr lang="en-US" altLang="zh-CN" sz="1200" b="1">
                <a:solidFill>
                  <a:srgbClr val="0070C0"/>
                </a:solidFill>
                <a:latin typeface="+mn-ea"/>
              </a:rPr>
              <a:t> </a:t>
            </a:r>
            <a:endParaRPr lang="zh-TW" altLang="en-US" sz="1200" b="1">
              <a:solidFill>
                <a:srgbClr val="0070C0"/>
              </a:solidFill>
              <a:latin typeface="+mn-ea"/>
            </a:endParaRPr>
          </a:p>
        </p:txBody>
      </p:sp>
      <p:sp>
        <p:nvSpPr>
          <p:cNvPr id="49" name="文字方塊 48">
            <a:extLst>
              <a:ext uri="{FF2B5EF4-FFF2-40B4-BE49-F238E27FC236}">
                <a16:creationId xmlns:a16="http://schemas.microsoft.com/office/drawing/2014/main" id="{7379A869-7EC9-13D9-9195-91A33E31BA44}"/>
              </a:ext>
            </a:extLst>
          </p:cNvPr>
          <p:cNvSpPr txBox="1"/>
          <p:nvPr/>
        </p:nvSpPr>
        <p:spPr>
          <a:xfrm>
            <a:off x="4284132" y="863598"/>
            <a:ext cx="4021668" cy="461665"/>
          </a:xfrm>
          <a:prstGeom prst="rect">
            <a:avLst/>
          </a:prstGeom>
          <a:noFill/>
        </p:spPr>
        <p:txBody>
          <a:bodyPr wrap="square" rtlCol="0">
            <a:spAutoFit/>
          </a:bodyPr>
          <a:lstStyle/>
          <a:p>
            <a:r>
              <a:rPr lang="en-US" altLang="zh-CN" sz="1200" b="1">
                <a:solidFill>
                  <a:srgbClr val="0070C0"/>
                </a:solidFill>
              </a:rPr>
              <a:t>Technology / </a:t>
            </a:r>
            <a:r>
              <a:rPr lang="en-US" altLang="zh-TW" sz="1200" b="1">
                <a:solidFill>
                  <a:srgbClr val="0070C0"/>
                </a:solidFill>
              </a:rPr>
              <a:t>S</a:t>
            </a:r>
            <a:r>
              <a:rPr lang="en-US" altLang="zh-CN" sz="1200" b="1">
                <a:solidFill>
                  <a:srgbClr val="0070C0"/>
                </a:solidFill>
              </a:rPr>
              <a:t>olution</a:t>
            </a:r>
          </a:p>
          <a:p>
            <a:r>
              <a:rPr lang="zh-CN" altLang="en-US" sz="1200" b="1">
                <a:solidFill>
                  <a:srgbClr val="0070C0"/>
                </a:solidFill>
                <a:latin typeface="+mn-ea"/>
              </a:rPr>
              <a:t>技術 </a:t>
            </a:r>
            <a:r>
              <a:rPr lang="en-US" altLang="zh-CN" sz="1200" b="1">
                <a:solidFill>
                  <a:srgbClr val="0070C0"/>
                </a:solidFill>
                <a:latin typeface="+mn-ea"/>
              </a:rPr>
              <a:t>/ </a:t>
            </a:r>
            <a:r>
              <a:rPr lang="zh-CN" altLang="en-US" sz="1200" b="1">
                <a:solidFill>
                  <a:srgbClr val="0070C0"/>
                </a:solidFill>
                <a:latin typeface="+mn-ea"/>
              </a:rPr>
              <a:t>解決方案</a:t>
            </a:r>
            <a:endParaRPr lang="zh-TW" altLang="en-US" sz="1200" b="1">
              <a:solidFill>
                <a:srgbClr val="0070C0"/>
              </a:solidFill>
              <a:latin typeface="+mn-ea"/>
            </a:endParaRPr>
          </a:p>
        </p:txBody>
      </p:sp>
      <p:cxnSp>
        <p:nvCxnSpPr>
          <p:cNvPr id="50" name="直接连接符 73">
            <a:extLst>
              <a:ext uri="{FF2B5EF4-FFF2-40B4-BE49-F238E27FC236}">
                <a16:creationId xmlns:a16="http://schemas.microsoft.com/office/drawing/2014/main" id="{DF565059-2CD4-581E-79F3-A6D864B868C3}"/>
              </a:ext>
            </a:extLst>
          </p:cNvPr>
          <p:cNvCxnSpPr>
            <a:cxnSpLocks/>
          </p:cNvCxnSpPr>
          <p:nvPr/>
        </p:nvCxnSpPr>
        <p:spPr>
          <a:xfrm flipH="1">
            <a:off x="372534" y="1321687"/>
            <a:ext cx="3456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1" name="直接连接符 73">
            <a:extLst>
              <a:ext uri="{FF2B5EF4-FFF2-40B4-BE49-F238E27FC236}">
                <a16:creationId xmlns:a16="http://schemas.microsoft.com/office/drawing/2014/main" id="{6ED214C7-754B-8AF2-C326-FDCB9B3E7DD6}"/>
              </a:ext>
            </a:extLst>
          </p:cNvPr>
          <p:cNvCxnSpPr>
            <a:cxnSpLocks/>
          </p:cNvCxnSpPr>
          <p:nvPr/>
        </p:nvCxnSpPr>
        <p:spPr>
          <a:xfrm flipH="1">
            <a:off x="4356099" y="1321687"/>
            <a:ext cx="3168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7AEAF42F-1964-F9DD-CCE9-E0745D9A6931}"/>
              </a:ext>
            </a:extLst>
          </p:cNvPr>
          <p:cNvSpPr txBox="1"/>
          <p:nvPr/>
        </p:nvSpPr>
        <p:spPr>
          <a:xfrm>
            <a:off x="8178799" y="863598"/>
            <a:ext cx="3191934" cy="461665"/>
          </a:xfrm>
          <a:prstGeom prst="rect">
            <a:avLst/>
          </a:prstGeom>
          <a:noFill/>
        </p:spPr>
        <p:txBody>
          <a:bodyPr wrap="square" rtlCol="0">
            <a:spAutoFit/>
          </a:bodyPr>
          <a:lstStyle/>
          <a:p>
            <a:r>
              <a:rPr lang="en-US" altLang="zh-CN" sz="1200" b="1">
                <a:solidFill>
                  <a:srgbClr val="0070C0"/>
                </a:solidFill>
              </a:rPr>
              <a:t>Current Progress</a:t>
            </a:r>
            <a:br>
              <a:rPr lang="en-US" altLang="zh-CN" sz="1200" b="1">
                <a:solidFill>
                  <a:srgbClr val="0070C0"/>
                </a:solidFill>
              </a:rPr>
            </a:br>
            <a:r>
              <a:rPr lang="zh-CN" altLang="en-US" sz="1200" b="1">
                <a:solidFill>
                  <a:srgbClr val="0070C0"/>
                </a:solidFill>
              </a:rPr>
              <a:t>當前進度</a:t>
            </a:r>
            <a:endParaRPr lang="zh-TW" altLang="en-US" sz="1200" b="1">
              <a:solidFill>
                <a:srgbClr val="0070C0"/>
              </a:solidFill>
            </a:endParaRPr>
          </a:p>
        </p:txBody>
      </p:sp>
      <p:cxnSp>
        <p:nvCxnSpPr>
          <p:cNvPr id="53" name="直接连接符 73">
            <a:extLst>
              <a:ext uri="{FF2B5EF4-FFF2-40B4-BE49-F238E27FC236}">
                <a16:creationId xmlns:a16="http://schemas.microsoft.com/office/drawing/2014/main" id="{5DBB90DC-3D67-E1ED-ABFD-430B4F3A84C4}"/>
              </a:ext>
            </a:extLst>
          </p:cNvPr>
          <p:cNvCxnSpPr>
            <a:cxnSpLocks/>
          </p:cNvCxnSpPr>
          <p:nvPr/>
        </p:nvCxnSpPr>
        <p:spPr>
          <a:xfrm flipH="1">
            <a:off x="8250766" y="1321687"/>
            <a:ext cx="2921002"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4" name="文字方塊 53">
            <a:extLst>
              <a:ext uri="{FF2B5EF4-FFF2-40B4-BE49-F238E27FC236}">
                <a16:creationId xmlns:a16="http://schemas.microsoft.com/office/drawing/2014/main" id="{B90803F6-C37C-A02A-1714-6E5A70170556}"/>
              </a:ext>
            </a:extLst>
          </p:cNvPr>
          <p:cNvSpPr txBox="1"/>
          <p:nvPr/>
        </p:nvSpPr>
        <p:spPr>
          <a:xfrm>
            <a:off x="4191138" y="4317998"/>
            <a:ext cx="3268133" cy="461665"/>
          </a:xfrm>
          <a:prstGeom prst="rect">
            <a:avLst/>
          </a:prstGeom>
          <a:noFill/>
        </p:spPr>
        <p:txBody>
          <a:bodyPr wrap="square" rtlCol="0">
            <a:spAutoFit/>
          </a:bodyPr>
          <a:lstStyle/>
          <a:p>
            <a:r>
              <a:rPr lang="en-US" altLang="zh-TW" sz="1200" b="1">
                <a:solidFill>
                  <a:srgbClr val="0070C0"/>
                </a:solidFill>
              </a:rPr>
              <a:t>0~1 / 1~N</a:t>
            </a:r>
            <a:r>
              <a:rPr lang="en-US" altLang="zh-CN" sz="1200" b="1">
                <a:solidFill>
                  <a:srgbClr val="0070C0"/>
                </a:solidFill>
              </a:rPr>
              <a:t>  Scope &amp; Progress</a:t>
            </a:r>
            <a:br>
              <a:rPr lang="en-US" altLang="zh-CN" sz="1200" b="1">
                <a:solidFill>
                  <a:srgbClr val="0070C0"/>
                </a:solidFill>
              </a:rPr>
            </a:br>
            <a:r>
              <a:rPr lang="zh-CN" altLang="en-US" sz="1200" b="1">
                <a:solidFill>
                  <a:srgbClr val="0070C0"/>
                </a:solidFill>
                <a:latin typeface="+mn-ea"/>
              </a:rPr>
              <a:t>推廣範疇及進度 </a:t>
            </a:r>
            <a:r>
              <a:rPr lang="en-US" altLang="zh-CN" sz="1200" b="1">
                <a:solidFill>
                  <a:srgbClr val="0070C0"/>
                </a:solidFill>
                <a:latin typeface="+mn-ea"/>
              </a:rPr>
              <a:t> </a:t>
            </a:r>
            <a:endParaRPr lang="zh-TW" altLang="en-US" sz="1200" b="1">
              <a:solidFill>
                <a:srgbClr val="0070C0"/>
              </a:solidFill>
              <a:latin typeface="+mn-ea"/>
            </a:endParaRPr>
          </a:p>
        </p:txBody>
      </p:sp>
      <p:sp>
        <p:nvSpPr>
          <p:cNvPr id="55" name="文字方塊 54">
            <a:extLst>
              <a:ext uri="{FF2B5EF4-FFF2-40B4-BE49-F238E27FC236}">
                <a16:creationId xmlns:a16="http://schemas.microsoft.com/office/drawing/2014/main" id="{31DA5FE9-A78B-4FFE-00F7-D713722A4219}"/>
              </a:ext>
            </a:extLst>
          </p:cNvPr>
          <p:cNvSpPr txBox="1"/>
          <p:nvPr/>
        </p:nvSpPr>
        <p:spPr>
          <a:xfrm>
            <a:off x="8128135" y="3591425"/>
            <a:ext cx="4021668" cy="461665"/>
          </a:xfrm>
          <a:prstGeom prst="rect">
            <a:avLst/>
          </a:prstGeom>
          <a:noFill/>
        </p:spPr>
        <p:txBody>
          <a:bodyPr wrap="square" rtlCol="0">
            <a:spAutoFit/>
          </a:bodyPr>
          <a:lstStyle/>
          <a:p>
            <a:r>
              <a:rPr lang="en-US" altLang="zh-CN" sz="1200" b="1">
                <a:solidFill>
                  <a:srgbClr val="0070C0"/>
                </a:solidFill>
              </a:rPr>
              <a:t>Impact / Benefit </a:t>
            </a:r>
          </a:p>
          <a:p>
            <a:r>
              <a:rPr lang="zh-CN" altLang="en-US" sz="1200" b="1">
                <a:solidFill>
                  <a:srgbClr val="0070C0"/>
                </a:solidFill>
                <a:latin typeface="+mn-ea"/>
              </a:rPr>
              <a:t>產生的影響</a:t>
            </a:r>
            <a:r>
              <a:rPr lang="en-US" altLang="zh-CN" sz="1200" b="1">
                <a:solidFill>
                  <a:srgbClr val="0070C0"/>
                </a:solidFill>
                <a:latin typeface="+mn-ea"/>
              </a:rPr>
              <a:t>/</a:t>
            </a:r>
            <a:r>
              <a:rPr lang="zh-CN" altLang="en-US" sz="1200" b="1">
                <a:solidFill>
                  <a:srgbClr val="0070C0"/>
                </a:solidFill>
                <a:latin typeface="+mn-ea"/>
              </a:rPr>
              <a:t>收益</a:t>
            </a:r>
            <a:endParaRPr lang="zh-TW" altLang="en-US" sz="1200" b="1">
              <a:solidFill>
                <a:srgbClr val="0070C0"/>
              </a:solidFill>
              <a:latin typeface="+mn-ea"/>
            </a:endParaRPr>
          </a:p>
        </p:txBody>
      </p:sp>
      <p:cxnSp>
        <p:nvCxnSpPr>
          <p:cNvPr id="56" name="直接连接符 73">
            <a:extLst>
              <a:ext uri="{FF2B5EF4-FFF2-40B4-BE49-F238E27FC236}">
                <a16:creationId xmlns:a16="http://schemas.microsoft.com/office/drawing/2014/main" id="{786F0158-95C3-FA76-E0C5-D8C8E0A7D8F7}"/>
              </a:ext>
            </a:extLst>
          </p:cNvPr>
          <p:cNvCxnSpPr>
            <a:cxnSpLocks/>
          </p:cNvCxnSpPr>
          <p:nvPr/>
        </p:nvCxnSpPr>
        <p:spPr>
          <a:xfrm flipH="1">
            <a:off x="4216537" y="4776087"/>
            <a:ext cx="3456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直接连接符 73">
            <a:extLst>
              <a:ext uri="{FF2B5EF4-FFF2-40B4-BE49-F238E27FC236}">
                <a16:creationId xmlns:a16="http://schemas.microsoft.com/office/drawing/2014/main" id="{D49CA74B-C7CF-CBA3-CDCD-3242C77D30FC}"/>
              </a:ext>
            </a:extLst>
          </p:cNvPr>
          <p:cNvCxnSpPr>
            <a:cxnSpLocks/>
          </p:cNvCxnSpPr>
          <p:nvPr/>
        </p:nvCxnSpPr>
        <p:spPr>
          <a:xfrm flipH="1">
            <a:off x="8200102" y="4049514"/>
            <a:ext cx="3168000"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46C73908-6702-974D-BDCF-58585618D753}"/>
              </a:ext>
            </a:extLst>
          </p:cNvPr>
          <p:cNvSpPr txBox="1"/>
          <p:nvPr/>
        </p:nvSpPr>
        <p:spPr>
          <a:xfrm>
            <a:off x="430108" y="4381762"/>
            <a:ext cx="3191934" cy="461665"/>
          </a:xfrm>
          <a:prstGeom prst="rect">
            <a:avLst/>
          </a:prstGeom>
          <a:noFill/>
        </p:spPr>
        <p:txBody>
          <a:bodyPr wrap="square" rtlCol="0">
            <a:spAutoFit/>
          </a:bodyPr>
          <a:lstStyle/>
          <a:p>
            <a:r>
              <a:rPr lang="en-US" altLang="zh-CN" sz="1200" b="1">
                <a:solidFill>
                  <a:srgbClr val="0070C0"/>
                </a:solidFill>
              </a:rPr>
              <a:t>Team</a:t>
            </a:r>
            <a:br>
              <a:rPr lang="en-US" altLang="zh-CN" sz="1200" b="1">
                <a:solidFill>
                  <a:srgbClr val="0070C0"/>
                </a:solidFill>
              </a:rPr>
            </a:br>
            <a:r>
              <a:rPr lang="zh-CN" altLang="en-US" sz="1200" b="1">
                <a:solidFill>
                  <a:srgbClr val="0070C0"/>
                </a:solidFill>
              </a:rPr>
              <a:t>團隊</a:t>
            </a:r>
            <a:endParaRPr lang="zh-TW" altLang="en-US" sz="1200" b="1">
              <a:solidFill>
                <a:srgbClr val="0070C0"/>
              </a:solidFill>
            </a:endParaRPr>
          </a:p>
        </p:txBody>
      </p:sp>
      <p:cxnSp>
        <p:nvCxnSpPr>
          <p:cNvPr id="59" name="直接连接符 73">
            <a:extLst>
              <a:ext uri="{FF2B5EF4-FFF2-40B4-BE49-F238E27FC236}">
                <a16:creationId xmlns:a16="http://schemas.microsoft.com/office/drawing/2014/main" id="{0C0DDE11-1652-FA65-AD52-568513F97689}"/>
              </a:ext>
            </a:extLst>
          </p:cNvPr>
          <p:cNvCxnSpPr>
            <a:cxnSpLocks/>
          </p:cNvCxnSpPr>
          <p:nvPr/>
        </p:nvCxnSpPr>
        <p:spPr>
          <a:xfrm flipH="1">
            <a:off x="379308" y="4839851"/>
            <a:ext cx="2921002" cy="0"/>
          </a:xfrm>
          <a:prstGeom prst="line">
            <a:avLst/>
          </a:prstGeom>
          <a:ln w="19050">
            <a:solidFill>
              <a:srgbClr val="0087DC"/>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aphicFrame>
        <p:nvGraphicFramePr>
          <p:cNvPr id="60" name="表格 59">
            <a:extLst>
              <a:ext uri="{FF2B5EF4-FFF2-40B4-BE49-F238E27FC236}">
                <a16:creationId xmlns:a16="http://schemas.microsoft.com/office/drawing/2014/main" id="{A678E1AF-2757-7F76-B524-57F52ED01512}"/>
              </a:ext>
            </a:extLst>
          </p:cNvPr>
          <p:cNvGraphicFramePr>
            <a:graphicFrameLocks noGrp="1"/>
          </p:cNvGraphicFramePr>
          <p:nvPr/>
        </p:nvGraphicFramePr>
        <p:xfrm>
          <a:off x="8250766" y="4693380"/>
          <a:ext cx="3216925" cy="1573560"/>
        </p:xfrm>
        <a:graphic>
          <a:graphicData uri="http://schemas.openxmlformats.org/drawingml/2006/table">
            <a:tbl>
              <a:tblPr firstRow="1" bandCol="1">
                <a:tableStyleId>{3B4B98B0-60AC-42C2-AFA5-B58CD77FA1E5}</a:tableStyleId>
              </a:tblPr>
              <a:tblGrid>
                <a:gridCol w="2356138">
                  <a:extLst>
                    <a:ext uri="{9D8B030D-6E8A-4147-A177-3AD203B41FA5}">
                      <a16:colId xmlns:a16="http://schemas.microsoft.com/office/drawing/2014/main" val="3601475834"/>
                    </a:ext>
                  </a:extLst>
                </a:gridCol>
                <a:gridCol w="860787">
                  <a:extLst>
                    <a:ext uri="{9D8B030D-6E8A-4147-A177-3AD203B41FA5}">
                      <a16:colId xmlns:a16="http://schemas.microsoft.com/office/drawing/2014/main" val="3963661121"/>
                    </a:ext>
                  </a:extLst>
                </a:gridCol>
              </a:tblGrid>
              <a:tr h="375360">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zh-CN" altLang="en-US" sz="1200" b="1" kern="1200" baseline="0">
                          <a:solidFill>
                            <a:schemeClr val="tx1"/>
                          </a:solidFill>
                          <a:latin typeface="Arial" panose="020B0604020202020204" pitchFamily="34" charset="0"/>
                          <a:ea typeface="+mn-ea"/>
                          <a:cs typeface="Arial" panose="020B0604020202020204" pitchFamily="34" charset="0"/>
                        </a:rPr>
                        <a:t>項目</a:t>
                      </a:r>
                    </a:p>
                  </a:txBody>
                  <a:tcPr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algn="ctr"/>
                      <a:r>
                        <a:rPr lang="zh-CN" altLang="en-US" sz="1200" b="1" kern="1200" baseline="0">
                          <a:solidFill>
                            <a:schemeClr val="tx1"/>
                          </a:solidFill>
                          <a:latin typeface="Arial" panose="020B0604020202020204" pitchFamily="34" charset="0"/>
                          <a:ea typeface="+mn-ea"/>
                          <a:cs typeface="Arial" panose="020B0604020202020204" pitchFamily="34" charset="0"/>
                        </a:rPr>
                        <a:t>效益 </a:t>
                      </a:r>
                      <a:r>
                        <a:rPr lang="en-US" altLang="zh-CN" sz="1000" b="0" kern="1200" baseline="0">
                          <a:solidFill>
                            <a:schemeClr val="tx1"/>
                          </a:solidFill>
                          <a:latin typeface="Arial" panose="020B0604020202020204" pitchFamily="34" charset="0"/>
                          <a:ea typeface="+mn-ea"/>
                          <a:cs typeface="Arial" panose="020B0604020202020204" pitchFamily="34" charset="0"/>
                        </a:rPr>
                        <a:t>(KUSD)</a:t>
                      </a:r>
                      <a:endParaRPr lang="zh-CN" altLang="en-US" sz="1200" b="0" kern="1200" baseline="0">
                        <a:solidFill>
                          <a:schemeClr val="tx1"/>
                        </a:solidFill>
                        <a:latin typeface="Arial" panose="020B0604020202020204" pitchFamily="34" charset="0"/>
                        <a:ea typeface="+mn-ea"/>
                        <a:cs typeface="Arial" panose="020B0604020202020204" pitchFamily="34" charset="0"/>
                      </a:endParaRPr>
                    </a:p>
                  </a:txBody>
                  <a:tcPr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451199163"/>
                  </a:ext>
                </a:extLst>
              </a:tr>
              <a:tr h="210797">
                <a:tc>
                  <a:txBody>
                    <a:bodyPr/>
                    <a:lstStyle/>
                    <a:p>
                      <a:pPr marL="171450" indent="-171450" algn="l">
                        <a:buFont typeface="Arial" panose="020B0604020202020204" pitchFamily="34" charset="0"/>
                        <a:buChar char="•"/>
                      </a:pPr>
                      <a:r>
                        <a:rPr lang="zh-TW" altLang="en-US" sz="1100" b="0" kern="1200" baseline="0">
                          <a:solidFill>
                            <a:srgbClr val="0000CC"/>
                          </a:solidFill>
                          <a:latin typeface="+mj-lt"/>
                          <a:ea typeface="微软雅黑" panose="020B0503020204020204" pitchFamily="34" charset="-122"/>
                          <a:cs typeface="+mn-cs"/>
                        </a:rPr>
                        <a:t>每</a:t>
                      </a:r>
                      <a:r>
                        <a:rPr lang="en-US" altLang="zh-TW" sz="1100" b="0" kern="1200" baseline="0">
                          <a:solidFill>
                            <a:srgbClr val="0000CC"/>
                          </a:solidFill>
                          <a:latin typeface="+mj-lt"/>
                          <a:ea typeface="微软雅黑" panose="020B0503020204020204" pitchFamily="34" charset="-122"/>
                          <a:cs typeface="+mn-cs"/>
                        </a:rPr>
                        <a:t>Regin</a:t>
                      </a:r>
                      <a:r>
                        <a:rPr lang="zh-TW" altLang="en-US" sz="1100" b="0" kern="1200" baseline="0">
                          <a:solidFill>
                            <a:srgbClr val="0000CC"/>
                          </a:solidFill>
                          <a:latin typeface="+mj-lt"/>
                          <a:ea typeface="微软雅黑" panose="020B0503020204020204" pitchFamily="34" charset="-122"/>
                          <a:cs typeface="+mn-cs"/>
                        </a:rPr>
                        <a:t>建置</a:t>
                      </a:r>
                      <a:r>
                        <a:rPr lang="en-US" altLang="zh-TW" sz="1100" b="0" kern="1200" baseline="0">
                          <a:solidFill>
                            <a:srgbClr val="0000CC"/>
                          </a:solidFill>
                          <a:latin typeface="+mj-lt"/>
                          <a:ea typeface="微软雅黑" panose="020B0503020204020204" pitchFamily="34" charset="-122"/>
                          <a:cs typeface="+mn-cs"/>
                        </a:rPr>
                        <a:t>+</a:t>
                      </a:r>
                      <a:r>
                        <a:rPr lang="zh-TW" altLang="en-US" sz="1100" b="0" kern="1200" baseline="0">
                          <a:solidFill>
                            <a:srgbClr val="0000CC"/>
                          </a:solidFill>
                          <a:latin typeface="+mj-lt"/>
                          <a:ea typeface="微软雅黑" panose="020B0503020204020204" pitchFamily="34" charset="-122"/>
                          <a:cs typeface="+mn-cs"/>
                        </a:rPr>
                        <a:t>運行五年省下費用</a:t>
                      </a:r>
                      <a:r>
                        <a:rPr lang="en-US" altLang="zh-TW" sz="1100" b="0" kern="1200" baseline="0">
                          <a:solidFill>
                            <a:srgbClr val="0000CC"/>
                          </a:solidFill>
                          <a:latin typeface="+mj-lt"/>
                          <a:ea typeface="微软雅黑" panose="020B0503020204020204" pitchFamily="34" charset="-122"/>
                          <a:cs typeface="+mn-cs"/>
                        </a:rPr>
                        <a:t>*</a:t>
                      </a:r>
                      <a:endParaRPr lang="zh-CN" altLang="en-US" sz="1100" b="0" kern="1200" baseline="0">
                        <a:solidFill>
                          <a:srgbClr val="0000CC"/>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r>
                        <a:rPr lang="en-US" altLang="zh-TW" sz="1100" b="0" kern="1200" baseline="0">
                          <a:solidFill>
                            <a:srgbClr val="0000CC"/>
                          </a:solidFill>
                          <a:latin typeface="+mj-lt"/>
                          <a:ea typeface="微软雅黑" panose="020B0503020204020204" pitchFamily="34" charset="-122"/>
                          <a:cs typeface="+mn-cs"/>
                        </a:rPr>
                        <a:t>1,500</a:t>
                      </a:r>
                      <a:endParaRPr lang="zh-CN" altLang="en-US" sz="1100" b="0" kern="1200" baseline="0">
                        <a:solidFill>
                          <a:srgbClr val="0000CC"/>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450875191"/>
                  </a:ext>
                </a:extLst>
              </a:tr>
              <a:tr h="210797">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zh-TW" altLang="en-US" sz="1100" b="1" kern="1200">
                        <a:solidFill>
                          <a:srgbClr val="C00000"/>
                        </a:solidFill>
                        <a:latin typeface="+mn-lt"/>
                        <a:ea typeface="+mn-ea"/>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986226349"/>
                  </a:ext>
                </a:extLst>
              </a:tr>
              <a:tr h="210797">
                <a:tc>
                  <a:txBody>
                    <a:bodyPr/>
                    <a:lstStyle/>
                    <a:p>
                      <a:pPr algn="l"/>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835902117"/>
                  </a:ext>
                </a:extLst>
              </a:tr>
              <a:tr h="210797">
                <a:tc>
                  <a:txBody>
                    <a:bodyPr/>
                    <a:lstStyle/>
                    <a:p>
                      <a:pPr algn="l"/>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180464210"/>
                  </a:ext>
                </a:extLst>
              </a:tr>
              <a:tr h="210797">
                <a:tc>
                  <a:txBody>
                    <a:bodyPr/>
                    <a:lstStyle/>
                    <a:p>
                      <a:pPr algn="l"/>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a:endParaRPr lang="zh-CN" altLang="en-US" sz="1100" b="0" kern="1200" baseline="0">
                        <a:solidFill>
                          <a:schemeClr val="tx1"/>
                        </a:solidFill>
                        <a:latin typeface="+mj-lt"/>
                        <a:ea typeface="微软雅黑" panose="020B0503020204020204" pitchFamily="34" charset="-122"/>
                        <a:cs typeface="+mn-cs"/>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40761946"/>
                  </a:ext>
                </a:extLst>
              </a:tr>
            </a:tbl>
          </a:graphicData>
        </a:graphic>
      </p:graphicFrame>
      <p:graphicFrame>
        <p:nvGraphicFramePr>
          <p:cNvPr id="61" name="表格 60">
            <a:extLst>
              <a:ext uri="{FF2B5EF4-FFF2-40B4-BE49-F238E27FC236}">
                <a16:creationId xmlns:a16="http://schemas.microsoft.com/office/drawing/2014/main" id="{5D992D1C-3019-B58E-FFAD-D5C51B302508}"/>
              </a:ext>
            </a:extLst>
          </p:cNvPr>
          <p:cNvGraphicFramePr>
            <a:graphicFrameLocks noGrp="1"/>
          </p:cNvGraphicFramePr>
          <p:nvPr/>
        </p:nvGraphicFramePr>
        <p:xfrm>
          <a:off x="8118704" y="4339157"/>
          <a:ext cx="578271" cy="255079"/>
        </p:xfrm>
        <a:graphic>
          <a:graphicData uri="http://schemas.openxmlformats.org/drawingml/2006/table">
            <a:tbl>
              <a:tblPr firstRow="1">
                <a:tableStyleId>{5C22544A-7EE6-4342-B048-85BDC9FD1C3A}</a:tableStyleId>
              </a:tblPr>
              <a:tblGrid>
                <a:gridCol w="578271">
                  <a:extLst>
                    <a:ext uri="{9D8B030D-6E8A-4147-A177-3AD203B41FA5}">
                      <a16:colId xmlns:a16="http://schemas.microsoft.com/office/drawing/2014/main" val="1190386732"/>
                    </a:ext>
                  </a:extLst>
                </a:gridCol>
              </a:tblGrid>
              <a:tr h="255079">
                <a:tc>
                  <a:txBody>
                    <a:bodyPr/>
                    <a:lstStyle/>
                    <a:p>
                      <a:pPr algn="ctr">
                        <a:lnSpc>
                          <a:spcPct val="100000"/>
                        </a:lnSpc>
                      </a:pPr>
                      <a:r>
                        <a:rPr lang="en-US" altLang="zh-CN" sz="1200" b="1">
                          <a:solidFill>
                            <a:srgbClr val="0000CC"/>
                          </a:solidFill>
                          <a:latin typeface="+mj-lt"/>
                        </a:rPr>
                        <a:t>300</a:t>
                      </a: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2176631"/>
                  </a:ext>
                </a:extLst>
              </a:tr>
            </a:tbl>
          </a:graphicData>
        </a:graphic>
      </p:graphicFrame>
      <p:graphicFrame>
        <p:nvGraphicFramePr>
          <p:cNvPr id="62" name="表格 61">
            <a:extLst>
              <a:ext uri="{FF2B5EF4-FFF2-40B4-BE49-F238E27FC236}">
                <a16:creationId xmlns:a16="http://schemas.microsoft.com/office/drawing/2014/main" id="{46A35911-9FEC-056C-C184-34DAAE20CE97}"/>
              </a:ext>
            </a:extLst>
          </p:cNvPr>
          <p:cNvGraphicFramePr>
            <a:graphicFrameLocks noGrp="1"/>
          </p:cNvGraphicFramePr>
          <p:nvPr/>
        </p:nvGraphicFramePr>
        <p:xfrm>
          <a:off x="10428453" y="4360600"/>
          <a:ext cx="551305" cy="248997"/>
        </p:xfrm>
        <a:graphic>
          <a:graphicData uri="http://schemas.openxmlformats.org/drawingml/2006/table">
            <a:tbl>
              <a:tblPr firstRow="1">
                <a:tableStyleId>{5C22544A-7EE6-4342-B048-85BDC9FD1C3A}</a:tableStyleId>
              </a:tblPr>
              <a:tblGrid>
                <a:gridCol w="551305">
                  <a:extLst>
                    <a:ext uri="{9D8B030D-6E8A-4147-A177-3AD203B41FA5}">
                      <a16:colId xmlns:a16="http://schemas.microsoft.com/office/drawing/2014/main" val="1190386732"/>
                    </a:ext>
                  </a:extLst>
                </a:gridCol>
              </a:tblGrid>
              <a:tr h="248997">
                <a:tc>
                  <a:txBody>
                    <a:bodyPr/>
                    <a:lstStyle/>
                    <a:p>
                      <a:pPr algn="ctr">
                        <a:lnSpc>
                          <a:spcPct val="100000"/>
                        </a:lnSpc>
                      </a:pPr>
                      <a:endParaRPr lang="en-US" altLang="zh-CN" sz="1200" b="1">
                        <a:solidFill>
                          <a:srgbClr val="0000CC"/>
                        </a:solidFill>
                        <a:latin typeface="+mj-lt"/>
                      </a:endParaRPr>
                    </a:p>
                  </a:txBody>
                  <a:tcPr marL="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02176631"/>
                  </a:ext>
                </a:extLst>
              </a:tr>
            </a:tbl>
          </a:graphicData>
        </a:graphic>
      </p:graphicFrame>
      <p:sp>
        <p:nvSpPr>
          <p:cNvPr id="63" name="文本框 75">
            <a:extLst>
              <a:ext uri="{FF2B5EF4-FFF2-40B4-BE49-F238E27FC236}">
                <a16:creationId xmlns:a16="http://schemas.microsoft.com/office/drawing/2014/main" id="{23297034-0169-ADD4-0744-69F3BE3B256F}"/>
              </a:ext>
            </a:extLst>
          </p:cNvPr>
          <p:cNvSpPr txBox="1"/>
          <p:nvPr/>
        </p:nvSpPr>
        <p:spPr>
          <a:xfrm>
            <a:off x="9979690" y="4360734"/>
            <a:ext cx="603188" cy="332646"/>
          </a:xfrm>
          <a:prstGeom prst="rect">
            <a:avLst/>
          </a:prstGeom>
          <a:noFill/>
          <a:ln>
            <a:noFill/>
          </a:ln>
        </p:spPr>
        <p:txBody>
          <a:bodyPr wrap="square" rtlCol="0" anchor="t">
            <a:noAutofit/>
          </a:bodyPr>
          <a:lstStyle/>
          <a:p>
            <a:pPr>
              <a:lnSpc>
                <a:spcPct val="100000"/>
              </a:lnSpc>
            </a:pPr>
            <a:r>
              <a:rPr lang="en-US" altLang="zh-CN" sz="1200" b="1" kern="1200" baseline="0">
                <a:solidFill>
                  <a:schemeClr val="tx1"/>
                </a:solidFill>
                <a:latin typeface="+mj-lt"/>
                <a:ea typeface="微软雅黑" panose="020B0503020204020204" pitchFamily="34" charset="-122"/>
                <a:cs typeface="+mn-cs"/>
              </a:rPr>
              <a:t>ROI</a:t>
            </a:r>
            <a:r>
              <a:rPr lang="zh-CN" altLang="en-US" sz="1200" b="1" kern="1200" baseline="0">
                <a:solidFill>
                  <a:schemeClr val="tx1"/>
                </a:solidFill>
                <a:latin typeface="+mj-lt"/>
                <a:ea typeface="微软雅黑" panose="020B0503020204020204" pitchFamily="34" charset="-122"/>
                <a:cs typeface="+mn-cs"/>
              </a:rPr>
              <a:t>：</a:t>
            </a:r>
            <a:endParaRPr lang="en-US" altLang="zh-CN" sz="1200" b="1" kern="1200" baseline="0">
              <a:solidFill>
                <a:schemeClr val="tx1"/>
              </a:solidFill>
              <a:latin typeface="+mj-lt"/>
              <a:ea typeface="微软雅黑" panose="020B0503020204020204" pitchFamily="34" charset="-122"/>
              <a:cs typeface="+mn-cs"/>
            </a:endParaRPr>
          </a:p>
        </p:txBody>
      </p:sp>
      <p:sp>
        <p:nvSpPr>
          <p:cNvPr id="64" name="矩形 63">
            <a:extLst>
              <a:ext uri="{FF2B5EF4-FFF2-40B4-BE49-F238E27FC236}">
                <a16:creationId xmlns:a16="http://schemas.microsoft.com/office/drawing/2014/main" id="{908FC143-BB3A-DEF5-428C-280E3C815A49}"/>
              </a:ext>
            </a:extLst>
          </p:cNvPr>
          <p:cNvSpPr/>
          <p:nvPr/>
        </p:nvSpPr>
        <p:spPr>
          <a:xfrm>
            <a:off x="8652619" y="4333065"/>
            <a:ext cx="1500283" cy="276999"/>
          </a:xfrm>
          <a:prstGeom prst="rect">
            <a:avLst/>
          </a:prstGeom>
        </p:spPr>
        <p:txBody>
          <a:bodyPr wrap="non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KUSD/Year</a:t>
            </a:r>
            <a:r>
              <a:rPr lang="en-US" altLang="zh-CN" sz="1200" b="1">
                <a:ea typeface="微软雅黑" panose="020B0503020204020204" pitchFamily="34" charset="-122"/>
              </a:rPr>
              <a:t>/Regin</a:t>
            </a:r>
            <a:r>
              <a:rPr kumimoji="0" lang="en-US" altLang="zh-CN" sz="1200" b="1"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 </a:t>
            </a:r>
          </a:p>
        </p:txBody>
      </p:sp>
      <p:sp>
        <p:nvSpPr>
          <p:cNvPr id="65" name="矩形 64">
            <a:extLst>
              <a:ext uri="{FF2B5EF4-FFF2-40B4-BE49-F238E27FC236}">
                <a16:creationId xmlns:a16="http://schemas.microsoft.com/office/drawing/2014/main" id="{3656035A-9CBB-A7E3-7AC8-2A7963CB4C36}"/>
              </a:ext>
            </a:extLst>
          </p:cNvPr>
          <p:cNvSpPr/>
          <p:nvPr/>
        </p:nvSpPr>
        <p:spPr>
          <a:xfrm>
            <a:off x="10916387" y="4347027"/>
            <a:ext cx="551305" cy="276999"/>
          </a:xfrm>
          <a:prstGeom prst="rect">
            <a:avLst/>
          </a:prstGeom>
        </p:spPr>
        <p:txBody>
          <a:bodyPr wrap="none">
            <a:spAutoFit/>
          </a:bodyPr>
          <a:lstStyle/>
          <a:p>
            <a:r>
              <a:rPr kumimoji="0" lang="en-US" altLang="zh-CN" sz="1200" b="1"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Year</a:t>
            </a:r>
            <a:r>
              <a:rPr kumimoji="0" lang="en-US" altLang="zh-CN" sz="1200" b="0" i="0" u="none" strike="noStrike" kern="1200" cap="none" spc="0" normalizeH="0" baseline="0" noProof="0">
                <a:ln>
                  <a:noFill/>
                </a:ln>
                <a:solidFill>
                  <a:schemeClr val="tx1"/>
                </a:solidFill>
                <a:effectLst/>
                <a:uLnTx/>
                <a:uFillTx/>
                <a:latin typeface="+mn-lt"/>
                <a:ea typeface="微软雅黑" panose="020B0503020204020204" pitchFamily="34" charset="-122"/>
                <a:cs typeface="+mn-cs"/>
              </a:rPr>
              <a:t> </a:t>
            </a:r>
            <a:endParaRPr lang="zh-TW" altLang="en-US" b="0">
              <a:solidFill>
                <a:schemeClr val="tx1"/>
              </a:solidFill>
            </a:endParaRPr>
          </a:p>
        </p:txBody>
      </p:sp>
      <p:graphicFrame>
        <p:nvGraphicFramePr>
          <p:cNvPr id="66" name="表格 65">
            <a:extLst>
              <a:ext uri="{FF2B5EF4-FFF2-40B4-BE49-F238E27FC236}">
                <a16:creationId xmlns:a16="http://schemas.microsoft.com/office/drawing/2014/main" id="{54BAD7B0-BC60-2904-706C-D307A5385210}"/>
              </a:ext>
            </a:extLst>
          </p:cNvPr>
          <p:cNvGraphicFramePr>
            <a:graphicFrameLocks noGrp="1"/>
          </p:cNvGraphicFramePr>
          <p:nvPr>
            <p:extLst>
              <p:ext uri="{D42A27DB-BD31-4B8C-83A1-F6EECF244321}">
                <p14:modId xmlns:p14="http://schemas.microsoft.com/office/powerpoint/2010/main" val="3203233745"/>
              </p:ext>
            </p:extLst>
          </p:nvPr>
        </p:nvGraphicFramePr>
        <p:xfrm>
          <a:off x="270441" y="4848176"/>
          <a:ext cx="3242734" cy="1376274"/>
        </p:xfrm>
        <a:graphic>
          <a:graphicData uri="http://schemas.openxmlformats.org/drawingml/2006/table">
            <a:tbl>
              <a:tblPr firstRow="1">
                <a:tableStyleId>{3B4B98B0-60AC-42C2-AFA5-B58CD77FA1E5}</a:tableStyleId>
              </a:tblPr>
              <a:tblGrid>
                <a:gridCol w="671612">
                  <a:extLst>
                    <a:ext uri="{9D8B030D-6E8A-4147-A177-3AD203B41FA5}">
                      <a16:colId xmlns:a16="http://schemas.microsoft.com/office/drawing/2014/main" val="598168328"/>
                    </a:ext>
                  </a:extLst>
                </a:gridCol>
                <a:gridCol w="711266">
                  <a:extLst>
                    <a:ext uri="{9D8B030D-6E8A-4147-A177-3AD203B41FA5}">
                      <a16:colId xmlns:a16="http://schemas.microsoft.com/office/drawing/2014/main" val="4205264334"/>
                    </a:ext>
                  </a:extLst>
                </a:gridCol>
                <a:gridCol w="1859856">
                  <a:extLst>
                    <a:ext uri="{9D8B030D-6E8A-4147-A177-3AD203B41FA5}">
                      <a16:colId xmlns:a16="http://schemas.microsoft.com/office/drawing/2014/main" val="3996203012"/>
                    </a:ext>
                  </a:extLst>
                </a:gridCol>
              </a:tblGrid>
              <a:tr h="330748">
                <a:tc>
                  <a:txBody>
                    <a:bodyPr/>
                    <a:lstStyle/>
                    <a:p>
                      <a:pPr marL="0" algn="ctr" defTabSz="914377" rtl="0" eaLnBrk="1" latinLnBrk="0" hangingPunct="1"/>
                      <a:r>
                        <a:rPr lang="zh-CN" altLang="en-US" sz="1200" b="1" kern="1200">
                          <a:solidFill>
                            <a:schemeClr val="tx1"/>
                          </a:solidFill>
                          <a:latin typeface="+mn-ea"/>
                          <a:ea typeface="+mn-ea"/>
                          <a:cs typeface="+mn-cs"/>
                        </a:rPr>
                        <a:t>成員</a:t>
                      </a:r>
                      <a:endParaRPr lang="en-US" altLang="zh-TW" sz="1200" b="1" kern="1200">
                        <a:solidFill>
                          <a:schemeClr val="tx1"/>
                        </a:solidFill>
                        <a:latin typeface="+mn-ea"/>
                        <a:ea typeface="+mn-ea"/>
                        <a:cs typeface="+mn-cs"/>
                      </a:endParaRPr>
                    </a:p>
                  </a:txBody>
                  <a:tcPr marL="0" marR="0" marT="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gridSpan="2">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altLang="zh-TW" sz="1200" b="1" kern="1200">
                          <a:solidFill>
                            <a:schemeClr val="tx1"/>
                          </a:solidFill>
                          <a:latin typeface="Arial" panose="020B0604020202020204" pitchFamily="34" charset="0"/>
                          <a:ea typeface="+mn-ea"/>
                          <a:cs typeface="Arial" panose="020B0604020202020204" pitchFamily="34" charset="0"/>
                        </a:rPr>
                        <a:t>R&amp;R</a:t>
                      </a:r>
                      <a:endParaRPr lang="zh-TW" altLang="en-US" sz="1200" b="1" kern="1200">
                        <a:solidFill>
                          <a:schemeClr val="tx1"/>
                        </a:solidFill>
                        <a:latin typeface="Arial" panose="020B0604020202020204" pitchFamily="34" charset="0"/>
                        <a:ea typeface="+mn-ea"/>
                        <a:cs typeface="Arial" panose="020B0604020202020204" pitchFamily="34" charset="0"/>
                      </a:endParaRPr>
                    </a:p>
                  </a:txBody>
                  <a:tcPr marL="72000" marR="0" marT="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hMerge="1">
                  <a:txBody>
                    <a:bodyPr/>
                    <a:lstStyle/>
                    <a:p>
                      <a:pPr marL="0" marR="0" indent="0" algn="l" defTabSz="914377" rtl="0" eaLnBrk="1" fontAlgn="auto" latinLnBrk="0" hangingPunct="1">
                        <a:lnSpc>
                          <a:spcPct val="100000"/>
                        </a:lnSpc>
                        <a:spcBef>
                          <a:spcPts val="0"/>
                        </a:spcBef>
                        <a:spcAft>
                          <a:spcPts val="0"/>
                        </a:spcAft>
                        <a:buClrTx/>
                        <a:buSzTx/>
                        <a:buFontTx/>
                        <a:buNone/>
                        <a:tabLst/>
                        <a:defRPr/>
                      </a:pPr>
                      <a:endParaRPr lang="zh-TW" altLang="en-US" sz="1200" b="0" kern="1200">
                        <a:solidFill>
                          <a:schemeClr val="tx1"/>
                        </a:solidFill>
                        <a:latin typeface="微软雅黑" panose="020B0503020204020204" pitchFamily="34" charset="-122"/>
                        <a:ea typeface="微软雅黑" panose="020B0503020204020204" pitchFamily="34" charset="-122"/>
                        <a:cs typeface="+mn-cs"/>
                      </a:endParaRPr>
                    </a:p>
                  </a:txBody>
                  <a:tcPr marL="72000" marR="0" marT="0" marB="3600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tcPr>
                </a:tc>
                <a:extLst>
                  <a:ext uri="{0D108BD9-81ED-4DB2-BD59-A6C34878D82A}">
                    <a16:rowId xmlns:a16="http://schemas.microsoft.com/office/drawing/2014/main" val="1324693731"/>
                  </a:ext>
                </a:extLst>
              </a:tr>
              <a:tr h="330748">
                <a:tc>
                  <a:txBody>
                    <a:bodyPr/>
                    <a:lstStyle/>
                    <a:p>
                      <a:pPr algn="ctr"/>
                      <a:r>
                        <a:rPr lang="zh-TW" altLang="en-US" sz="1050" b="1">
                          <a:solidFill>
                            <a:srgbClr val="0000CC"/>
                          </a:solidFill>
                          <a:latin typeface="+mn-ea"/>
                          <a:ea typeface="+mn-ea"/>
                        </a:rPr>
                        <a:t>孫得皓</a:t>
                      </a:r>
                      <a:endParaRPr lang="zh-CN" altLang="en-US" sz="1050" b="1">
                        <a:solidFill>
                          <a:srgbClr val="0000CC"/>
                        </a:solidFill>
                        <a:latin typeface="+mn-ea"/>
                        <a:ea typeface="+mn-ea"/>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TW" sz="1050" b="1">
                          <a:solidFill>
                            <a:schemeClr val="tx1"/>
                          </a:solidFill>
                          <a:latin typeface="+mn-ea"/>
                          <a:ea typeface="+mn-ea"/>
                        </a:rPr>
                        <a:t>PM/</a:t>
                      </a:r>
                      <a:r>
                        <a:rPr lang="zh-TW" altLang="en-US" sz="1050" b="0">
                          <a:solidFill>
                            <a:schemeClr val="tx1"/>
                          </a:solidFill>
                          <a:latin typeface="+mn-ea"/>
                          <a:ea typeface="+mn-ea"/>
                        </a:rPr>
                        <a:t>技術架構</a:t>
                      </a:r>
                      <a:endParaRPr lang="zh-CN" altLang="en-US" sz="1050" b="0">
                        <a:solidFill>
                          <a:schemeClr val="tx1"/>
                        </a:solidFill>
                        <a:latin typeface="+mn-ea"/>
                        <a:ea typeface="+mn-ea"/>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algn="l"/>
                      <a:r>
                        <a:rPr lang="zh-TW" altLang="en-US" sz="1050" b="1">
                          <a:solidFill>
                            <a:srgbClr val="0000CC"/>
                          </a:solidFill>
                          <a:latin typeface="+mn-ea"/>
                          <a:ea typeface="+mn-ea"/>
                        </a:rPr>
                        <a:t>專案推展及架構規劃</a:t>
                      </a:r>
                      <a:endParaRPr lang="en-US" altLang="zh-CN" sz="1050" b="1">
                        <a:solidFill>
                          <a:srgbClr val="0000CC"/>
                        </a:solidFill>
                        <a:latin typeface="+mn-ea"/>
                        <a:ea typeface="+mn-ea"/>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24082158"/>
                  </a:ext>
                </a:extLst>
              </a:tr>
              <a:tr h="384030">
                <a:tc>
                  <a:txBody>
                    <a:bodyPr/>
                    <a:lstStyle/>
                    <a:p>
                      <a:pPr marL="0" algn="ctr" defTabSz="914377" rtl="0" eaLnBrk="1" latinLnBrk="0" hangingPunct="1"/>
                      <a:r>
                        <a:rPr lang="zh-TW" altLang="en-US" sz="1050" b="1" kern="1200">
                          <a:solidFill>
                            <a:srgbClr val="0000CC"/>
                          </a:solidFill>
                          <a:latin typeface="+mn-ea"/>
                          <a:ea typeface="+mn-ea"/>
                          <a:cs typeface="+mn-cs"/>
                        </a:rPr>
                        <a:t>賴詩涵</a:t>
                      </a:r>
                      <a:endParaRPr lang="zh-CN" altLang="en-US" sz="1050" b="1" kern="1200">
                        <a:solidFill>
                          <a:srgbClr val="0000CC"/>
                        </a:solidFill>
                        <a:latin typeface="+mn-ea"/>
                        <a:ea typeface="+mn-ea"/>
                        <a:cs typeface="+mn-cs"/>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zh-TW" altLang="en-US" sz="1050" b="0" i="0" u="none" strike="noStrike" kern="1200" cap="none" spc="0" normalizeH="0" baseline="0" noProof="0">
                          <a:ln>
                            <a:noFill/>
                          </a:ln>
                          <a:solidFill>
                            <a:prstClr val="black"/>
                          </a:solidFill>
                          <a:effectLst/>
                          <a:uLnTx/>
                          <a:uFillTx/>
                          <a:latin typeface="+mn-ea"/>
                          <a:ea typeface="+mn-ea"/>
                          <a:cs typeface="+mn-cs"/>
                        </a:rPr>
                        <a:t>執行</a:t>
                      </a:r>
                      <a:endParaRPr kumimoji="0" lang="zh-CN" altLang="en-US" sz="1050" b="0" i="0" u="none" strike="noStrike" kern="1200" cap="none" spc="0" normalizeH="0" baseline="0" noProof="0">
                        <a:ln>
                          <a:noFill/>
                        </a:ln>
                        <a:solidFill>
                          <a:prstClr val="black"/>
                        </a:solidFill>
                        <a:effectLst/>
                        <a:uLnTx/>
                        <a:uFillTx/>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050" b="1" kern="1200">
                          <a:solidFill>
                            <a:srgbClr val="0000CC"/>
                          </a:solidFill>
                          <a:latin typeface="+mn-ea"/>
                          <a:ea typeface="+mn-ea"/>
                          <a:cs typeface="+mn-cs"/>
                        </a:rPr>
                        <a:t>執行各解決方案測試</a:t>
                      </a:r>
                      <a:endParaRPr lang="zh-CN" altLang="en-US" sz="1050" b="1" kern="1200">
                        <a:solidFill>
                          <a:srgbClr val="0000CC"/>
                        </a:solidFill>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8872308"/>
                  </a:ext>
                </a:extLst>
              </a:tr>
              <a:tr h="330748">
                <a:tc>
                  <a:txBody>
                    <a:bodyPr/>
                    <a:lstStyle/>
                    <a:p>
                      <a:pPr marL="0" algn="ctr" defTabSz="914377" rtl="0" eaLnBrk="1" latinLnBrk="0" hangingPunct="1"/>
                      <a:r>
                        <a:rPr lang="zh-TW" altLang="en-US" sz="1050" b="1" kern="1200">
                          <a:solidFill>
                            <a:srgbClr val="0000CC"/>
                          </a:solidFill>
                          <a:latin typeface="+mn-ea"/>
                          <a:ea typeface="+mn-ea"/>
                          <a:cs typeface="+mn-cs"/>
                        </a:rPr>
                        <a:t>林采馨</a:t>
                      </a:r>
                      <a:endParaRPr lang="zh-CN" altLang="en-US" sz="1050" b="1" kern="1200">
                        <a:solidFill>
                          <a:srgbClr val="0000CC"/>
                        </a:solidFill>
                        <a:latin typeface="+mn-ea"/>
                        <a:ea typeface="+mn-ea"/>
                        <a:cs typeface="+mn-cs"/>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zh-TW" altLang="en-US" sz="1050" b="0" i="0" u="none" strike="noStrike" kern="1200" cap="none" spc="0" normalizeH="0" baseline="0" noProof="0">
                          <a:ln>
                            <a:noFill/>
                          </a:ln>
                          <a:solidFill>
                            <a:prstClr val="black"/>
                          </a:solidFill>
                          <a:effectLst/>
                          <a:uLnTx/>
                          <a:uFillTx/>
                          <a:latin typeface="+mn-ea"/>
                          <a:ea typeface="+mn-ea"/>
                          <a:cs typeface="+mn-cs"/>
                        </a:rPr>
                        <a:t>執行</a:t>
                      </a:r>
                      <a:endParaRPr kumimoji="0" lang="zh-CN" altLang="en-US" sz="1050" b="0" i="0" u="none" strike="noStrike" kern="1200" cap="none" spc="0" normalizeH="0" baseline="0" noProof="0">
                        <a:ln>
                          <a:noFill/>
                        </a:ln>
                        <a:solidFill>
                          <a:prstClr val="black"/>
                        </a:solidFill>
                        <a:effectLst/>
                        <a:uLnTx/>
                        <a:uFillTx/>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zh-TW" altLang="en-US" sz="1050" b="1" kern="1200">
                          <a:solidFill>
                            <a:srgbClr val="0000CC"/>
                          </a:solidFill>
                          <a:latin typeface="+mn-ea"/>
                          <a:ea typeface="+mn-ea"/>
                          <a:cs typeface="+mn-cs"/>
                        </a:rPr>
                        <a:t>執行各解決方案測試</a:t>
                      </a:r>
                      <a:endParaRPr lang="zh-CN" altLang="en-US" sz="1050" b="1" kern="1200">
                        <a:solidFill>
                          <a:srgbClr val="0000CC"/>
                        </a:solidFill>
                        <a:latin typeface="+mn-ea"/>
                        <a:ea typeface="+mn-ea"/>
                        <a:cs typeface="+mn-cs"/>
                      </a:endParaRPr>
                    </a:p>
                  </a:txBody>
                  <a:tcPr marL="7200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61874143"/>
                  </a:ext>
                </a:extLst>
              </a:tr>
            </a:tbl>
          </a:graphicData>
        </a:graphic>
      </p:graphicFrame>
      <p:pic>
        <p:nvPicPr>
          <p:cNvPr id="67" name="圖片 66">
            <a:extLst>
              <a:ext uri="{FF2B5EF4-FFF2-40B4-BE49-F238E27FC236}">
                <a16:creationId xmlns:a16="http://schemas.microsoft.com/office/drawing/2014/main" id="{570E3DDB-059F-0D80-9C00-B1179C395464}"/>
              </a:ext>
            </a:extLst>
          </p:cNvPr>
          <p:cNvPicPr>
            <a:picLocks noChangeAspect="1"/>
          </p:cNvPicPr>
          <p:nvPr/>
        </p:nvPicPr>
        <p:blipFill>
          <a:blip r:embed="rId2"/>
          <a:stretch>
            <a:fillRect/>
          </a:stretch>
        </p:blipFill>
        <p:spPr>
          <a:xfrm>
            <a:off x="446941" y="3042718"/>
            <a:ext cx="3066234" cy="1342702"/>
          </a:xfrm>
          <a:prstGeom prst="rect">
            <a:avLst/>
          </a:prstGeom>
        </p:spPr>
      </p:pic>
      <p:pic>
        <p:nvPicPr>
          <p:cNvPr id="68" name="圖片 67">
            <a:extLst>
              <a:ext uri="{FF2B5EF4-FFF2-40B4-BE49-F238E27FC236}">
                <a16:creationId xmlns:a16="http://schemas.microsoft.com/office/drawing/2014/main" id="{2F5338FA-3524-83CC-5C23-9411DD91F477}"/>
              </a:ext>
            </a:extLst>
          </p:cNvPr>
          <p:cNvPicPr>
            <a:picLocks noChangeAspect="1"/>
          </p:cNvPicPr>
          <p:nvPr/>
        </p:nvPicPr>
        <p:blipFill>
          <a:blip r:embed="rId3"/>
          <a:stretch>
            <a:fillRect/>
          </a:stretch>
        </p:blipFill>
        <p:spPr>
          <a:xfrm>
            <a:off x="4333098" y="2801427"/>
            <a:ext cx="1705594" cy="1247995"/>
          </a:xfrm>
          <a:prstGeom prst="rect">
            <a:avLst/>
          </a:prstGeom>
        </p:spPr>
      </p:pic>
      <p:grpSp>
        <p:nvGrpSpPr>
          <p:cNvPr id="69" name="群組 68">
            <a:extLst>
              <a:ext uri="{FF2B5EF4-FFF2-40B4-BE49-F238E27FC236}">
                <a16:creationId xmlns:a16="http://schemas.microsoft.com/office/drawing/2014/main" id="{B62597A7-D0F6-0298-0A03-8086C4F84496}"/>
              </a:ext>
            </a:extLst>
          </p:cNvPr>
          <p:cNvGrpSpPr/>
          <p:nvPr/>
        </p:nvGrpSpPr>
        <p:grpSpPr>
          <a:xfrm>
            <a:off x="6149186" y="2878902"/>
            <a:ext cx="1761903" cy="1093044"/>
            <a:chOff x="-400982" y="3058831"/>
            <a:chExt cx="2353514" cy="1460066"/>
          </a:xfrm>
        </p:grpSpPr>
        <p:pic>
          <p:nvPicPr>
            <p:cNvPr id="70" name="Picture 16" descr="upload.wikimedia.org/wikipedia/commons/thumb/3/39/...">
              <a:extLst>
                <a:ext uri="{FF2B5EF4-FFF2-40B4-BE49-F238E27FC236}">
                  <a16:creationId xmlns:a16="http://schemas.microsoft.com/office/drawing/2014/main" id="{C807CA21-509C-3B00-4E9D-1A5955365A1B}"/>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0494" y="3520531"/>
              <a:ext cx="502704" cy="487270"/>
            </a:xfrm>
            <a:prstGeom prst="rect">
              <a:avLst/>
            </a:prstGeom>
            <a:noFill/>
            <a:extLst>
              <a:ext uri="{909E8E84-426E-40DD-AFC4-6F175D3DCCD1}">
                <a14:hiddenFill xmlns:a14="http://schemas.microsoft.com/office/drawing/2010/main">
                  <a:solidFill>
                    <a:srgbClr val="FFFFFF"/>
                  </a:solidFill>
                </a14:hiddenFill>
              </a:ext>
            </a:extLst>
          </p:spPr>
        </p:pic>
        <p:pic>
          <p:nvPicPr>
            <p:cNvPr id="71" name="圖片 70">
              <a:extLst>
                <a:ext uri="{FF2B5EF4-FFF2-40B4-BE49-F238E27FC236}">
                  <a16:creationId xmlns:a16="http://schemas.microsoft.com/office/drawing/2014/main" id="{17064E6E-8FDD-B79B-B08F-E8B4DC04AF0D}"/>
                </a:ext>
              </a:extLst>
            </p:cNvPr>
            <p:cNvPicPr>
              <a:picLocks noChangeAspect="1"/>
            </p:cNvPicPr>
            <p:nvPr/>
          </p:nvPicPr>
          <p:blipFill>
            <a:blip r:embed="rId5"/>
            <a:stretch>
              <a:fillRect/>
            </a:stretch>
          </p:blipFill>
          <p:spPr>
            <a:xfrm>
              <a:off x="244800" y="3523537"/>
              <a:ext cx="454470" cy="505235"/>
            </a:xfrm>
            <a:prstGeom prst="rect">
              <a:avLst/>
            </a:prstGeom>
          </p:spPr>
        </p:pic>
        <p:pic>
          <p:nvPicPr>
            <p:cNvPr id="72" name="圖片 71">
              <a:extLst>
                <a:ext uri="{FF2B5EF4-FFF2-40B4-BE49-F238E27FC236}">
                  <a16:creationId xmlns:a16="http://schemas.microsoft.com/office/drawing/2014/main" id="{C199E509-222E-B265-F8D5-AB77CD7481F9}"/>
                </a:ext>
              </a:extLst>
            </p:cNvPr>
            <p:cNvPicPr>
              <a:picLocks noChangeAspect="1"/>
            </p:cNvPicPr>
            <p:nvPr/>
          </p:nvPicPr>
          <p:blipFill>
            <a:blip r:embed="rId6"/>
            <a:stretch>
              <a:fillRect/>
            </a:stretch>
          </p:blipFill>
          <p:spPr>
            <a:xfrm>
              <a:off x="-59227" y="4007801"/>
              <a:ext cx="447704" cy="511096"/>
            </a:xfrm>
            <a:prstGeom prst="rect">
              <a:avLst/>
            </a:prstGeom>
          </p:spPr>
        </p:pic>
        <p:pic>
          <p:nvPicPr>
            <p:cNvPr id="73" name="圖片 72">
              <a:extLst>
                <a:ext uri="{FF2B5EF4-FFF2-40B4-BE49-F238E27FC236}">
                  <a16:creationId xmlns:a16="http://schemas.microsoft.com/office/drawing/2014/main" id="{1ED425A8-6705-20F1-E73E-B882B4AB9032}"/>
                </a:ext>
              </a:extLst>
            </p:cNvPr>
            <p:cNvPicPr>
              <a:picLocks noChangeAspect="1"/>
            </p:cNvPicPr>
            <p:nvPr/>
          </p:nvPicPr>
          <p:blipFill>
            <a:blip r:embed="rId7"/>
            <a:stretch>
              <a:fillRect/>
            </a:stretch>
          </p:blipFill>
          <p:spPr>
            <a:xfrm>
              <a:off x="-400982" y="3564568"/>
              <a:ext cx="458760" cy="446016"/>
            </a:xfrm>
            <a:prstGeom prst="rect">
              <a:avLst/>
            </a:prstGeom>
          </p:spPr>
        </p:pic>
        <p:pic>
          <p:nvPicPr>
            <p:cNvPr id="74" name="圖片 73">
              <a:extLst>
                <a:ext uri="{FF2B5EF4-FFF2-40B4-BE49-F238E27FC236}">
                  <a16:creationId xmlns:a16="http://schemas.microsoft.com/office/drawing/2014/main" id="{9F1B38B5-5AFA-01C1-FA11-62CD0366DE89}"/>
                </a:ext>
              </a:extLst>
            </p:cNvPr>
            <p:cNvPicPr>
              <a:picLocks noChangeAspect="1"/>
            </p:cNvPicPr>
            <p:nvPr/>
          </p:nvPicPr>
          <p:blipFill>
            <a:blip r:embed="rId8"/>
            <a:stretch>
              <a:fillRect/>
            </a:stretch>
          </p:blipFill>
          <p:spPr>
            <a:xfrm>
              <a:off x="-48958" y="3067050"/>
              <a:ext cx="431629" cy="446016"/>
            </a:xfrm>
            <a:prstGeom prst="rect">
              <a:avLst/>
            </a:prstGeom>
            <a:ln>
              <a:solidFill>
                <a:schemeClr val="tx1"/>
              </a:solidFill>
            </a:ln>
          </p:spPr>
        </p:pic>
        <p:pic>
          <p:nvPicPr>
            <p:cNvPr id="75" name="Picture 10" descr="Compare Apache Doris vs Snowflake">
              <a:extLst>
                <a:ext uri="{FF2B5EF4-FFF2-40B4-BE49-F238E27FC236}">
                  <a16:creationId xmlns:a16="http://schemas.microsoft.com/office/drawing/2014/main" id="{37E3F8AB-6AF1-CD73-FB84-4861BB16701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3479" t="3429" r="6838" b="3151"/>
            <a:stretch/>
          </p:blipFill>
          <p:spPr bwMode="auto">
            <a:xfrm>
              <a:off x="543479" y="3067050"/>
              <a:ext cx="431629" cy="44961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76" name="Picture 12" descr="Dremio raises $30 million from Cisco Investments and others to streamline  data management | VentureBeat">
              <a:extLst>
                <a:ext uri="{FF2B5EF4-FFF2-40B4-BE49-F238E27FC236}">
                  <a16:creationId xmlns:a16="http://schemas.microsoft.com/office/drawing/2014/main" id="{667C44EE-82E3-5108-C490-D1CEFF6023B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06278" y="3058831"/>
              <a:ext cx="462226" cy="44601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77" name="圖片 76">
              <a:extLst>
                <a:ext uri="{FF2B5EF4-FFF2-40B4-BE49-F238E27FC236}">
                  <a16:creationId xmlns:a16="http://schemas.microsoft.com/office/drawing/2014/main" id="{7835B8A1-7BF3-D0CB-A99E-556053E8612A}"/>
                </a:ext>
              </a:extLst>
            </p:cNvPr>
            <p:cNvPicPr>
              <a:picLocks noChangeAspect="1"/>
            </p:cNvPicPr>
            <p:nvPr/>
          </p:nvPicPr>
          <p:blipFill>
            <a:blip r:embed="rId11"/>
            <a:stretch>
              <a:fillRect/>
            </a:stretch>
          </p:blipFill>
          <p:spPr>
            <a:xfrm>
              <a:off x="1213263" y="4022178"/>
              <a:ext cx="419136" cy="413913"/>
            </a:xfrm>
            <a:prstGeom prst="rect">
              <a:avLst/>
            </a:prstGeom>
          </p:spPr>
        </p:pic>
        <p:pic>
          <p:nvPicPr>
            <p:cNvPr id="78" name="圖片 77">
              <a:extLst>
                <a:ext uri="{FF2B5EF4-FFF2-40B4-BE49-F238E27FC236}">
                  <a16:creationId xmlns:a16="http://schemas.microsoft.com/office/drawing/2014/main" id="{D8AEDAB3-3AF5-8A52-725E-5DD1AE5FD7FA}"/>
                </a:ext>
              </a:extLst>
            </p:cNvPr>
            <p:cNvPicPr>
              <a:picLocks noChangeAspect="1"/>
            </p:cNvPicPr>
            <p:nvPr/>
          </p:nvPicPr>
          <p:blipFill>
            <a:blip r:embed="rId12"/>
            <a:stretch>
              <a:fillRect/>
            </a:stretch>
          </p:blipFill>
          <p:spPr>
            <a:xfrm>
              <a:off x="1499200" y="3560185"/>
              <a:ext cx="453332" cy="411486"/>
            </a:xfrm>
            <a:prstGeom prst="rect">
              <a:avLst/>
            </a:prstGeom>
            <a:ln>
              <a:solidFill>
                <a:schemeClr val="tx1"/>
              </a:solidFill>
            </a:ln>
          </p:spPr>
        </p:pic>
        <p:pic>
          <p:nvPicPr>
            <p:cNvPr id="79" name="Picture 6" descr="Logopond - Logo, Brand &amp; Identity Inspiration (Airbyte Octopus)">
              <a:extLst>
                <a:ext uri="{FF2B5EF4-FFF2-40B4-BE49-F238E27FC236}">
                  <a16:creationId xmlns:a16="http://schemas.microsoft.com/office/drawing/2014/main" id="{B55EB5CF-1295-7A6E-8DEC-B34F5C10693A}"/>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37626" t="18026" r="36126" b="48361"/>
            <a:stretch/>
          </p:blipFill>
          <p:spPr bwMode="auto">
            <a:xfrm>
              <a:off x="578848" y="4036449"/>
              <a:ext cx="434920" cy="407462"/>
            </a:xfrm>
            <a:prstGeom prst="rect">
              <a:avLst/>
            </a:prstGeom>
            <a:noFill/>
            <a:extLst>
              <a:ext uri="{909E8E84-426E-40DD-AFC4-6F175D3DCCD1}">
                <a14:hiddenFill xmlns:a14="http://schemas.microsoft.com/office/drawing/2010/main">
                  <a:solidFill>
                    <a:srgbClr val="FFFFFF"/>
                  </a:solidFill>
                </a14:hiddenFill>
              </a:ext>
            </a:extLst>
          </p:spPr>
        </p:pic>
      </p:grpSp>
      <p:sp>
        <p:nvSpPr>
          <p:cNvPr id="80" name="文字方塊 79">
            <a:extLst>
              <a:ext uri="{FF2B5EF4-FFF2-40B4-BE49-F238E27FC236}">
                <a16:creationId xmlns:a16="http://schemas.microsoft.com/office/drawing/2014/main" id="{3A675EAF-5236-091D-EF15-23F2250E22FD}"/>
              </a:ext>
            </a:extLst>
          </p:cNvPr>
          <p:cNvSpPr txBox="1"/>
          <p:nvPr/>
        </p:nvSpPr>
        <p:spPr>
          <a:xfrm>
            <a:off x="8142962" y="6266940"/>
            <a:ext cx="3704860" cy="261610"/>
          </a:xfrm>
          <a:prstGeom prst="rect">
            <a:avLst/>
          </a:prstGeom>
          <a:noFill/>
        </p:spPr>
        <p:txBody>
          <a:bodyPr wrap="none" rtlCol="0">
            <a:spAutoFit/>
          </a:bodyPr>
          <a:lstStyle/>
          <a:p>
            <a:r>
              <a:rPr lang="en-US" altLang="zh-TW" sz="1100"/>
              <a:t>*</a:t>
            </a:r>
            <a:r>
              <a:rPr lang="zh-TW" altLang="en-US" sz="1100"/>
              <a:t>依照</a:t>
            </a:r>
            <a:r>
              <a:rPr lang="en-US" altLang="zh-TW" sz="1100"/>
              <a:t>Oracle DW(32core)+EL(8core)</a:t>
            </a:r>
            <a:r>
              <a:rPr lang="zh-TW" altLang="en-US" sz="1100"/>
              <a:t>整合方案保守評估</a:t>
            </a:r>
          </a:p>
        </p:txBody>
      </p:sp>
      <p:sp>
        <p:nvSpPr>
          <p:cNvPr id="81" name="文字方塊 80">
            <a:extLst>
              <a:ext uri="{FF2B5EF4-FFF2-40B4-BE49-F238E27FC236}">
                <a16:creationId xmlns:a16="http://schemas.microsoft.com/office/drawing/2014/main" id="{C71944D4-F74F-1CF6-E617-085D38D7E382}"/>
              </a:ext>
            </a:extLst>
          </p:cNvPr>
          <p:cNvSpPr txBox="1"/>
          <p:nvPr/>
        </p:nvSpPr>
        <p:spPr>
          <a:xfrm>
            <a:off x="347135" y="1381148"/>
            <a:ext cx="3456000" cy="1631216"/>
          </a:xfrm>
          <a:prstGeom prst="rect">
            <a:avLst/>
          </a:prstGeom>
          <a:noFill/>
        </p:spPr>
        <p:txBody>
          <a:bodyPr wrap="square" rtlCol="0">
            <a:spAutoFit/>
          </a:bodyPr>
          <a:lstStyle/>
          <a:p>
            <a:pPr defTabSz="609523">
              <a:lnSpc>
                <a:spcPct val="100000"/>
              </a:lnSpc>
            </a:pPr>
            <a:r>
              <a:rPr lang="zh-TW" altLang="en-US" sz="1000">
                <a:solidFill>
                  <a:prstClr val="black"/>
                </a:solidFill>
                <a:latin typeface="Arial"/>
                <a:ea typeface=""/>
                <a:cs typeface=""/>
              </a:rPr>
              <a:t>數據中台每模組提出至少兩個開源解決方案</a:t>
            </a:r>
            <a:r>
              <a:rPr lang="en-US" altLang="zh-TW" sz="1000">
                <a:solidFill>
                  <a:prstClr val="black"/>
                </a:solidFill>
                <a:latin typeface="Arial"/>
                <a:ea typeface=""/>
                <a:cs typeface=""/>
              </a:rPr>
              <a:t>, </a:t>
            </a:r>
            <a:r>
              <a:rPr lang="zh-TW" altLang="en-US" sz="1000">
                <a:solidFill>
                  <a:prstClr val="black"/>
                </a:solidFill>
                <a:latin typeface="Arial"/>
                <a:ea typeface=""/>
                <a:cs typeface=""/>
              </a:rPr>
              <a:t>在</a:t>
            </a:r>
            <a:r>
              <a:rPr lang="en-US" altLang="zh-TW" sz="1000">
                <a:solidFill>
                  <a:prstClr val="black"/>
                </a:solidFill>
                <a:latin typeface="Arial"/>
                <a:ea typeface=""/>
                <a:cs typeface=""/>
              </a:rPr>
              <a:t>POC</a:t>
            </a:r>
            <a:r>
              <a:rPr lang="zh-TW" altLang="en-US" sz="1000">
                <a:solidFill>
                  <a:prstClr val="black"/>
                </a:solidFill>
                <a:latin typeface="Arial"/>
                <a:ea typeface=""/>
                <a:cs typeface=""/>
              </a:rPr>
              <a:t>過程中評估最終解決方案</a:t>
            </a:r>
            <a:r>
              <a:rPr lang="en-US" altLang="zh-TW" sz="1000">
                <a:solidFill>
                  <a:prstClr val="black"/>
                </a:solidFill>
                <a:latin typeface="Arial"/>
                <a:ea typeface=""/>
                <a:cs typeface=""/>
              </a:rPr>
              <a:t>, POC</a:t>
            </a:r>
            <a:r>
              <a:rPr lang="zh-TW" altLang="en-US" sz="1000">
                <a:solidFill>
                  <a:prstClr val="black"/>
                </a:solidFill>
                <a:latin typeface="Arial"/>
                <a:ea typeface=""/>
                <a:cs typeface=""/>
              </a:rPr>
              <a:t>使用者故事</a:t>
            </a:r>
            <a:r>
              <a:rPr lang="en-US" altLang="zh-TW" sz="1000">
                <a:solidFill>
                  <a:prstClr val="black"/>
                </a:solidFill>
                <a:latin typeface="Arial"/>
                <a:ea typeface=""/>
                <a:cs typeface=""/>
              </a:rPr>
              <a:t>:</a:t>
            </a:r>
            <a:r>
              <a:rPr lang="zh-TW" altLang="en-US" sz="1000">
                <a:solidFill>
                  <a:prstClr val="black"/>
                </a:solidFill>
                <a:latin typeface="Arial"/>
                <a:ea typeface=""/>
                <a:cs typeface=""/>
              </a:rPr>
              <a:t>整合</a:t>
            </a:r>
            <a:r>
              <a:rPr lang="en-US" altLang="zh-TW" sz="1000">
                <a:solidFill>
                  <a:prstClr val="black"/>
                </a:solidFill>
                <a:latin typeface="Arial"/>
                <a:ea typeface=""/>
                <a:cs typeface=""/>
              </a:rPr>
              <a:t>MES</a:t>
            </a:r>
            <a:r>
              <a:rPr lang="zh-TW" altLang="en-US" sz="1000">
                <a:solidFill>
                  <a:prstClr val="black"/>
                </a:solidFill>
                <a:latin typeface="Arial"/>
                <a:ea typeface=""/>
                <a:cs typeface=""/>
              </a:rPr>
              <a:t>主檔與機連數據產生對比報表符合最終數據中台可以達到目標 </a:t>
            </a:r>
            <a:r>
              <a:rPr lang="en-US" altLang="zh-TW" sz="1000">
                <a:solidFill>
                  <a:prstClr val="black"/>
                </a:solidFill>
                <a:latin typeface="Arial"/>
                <a:ea typeface=""/>
                <a:cs typeface=""/>
              </a:rPr>
              <a:t>:</a:t>
            </a:r>
          </a:p>
          <a:p>
            <a:pPr defTabSz="609523">
              <a:lnSpc>
                <a:spcPct val="100000"/>
              </a:lnSpc>
            </a:pPr>
            <a:endParaRPr lang="en-US" altLang="zh-TW" sz="100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a:solidFill>
                  <a:prstClr val="black"/>
                </a:solidFill>
                <a:latin typeface="Arial"/>
                <a:ea typeface=""/>
                <a:cs typeface=""/>
              </a:rPr>
              <a:t>統合所有數據源並精煉</a:t>
            </a:r>
            <a:r>
              <a:rPr lang="en-US" altLang="zh-TW" sz="1000">
                <a:solidFill>
                  <a:prstClr val="black"/>
                </a:solidFill>
                <a:latin typeface="Arial"/>
                <a:ea typeface=""/>
                <a:cs typeface=""/>
              </a:rPr>
              <a:t>, </a:t>
            </a:r>
            <a:r>
              <a:rPr lang="zh-TW" altLang="en-US" sz="1000">
                <a:solidFill>
                  <a:prstClr val="black"/>
                </a:solidFill>
                <a:latin typeface="Arial"/>
                <a:ea typeface=""/>
                <a:cs typeface=""/>
              </a:rPr>
              <a:t>成為單一數據入口點</a:t>
            </a:r>
            <a:endParaRPr lang="en-US" altLang="zh-TW" sz="100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a:solidFill>
                  <a:prstClr val="black"/>
                </a:solidFill>
                <a:latin typeface="Arial"/>
                <a:ea typeface=""/>
                <a:cs typeface=""/>
              </a:rPr>
              <a:t>遵循公司數據治理規範</a:t>
            </a:r>
            <a:r>
              <a:rPr lang="en-US" altLang="zh-TW" sz="1000">
                <a:solidFill>
                  <a:prstClr val="black"/>
                </a:solidFill>
                <a:latin typeface="Arial"/>
                <a:ea typeface=""/>
                <a:cs typeface=""/>
              </a:rPr>
              <a:t>, </a:t>
            </a:r>
            <a:r>
              <a:rPr lang="zh-TW" altLang="en-US" sz="1000">
                <a:solidFill>
                  <a:prstClr val="black"/>
                </a:solidFill>
                <a:latin typeface="Arial"/>
                <a:ea typeface=""/>
                <a:cs typeface=""/>
              </a:rPr>
              <a:t>實行數據管理與數據質量檢測</a:t>
            </a:r>
            <a:endParaRPr lang="en-US" altLang="zh-TW" sz="100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a:solidFill>
                  <a:prstClr val="black"/>
                </a:solidFill>
                <a:latin typeface="Arial"/>
                <a:ea typeface=""/>
                <a:cs typeface=""/>
              </a:rPr>
              <a:t>嚴謹落實數據安全管控</a:t>
            </a:r>
            <a:r>
              <a:rPr lang="en-US" altLang="zh-TW" sz="1000">
                <a:solidFill>
                  <a:prstClr val="black"/>
                </a:solidFill>
                <a:latin typeface="Arial"/>
                <a:ea typeface=""/>
                <a:cs typeface=""/>
              </a:rPr>
              <a:t>, </a:t>
            </a:r>
            <a:r>
              <a:rPr lang="zh-TW" altLang="en-US" sz="1000">
                <a:solidFill>
                  <a:prstClr val="black"/>
                </a:solidFill>
                <a:latin typeface="Arial"/>
                <a:ea typeface=""/>
                <a:cs typeface=""/>
              </a:rPr>
              <a:t>限制使用者僅能取得權限內之數據</a:t>
            </a:r>
            <a:endParaRPr lang="en-US" altLang="zh-TW" sz="1000">
              <a:solidFill>
                <a:prstClr val="black"/>
              </a:solidFill>
              <a:latin typeface="Arial"/>
              <a:ea typeface=""/>
              <a:cs typeface=""/>
            </a:endParaRPr>
          </a:p>
          <a:p>
            <a:pPr marL="171450" indent="-171450" defTabSz="609523">
              <a:lnSpc>
                <a:spcPct val="100000"/>
              </a:lnSpc>
              <a:buFont typeface="Arial" panose="020B0604020202020204" pitchFamily="34" charset="0"/>
              <a:buChar char="•"/>
            </a:pPr>
            <a:r>
              <a:rPr lang="zh-TW" altLang="en-US" sz="1000">
                <a:solidFill>
                  <a:prstClr val="black"/>
                </a:solidFill>
                <a:latin typeface="Arial"/>
                <a:ea typeface=""/>
                <a:cs typeface=""/>
              </a:rPr>
              <a:t>支持多樣數據接口</a:t>
            </a:r>
            <a:r>
              <a:rPr lang="en-US" altLang="zh-TW" sz="1000">
                <a:solidFill>
                  <a:prstClr val="black"/>
                </a:solidFill>
                <a:latin typeface="Arial"/>
                <a:ea typeface=""/>
                <a:cs typeface=""/>
              </a:rPr>
              <a:t>, </a:t>
            </a:r>
            <a:r>
              <a:rPr lang="zh-TW" altLang="en-US" sz="1000">
                <a:solidFill>
                  <a:prstClr val="black"/>
                </a:solidFill>
                <a:latin typeface="Arial"/>
                <a:ea typeface=""/>
                <a:cs typeface=""/>
              </a:rPr>
              <a:t>滿足各式業務需求</a:t>
            </a:r>
            <a:r>
              <a:rPr lang="en-US" altLang="zh-TW" sz="1000">
                <a:solidFill>
                  <a:prstClr val="black"/>
                </a:solidFill>
                <a:latin typeface="Arial"/>
                <a:ea typeface=""/>
                <a:cs typeface=""/>
              </a:rPr>
              <a:t> </a:t>
            </a:r>
          </a:p>
          <a:p>
            <a:endParaRPr lang="zh-TW" altLang="en-US" sz="1000"/>
          </a:p>
        </p:txBody>
      </p:sp>
      <p:sp>
        <p:nvSpPr>
          <p:cNvPr id="82" name="文字方塊 81">
            <a:extLst>
              <a:ext uri="{FF2B5EF4-FFF2-40B4-BE49-F238E27FC236}">
                <a16:creationId xmlns:a16="http://schemas.microsoft.com/office/drawing/2014/main" id="{1452815B-21A3-F450-6DEE-FF21E00BD2C1}"/>
              </a:ext>
            </a:extLst>
          </p:cNvPr>
          <p:cNvSpPr txBox="1"/>
          <p:nvPr/>
        </p:nvSpPr>
        <p:spPr>
          <a:xfrm>
            <a:off x="4284132" y="1428883"/>
            <a:ext cx="3456000" cy="1169551"/>
          </a:xfrm>
          <a:prstGeom prst="rect">
            <a:avLst/>
          </a:prstGeom>
          <a:noFill/>
        </p:spPr>
        <p:txBody>
          <a:bodyPr wrap="square" rtlCol="0">
            <a:spAutoFit/>
          </a:bodyPr>
          <a:lstStyle/>
          <a:p>
            <a:pPr defTabSz="609523">
              <a:lnSpc>
                <a:spcPct val="100000"/>
              </a:lnSpc>
            </a:pPr>
            <a:r>
              <a:rPr lang="zh-TW" altLang="en-US" sz="1000">
                <a:solidFill>
                  <a:prstClr val="black"/>
                </a:solidFill>
                <a:latin typeface="Arial"/>
                <a:ea typeface=""/>
                <a:cs typeface=""/>
              </a:rPr>
              <a:t>數據擷取 </a:t>
            </a:r>
            <a:r>
              <a:rPr lang="en-US" altLang="zh-TW" sz="1000">
                <a:solidFill>
                  <a:prstClr val="black"/>
                </a:solidFill>
                <a:latin typeface="Arial"/>
                <a:ea typeface=""/>
                <a:cs typeface=""/>
              </a:rPr>
              <a:t>:</a:t>
            </a:r>
            <a:r>
              <a:rPr lang="zh-TW" altLang="en-US" sz="1000">
                <a:solidFill>
                  <a:prstClr val="black"/>
                </a:solidFill>
                <a:latin typeface="Arial"/>
                <a:ea typeface=""/>
                <a:cs typeface=""/>
              </a:rPr>
              <a:t> </a:t>
            </a:r>
            <a:r>
              <a:rPr lang="en-US" altLang="zh-TW" sz="1000" err="1">
                <a:solidFill>
                  <a:prstClr val="black"/>
                </a:solidFill>
                <a:latin typeface="Arial"/>
                <a:ea typeface=""/>
                <a:cs typeface=""/>
              </a:rPr>
              <a:t>AirByte</a:t>
            </a:r>
            <a:r>
              <a:rPr lang="en-US" altLang="zh-TW" sz="1000">
                <a:solidFill>
                  <a:prstClr val="black"/>
                </a:solidFill>
                <a:latin typeface="Arial"/>
                <a:ea typeface=""/>
                <a:cs typeface=""/>
              </a:rPr>
              <a:t> </a:t>
            </a:r>
            <a:r>
              <a:rPr lang="zh-TW" altLang="en-US" sz="1000">
                <a:solidFill>
                  <a:prstClr val="black"/>
                </a:solidFill>
                <a:latin typeface="Arial"/>
                <a:ea typeface=""/>
                <a:cs typeface=""/>
              </a:rPr>
              <a:t>與 </a:t>
            </a:r>
            <a:r>
              <a:rPr lang="en-US" altLang="zh-TW" sz="1000" err="1">
                <a:solidFill>
                  <a:prstClr val="black"/>
                </a:solidFill>
                <a:latin typeface="Arial"/>
                <a:ea typeface=""/>
                <a:cs typeface=""/>
              </a:rPr>
              <a:t>seaTunnel</a:t>
            </a:r>
            <a:endParaRPr lang="en-US" altLang="zh-TW" sz="1000">
              <a:solidFill>
                <a:prstClr val="black"/>
              </a:solidFill>
              <a:latin typeface="Arial"/>
              <a:ea typeface=""/>
              <a:cs typeface=""/>
            </a:endParaRPr>
          </a:p>
          <a:p>
            <a:pPr defTabSz="609523">
              <a:lnSpc>
                <a:spcPct val="100000"/>
              </a:lnSpc>
            </a:pPr>
            <a:r>
              <a:rPr lang="zh-TW" altLang="en-US" sz="1000">
                <a:solidFill>
                  <a:prstClr val="black"/>
                </a:solidFill>
                <a:latin typeface="Arial"/>
              </a:rPr>
              <a:t>結構式數據湖泊 </a:t>
            </a:r>
            <a:r>
              <a:rPr lang="en-US" altLang="zh-TW" sz="1000">
                <a:solidFill>
                  <a:prstClr val="black"/>
                </a:solidFill>
                <a:latin typeface="Arial"/>
              </a:rPr>
              <a:t>:</a:t>
            </a:r>
            <a:r>
              <a:rPr lang="zh-TW" altLang="en-US" sz="1000">
                <a:solidFill>
                  <a:prstClr val="black"/>
                </a:solidFill>
                <a:latin typeface="Arial"/>
              </a:rPr>
              <a:t> </a:t>
            </a:r>
            <a:r>
              <a:rPr lang="en-US" altLang="zh-TW" sz="1000">
                <a:solidFill>
                  <a:prstClr val="black"/>
                </a:solidFill>
                <a:latin typeface="Arial"/>
              </a:rPr>
              <a:t>Apache Doris </a:t>
            </a:r>
            <a:r>
              <a:rPr lang="zh-TW" altLang="en-US" sz="1000">
                <a:solidFill>
                  <a:prstClr val="black"/>
                </a:solidFill>
                <a:latin typeface="Arial"/>
              </a:rPr>
              <a:t>與 </a:t>
            </a:r>
            <a:r>
              <a:rPr lang="en-US" altLang="zh-TW" sz="1000" err="1">
                <a:solidFill>
                  <a:prstClr val="black"/>
                </a:solidFill>
                <a:latin typeface="Arial"/>
              </a:rPr>
              <a:t>ClickHouse</a:t>
            </a:r>
            <a:endParaRPr lang="en-US" altLang="zh-TW" sz="1000">
              <a:solidFill>
                <a:prstClr val="black"/>
              </a:solidFill>
              <a:latin typeface="Arial"/>
            </a:endParaRPr>
          </a:p>
          <a:p>
            <a:pPr defTabSz="609523">
              <a:lnSpc>
                <a:spcPct val="100000"/>
              </a:lnSpc>
            </a:pPr>
            <a:r>
              <a:rPr lang="zh-TW" altLang="en-US" sz="1000">
                <a:solidFill>
                  <a:prstClr val="black"/>
                </a:solidFill>
                <a:latin typeface="Arial"/>
              </a:rPr>
              <a:t>數據處理 </a:t>
            </a:r>
            <a:r>
              <a:rPr lang="en-US" altLang="zh-TW" sz="1000">
                <a:solidFill>
                  <a:prstClr val="black"/>
                </a:solidFill>
                <a:latin typeface="Arial"/>
              </a:rPr>
              <a:t>:</a:t>
            </a:r>
            <a:r>
              <a:rPr lang="zh-TW" altLang="en-US" sz="1000">
                <a:solidFill>
                  <a:prstClr val="black"/>
                </a:solidFill>
                <a:latin typeface="Arial"/>
              </a:rPr>
              <a:t> </a:t>
            </a:r>
            <a:r>
              <a:rPr lang="en-US" altLang="zh-TW" sz="1000" err="1">
                <a:solidFill>
                  <a:prstClr val="black"/>
                </a:solidFill>
                <a:latin typeface="Arial"/>
              </a:rPr>
              <a:t>Nifi</a:t>
            </a:r>
            <a:r>
              <a:rPr lang="en-US" altLang="zh-TW" sz="1000">
                <a:solidFill>
                  <a:prstClr val="black"/>
                </a:solidFill>
                <a:latin typeface="Arial"/>
              </a:rPr>
              <a:t> </a:t>
            </a:r>
            <a:r>
              <a:rPr lang="zh-TW" altLang="en-US" sz="1000">
                <a:solidFill>
                  <a:prstClr val="black"/>
                </a:solidFill>
                <a:latin typeface="Arial"/>
              </a:rPr>
              <a:t>與 </a:t>
            </a:r>
            <a:r>
              <a:rPr lang="en-US" altLang="zh-TW" sz="1000" err="1">
                <a:solidFill>
                  <a:prstClr val="black"/>
                </a:solidFill>
                <a:latin typeface="Arial"/>
              </a:rPr>
              <a:t>Perfet</a:t>
            </a:r>
            <a:endParaRPr lang="en-US" altLang="zh-TW" sz="1000">
              <a:solidFill>
                <a:prstClr val="black"/>
              </a:solidFill>
              <a:latin typeface="Arial"/>
            </a:endParaRPr>
          </a:p>
          <a:p>
            <a:pPr defTabSz="609523">
              <a:lnSpc>
                <a:spcPct val="100000"/>
              </a:lnSpc>
            </a:pPr>
            <a:r>
              <a:rPr lang="zh-TW" altLang="en-US" sz="1000">
                <a:solidFill>
                  <a:prstClr val="black"/>
                </a:solidFill>
                <a:latin typeface="Arial"/>
              </a:rPr>
              <a:t>數據上架 </a:t>
            </a:r>
            <a:r>
              <a:rPr lang="en-US" altLang="zh-TW" sz="1000">
                <a:solidFill>
                  <a:prstClr val="black"/>
                </a:solidFill>
                <a:latin typeface="Arial"/>
              </a:rPr>
              <a:t>:</a:t>
            </a:r>
            <a:r>
              <a:rPr lang="zh-TW" altLang="en-US" sz="1000">
                <a:solidFill>
                  <a:prstClr val="black"/>
                </a:solidFill>
                <a:latin typeface="Arial"/>
              </a:rPr>
              <a:t> </a:t>
            </a:r>
            <a:r>
              <a:rPr lang="en-US" altLang="zh-TW" sz="1000">
                <a:solidFill>
                  <a:prstClr val="black"/>
                </a:solidFill>
                <a:latin typeface="Arial"/>
              </a:rPr>
              <a:t>ROAPI</a:t>
            </a:r>
            <a:r>
              <a:rPr lang="zh-TW" altLang="en-US" sz="1000">
                <a:solidFill>
                  <a:prstClr val="black"/>
                </a:solidFill>
                <a:latin typeface="Arial"/>
              </a:rPr>
              <a:t>與</a:t>
            </a:r>
            <a:r>
              <a:rPr lang="en-US" altLang="zh-TW" sz="1000">
                <a:solidFill>
                  <a:prstClr val="black"/>
                </a:solidFill>
                <a:latin typeface="Arial"/>
              </a:rPr>
              <a:t>Cube JS</a:t>
            </a:r>
          </a:p>
          <a:p>
            <a:pPr defTabSz="609523">
              <a:lnSpc>
                <a:spcPct val="100000"/>
              </a:lnSpc>
            </a:pPr>
            <a:r>
              <a:rPr lang="zh-TW" altLang="en-US" sz="1000">
                <a:solidFill>
                  <a:prstClr val="black"/>
                </a:solidFill>
                <a:latin typeface="Arial"/>
              </a:rPr>
              <a:t>數據權限 </a:t>
            </a:r>
            <a:r>
              <a:rPr lang="en-US" altLang="zh-TW" sz="1000">
                <a:solidFill>
                  <a:prstClr val="black"/>
                </a:solidFill>
                <a:latin typeface="Arial"/>
              </a:rPr>
              <a:t>:</a:t>
            </a:r>
            <a:r>
              <a:rPr lang="zh-TW" altLang="en-US" sz="1000">
                <a:solidFill>
                  <a:prstClr val="black"/>
                </a:solidFill>
                <a:latin typeface="Arial"/>
              </a:rPr>
              <a:t> 依照訂定的角色群組確認各解決方案是否能支援此設計</a:t>
            </a:r>
            <a:endParaRPr lang="en-US" altLang="zh-TW" sz="1000">
              <a:solidFill>
                <a:prstClr val="black"/>
              </a:solidFill>
              <a:latin typeface="Arial"/>
            </a:endParaRPr>
          </a:p>
          <a:p>
            <a:pPr defTabSz="609523">
              <a:lnSpc>
                <a:spcPct val="100000"/>
              </a:lnSpc>
            </a:pPr>
            <a:r>
              <a:rPr lang="zh-TW" altLang="en-US" sz="1000">
                <a:solidFill>
                  <a:prstClr val="black"/>
                </a:solidFill>
                <a:latin typeface="Arial"/>
              </a:rPr>
              <a:t>高擴展性架構 </a:t>
            </a:r>
            <a:r>
              <a:rPr lang="en-US" altLang="zh-TW" sz="1000">
                <a:solidFill>
                  <a:prstClr val="black"/>
                </a:solidFill>
                <a:latin typeface="Arial"/>
              </a:rPr>
              <a:t>: MicroK8S</a:t>
            </a:r>
            <a:endParaRPr lang="zh-TW" altLang="en-US" sz="1000"/>
          </a:p>
        </p:txBody>
      </p:sp>
      <p:graphicFrame>
        <p:nvGraphicFramePr>
          <p:cNvPr id="83" name="圖表 82">
            <a:extLst>
              <a:ext uri="{FF2B5EF4-FFF2-40B4-BE49-F238E27FC236}">
                <a16:creationId xmlns:a16="http://schemas.microsoft.com/office/drawing/2014/main" id="{EACDFEE2-50DC-AC0E-D1D5-183DD1FD8FDE}"/>
              </a:ext>
            </a:extLst>
          </p:cNvPr>
          <p:cNvGraphicFramePr/>
          <p:nvPr/>
        </p:nvGraphicFramePr>
        <p:xfrm>
          <a:off x="8739889" y="1665049"/>
          <a:ext cx="1851912" cy="1992552"/>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84" name="表格 83">
            <a:extLst>
              <a:ext uri="{FF2B5EF4-FFF2-40B4-BE49-F238E27FC236}">
                <a16:creationId xmlns:a16="http://schemas.microsoft.com/office/drawing/2014/main" id="{826F1EAD-E8A3-36C3-A4FC-43A39855E58E}"/>
              </a:ext>
            </a:extLst>
          </p:cNvPr>
          <p:cNvGraphicFramePr>
            <a:graphicFrameLocks noGrp="1"/>
          </p:cNvGraphicFramePr>
          <p:nvPr/>
        </p:nvGraphicFramePr>
        <p:xfrm>
          <a:off x="8305798" y="1570633"/>
          <a:ext cx="2865970" cy="259080"/>
        </p:xfrm>
        <a:graphic>
          <a:graphicData uri="http://schemas.openxmlformats.org/drawingml/2006/table">
            <a:tbl>
              <a:tblPr firstRow="1" bandRow="1">
                <a:tableStyleId>{5C22544A-7EE6-4342-B048-85BDC9FD1C3A}</a:tableStyleId>
              </a:tblPr>
              <a:tblGrid>
                <a:gridCol w="573194">
                  <a:extLst>
                    <a:ext uri="{9D8B030D-6E8A-4147-A177-3AD203B41FA5}">
                      <a16:colId xmlns:a16="http://schemas.microsoft.com/office/drawing/2014/main" val="2389258531"/>
                    </a:ext>
                  </a:extLst>
                </a:gridCol>
                <a:gridCol w="573194">
                  <a:extLst>
                    <a:ext uri="{9D8B030D-6E8A-4147-A177-3AD203B41FA5}">
                      <a16:colId xmlns:a16="http://schemas.microsoft.com/office/drawing/2014/main" val="734042488"/>
                    </a:ext>
                  </a:extLst>
                </a:gridCol>
                <a:gridCol w="573194">
                  <a:extLst>
                    <a:ext uri="{9D8B030D-6E8A-4147-A177-3AD203B41FA5}">
                      <a16:colId xmlns:a16="http://schemas.microsoft.com/office/drawing/2014/main" val="4071878471"/>
                    </a:ext>
                  </a:extLst>
                </a:gridCol>
                <a:gridCol w="573194">
                  <a:extLst>
                    <a:ext uri="{9D8B030D-6E8A-4147-A177-3AD203B41FA5}">
                      <a16:colId xmlns:a16="http://schemas.microsoft.com/office/drawing/2014/main" val="1962283870"/>
                    </a:ext>
                  </a:extLst>
                </a:gridCol>
                <a:gridCol w="573194">
                  <a:extLst>
                    <a:ext uri="{9D8B030D-6E8A-4147-A177-3AD203B41FA5}">
                      <a16:colId xmlns:a16="http://schemas.microsoft.com/office/drawing/2014/main" val="2294945033"/>
                    </a:ext>
                  </a:extLst>
                </a:gridCol>
              </a:tblGrid>
              <a:tr h="255613">
                <a:tc>
                  <a:txBody>
                    <a:bodyPr/>
                    <a:lstStyle/>
                    <a:p>
                      <a:pPr algn="ctr"/>
                      <a:r>
                        <a:rPr lang="en-US" altLang="zh-TW" sz="1100" b="0">
                          <a:solidFill>
                            <a:schemeClr val="bg1"/>
                          </a:solidFill>
                        </a:rPr>
                        <a:t>M1</a:t>
                      </a:r>
                      <a:endParaRPr lang="zh-TW" altLang="en-US" sz="1100" b="0">
                        <a:solidFill>
                          <a:schemeClr val="bg1"/>
                        </a:solidFill>
                      </a:endParaRPr>
                    </a:p>
                  </a:txBody>
                  <a:tcPr>
                    <a:solidFill>
                      <a:srgbClr val="00B050"/>
                    </a:solidFill>
                  </a:tcPr>
                </a:tc>
                <a:tc>
                  <a:txBody>
                    <a:bodyPr/>
                    <a:lstStyle/>
                    <a:p>
                      <a:pPr algn="ctr"/>
                      <a:r>
                        <a:rPr lang="en-US" altLang="zh-TW" sz="1100" b="0">
                          <a:solidFill>
                            <a:schemeClr val="tx1"/>
                          </a:solidFill>
                        </a:rPr>
                        <a:t>M2</a:t>
                      </a:r>
                      <a:endParaRPr lang="zh-TW" altLang="en-US" sz="1100" b="0">
                        <a:solidFill>
                          <a:schemeClr val="tx1"/>
                        </a:solidFill>
                      </a:endParaRPr>
                    </a:p>
                  </a:txBody>
                  <a:tcPr>
                    <a:gradFill flip="none" rotWithShape="1">
                      <a:gsLst>
                        <a:gs pos="25000">
                          <a:srgbClr val="00B050"/>
                        </a:gs>
                        <a:gs pos="58000">
                          <a:schemeClr val="bg1">
                            <a:lumMod val="85000"/>
                          </a:schemeClr>
                        </a:gs>
                        <a:gs pos="100000">
                          <a:schemeClr val="bg1">
                            <a:lumMod val="85000"/>
                          </a:schemeClr>
                        </a:gs>
                      </a:gsLst>
                      <a:lin ang="0" scaled="1"/>
                      <a:tileRect/>
                    </a:gradFill>
                  </a:tcPr>
                </a:tc>
                <a:tc>
                  <a:txBody>
                    <a:bodyPr/>
                    <a:lstStyle/>
                    <a:p>
                      <a:pPr algn="ctr"/>
                      <a:r>
                        <a:rPr lang="en-US" altLang="zh-TW" sz="1100" b="0">
                          <a:solidFill>
                            <a:schemeClr val="tx1"/>
                          </a:solidFill>
                        </a:rPr>
                        <a:t>M3</a:t>
                      </a:r>
                      <a:endParaRPr lang="zh-TW" altLang="en-US" sz="1100" b="0">
                        <a:solidFill>
                          <a:schemeClr val="tx1"/>
                        </a:solidFill>
                      </a:endParaRPr>
                    </a:p>
                  </a:txBody>
                  <a:tcPr>
                    <a:solidFill>
                      <a:schemeClr val="bg1">
                        <a:lumMod val="85000"/>
                      </a:schemeClr>
                    </a:solidFill>
                  </a:tcPr>
                </a:tc>
                <a:tc>
                  <a:txBody>
                    <a:bodyPr/>
                    <a:lstStyle/>
                    <a:p>
                      <a:pPr algn="ctr"/>
                      <a:r>
                        <a:rPr lang="en-US" altLang="zh-TW" sz="1100" b="0">
                          <a:solidFill>
                            <a:schemeClr val="tx1"/>
                          </a:solidFill>
                        </a:rPr>
                        <a:t>M4</a:t>
                      </a:r>
                      <a:endParaRPr lang="zh-TW" altLang="en-US" sz="1100" b="0">
                        <a:solidFill>
                          <a:schemeClr val="tx1"/>
                        </a:solidFill>
                      </a:endParaRPr>
                    </a:p>
                  </a:txBody>
                  <a:tcPr>
                    <a:solidFill>
                      <a:schemeClr val="bg1">
                        <a:lumMod val="85000"/>
                      </a:schemeClr>
                    </a:solidFill>
                  </a:tcPr>
                </a:tc>
                <a:tc>
                  <a:txBody>
                    <a:bodyPr/>
                    <a:lstStyle/>
                    <a:p>
                      <a:pPr algn="ctr"/>
                      <a:r>
                        <a:rPr lang="en-US" altLang="zh-TW" sz="1100" b="0">
                          <a:solidFill>
                            <a:schemeClr val="tx1"/>
                          </a:solidFill>
                        </a:rPr>
                        <a:t>M5</a:t>
                      </a:r>
                      <a:endParaRPr lang="zh-TW" altLang="en-US" sz="1100" b="0">
                        <a:solidFill>
                          <a:schemeClr val="tx1"/>
                        </a:solidFill>
                      </a:endParaRPr>
                    </a:p>
                  </a:txBody>
                  <a:tcPr>
                    <a:solidFill>
                      <a:schemeClr val="bg1">
                        <a:lumMod val="85000"/>
                      </a:schemeClr>
                    </a:solidFill>
                  </a:tcPr>
                </a:tc>
                <a:extLst>
                  <a:ext uri="{0D108BD9-81ED-4DB2-BD59-A6C34878D82A}">
                    <a16:rowId xmlns:a16="http://schemas.microsoft.com/office/drawing/2014/main" val="2409848180"/>
                  </a:ext>
                </a:extLst>
              </a:tr>
            </a:tbl>
          </a:graphicData>
        </a:graphic>
      </p:graphicFrame>
      <mc:AlternateContent xmlns:mc="http://schemas.openxmlformats.org/markup-compatibility/2006">
        <mc:Choice xmlns:pslz="http://schemas.microsoft.com/office/powerpoint/2016/slidezoom" Requires="pslz">
          <p:graphicFrame>
            <p:nvGraphicFramePr>
              <p:cNvPr id="3" name="投影片縮放 2">
                <a:extLst>
                  <a:ext uri="{FF2B5EF4-FFF2-40B4-BE49-F238E27FC236}">
                    <a16:creationId xmlns:a16="http://schemas.microsoft.com/office/drawing/2014/main" id="{B5EDE21F-99A2-390F-8A8A-ED639FC58759}"/>
                  </a:ext>
                </a:extLst>
              </p:cNvPr>
              <p:cNvGraphicFramePr>
                <a:graphicFrameLocks noChangeAspect="1"/>
              </p:cNvGraphicFramePr>
              <p:nvPr>
                <p:extLst>
                  <p:ext uri="{D42A27DB-BD31-4B8C-83A1-F6EECF244321}">
                    <p14:modId xmlns:p14="http://schemas.microsoft.com/office/powerpoint/2010/main" val="908681338"/>
                  </p:ext>
                </p:extLst>
              </p:nvPr>
            </p:nvGraphicFramePr>
            <p:xfrm>
              <a:off x="1071832" y="2821697"/>
              <a:ext cx="3048000" cy="1714500"/>
            </p:xfrm>
            <a:graphic>
              <a:graphicData uri="http://schemas.microsoft.com/office/powerpoint/2016/slidezoom">
                <pslz:sldZm>
                  <pslz:sldZmObj sldId="2147478315" cId="1744991392">
                    <pslz:zmPr id="{5CB36A7A-14EB-4858-9617-084E6743C53A}" returnToParent="0" transitionDur="1000">
                      <p166:blipFill xmlns:p166="http://schemas.microsoft.com/office/powerpoint/2016/6/main">
                        <a:blip r:embed="rId15"/>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p:pic>
            <p:nvPicPr>
              <p:cNvPr id="3" name="投影片縮放 2">
                <a:hlinkClick r:id="rId16" action="ppaction://hlinksldjump"/>
                <a:extLst>
                  <a:ext uri="{FF2B5EF4-FFF2-40B4-BE49-F238E27FC236}">
                    <a16:creationId xmlns:a16="http://schemas.microsoft.com/office/drawing/2014/main" id="{B5EDE21F-99A2-390F-8A8A-ED639FC58759}"/>
                  </a:ext>
                </a:extLst>
              </p:cNvPr>
              <p:cNvPicPr>
                <a:picLocks noGrp="1" noRot="1" noChangeAspect="1" noMove="1" noResize="1" noEditPoints="1" noAdjustHandles="1" noChangeArrowheads="1" noChangeShapeType="1"/>
              </p:cNvPicPr>
              <p:nvPr/>
            </p:nvPicPr>
            <p:blipFill>
              <a:blip r:embed="rId15"/>
              <a:stretch>
                <a:fillRect/>
              </a:stretch>
            </p:blipFill>
            <p:spPr>
              <a:xfrm>
                <a:off x="1071832" y="2821697"/>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744991392"/>
      </p:ext>
    </p:extLst>
  </p:cSld>
  <p:clrMapOvr>
    <a:masterClrMapping/>
  </p:clrMapOvr>
</p:sld>
</file>

<file path=ppt/theme/theme1.xml><?xml version="1.0" encoding="utf-8"?>
<a:theme xmlns:a="http://schemas.openxmlformats.org/drawingml/2006/main" name="Delta_PPTtemplate_16x9">
  <a:themeElements>
    <a:clrScheme name="自訂 2">
      <a:dk1>
        <a:sysClr val="windowText" lastClr="000000"/>
      </a:dk1>
      <a:lt1>
        <a:sysClr val="window" lastClr="FFFFFF"/>
      </a:lt1>
      <a:dk2>
        <a:srgbClr val="0087DC"/>
      </a:dk2>
      <a:lt2>
        <a:srgbClr val="FFFFFF"/>
      </a:lt2>
      <a:accent1>
        <a:srgbClr val="0087DC"/>
      </a:accent1>
      <a:accent2>
        <a:srgbClr val="64D7D7"/>
      </a:accent2>
      <a:accent3>
        <a:srgbClr val="B9EB5F"/>
      </a:accent3>
      <a:accent4>
        <a:srgbClr val="1E50C8"/>
      </a:accent4>
      <a:accent5>
        <a:srgbClr val="96E6BE"/>
      </a:accent5>
      <a:accent6>
        <a:srgbClr val="00BE50"/>
      </a:accent6>
      <a:hlink>
        <a:srgbClr val="0563C1"/>
      </a:hlink>
      <a:folHlink>
        <a:srgbClr val="BFBFBF"/>
      </a:folHlink>
    </a:clrScheme>
    <a:fontScheme name="自訂 3">
      <a:majorFont>
        <a:latin typeface="Arial"/>
        <a:ea typeface="Microsoft JhengHei"/>
        <a:cs typeface=""/>
      </a:majorFont>
      <a:minorFont>
        <a:latin typeface="Arial"/>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lta_PPTtemplate_16x9_EN" id="{AB7E8207-7EFD-42D6-915B-94A9E5ABAC21}" vid="{115B2ECF-35DF-4A82-A0C0-9889D580E896}"/>
    </a:ext>
  </a:extLst>
</a:theme>
</file>

<file path=ppt/theme/theme2.xml><?xml version="1.0" encoding="utf-8"?>
<a:theme xmlns:a="http://schemas.openxmlformats.org/drawingml/2006/main" name="8_Delta_PPTtemplate_16x9">
  <a:themeElements>
    <a:clrScheme name="自訂 2">
      <a:dk1>
        <a:sysClr val="windowText" lastClr="000000"/>
      </a:dk1>
      <a:lt1>
        <a:sysClr val="window" lastClr="FFFFFF"/>
      </a:lt1>
      <a:dk2>
        <a:srgbClr val="0087DC"/>
      </a:dk2>
      <a:lt2>
        <a:srgbClr val="FFFFFF"/>
      </a:lt2>
      <a:accent1>
        <a:srgbClr val="0087DC"/>
      </a:accent1>
      <a:accent2>
        <a:srgbClr val="64D7D7"/>
      </a:accent2>
      <a:accent3>
        <a:srgbClr val="B9EB5F"/>
      </a:accent3>
      <a:accent4>
        <a:srgbClr val="1E50C8"/>
      </a:accent4>
      <a:accent5>
        <a:srgbClr val="96E6BE"/>
      </a:accent5>
      <a:accent6>
        <a:srgbClr val="00BE50"/>
      </a:accent6>
      <a:hlink>
        <a:srgbClr val="0563C1"/>
      </a:hlink>
      <a:folHlink>
        <a:srgbClr val="BFBFBF"/>
      </a:folHlink>
    </a:clrScheme>
    <a:fontScheme name="自訂 3">
      <a:majorFont>
        <a:latin typeface="Arial"/>
        <a:ea typeface="Microsoft JhengHei"/>
        <a:cs typeface=""/>
      </a:majorFont>
      <a:minorFont>
        <a:latin typeface="Arial"/>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Delta_PPTtemplate_16x9_EN" id="{AB7E8207-7EFD-42D6-915B-94A9E5ABAC21}" vid="{115B2ECF-35DF-4A82-A0C0-9889D580E896}"/>
    </a:ext>
  </a:extLst>
</a:theme>
</file>

<file path=ppt/theme/theme3.xml><?xml version="1.0" encoding="utf-8"?>
<a:theme xmlns:a="http://schemas.openxmlformats.org/drawingml/2006/main" name="1_Delta_PPTtemplate_16x9">
  <a:themeElements>
    <a:clrScheme name="自訂 2">
      <a:dk1>
        <a:sysClr val="windowText" lastClr="000000"/>
      </a:dk1>
      <a:lt1>
        <a:sysClr val="window" lastClr="FFFFFF"/>
      </a:lt1>
      <a:dk2>
        <a:srgbClr val="0087DC"/>
      </a:dk2>
      <a:lt2>
        <a:srgbClr val="FFFFFF"/>
      </a:lt2>
      <a:accent1>
        <a:srgbClr val="0087DC"/>
      </a:accent1>
      <a:accent2>
        <a:srgbClr val="64D7D7"/>
      </a:accent2>
      <a:accent3>
        <a:srgbClr val="B9EB5F"/>
      </a:accent3>
      <a:accent4>
        <a:srgbClr val="1E50C8"/>
      </a:accent4>
      <a:accent5>
        <a:srgbClr val="96E6BE"/>
      </a:accent5>
      <a:accent6>
        <a:srgbClr val="00BE50"/>
      </a:accent6>
      <a:hlink>
        <a:srgbClr val="0563C1"/>
      </a:hlink>
      <a:folHlink>
        <a:srgbClr val="BFBFBF"/>
      </a:folHlink>
    </a:clrScheme>
    <a:fontScheme name="自訂 3">
      <a:majorFont>
        <a:latin typeface="Arial"/>
        <a:ea typeface="Microsoft JhengHei"/>
        <a:cs typeface=""/>
      </a:majorFont>
      <a:minorFont>
        <a:latin typeface="Arial"/>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lta_PPTtemplate_16x9_EN" id="{AB7E8207-7EFD-42D6-915B-94A9E5ABAC21}" vid="{115B2ECF-35DF-4A82-A0C0-9889D580E896}"/>
    </a:ext>
  </a:ext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Delta_PPTtemplate_16x9">
  <a:themeElements>
    <a:clrScheme name="自訂 2">
      <a:dk1>
        <a:sysClr val="windowText" lastClr="000000"/>
      </a:dk1>
      <a:lt1>
        <a:sysClr val="window" lastClr="FFFFFF"/>
      </a:lt1>
      <a:dk2>
        <a:srgbClr val="0087DC"/>
      </a:dk2>
      <a:lt2>
        <a:srgbClr val="FFFFFF"/>
      </a:lt2>
      <a:accent1>
        <a:srgbClr val="0087DC"/>
      </a:accent1>
      <a:accent2>
        <a:srgbClr val="64D7D7"/>
      </a:accent2>
      <a:accent3>
        <a:srgbClr val="B9EB5F"/>
      </a:accent3>
      <a:accent4>
        <a:srgbClr val="1E50C8"/>
      </a:accent4>
      <a:accent5>
        <a:srgbClr val="96E6BE"/>
      </a:accent5>
      <a:accent6>
        <a:srgbClr val="00BE50"/>
      </a:accent6>
      <a:hlink>
        <a:srgbClr val="0563C1"/>
      </a:hlink>
      <a:folHlink>
        <a:srgbClr val="BFBFBF"/>
      </a:folHlink>
    </a:clrScheme>
    <a:fontScheme name="自訂 3">
      <a:majorFont>
        <a:latin typeface="Arial"/>
        <a:ea typeface="Microsoft JhengHei"/>
        <a:cs typeface=""/>
      </a:majorFont>
      <a:minorFont>
        <a:latin typeface="Arial"/>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lta_PPTtemplate_16x9_EN" id="{AB7E8207-7EFD-42D6-915B-94A9E5ABAC21}" vid="{115B2ECF-35DF-4A82-A0C0-9889D580E89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件" ma:contentTypeID="0x0101003BC5F65D60560D48BD2B18FCD121069F" ma:contentTypeVersion="0" ma:contentTypeDescription="建立新的文件。" ma:contentTypeScope="" ma:versionID="3e43ce3b1d5ea4c0237e9603a8597c0e">
  <xsd:schema xmlns:xsd="http://www.w3.org/2001/XMLSchema" xmlns:xs="http://www.w3.org/2001/XMLSchema" xmlns:p="http://schemas.microsoft.com/office/2006/metadata/properties" targetNamespace="http://schemas.microsoft.com/office/2006/metadata/properties" ma:root="true" ma:fieldsID="0d6edddc00996549d4a35e321cdf2d9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70BE364-04AD-401B-8375-9D31E72BFE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E7ADCE40-54C9-4109-A357-373C6B39CCD9}">
  <ds:schemaRefs>
    <ds:schemaRef ds:uri="http://schemas.microsoft.com/sharepoint/v3/contenttype/forms"/>
  </ds:schemaRefs>
</ds:datastoreItem>
</file>

<file path=customXml/itemProps3.xml><?xml version="1.0" encoding="utf-8"?>
<ds:datastoreItem xmlns:ds="http://schemas.openxmlformats.org/officeDocument/2006/customXml" ds:itemID="{EA9E5498-6C4B-40EA-B0C9-AD9C18DC345A}">
  <ds:schemaRefs>
    <ds:schemaRef ds:uri="http://schemas.microsoft.com/office/2006/documentManagement/types"/>
    <ds:schemaRef ds:uri="http://schemas.openxmlformats.org/package/2006/metadata/core-properties"/>
    <ds:schemaRef ds:uri="http://schemas.microsoft.com/office/infopath/2007/PartnerControls"/>
    <ds:schemaRef ds:uri="http://purl.org/dc/dcmitype/"/>
    <ds:schemaRef ds:uri="http://purl.org/dc/terms/"/>
    <ds:schemaRef ds:uri="http://www.w3.org/XML/1998/namespace"/>
    <ds:schemaRef ds:uri="http://purl.org/dc/elements/1.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0</TotalTime>
  <Words>6540</Words>
  <Application>Microsoft Office PowerPoint</Application>
  <PresentationFormat>寬螢幕</PresentationFormat>
  <Paragraphs>959</Paragraphs>
  <Slides>25</Slides>
  <Notes>20</Notes>
  <HiddenSlides>0</HiddenSlides>
  <MMClips>0</MMClips>
  <ScaleCrop>false</ScaleCrop>
  <HeadingPairs>
    <vt:vector size="4" baseType="variant">
      <vt:variant>
        <vt:lpstr>佈景主題</vt:lpstr>
      </vt:variant>
      <vt:variant>
        <vt:i4>3</vt:i4>
      </vt:variant>
      <vt:variant>
        <vt:lpstr>投影片標題</vt:lpstr>
      </vt:variant>
      <vt:variant>
        <vt:i4>25</vt:i4>
      </vt:variant>
    </vt:vector>
  </HeadingPairs>
  <TitlesOfParts>
    <vt:vector size="28" baseType="lpstr">
      <vt:lpstr>Delta_PPTtemplate_16x9</vt:lpstr>
      <vt:lpstr>8_Delta_PPTtemplate_16x9</vt:lpstr>
      <vt:lpstr>1_Delta_PPTtemplate_16x9</vt:lpstr>
      <vt:lpstr>數據中台 POC1專案 結案報告</vt:lpstr>
      <vt:lpstr>PowerPoint 簡報</vt:lpstr>
      <vt:lpstr>PowerPoint 簡報</vt:lpstr>
      <vt:lpstr>專案範疇 vs 整體架構圖</vt:lpstr>
      <vt:lpstr>專案背景 - 數據中台建製各階段說明</vt:lpstr>
      <vt:lpstr>專案組織</vt:lpstr>
      <vt:lpstr>功能模組工具選型與Data User Story</vt:lpstr>
      <vt:lpstr>Data User Story 終端場景Demo</vt:lpstr>
      <vt:lpstr>To Be : 可能的應用場景</vt:lpstr>
      <vt:lpstr>To Be : 可能的應用場景</vt:lpstr>
      <vt:lpstr>交付與驗收 – 交付物說明</vt:lpstr>
      <vt:lpstr>交付與驗收 – 交付物說明</vt:lpstr>
      <vt:lpstr>交付與驗收 – 交付物說明</vt:lpstr>
      <vt:lpstr>交付與驗收 – 交付物說明</vt:lpstr>
      <vt:lpstr>交付與驗收 – 交付物說明</vt:lpstr>
      <vt:lpstr>PowerPoint 簡報</vt:lpstr>
      <vt:lpstr>專案心得、後續場域擴散建議、執行計畫與注意事項</vt:lpstr>
      <vt:lpstr>專案經理對專案成員評價表</vt:lpstr>
      <vt:lpstr>附錄</vt:lpstr>
      <vt:lpstr>MFG數據中台解決方案架構圖</vt:lpstr>
      <vt:lpstr>數據中台各功能模組選型測試結果</vt:lpstr>
      <vt:lpstr>數據擷取工具評測比較表</vt:lpstr>
      <vt:lpstr>排程控制工具評測比較表</vt:lpstr>
      <vt:lpstr>數據上架工具評測比較表</vt:lpstr>
      <vt:lpstr>數據接口工具評測比較表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專案變更管理</dc:title>
  <dc:creator>SIGMA.WANG 王雪梅</dc:creator>
  <cp:lastModifiedBy>CHUCK.SUN 孫得皓</cp:lastModifiedBy>
  <cp:revision>196</cp:revision>
  <dcterms:created xsi:type="dcterms:W3CDTF">2024-04-28T16:40:31Z</dcterms:created>
  <dcterms:modified xsi:type="dcterms:W3CDTF">2026-09-01T08:44:17Z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0x0101003BC5F65D60560D48BD2B18FCD121069F</vt:lpwstr>
  </property>
</Properties>
</file>