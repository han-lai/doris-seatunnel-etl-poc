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4"/>
  </p:sldMasterIdLst>
  <p:notesMasterIdLst>
    <p:notesMasterId r:id="rId24"/>
  </p:notesMasterIdLst>
  <p:sldIdLst>
    <p:sldId id="302" r:id="rId5"/>
    <p:sldId id="2147478301" r:id="rId6"/>
    <p:sldId id="2147470681" r:id="rId7"/>
    <p:sldId id="2147481363" r:id="rId8"/>
    <p:sldId id="264" r:id="rId9"/>
    <p:sldId id="2147481350" r:id="rId10"/>
    <p:sldId id="2147481372" r:id="rId11"/>
    <p:sldId id="2147481362" r:id="rId12"/>
    <p:sldId id="2147481367" r:id="rId13"/>
    <p:sldId id="2147481371" r:id="rId14"/>
    <p:sldId id="2147481369" r:id="rId15"/>
    <p:sldId id="2147481368" r:id="rId16"/>
    <p:sldId id="2147481366" r:id="rId17"/>
    <p:sldId id="2147481352" r:id="rId18"/>
    <p:sldId id="2147481349" r:id="rId19"/>
    <p:sldId id="2147470685" r:id="rId20"/>
    <p:sldId id="2147470710" r:id="rId21"/>
    <p:sldId id="2147470711" r:id="rId22"/>
    <p:sldId id="291" r:id="rId23"/>
  </p:sldIdLst>
  <p:sldSz cx="12192000" cy="6858000"/>
  <p:notesSz cx="6858000" cy="9144000"/>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3FB"/>
    <a:srgbClr val="00B0F0"/>
    <a:srgbClr val="FFFFFF"/>
    <a:srgbClr val="E1E0F3"/>
    <a:srgbClr val="FF0000"/>
    <a:srgbClr val="51BCFF"/>
    <a:srgbClr val="262626"/>
    <a:srgbClr val="FFB570"/>
    <a:srgbClr val="F8CECC"/>
    <a:srgbClr val="FFE5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D59085-6E16-4C41-9DC0-1FBA13C7DEBD}" v="152" dt="2025-01-15T06:40:17.83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工作表1!$B$1</c:f>
              <c:strCache>
                <c:ptCount val="1"/>
                <c:pt idx="0">
                  <c:v>專案數</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5E14-4AF7-ADF5-1F32AE2CAF8C}"/>
              </c:ext>
            </c:extLst>
          </c:dPt>
          <c:dPt>
            <c:idx val="1"/>
            <c:bubble3D val="0"/>
            <c:spPr>
              <a:solidFill>
                <a:schemeClr val="bg1">
                  <a:lumMod val="75000"/>
                </a:schemeClr>
              </a:solidFill>
              <a:ln w="19050">
                <a:solidFill>
                  <a:schemeClr val="lt1"/>
                </a:solidFill>
              </a:ln>
              <a:effectLst/>
            </c:spPr>
            <c:extLst>
              <c:ext xmlns:c16="http://schemas.microsoft.com/office/drawing/2014/chart" uri="{C3380CC4-5D6E-409C-BE32-E72D297353CC}">
                <c16:uniqueId val="{00000003-5E14-4AF7-ADF5-1F32AE2CAF8C}"/>
              </c:ext>
            </c:extLst>
          </c:dPt>
          <c:dLbls>
            <c:dLbl>
              <c:idx val="0"/>
              <c:tx>
                <c:rich>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fld id="{52F5B6EC-AEBB-453F-AE32-678AB165B573}" type="PERCENTAGE">
                      <a:rPr lang="en-US" altLang="zh-TW" sz="1100" smtClean="0"/>
                      <a:pPr>
                        <a:defRPr sz="1100" b="1">
                          <a:solidFill>
                            <a:schemeClr val="bg1"/>
                          </a:solidFill>
                        </a:defRPr>
                      </a:pPr>
                      <a:t>[百分比]</a:t>
                    </a:fld>
                    <a:endParaRPr lang="zh-TW" altLang="en-US"/>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zh-TW" altLang="en-US"/>
                </a:p>
              </c:txP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E14-4AF7-ADF5-1F32AE2CAF8C}"/>
                </c:ext>
              </c:extLst>
            </c:dLbl>
            <c:dLbl>
              <c:idx val="1"/>
              <c:delete val="1"/>
              <c:extLst>
                <c:ext xmlns:c15="http://schemas.microsoft.com/office/drawing/2012/chart" uri="{CE6537A1-D6FC-4f65-9D91-7224C49458BB}"/>
                <c:ext xmlns:c16="http://schemas.microsoft.com/office/drawing/2014/chart" uri="{C3380CC4-5D6E-409C-BE32-E72D297353CC}">
                  <c16:uniqueId val="{00000003-5E14-4AF7-ADF5-1F32AE2CAF8C}"/>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工作表1!$A$2:$A$3</c:f>
              <c:strCache>
                <c:ptCount val="2"/>
                <c:pt idx="0">
                  <c:v>已完成</c:v>
                </c:pt>
                <c:pt idx="1">
                  <c:v>進行中</c:v>
                </c:pt>
              </c:strCache>
            </c:strRef>
          </c:cat>
          <c:val>
            <c:numRef>
              <c:f>工作表1!$B$2:$B$3</c:f>
              <c:numCache>
                <c:formatCode>General</c:formatCode>
                <c:ptCount val="2"/>
                <c:pt idx="0">
                  <c:v>22</c:v>
                </c:pt>
                <c:pt idx="1">
                  <c:v>179</c:v>
                </c:pt>
              </c:numCache>
            </c:numRef>
          </c:val>
          <c:extLst>
            <c:ext xmlns:c16="http://schemas.microsoft.com/office/drawing/2014/chart" uri="{C3380CC4-5D6E-409C-BE32-E72D297353CC}">
              <c16:uniqueId val="{00000004-5E14-4AF7-ADF5-1F32AE2CAF8C}"/>
            </c:ext>
          </c:extLst>
        </c:ser>
        <c:dLbls>
          <c:showLegendKey val="0"/>
          <c:showVal val="0"/>
          <c:showCatName val="0"/>
          <c:showSerName val="0"/>
          <c:showPercent val="0"/>
          <c:showBubbleSize val="0"/>
          <c:showLeaderLines val="1"/>
        </c:dLbls>
        <c:firstSliceAng val="0"/>
        <c:holeSize val="49"/>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8F0D9C-0244-48E5-AAB4-F314FC181477}" type="datetimeFigureOut">
              <a:rPr lang="en-US" smtClean="0"/>
              <a:t>9/1/2026</a:t>
            </a:fld>
            <a:endParaRPr 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380C3-7D2B-43B9-A2FF-0551F6D200CF}" type="slidenum">
              <a:rPr lang="en-US" smtClean="0"/>
              <a:t>‹#›</a:t>
            </a:fld>
            <a:endParaRPr lang="en-US"/>
          </a:p>
        </p:txBody>
      </p:sp>
    </p:spTree>
    <p:extLst>
      <p:ext uri="{BB962C8B-B14F-4D97-AF65-F5344CB8AC3E}">
        <p14:creationId xmlns:p14="http://schemas.microsoft.com/office/powerpoint/2010/main" val="3287395566"/>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9850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1200" kern="120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A53D92-7F6E-4600-85CC-C66A67562B9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049843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0205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我們有成功上傳</a:t>
            </a:r>
            <a:endParaRPr lang="en-US" altLang="zh-TW"/>
          </a:p>
          <a:p>
            <a:r>
              <a:rPr lang="zh-TW" altLang="en-US"/>
              <a:t>並且有確保資料嫁接</a:t>
            </a:r>
          </a:p>
        </p:txBody>
      </p:sp>
      <p:sp>
        <p:nvSpPr>
          <p:cNvPr id="4" name="投影片編號版面配置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4BA9D-2804-4B04-94BC-96EB66469833}" type="slidenum">
              <a:rPr kumimoji="1" lang="en-US" altLang="zh-TW" sz="1300" b="0" i="0" u="none" strike="noStrike" kern="1200" cap="none" spc="0" normalizeH="0" baseline="0" noProof="0" smtClean="0">
                <a:ln>
                  <a:noFill/>
                </a:ln>
                <a:solidFill>
                  <a:srgbClr val="000000"/>
                </a:solidFill>
                <a:effectLst/>
                <a:uLnTx/>
                <a:uFillTx/>
                <a:latin typeface="Arial" charset="0"/>
                <a:ea typeface="新細明體"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1" lang="en-US" altLang="zh-TW" sz="1300" b="0" i="0" u="none" strike="noStrike" kern="1200" cap="none" spc="0" normalizeH="0" baseline="0" noProof="0">
              <a:ln>
                <a:noFill/>
              </a:ln>
              <a:solidFill>
                <a:srgbClr val="000000"/>
              </a:solidFill>
              <a:effectLst/>
              <a:uLnTx/>
              <a:uFillTx/>
              <a:latin typeface="Arial" charset="0"/>
              <a:ea typeface="新細明體" charset="-120"/>
              <a:cs typeface="+mn-cs"/>
            </a:endParaRPr>
          </a:p>
        </p:txBody>
      </p:sp>
    </p:spTree>
    <p:extLst>
      <p:ext uri="{BB962C8B-B14F-4D97-AF65-F5344CB8AC3E}">
        <p14:creationId xmlns:p14="http://schemas.microsoft.com/office/powerpoint/2010/main" val="3952359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1200" kern="120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A53D92-7F6E-4600-85CC-C66A67562B9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746845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endParaRPr lang="en-US" altLang="zh-TW"/>
          </a:p>
        </p:txBody>
      </p:sp>
      <p:sp>
        <p:nvSpPr>
          <p:cNvPr id="4" name="投影片編號版面配置區 3"/>
          <p:cNvSpPr>
            <a:spLocks noGrp="1"/>
          </p:cNvSpPr>
          <p:nvPr>
            <p:ph type="sldNum" sz="quarter" idx="5"/>
          </p:nvPr>
        </p:nvSpPr>
        <p:spPr/>
        <p:txBody>
          <a:bodyPr/>
          <a:lstStyle/>
          <a:p>
            <a:fld id="{BFF380C3-7D2B-43B9-A2FF-0551F6D200CF}" type="slidenum">
              <a:rPr lang="en-US" smtClean="0"/>
              <a:t>18</a:t>
            </a:fld>
            <a:endParaRPr lang="en-US"/>
          </a:p>
        </p:txBody>
      </p:sp>
    </p:spTree>
    <p:extLst>
      <p:ext uri="{BB962C8B-B14F-4D97-AF65-F5344CB8AC3E}">
        <p14:creationId xmlns:p14="http://schemas.microsoft.com/office/powerpoint/2010/main" val="33075832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18615"/>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a:t>Presentation Title Goes Here</a:t>
            </a:r>
            <a:br>
              <a:rPr lang="en-US" altLang="zh-TW"/>
            </a:br>
            <a:r>
              <a:rPr lang="en-US" altLang="zh-TW"/>
              <a:t>Maximum 2 Lines (32-46pt)</a:t>
            </a:r>
            <a:endParaRPr lang="en-US"/>
          </a:p>
        </p:txBody>
      </p:sp>
      <p:sp>
        <p:nvSpPr>
          <p:cNvPr id="3" name="副標題 2">
            <a:extLst>
              <a:ext uri="{FF2B5EF4-FFF2-40B4-BE49-F238E27FC236}">
                <a16:creationId xmlns:a16="http://schemas.microsoft.com/office/drawing/2014/main" id="{6C9BD8EC-F37F-4F94-8712-797CC1161E95}"/>
              </a:ext>
            </a:extLst>
          </p:cNvPr>
          <p:cNvSpPr>
            <a:spLocks noGrp="1"/>
          </p:cNvSpPr>
          <p:nvPr>
            <p:ph type="subTitle" idx="1" hasCustomPrompt="1"/>
          </p:nvPr>
        </p:nvSpPr>
        <p:spPr>
          <a:xfrm>
            <a:off x="896647" y="3015629"/>
            <a:ext cx="9144000" cy="1370104"/>
          </a:xfrm>
        </p:spPr>
        <p:txBody>
          <a:bodyPr>
            <a:normAutofit/>
          </a:bodyPr>
          <a:lstStyle>
            <a:lvl1pPr marL="0" indent="0" algn="l">
              <a:lnSpc>
                <a:spcPct val="110000"/>
              </a:lnSpc>
              <a:spcBef>
                <a:spcPts val="0"/>
              </a:spcBef>
              <a:buNone/>
              <a:defRPr sz="3000">
                <a:solidFill>
                  <a:schemeClr val="tx2"/>
                </a:solidFill>
                <a:latin typeface="+mj-lt"/>
                <a:ea typeface="+mj-ea"/>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TW" sz="3000"/>
              <a:t>Presentation Subtitle Goes Here</a:t>
            </a:r>
            <a:br>
              <a:rPr lang="en-US" altLang="zh-TW" sz="3000"/>
            </a:br>
            <a:r>
              <a:rPr lang="en-US" altLang="zh-TW" sz="3000"/>
              <a:t>Maximum 2 Lines (24-32pt)</a:t>
            </a:r>
          </a:p>
        </p:txBody>
      </p:sp>
      <p:sp>
        <p:nvSpPr>
          <p:cNvPr id="11" name="頁尾版面配置區 4">
            <a:extLst>
              <a:ext uri="{FF2B5EF4-FFF2-40B4-BE49-F238E27FC236}">
                <a16:creationId xmlns:a16="http://schemas.microsoft.com/office/drawing/2014/main" id="{38A83012-CC3B-47DF-9FCA-A1115F39D319}"/>
              </a:ext>
            </a:extLst>
          </p:cNvPr>
          <p:cNvSpPr>
            <a:spLocks noGrp="1"/>
          </p:cNvSpPr>
          <p:nvPr>
            <p:ph type="ftr" sz="quarter" idx="3"/>
          </p:nvPr>
        </p:nvSpPr>
        <p:spPr>
          <a:xfrm>
            <a:off x="818612" y="5739683"/>
            <a:ext cx="5707316" cy="218356"/>
          </a:xfrm>
        </p:spPr>
        <p:txBody>
          <a:bodyPr/>
          <a:lstStyle>
            <a:lvl1pPr>
              <a:defRPr>
                <a:latin typeface="Arial" panose="020B0604020202020204" pitchFamily="34" charset="0"/>
                <a:cs typeface="Arial" panose="020B0604020202020204" pitchFamily="34" charset="0"/>
              </a:defRPr>
            </a:lvl1pPr>
          </a:lstStyle>
          <a:p>
            <a:r>
              <a:rPr lang="en-US" altLang="zh-TW" sz="1800"/>
              <a:t>Presenter</a:t>
            </a:r>
            <a:r>
              <a:rPr lang="zh-TW" altLang="en-US" sz="1800"/>
              <a:t> </a:t>
            </a:r>
            <a:r>
              <a:rPr lang="en-US" altLang="zh-TW" sz="1800"/>
              <a:t>Name</a:t>
            </a:r>
            <a:r>
              <a:rPr lang="zh-TW" altLang="en-US" sz="1800"/>
              <a:t>｜</a:t>
            </a:r>
            <a:r>
              <a:rPr lang="en-US" altLang="zh-TW" sz="1800"/>
              <a:t>Department</a:t>
            </a:r>
            <a:r>
              <a:rPr lang="zh-TW" altLang="en-US" sz="1800"/>
              <a:t>｜</a:t>
            </a:r>
            <a:r>
              <a:rPr lang="en-US" altLang="zh-TW" sz="1800"/>
              <a:t>MM/DD/YYYY</a:t>
            </a:r>
          </a:p>
        </p:txBody>
      </p:sp>
      <p:sp>
        <p:nvSpPr>
          <p:cNvPr id="9" name="文字版面配置區 4">
            <a:extLst>
              <a:ext uri="{FF2B5EF4-FFF2-40B4-BE49-F238E27FC236}">
                <a16:creationId xmlns:a16="http://schemas.microsoft.com/office/drawing/2014/main" id="{C5F15596-5511-4524-8143-5414A6D0A46F}"/>
              </a:ext>
            </a:extLst>
          </p:cNvPr>
          <p:cNvSpPr>
            <a:spLocks noGrp="1"/>
          </p:cNvSpPr>
          <p:nvPr>
            <p:ph type="body" sz="quarter" idx="12" hasCustomPrompt="1"/>
          </p:nvPr>
        </p:nvSpPr>
        <p:spPr>
          <a:xfrm>
            <a:off x="934219" y="738191"/>
            <a:ext cx="2133446" cy="380427"/>
          </a:xfrm>
        </p:spPr>
        <p:txBody>
          <a:bodyPr>
            <a:normAutofit/>
          </a:bodyPr>
          <a:lstStyle>
            <a:lvl1pPr marL="0" indent="0">
              <a:buNone/>
              <a:defRPr sz="1800">
                <a:solidFill>
                  <a:srgbClr val="0070C0"/>
                </a:solidFill>
              </a:defRPr>
            </a:lvl1pPr>
          </a:lstStyle>
          <a:p>
            <a:pPr lvl="0"/>
            <a:r>
              <a:rPr lang="en-US" altLang="zh-TW"/>
              <a:t>Cover </a:t>
            </a:r>
            <a:r>
              <a:rPr lang="en-US" altLang="zh-TW" err="1"/>
              <a:t>Page_White</a:t>
            </a:r>
            <a:endParaRPr lang="zh-TW" altLang="en-US"/>
          </a:p>
        </p:txBody>
      </p:sp>
    </p:spTree>
    <p:extLst>
      <p:ext uri="{BB962C8B-B14F-4D97-AF65-F5344CB8AC3E}">
        <p14:creationId xmlns:p14="http://schemas.microsoft.com/office/powerpoint/2010/main" val="417432220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age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2621" y="1"/>
            <a:ext cx="12179379" cy="6850900"/>
          </a:xfrm>
          <a:prstGeom prst="rect">
            <a:avLst/>
          </a:prstGeom>
        </p:spPr>
      </p:pic>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18912" y="5705762"/>
            <a:ext cx="2010917" cy="319651"/>
          </a:xfrm>
        </p:spPr>
        <p:txBody>
          <a:bodyPr/>
          <a:lstStyle>
            <a:lvl1pPr>
              <a:defRPr sz="1800">
                <a:solidFill>
                  <a:schemeClr val="bg1"/>
                </a:solidFill>
              </a:defRPr>
            </a:lvl1pPr>
          </a:lstStyle>
          <a:p>
            <a:r>
              <a:rPr lang="en-US"/>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838897" y="5333736"/>
            <a:ext cx="4114800" cy="365125"/>
          </a:xfrm>
          <a:prstGeom prst="rect">
            <a:avLst/>
          </a:prstGeom>
        </p:spPr>
        <p:txBody>
          <a:bodyPr vert="horz" lIns="91440" tIns="45720" rIns="91440" bIns="45720" rtlCol="0" anchor="ctr"/>
          <a:lstStyle>
            <a:lvl1pPr algn="l">
              <a:defRPr sz="1800" u="none">
                <a:solidFill>
                  <a:schemeClr val="bg1"/>
                </a:solidFill>
                <a:latin typeface="Arial" panose="020B0604020202020204" pitchFamily="34" charset="0"/>
                <a:cs typeface="Arial" panose="020B0604020202020204" pitchFamily="34" charset="0"/>
              </a:defRPr>
            </a:lvl1pPr>
          </a:lstStyle>
          <a:p>
            <a:r>
              <a:rPr lang="en-US" altLang="zh-TW"/>
              <a:t>Presenter Name</a:t>
            </a:r>
            <a:r>
              <a:rPr lang="zh-TW" altLang="en-US"/>
              <a:t>｜</a:t>
            </a:r>
            <a:r>
              <a:rPr lang="en-US" altLang="zh-TW"/>
              <a:t>Department </a:t>
            </a:r>
            <a:endParaRPr lang="en-US"/>
          </a:p>
        </p:txBody>
      </p:sp>
      <p:sp>
        <p:nvSpPr>
          <p:cNvPr id="10"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37872"/>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a:t>Presentation Title Goes Here</a:t>
            </a:r>
            <a:br>
              <a:rPr lang="en-US" altLang="zh-TW"/>
            </a:br>
            <a:r>
              <a:rPr lang="en-US" altLang="zh-TW"/>
              <a:t>Maximum 2 Lines (32-46pt)</a:t>
            </a:r>
            <a:endParaRPr lang="en-US"/>
          </a:p>
        </p:txBody>
      </p:sp>
      <p:sp>
        <p:nvSpPr>
          <p:cNvPr id="11" name="文字版面配置區 4">
            <a:extLst>
              <a:ext uri="{FF2B5EF4-FFF2-40B4-BE49-F238E27FC236}">
                <a16:creationId xmlns:a16="http://schemas.microsoft.com/office/drawing/2014/main" id="{35B9A589-C73E-46B0-B30E-8BBC42A4E098}"/>
              </a:ext>
            </a:extLst>
          </p:cNvPr>
          <p:cNvSpPr>
            <a:spLocks noGrp="1"/>
          </p:cNvSpPr>
          <p:nvPr>
            <p:ph type="body" sz="quarter" idx="12" hasCustomPrompt="1"/>
          </p:nvPr>
        </p:nvSpPr>
        <p:spPr>
          <a:xfrm>
            <a:off x="934219" y="738191"/>
            <a:ext cx="2133446" cy="380427"/>
          </a:xfrm>
        </p:spPr>
        <p:txBody>
          <a:bodyPr>
            <a:normAutofit/>
          </a:bodyPr>
          <a:lstStyle>
            <a:lvl1pPr marL="0" indent="0">
              <a:buNone/>
              <a:defRPr sz="1800">
                <a:solidFill>
                  <a:srgbClr val="0070C0"/>
                </a:solidFill>
              </a:defRPr>
            </a:lvl1pPr>
          </a:lstStyle>
          <a:p>
            <a:pPr lvl="0"/>
            <a:r>
              <a:rPr lang="en-US" altLang="zh-TW"/>
              <a:t>Cover </a:t>
            </a:r>
            <a:r>
              <a:rPr lang="en-US" altLang="zh-TW" err="1"/>
              <a:t>Page_Image</a:t>
            </a:r>
            <a:endParaRPr lang="zh-TW" altLang="en-US"/>
          </a:p>
        </p:txBody>
      </p:sp>
    </p:spTree>
    <p:extLst>
      <p:ext uri="{BB962C8B-B14F-4D97-AF65-F5344CB8AC3E}">
        <p14:creationId xmlns:p14="http://schemas.microsoft.com/office/powerpoint/2010/main" val="40478695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eak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B44CAB8-9DEC-4DEF-99E0-D78F53E4F834}"/>
              </a:ext>
            </a:extLst>
          </p:cNvPr>
          <p:cNvSpPr>
            <a:spLocks noGrp="1"/>
          </p:cNvSpPr>
          <p:nvPr>
            <p:ph type="ctrTitle" hasCustomPrompt="1"/>
          </p:nvPr>
        </p:nvSpPr>
        <p:spPr>
          <a:xfrm>
            <a:off x="896647" y="1118621"/>
            <a:ext cx="9144000" cy="1864899"/>
          </a:xfrm>
        </p:spPr>
        <p:txBody>
          <a:bodyPr anchor="t">
            <a:normAutofit/>
          </a:bodyPr>
          <a:lstStyle>
            <a:lvl1pPr algn="l">
              <a:lnSpc>
                <a:spcPct val="110000"/>
              </a:lnSpc>
              <a:defRPr sz="4600" b="0">
                <a:solidFill>
                  <a:schemeClr val="bg1"/>
                </a:solidFill>
                <a:latin typeface="+mj-lt"/>
                <a:ea typeface="Verdana" panose="020B0604030504040204" pitchFamily="34" charset="0"/>
              </a:defRPr>
            </a:lvl1pPr>
          </a:lstStyle>
          <a:p>
            <a:r>
              <a:rPr lang="en-US" altLang="zh-TW"/>
              <a:t>Break Page Title Goes Here</a:t>
            </a:r>
            <a:br>
              <a:rPr lang="en-US" altLang="zh-TW"/>
            </a:br>
            <a:r>
              <a:rPr lang="en-US" altLang="zh-TW"/>
              <a:t>Maximum 2 Lines (32-46pt)</a:t>
            </a:r>
            <a:endParaRPr lang="en-US"/>
          </a:p>
        </p:txBody>
      </p:sp>
      <p:sp>
        <p:nvSpPr>
          <p:cNvPr id="6" name="副標題 2">
            <a:extLst>
              <a:ext uri="{FF2B5EF4-FFF2-40B4-BE49-F238E27FC236}">
                <a16:creationId xmlns:a16="http://schemas.microsoft.com/office/drawing/2014/main" id="{814F8012-3519-4A75-B26B-57773CA554B6}"/>
              </a:ext>
            </a:extLst>
          </p:cNvPr>
          <p:cNvSpPr>
            <a:spLocks noGrp="1"/>
          </p:cNvSpPr>
          <p:nvPr>
            <p:ph type="subTitle" idx="1" hasCustomPrompt="1"/>
          </p:nvPr>
        </p:nvSpPr>
        <p:spPr>
          <a:xfrm>
            <a:off x="896647" y="3015632"/>
            <a:ext cx="9144000" cy="1353169"/>
          </a:xfrm>
        </p:spPr>
        <p:txBody>
          <a:bodyPr>
            <a:normAutofit/>
          </a:bodyPr>
          <a:lstStyle>
            <a:lvl1pPr marL="0" indent="0" algn="l">
              <a:lnSpc>
                <a:spcPct val="110000"/>
              </a:lnSpc>
              <a:spcBef>
                <a:spcPts val="0"/>
              </a:spcBef>
              <a:buNone/>
              <a:defRPr sz="3200">
                <a:solidFill>
                  <a:schemeClr val="bg1"/>
                </a:solidFill>
                <a:latin typeface="+mj-lt"/>
                <a:ea typeface="Verdana" panose="020B060403050404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ltLang="zh-TW"/>
              <a:t>Break Page Subtitle Goes Here</a:t>
            </a:r>
            <a:br>
              <a:rPr lang="en-US" altLang="zh-TW"/>
            </a:br>
            <a:r>
              <a:rPr lang="en-US" altLang="zh-TW"/>
              <a:t>Maximum 2 Lines (24-32pt)</a:t>
            </a:r>
          </a:p>
        </p:txBody>
      </p:sp>
    </p:spTree>
    <p:extLst>
      <p:ext uri="{BB962C8B-B14F-4D97-AF65-F5344CB8AC3E}">
        <p14:creationId xmlns:p14="http://schemas.microsoft.com/office/powerpoint/2010/main" val="1964055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age">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1"/>
            <a:ext cx="1368000" cy="620345"/>
          </a:xfrm>
          <a:prstGeom prst="rect">
            <a:avLst/>
          </a:prstGeom>
        </p:spPr>
      </p:pic>
      <p:sp>
        <p:nvSpPr>
          <p:cNvPr id="2" name="標題 1">
            <a:extLst>
              <a:ext uri="{FF2B5EF4-FFF2-40B4-BE49-F238E27FC236}">
                <a16:creationId xmlns:a16="http://schemas.microsoft.com/office/drawing/2014/main" id="{E8CA6B8E-EB08-4AB0-9768-E121F12ABA2B}"/>
              </a:ext>
            </a:extLst>
          </p:cNvPr>
          <p:cNvSpPr>
            <a:spLocks noGrp="1"/>
          </p:cNvSpPr>
          <p:nvPr>
            <p:ph type="title" hasCustomPrompt="1"/>
          </p:nvPr>
        </p:nvSpPr>
        <p:spPr>
          <a:xfrm>
            <a:off x="406400" y="83514"/>
            <a:ext cx="11379200" cy="679396"/>
          </a:xfrm>
        </p:spPr>
        <p:txBody>
          <a:bodyPr anchor="t"/>
          <a:lstStyle>
            <a:lvl1pPr>
              <a:defRPr/>
            </a:lvl1pPr>
          </a:lstStyle>
          <a:p>
            <a:r>
              <a:rPr lang="en-US" altLang="zh-TW"/>
              <a:t>Page Title Goes Here (32pt)</a:t>
            </a:r>
            <a:endParaRPr lang="en-US"/>
          </a:p>
        </p:txBody>
      </p:sp>
      <p:sp>
        <p:nvSpPr>
          <p:cNvPr id="3" name="內容版面配置區 2">
            <a:extLst>
              <a:ext uri="{FF2B5EF4-FFF2-40B4-BE49-F238E27FC236}">
                <a16:creationId xmlns:a16="http://schemas.microsoft.com/office/drawing/2014/main" id="{BEF22CCF-5B81-47DC-861A-B0A56BD7A109}"/>
              </a:ext>
            </a:extLst>
          </p:cNvPr>
          <p:cNvSpPr>
            <a:spLocks noGrp="1"/>
          </p:cNvSpPr>
          <p:nvPr>
            <p:ph idx="1"/>
          </p:nvPr>
        </p:nvSpPr>
        <p:spPr>
          <a:xfrm>
            <a:off x="406400" y="812708"/>
            <a:ext cx="11379200" cy="5311531"/>
          </a:xfrm>
        </p:spPr>
        <p:txBody>
          <a:bodyPr>
            <a:normAutofit/>
          </a:bodyPr>
          <a:lstStyle>
            <a:lvl1pPr>
              <a:lnSpc>
                <a:spcPct val="110000"/>
              </a:lnSpc>
              <a:defRPr sz="2000">
                <a:solidFill>
                  <a:schemeClr val="tx1"/>
                </a:solidFill>
              </a:defRPr>
            </a:lvl1pPr>
            <a:lvl2pPr>
              <a:defRPr sz="1800"/>
            </a:lvl2pPr>
            <a:lvl3pPr>
              <a:defRPr sz="1600"/>
            </a:lvl3pPr>
            <a:lvl4pPr>
              <a:defRPr sz="1400"/>
            </a:lvl4pPr>
            <a:lvl5pPr>
              <a:defRPr sz="1400"/>
            </a:lvl5pPr>
          </a:lstStyle>
          <a:p>
            <a:pPr lvl="0"/>
            <a:endParaRPr lang="en-US" altLang="zh-TW"/>
          </a:p>
          <a:p>
            <a:pPr lvl="1"/>
            <a:endParaRPr lang="en-US" altLang="zh-TW"/>
          </a:p>
          <a:p>
            <a:pPr lvl="2"/>
            <a:endParaRPr lang="en-US" altLang="zh-TW"/>
          </a:p>
          <a:p>
            <a:pPr lvl="3"/>
            <a:endParaRPr lang="en-US" altLang="zh-TW"/>
          </a:p>
          <a:p>
            <a:pPr lvl="4"/>
            <a:endParaRPr lang="en-US"/>
          </a:p>
        </p:txBody>
      </p:sp>
      <p:sp>
        <p:nvSpPr>
          <p:cNvPr id="52" name="文字方塊 51">
            <a:extLst>
              <a:ext uri="{FF2B5EF4-FFF2-40B4-BE49-F238E27FC236}">
                <a16:creationId xmlns:a16="http://schemas.microsoft.com/office/drawing/2014/main" id="{4EB72046-7EFA-4D5B-9003-30F89B1D91A8}"/>
              </a:ext>
            </a:extLst>
          </p:cNvPr>
          <p:cNvSpPr txBox="1"/>
          <p:nvPr userDrawn="1"/>
        </p:nvSpPr>
        <p:spPr>
          <a:xfrm>
            <a:off x="116026" y="6478467"/>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82266" y="652826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p>
        </p:txBody>
      </p:sp>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5"/>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Tree>
    <p:extLst>
      <p:ext uri="{BB962C8B-B14F-4D97-AF65-F5344CB8AC3E}">
        <p14:creationId xmlns:p14="http://schemas.microsoft.com/office/powerpoint/2010/main" val="321688154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age_Title Only">
    <p:bg>
      <p:bgPr>
        <a:solidFill>
          <a:schemeClr val="bg1"/>
        </a:solidFill>
        <a:effectLst/>
      </p:bgPr>
    </p:bg>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702107E-0279-495A-BF89-DD786730CC37}"/>
              </a:ext>
            </a:extLst>
          </p:cNvPr>
          <p:cNvSpPr>
            <a:spLocks noGrp="1"/>
          </p:cNvSpPr>
          <p:nvPr>
            <p:ph type="title" hasCustomPrompt="1"/>
          </p:nvPr>
        </p:nvSpPr>
        <p:spPr>
          <a:xfrm>
            <a:off x="406400" y="83514"/>
            <a:ext cx="11379200" cy="679396"/>
          </a:xfrm>
        </p:spPr>
        <p:txBody>
          <a:bodyPr/>
          <a:lstStyle>
            <a:lvl1pPr>
              <a:defRPr/>
            </a:lvl1pPr>
          </a:lstStyle>
          <a:p>
            <a:r>
              <a:rPr lang="en-US" altLang="zh-TW"/>
              <a:t>Page Title Goes Here (28-32pt)</a:t>
            </a:r>
            <a:endParaRPr lang="en-US"/>
          </a:p>
        </p:txBody>
      </p:sp>
      <p:grpSp>
        <p:nvGrpSpPr>
          <p:cNvPr id="49" name="群組 48">
            <a:extLst>
              <a:ext uri="{FF2B5EF4-FFF2-40B4-BE49-F238E27FC236}">
                <a16:creationId xmlns:a16="http://schemas.microsoft.com/office/drawing/2014/main" id="{8AEA3F42-8ED3-4628-89CC-CE9DC5D371F1}"/>
              </a:ext>
            </a:extLst>
          </p:cNvPr>
          <p:cNvGrpSpPr/>
          <p:nvPr userDrawn="1"/>
        </p:nvGrpSpPr>
        <p:grpSpPr>
          <a:xfrm>
            <a:off x="0" y="7008895"/>
            <a:ext cx="10358581" cy="423333"/>
            <a:chOff x="0" y="5256671"/>
            <a:chExt cx="7768936" cy="317500"/>
          </a:xfrm>
        </p:grpSpPr>
        <p:grpSp>
          <p:nvGrpSpPr>
            <p:cNvPr id="50" name="群組 49">
              <a:extLst>
                <a:ext uri="{FF2B5EF4-FFF2-40B4-BE49-F238E27FC236}">
                  <a16:creationId xmlns:a16="http://schemas.microsoft.com/office/drawing/2014/main" id="{BDCAFD82-B8CA-4738-843C-0FC6D7C6C5F5}"/>
                </a:ext>
              </a:extLst>
            </p:cNvPr>
            <p:cNvGrpSpPr/>
            <p:nvPr userDrawn="1"/>
          </p:nvGrpSpPr>
          <p:grpSpPr>
            <a:xfrm>
              <a:off x="0" y="5256671"/>
              <a:ext cx="1321058" cy="317500"/>
              <a:chOff x="0" y="5256671"/>
              <a:chExt cx="1321058" cy="317500"/>
            </a:xfrm>
          </p:grpSpPr>
          <p:sp>
            <p:nvSpPr>
              <p:cNvPr id="63" name="矩形 62">
                <a:extLst>
                  <a:ext uri="{FF2B5EF4-FFF2-40B4-BE49-F238E27FC236}">
                    <a16:creationId xmlns:a16="http://schemas.microsoft.com/office/drawing/2014/main" id="{3C299B04-932C-4519-8E76-017FBD3A569A}"/>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0B20FB35-F562-4362-B563-165B2407465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0DE5232E-7B0E-4AEF-9D43-2E173D30F319}"/>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1" name="群組 50">
              <a:extLst>
                <a:ext uri="{FF2B5EF4-FFF2-40B4-BE49-F238E27FC236}">
                  <a16:creationId xmlns:a16="http://schemas.microsoft.com/office/drawing/2014/main" id="{9D8FD8BE-B575-4450-95FD-B132F2FBF30C}"/>
                </a:ext>
              </a:extLst>
            </p:cNvPr>
            <p:cNvGrpSpPr/>
            <p:nvPr userDrawn="1"/>
          </p:nvGrpSpPr>
          <p:grpSpPr>
            <a:xfrm>
              <a:off x="2441313" y="5256671"/>
              <a:ext cx="5327623" cy="317500"/>
              <a:chOff x="2441313" y="5256671"/>
              <a:chExt cx="5327623" cy="317500"/>
            </a:xfrm>
          </p:grpSpPr>
          <p:sp>
            <p:nvSpPr>
              <p:cNvPr id="52" name="矩形 51">
                <a:extLst>
                  <a:ext uri="{FF2B5EF4-FFF2-40B4-BE49-F238E27FC236}">
                    <a16:creationId xmlns:a16="http://schemas.microsoft.com/office/drawing/2014/main" id="{FA6D470B-49E6-460D-A2F7-3AA3A3B20021}"/>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矩形 52">
                <a:extLst>
                  <a:ext uri="{FF2B5EF4-FFF2-40B4-BE49-F238E27FC236}">
                    <a16:creationId xmlns:a16="http://schemas.microsoft.com/office/drawing/2014/main" id="{184DC0D2-E428-4F38-B04F-7DC781667A34}"/>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矩形 53">
                <a:extLst>
                  <a:ext uri="{FF2B5EF4-FFF2-40B4-BE49-F238E27FC236}">
                    <a16:creationId xmlns:a16="http://schemas.microsoft.com/office/drawing/2014/main" id="{681D0C29-FC7B-4F3F-BD32-E40206A62370}"/>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矩形 54">
                <a:extLst>
                  <a:ext uri="{FF2B5EF4-FFF2-40B4-BE49-F238E27FC236}">
                    <a16:creationId xmlns:a16="http://schemas.microsoft.com/office/drawing/2014/main" id="{D032A71D-5325-4D28-B4B1-6B6BF4AAB30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矩形 55">
                <a:extLst>
                  <a:ext uri="{FF2B5EF4-FFF2-40B4-BE49-F238E27FC236}">
                    <a16:creationId xmlns:a16="http://schemas.microsoft.com/office/drawing/2014/main" id="{738A70FA-150B-4708-B634-5950D1A00DF9}"/>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矩形 56">
                <a:extLst>
                  <a:ext uri="{FF2B5EF4-FFF2-40B4-BE49-F238E27FC236}">
                    <a16:creationId xmlns:a16="http://schemas.microsoft.com/office/drawing/2014/main" id="{D3854FDB-0E9B-46EB-A142-15E78B7E2E6D}"/>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8" name="矩形 57">
                <a:extLst>
                  <a:ext uri="{FF2B5EF4-FFF2-40B4-BE49-F238E27FC236}">
                    <a16:creationId xmlns:a16="http://schemas.microsoft.com/office/drawing/2014/main" id="{6FD94B95-A8E7-4E9F-A041-9A4885EECF37}"/>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矩形 58">
                <a:extLst>
                  <a:ext uri="{FF2B5EF4-FFF2-40B4-BE49-F238E27FC236}">
                    <a16:creationId xmlns:a16="http://schemas.microsoft.com/office/drawing/2014/main" id="{1F6E9780-35D6-4AF2-80BB-A3569C8BA2E3}"/>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4A11A937-B5ED-40BD-9B95-73D6C01FBDBD}"/>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71465539-F4BD-48C9-8CC9-44AE7B97586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85BCC709-E469-4948-B4D5-AF8897457737}"/>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文字方塊 23">
            <a:extLst>
              <a:ext uri="{FF2B5EF4-FFF2-40B4-BE49-F238E27FC236}">
                <a16:creationId xmlns:a16="http://schemas.microsoft.com/office/drawing/2014/main" id="{4EB72046-7EFA-4D5B-9003-30F89B1D91A8}"/>
              </a:ext>
            </a:extLst>
          </p:cNvPr>
          <p:cNvSpPr txBox="1"/>
          <p:nvPr userDrawn="1"/>
        </p:nvSpPr>
        <p:spPr>
          <a:xfrm>
            <a:off x="116026" y="6478467"/>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25" name="文字方塊 24">
            <a:extLst>
              <a:ext uri="{FF2B5EF4-FFF2-40B4-BE49-F238E27FC236}">
                <a16:creationId xmlns:a16="http://schemas.microsoft.com/office/drawing/2014/main" id="{E8C46C83-D634-4B86-88D9-5C8B6A41BF9F}"/>
              </a:ext>
            </a:extLst>
          </p:cNvPr>
          <p:cNvSpPr txBox="1"/>
          <p:nvPr userDrawn="1"/>
        </p:nvSpPr>
        <p:spPr>
          <a:xfrm>
            <a:off x="482266" y="652826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23" name="圖片 2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1"/>
            <a:ext cx="1368000" cy="620345"/>
          </a:xfrm>
          <a:prstGeom prst="rect">
            <a:avLst/>
          </a:prstGeom>
        </p:spPr>
      </p:pic>
    </p:spTree>
    <p:extLst>
      <p:ext uri="{BB962C8B-B14F-4D97-AF65-F5344CB8AC3E}">
        <p14:creationId xmlns:p14="http://schemas.microsoft.com/office/powerpoint/2010/main" val="345991642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ing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5F44435C-4EDB-4AB4-AAD6-08BF8682BAAC}"/>
              </a:ext>
            </a:extLst>
          </p:cNvPr>
          <p:cNvSpPr>
            <a:spLocks noGrp="1"/>
          </p:cNvSpPr>
          <p:nvPr>
            <p:ph type="ctrTitle" hasCustomPrompt="1"/>
          </p:nvPr>
        </p:nvSpPr>
        <p:spPr>
          <a:xfrm>
            <a:off x="896647" y="1099372"/>
            <a:ext cx="9144000" cy="1864899"/>
          </a:xfrm>
        </p:spPr>
        <p:txBody>
          <a:bodyPr anchor="t">
            <a:normAutofit/>
          </a:bodyPr>
          <a:lstStyle>
            <a:lvl1pPr algn="l">
              <a:lnSpc>
                <a:spcPct val="110000"/>
              </a:lnSpc>
              <a:defRPr sz="4600" b="0">
                <a:solidFill>
                  <a:schemeClr val="tx1"/>
                </a:solidFill>
                <a:latin typeface="+mj-lt"/>
                <a:ea typeface="Verdana" panose="020B0604030504040204" pitchFamily="34" charset="0"/>
              </a:defRPr>
            </a:lvl1pPr>
          </a:lstStyle>
          <a:p>
            <a:r>
              <a:rPr lang="en-US" altLang="zh-TW"/>
              <a:t>Smarter. Greener. Together. </a:t>
            </a:r>
            <a:br>
              <a:rPr lang="en-US"/>
            </a:br>
            <a:endParaRPr lang="en-US"/>
          </a:p>
        </p:txBody>
      </p:sp>
      <p:sp>
        <p:nvSpPr>
          <p:cNvPr id="6" name="文字版面配置區 4">
            <a:extLst>
              <a:ext uri="{FF2B5EF4-FFF2-40B4-BE49-F238E27FC236}">
                <a16:creationId xmlns:a16="http://schemas.microsoft.com/office/drawing/2014/main" id="{38C78CAC-0A95-4D70-9EAA-CE96A16F9E0A}"/>
              </a:ext>
            </a:extLst>
          </p:cNvPr>
          <p:cNvSpPr>
            <a:spLocks noGrp="1"/>
          </p:cNvSpPr>
          <p:nvPr>
            <p:ph type="body" sz="quarter" idx="12" hasCustomPrompt="1"/>
          </p:nvPr>
        </p:nvSpPr>
        <p:spPr>
          <a:xfrm>
            <a:off x="385370" y="60183"/>
            <a:ext cx="2133446" cy="380427"/>
          </a:xfrm>
        </p:spPr>
        <p:txBody>
          <a:bodyPr>
            <a:normAutofit/>
          </a:bodyPr>
          <a:lstStyle>
            <a:lvl1pPr marL="0" indent="0">
              <a:buNone/>
              <a:defRPr sz="1600">
                <a:solidFill>
                  <a:srgbClr val="0070C0"/>
                </a:solidFill>
              </a:defRPr>
            </a:lvl1pPr>
          </a:lstStyle>
          <a:p>
            <a:pPr lvl="0"/>
            <a:r>
              <a:rPr lang="en-US" altLang="zh-TW"/>
              <a:t>Ending </a:t>
            </a:r>
            <a:r>
              <a:rPr lang="en-US" altLang="zh-TW" err="1"/>
              <a:t>Page_White</a:t>
            </a:r>
            <a:endParaRPr lang="zh-TW" altLang="en-US"/>
          </a:p>
        </p:txBody>
      </p:sp>
    </p:spTree>
    <p:extLst>
      <p:ext uri="{BB962C8B-B14F-4D97-AF65-F5344CB8AC3E}">
        <p14:creationId xmlns:p14="http://schemas.microsoft.com/office/powerpoint/2010/main" val="3218489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ing Page_Image">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3B392DE6-2AF2-4E28-AF03-1A4F3D15BEAE}"/>
              </a:ext>
            </a:extLst>
          </p:cNvPr>
          <p:cNvSpPr/>
          <p:nvPr userDrawn="1"/>
        </p:nvSpPr>
        <p:spPr>
          <a:xfrm>
            <a:off x="0" y="-1"/>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3" name="矩形 52"/>
          <p:cNvSpPr/>
          <p:nvPr userDrawn="1"/>
        </p:nvSpPr>
        <p:spPr>
          <a:xfrm>
            <a:off x="0" y="-1"/>
            <a:ext cx="12192000" cy="4831883"/>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a:p>
        </p:txBody>
      </p:sp>
      <p:grpSp>
        <p:nvGrpSpPr>
          <p:cNvPr id="35" name="群組 34">
            <a:extLst>
              <a:ext uri="{FF2B5EF4-FFF2-40B4-BE49-F238E27FC236}">
                <a16:creationId xmlns:a16="http://schemas.microsoft.com/office/drawing/2014/main" id="{ABE8868F-CA4D-431A-BCA3-79708C4A93CC}"/>
              </a:ext>
            </a:extLst>
          </p:cNvPr>
          <p:cNvGrpSpPr/>
          <p:nvPr userDrawn="1"/>
        </p:nvGrpSpPr>
        <p:grpSpPr>
          <a:xfrm>
            <a:off x="0" y="7008895"/>
            <a:ext cx="10358581" cy="423333"/>
            <a:chOff x="0" y="5256671"/>
            <a:chExt cx="7768936" cy="317500"/>
          </a:xfrm>
        </p:grpSpPr>
        <p:grpSp>
          <p:nvGrpSpPr>
            <p:cNvPr id="36" name="群組 35">
              <a:extLst>
                <a:ext uri="{FF2B5EF4-FFF2-40B4-BE49-F238E27FC236}">
                  <a16:creationId xmlns:a16="http://schemas.microsoft.com/office/drawing/2014/main" id="{E5238164-92D2-4070-B189-8D969D4D4C1C}"/>
                </a:ext>
              </a:extLst>
            </p:cNvPr>
            <p:cNvGrpSpPr/>
            <p:nvPr userDrawn="1"/>
          </p:nvGrpSpPr>
          <p:grpSpPr>
            <a:xfrm>
              <a:off x="0" y="5256671"/>
              <a:ext cx="1321058" cy="317500"/>
              <a:chOff x="0" y="5256671"/>
              <a:chExt cx="1321058" cy="317500"/>
            </a:xfrm>
          </p:grpSpPr>
          <p:sp>
            <p:nvSpPr>
              <p:cNvPr id="49" name="矩形 48">
                <a:extLst>
                  <a:ext uri="{FF2B5EF4-FFF2-40B4-BE49-F238E27FC236}">
                    <a16:creationId xmlns:a16="http://schemas.microsoft.com/office/drawing/2014/main" id="{FD4CBB22-8F55-4813-A361-6B31616CEFC5}"/>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0" name="矩形 49">
                <a:extLst>
                  <a:ext uri="{FF2B5EF4-FFF2-40B4-BE49-F238E27FC236}">
                    <a16:creationId xmlns:a16="http://schemas.microsoft.com/office/drawing/2014/main" id="{9AE6129C-E538-40C6-95CE-8D689DA806C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矩形 50">
                <a:extLst>
                  <a:ext uri="{FF2B5EF4-FFF2-40B4-BE49-F238E27FC236}">
                    <a16:creationId xmlns:a16="http://schemas.microsoft.com/office/drawing/2014/main" id="{B42DF3C8-6F17-4F9B-8224-82E6BF529D75}"/>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群組 36">
              <a:extLst>
                <a:ext uri="{FF2B5EF4-FFF2-40B4-BE49-F238E27FC236}">
                  <a16:creationId xmlns:a16="http://schemas.microsoft.com/office/drawing/2014/main" id="{CA03870D-CA4E-4A68-B643-C828AB156380}"/>
                </a:ext>
              </a:extLst>
            </p:cNvPr>
            <p:cNvGrpSpPr/>
            <p:nvPr userDrawn="1"/>
          </p:nvGrpSpPr>
          <p:grpSpPr>
            <a:xfrm>
              <a:off x="2441313" y="5256671"/>
              <a:ext cx="5327623" cy="317500"/>
              <a:chOff x="2441313" y="5256671"/>
              <a:chExt cx="5327623" cy="317500"/>
            </a:xfrm>
          </p:grpSpPr>
          <p:sp>
            <p:nvSpPr>
              <p:cNvPr id="38" name="矩形 37">
                <a:extLst>
                  <a:ext uri="{FF2B5EF4-FFF2-40B4-BE49-F238E27FC236}">
                    <a16:creationId xmlns:a16="http://schemas.microsoft.com/office/drawing/2014/main" id="{204627FC-9E22-4DF5-9620-E588D5B1D754}"/>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9" name="矩形 38">
                <a:extLst>
                  <a:ext uri="{FF2B5EF4-FFF2-40B4-BE49-F238E27FC236}">
                    <a16:creationId xmlns:a16="http://schemas.microsoft.com/office/drawing/2014/main" id="{9FFB4E0B-7913-4DBA-B9BC-22815DD1E9F5}"/>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矩形 39">
                <a:extLst>
                  <a:ext uri="{FF2B5EF4-FFF2-40B4-BE49-F238E27FC236}">
                    <a16:creationId xmlns:a16="http://schemas.microsoft.com/office/drawing/2014/main" id="{2E6EA7B8-B405-4A2B-8F6C-66644CA26469}"/>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矩形 40">
                <a:extLst>
                  <a:ext uri="{FF2B5EF4-FFF2-40B4-BE49-F238E27FC236}">
                    <a16:creationId xmlns:a16="http://schemas.microsoft.com/office/drawing/2014/main" id="{531D023A-8171-4D62-AD85-A3E51BEECBC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2" name="矩形 41">
                <a:extLst>
                  <a:ext uri="{FF2B5EF4-FFF2-40B4-BE49-F238E27FC236}">
                    <a16:creationId xmlns:a16="http://schemas.microsoft.com/office/drawing/2014/main" id="{B8F6B22F-DD93-4EC4-8E97-7E5A61686F3E}"/>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矩形 42">
                <a:extLst>
                  <a:ext uri="{FF2B5EF4-FFF2-40B4-BE49-F238E27FC236}">
                    <a16:creationId xmlns:a16="http://schemas.microsoft.com/office/drawing/2014/main" id="{28833C97-6D6E-40FC-976A-CF4C2B0848D9}"/>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4" name="矩形 43">
                <a:extLst>
                  <a:ext uri="{FF2B5EF4-FFF2-40B4-BE49-F238E27FC236}">
                    <a16:creationId xmlns:a16="http://schemas.microsoft.com/office/drawing/2014/main" id="{ED3716C8-CA0D-4806-A013-3F0E791C886C}"/>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矩形 44">
                <a:extLst>
                  <a:ext uri="{FF2B5EF4-FFF2-40B4-BE49-F238E27FC236}">
                    <a16:creationId xmlns:a16="http://schemas.microsoft.com/office/drawing/2014/main" id="{EB57F906-7144-4062-914D-703110CC17BF}"/>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6" name="矩形 45">
                <a:extLst>
                  <a:ext uri="{FF2B5EF4-FFF2-40B4-BE49-F238E27FC236}">
                    <a16:creationId xmlns:a16="http://schemas.microsoft.com/office/drawing/2014/main" id="{09D68DFB-0813-4C3A-8CE7-03C842C11ED7}"/>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矩形 46">
                <a:extLst>
                  <a:ext uri="{FF2B5EF4-FFF2-40B4-BE49-F238E27FC236}">
                    <a16:creationId xmlns:a16="http://schemas.microsoft.com/office/drawing/2014/main" id="{AE8DE291-898F-4470-A37E-2D3C217EDD2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矩形 47">
                <a:extLst>
                  <a:ext uri="{FF2B5EF4-FFF2-40B4-BE49-F238E27FC236}">
                    <a16:creationId xmlns:a16="http://schemas.microsoft.com/office/drawing/2014/main" id="{37A1C886-D4A7-40F8-BEDF-DE906366403B}"/>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2" name="標題 1">
            <a:extLst>
              <a:ext uri="{FF2B5EF4-FFF2-40B4-BE49-F238E27FC236}">
                <a16:creationId xmlns:a16="http://schemas.microsoft.com/office/drawing/2014/main" id="{9FF8E5F9-3E27-4FB9-9E7F-AA69CBB722EF}"/>
              </a:ext>
            </a:extLst>
          </p:cNvPr>
          <p:cNvSpPr txBox="1">
            <a:spLocks/>
          </p:cNvSpPr>
          <p:nvPr userDrawn="1"/>
        </p:nvSpPr>
        <p:spPr>
          <a:xfrm>
            <a:off x="376089" y="5152426"/>
            <a:ext cx="9144000" cy="1212111"/>
          </a:xfrm>
          <a:prstGeom prst="rect">
            <a:avLst/>
          </a:prstGeom>
        </p:spPr>
        <p:txBody>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TW" sz="4400" b="0">
                <a:solidFill>
                  <a:schemeClr val="tx1"/>
                </a:solidFill>
                <a:latin typeface="+mn-lt"/>
              </a:rPr>
              <a:t>Smarter. Greener. Together. </a:t>
            </a:r>
            <a:br>
              <a:rPr lang="en-US" altLang="zh-TW" sz="4400" b="0">
                <a:solidFill>
                  <a:schemeClr val="tx1"/>
                </a:solidFill>
                <a:latin typeface="+mn-lt"/>
              </a:rPr>
            </a:br>
            <a:endParaRPr lang="en-US" sz="4400" b="0">
              <a:solidFill>
                <a:schemeClr val="tx1"/>
              </a:solidFill>
              <a:latin typeface="+mn-lt"/>
            </a:endParaRPr>
          </a:p>
        </p:txBody>
      </p:sp>
      <p:pic>
        <p:nvPicPr>
          <p:cNvPr id="23" name="圖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75101" y="5475968"/>
            <a:ext cx="2814118" cy="1276115"/>
          </a:xfrm>
          <a:prstGeom prst="rect">
            <a:avLst/>
          </a:prstGeom>
        </p:spPr>
      </p:pic>
      <p:sp>
        <p:nvSpPr>
          <p:cNvPr id="55" name="圖片版面配置區 6">
            <a:extLst>
              <a:ext uri="{FF2B5EF4-FFF2-40B4-BE49-F238E27FC236}">
                <a16:creationId xmlns:a16="http://schemas.microsoft.com/office/drawing/2014/main" id="{BEC39B5C-7A19-45E5-87B6-A4D4ACE91330}"/>
              </a:ext>
            </a:extLst>
          </p:cNvPr>
          <p:cNvSpPr>
            <a:spLocks noGrp="1"/>
          </p:cNvSpPr>
          <p:nvPr>
            <p:ph type="pic" sz="quarter" idx="11" hasCustomPrompt="1"/>
          </p:nvPr>
        </p:nvSpPr>
        <p:spPr>
          <a:xfrm>
            <a:off x="-1588" y="-12701"/>
            <a:ext cx="12192001" cy="4713938"/>
          </a:xfrm>
        </p:spPr>
        <p:txBody>
          <a:bodyPr/>
          <a:lstStyle>
            <a:lvl1pPr marL="0" indent="0">
              <a:lnSpc>
                <a:spcPct val="100000"/>
              </a:lnSpc>
              <a:buNone/>
              <a:defRPr sz="1600">
                <a:solidFill>
                  <a:srgbClr val="0070C0"/>
                </a:solidFill>
              </a:defRPr>
            </a:lvl1pPr>
          </a:lstStyle>
          <a:p>
            <a:r>
              <a:rPr lang="en-US" altLang="zh-TW"/>
              <a:t>     Ending </a:t>
            </a:r>
            <a:r>
              <a:rPr lang="en-US" altLang="zh-TW" err="1"/>
              <a:t>Page_Image</a:t>
            </a:r>
            <a:r>
              <a:rPr lang="en-US" altLang="zh-TW"/>
              <a:t>: </a:t>
            </a:r>
            <a:br>
              <a:rPr lang="en-US" altLang="zh-TW"/>
            </a:br>
            <a:r>
              <a:rPr lang="en-US" altLang="zh-TW"/>
              <a:t>      A corporate-level, sector-level or product-level brand communication imagery can be applied in this gray area.</a:t>
            </a:r>
          </a:p>
          <a:p>
            <a:endParaRPr lang="zh-TW" altLang="en-US"/>
          </a:p>
        </p:txBody>
      </p:sp>
      <p:grpSp>
        <p:nvGrpSpPr>
          <p:cNvPr id="5" name="群組 4"/>
          <p:cNvGrpSpPr/>
          <p:nvPr userDrawn="1"/>
        </p:nvGrpSpPr>
        <p:grpSpPr>
          <a:xfrm>
            <a:off x="-1200" y="4701237"/>
            <a:ext cx="12193200" cy="144000"/>
            <a:chOff x="22799" y="4912990"/>
            <a:chExt cx="12193200" cy="144000"/>
          </a:xfrm>
        </p:grpSpPr>
        <p:sp>
          <p:nvSpPr>
            <p:cNvPr id="2" name="矩形 1"/>
            <p:cNvSpPr/>
            <p:nvPr userDrawn="1"/>
          </p:nvSpPr>
          <p:spPr>
            <a:xfrm>
              <a:off x="22799" y="4912990"/>
              <a:ext cx="12193200" cy="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9767999" y="4912990"/>
              <a:ext cx="2448000" cy="144000"/>
            </a:xfrm>
            <a:prstGeom prst="rect">
              <a:avLst/>
            </a:prstGeom>
            <a:solidFill>
              <a:srgbClr val="B9EB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7323672" y="4912990"/>
              <a:ext cx="2448000" cy="144000"/>
            </a:xfrm>
            <a:prstGeom prst="rect">
              <a:avLst/>
            </a:prstGeom>
            <a:solidFill>
              <a:srgbClr val="64D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100561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BDA7B9D-7CF3-42E1-A4A0-B33B69CC5EAC}"/>
              </a:ext>
            </a:extLst>
          </p:cNvPr>
          <p:cNvSpPr>
            <a:spLocks noGrp="1"/>
          </p:cNvSpPr>
          <p:nvPr>
            <p:ph type="dt" sz="half" idx="10"/>
          </p:nvPr>
        </p:nvSpPr>
        <p:spPr/>
        <p:txBody>
          <a:bodyPr/>
          <a:lstStyle/>
          <a:p>
            <a:fld id="{C794C795-A405-4ED4-AE01-950438ED5900}" type="datetimeFigureOut">
              <a:rPr lang="zh-TW" altLang="en-US" smtClean="0"/>
              <a:t>2026/9/1</a:t>
            </a:fld>
            <a:endParaRPr lang="zh-TW" altLang="en-US"/>
          </a:p>
        </p:txBody>
      </p:sp>
      <p:sp>
        <p:nvSpPr>
          <p:cNvPr id="3" name="頁尾版面配置區 2">
            <a:extLst>
              <a:ext uri="{FF2B5EF4-FFF2-40B4-BE49-F238E27FC236}">
                <a16:creationId xmlns:a16="http://schemas.microsoft.com/office/drawing/2014/main" id="{DCBC8F20-8D2F-468C-B54B-8397F1CDFB6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70D36E45-0834-45CD-B5ED-399D7EBD704D}"/>
              </a:ext>
            </a:extLst>
          </p:cNvPr>
          <p:cNvSpPr>
            <a:spLocks noGrp="1"/>
          </p:cNvSpPr>
          <p:nvPr>
            <p:ph type="sldNum" sz="quarter" idx="12"/>
          </p:nvPr>
        </p:nvSpPr>
        <p:spPr/>
        <p:txBody>
          <a:bodyPr/>
          <a:lstStyle/>
          <a:p>
            <a:fld id="{320C0BB4-95A4-497D-9D8D-0F64D8AEAD65}" type="slidenum">
              <a:rPr lang="zh-TW" altLang="en-US" smtClean="0"/>
              <a:t>‹#›</a:t>
            </a:fld>
            <a:endParaRPr lang="zh-TW" altLang="en-US"/>
          </a:p>
        </p:txBody>
      </p:sp>
    </p:spTree>
    <p:extLst>
      <p:ext uri="{BB962C8B-B14F-4D97-AF65-F5344CB8AC3E}">
        <p14:creationId xmlns:p14="http://schemas.microsoft.com/office/powerpoint/2010/main" val="187592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General Solution">
    <p:bg>
      <p:bgPr>
        <a:solidFill>
          <a:schemeClr val="bg1"/>
        </a:solidFill>
        <a:effectLst/>
      </p:bgPr>
    </p:bg>
    <p:spTree>
      <p:nvGrpSpPr>
        <p:cNvPr id="1" name=""/>
        <p:cNvGrpSpPr/>
        <p:nvPr/>
      </p:nvGrpSpPr>
      <p:grpSpPr>
        <a:xfrm>
          <a:off x="0" y="0"/>
          <a:ext cx="0" cy="0"/>
          <a:chOff x="0" y="0"/>
          <a:chExt cx="0" cy="0"/>
        </a:xfrm>
      </p:grpSpPr>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5"/>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Tree>
    <p:extLst>
      <p:ext uri="{BB962C8B-B14F-4D97-AF65-F5344CB8AC3E}">
        <p14:creationId xmlns:p14="http://schemas.microsoft.com/office/powerpoint/2010/main" val="40043171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84B288-D41F-4145-A1C0-E0281E1E2461}"/>
              </a:ext>
            </a:extLst>
          </p:cNvPr>
          <p:cNvSpPr>
            <a:spLocks noGrp="1"/>
          </p:cNvSpPr>
          <p:nvPr>
            <p:ph type="title"/>
          </p:nvPr>
        </p:nvSpPr>
        <p:spPr>
          <a:xfrm>
            <a:off x="406400" y="440356"/>
            <a:ext cx="11379200" cy="679396"/>
          </a:xfrm>
          <a:prstGeom prst="rect">
            <a:avLst/>
          </a:prstGeom>
        </p:spPr>
        <p:txBody>
          <a:bodyPr vert="horz" lIns="0" tIns="45720" rIns="0" bIns="45720" rtlCol="0" anchor="t">
            <a:normAutofit/>
          </a:bodyPr>
          <a:lstStyle/>
          <a:p>
            <a:r>
              <a:rPr lang="en-US" altLang="zh-TW"/>
              <a:t>Page Title Goes Here (32pt)</a:t>
            </a:r>
            <a:endParaRPr lang="en-US"/>
          </a:p>
        </p:txBody>
      </p:sp>
      <p:sp>
        <p:nvSpPr>
          <p:cNvPr id="3" name="文字版面配置區 2">
            <a:extLst>
              <a:ext uri="{FF2B5EF4-FFF2-40B4-BE49-F238E27FC236}">
                <a16:creationId xmlns:a16="http://schemas.microsoft.com/office/drawing/2014/main" id="{23BE7FFB-6DD4-4C49-91B1-9DC75DF6EC07}"/>
              </a:ext>
            </a:extLst>
          </p:cNvPr>
          <p:cNvSpPr>
            <a:spLocks noGrp="1"/>
          </p:cNvSpPr>
          <p:nvPr>
            <p:ph type="body" idx="1"/>
          </p:nvPr>
        </p:nvSpPr>
        <p:spPr>
          <a:xfrm>
            <a:off x="406400" y="1170462"/>
            <a:ext cx="11379200" cy="4669631"/>
          </a:xfrm>
          <a:prstGeom prst="rect">
            <a:avLst/>
          </a:prstGeom>
        </p:spPr>
        <p:txBody>
          <a:bodyPr vert="horz" lIns="0" tIns="45720" rIns="0" bIns="45720" rtlCol="0">
            <a:normAutofit/>
          </a:bodyPr>
          <a:lstStyle/>
          <a:p>
            <a:pPr lvl="0"/>
            <a:endParaRPr lang="en-US" altLang="zh-TW"/>
          </a:p>
          <a:p>
            <a:pPr lvl="1"/>
            <a:endParaRPr lang="en-US" altLang="zh-TW"/>
          </a:p>
          <a:p>
            <a:pPr lvl="2"/>
            <a:endParaRPr lang="en-US" altLang="zh-TW"/>
          </a:p>
          <a:p>
            <a:pPr lvl="3"/>
            <a:endParaRPr lang="en-US" altLang="zh-TW"/>
          </a:p>
          <a:p>
            <a:pPr lvl="4"/>
            <a:endParaRPr lang="en-US"/>
          </a:p>
        </p:txBody>
      </p:sp>
      <p:sp>
        <p:nvSpPr>
          <p:cNvPr id="4" name="日期版面配置區 3">
            <a:extLst>
              <a:ext uri="{FF2B5EF4-FFF2-40B4-BE49-F238E27FC236}">
                <a16:creationId xmlns:a16="http://schemas.microsoft.com/office/drawing/2014/main" id="{1BBD7ECA-A67F-4BFF-9619-0DDD6E5A9229}"/>
              </a:ext>
            </a:extLst>
          </p:cNvPr>
          <p:cNvSpPr>
            <a:spLocks noGrp="1"/>
          </p:cNvSpPr>
          <p:nvPr>
            <p:ph type="dt" sz="half" idx="2"/>
          </p:nvPr>
        </p:nvSpPr>
        <p:spPr>
          <a:xfrm>
            <a:off x="6096000" y="6176267"/>
            <a:ext cx="2743200" cy="422101"/>
          </a:xfrm>
          <a:prstGeom prst="rect">
            <a:avLst/>
          </a:prstGeom>
        </p:spPr>
        <p:txBody>
          <a:bodyPr vert="horz" lIns="91440" tIns="45720" rIns="91440" bIns="45720" rtlCol="0" anchor="ctr"/>
          <a:lstStyle>
            <a:lvl1pPr algn="l">
              <a:defRPr sz="1200">
                <a:solidFill>
                  <a:schemeClr val="tx1"/>
                </a:solidFill>
              </a:defRPr>
            </a:lvl1pPr>
          </a:lstStyle>
          <a:p>
            <a:r>
              <a:rPr lang="en-US"/>
              <a:t>MM/DD/YYYY</a:t>
            </a:r>
          </a:p>
        </p:txBody>
      </p:sp>
      <p:sp>
        <p:nvSpPr>
          <p:cNvPr id="5" name="頁尾版面配置區 4">
            <a:extLst>
              <a:ext uri="{FF2B5EF4-FFF2-40B4-BE49-F238E27FC236}">
                <a16:creationId xmlns:a16="http://schemas.microsoft.com/office/drawing/2014/main" id="{989C03B7-7699-4072-AC6D-A339A44A7047}"/>
              </a:ext>
            </a:extLst>
          </p:cNvPr>
          <p:cNvSpPr>
            <a:spLocks noGrp="1"/>
          </p:cNvSpPr>
          <p:nvPr>
            <p:ph type="ftr" sz="quarter" idx="3"/>
          </p:nvPr>
        </p:nvSpPr>
        <p:spPr>
          <a:xfrm>
            <a:off x="843611" y="6191967"/>
            <a:ext cx="4114800" cy="437428"/>
          </a:xfrm>
          <a:prstGeom prst="rect">
            <a:avLst/>
          </a:prstGeom>
        </p:spPr>
        <p:txBody>
          <a:bodyPr vert="horz" lIns="91440" tIns="45720" rIns="91440" bIns="45720" rtlCol="0" anchor="ctr"/>
          <a:lstStyle>
            <a:lvl1pPr algn="l">
              <a:defRPr sz="1200" u="none">
                <a:solidFill>
                  <a:schemeClr val="tx1"/>
                </a:solidFill>
              </a:defRPr>
            </a:lvl1pPr>
          </a:lstStyle>
          <a:p>
            <a:r>
              <a:rPr lang="en-US"/>
              <a:t>Presenter Name</a:t>
            </a:r>
          </a:p>
        </p:txBody>
      </p:sp>
      <p:sp>
        <p:nvSpPr>
          <p:cNvPr id="6" name="投影片編號版面配置區 5">
            <a:extLst>
              <a:ext uri="{FF2B5EF4-FFF2-40B4-BE49-F238E27FC236}">
                <a16:creationId xmlns:a16="http://schemas.microsoft.com/office/drawing/2014/main" id="{9AC81264-E3A8-4919-AA46-612C30BB1B99}"/>
              </a:ext>
            </a:extLst>
          </p:cNvPr>
          <p:cNvSpPr>
            <a:spLocks noGrp="1"/>
          </p:cNvSpPr>
          <p:nvPr>
            <p:ph type="sldNum" sz="quarter" idx="4"/>
          </p:nvPr>
        </p:nvSpPr>
        <p:spPr>
          <a:xfrm>
            <a:off x="406402" y="6191968"/>
            <a:ext cx="401121" cy="422589"/>
          </a:xfrm>
          <a:prstGeom prst="rect">
            <a:avLst/>
          </a:prstGeom>
        </p:spPr>
        <p:txBody>
          <a:bodyPr vert="horz" lIns="91440" tIns="45720" rIns="91440" bIns="45720" rtlCol="0" anchor="ctr"/>
          <a:lstStyle>
            <a:lvl1pPr algn="l">
              <a:defRPr sz="1200">
                <a:solidFill>
                  <a:schemeClr val="tx1"/>
                </a:solidFill>
              </a:defRPr>
            </a:lvl1pPr>
          </a:lstStyle>
          <a:p>
            <a:fld id="{81BD21A8-5E88-4AE4-993C-2D76760CAD3D}" type="slidenum">
              <a:rPr lang="en-US" smtClean="0"/>
              <a:pPr/>
              <a:t>‹#›</a:t>
            </a:fld>
            <a:endParaRPr lang="en-US"/>
          </a:p>
        </p:txBody>
      </p:sp>
    </p:spTree>
    <p:extLst>
      <p:ext uri="{BB962C8B-B14F-4D97-AF65-F5344CB8AC3E}">
        <p14:creationId xmlns:p14="http://schemas.microsoft.com/office/powerpoint/2010/main" val="2100293352"/>
      </p:ext>
    </p:extLst>
  </p:cSld>
  <p:clrMap bg1="lt1" tx1="dk1" bg2="lt2" tx2="dk2" accent1="accent1" accent2="accent2" accent3="accent3" accent4="accent4" accent5="accent5" accent6="accent6" hlink="hlink" folHlink="folHlink"/>
  <p:sldLayoutIdLst>
    <p:sldLayoutId id="2147483735" r:id="rId1"/>
    <p:sldLayoutId id="2147483742" r:id="rId2"/>
    <p:sldLayoutId id="2147483741" r:id="rId3"/>
    <p:sldLayoutId id="2147483737" r:id="rId4"/>
    <p:sldLayoutId id="2147483738" r:id="rId5"/>
    <p:sldLayoutId id="2147483740" r:id="rId6"/>
    <p:sldLayoutId id="2147483739" r:id="rId7"/>
    <p:sldLayoutId id="2147483743" r:id="rId8"/>
    <p:sldLayoutId id="2147483744" r:id="rId9"/>
  </p:sldLayoutIdLst>
  <p:hf hdr="0"/>
  <p:txStyles>
    <p:title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chart" Target="../charts/chart1.xml"/><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emf"/><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21" Type="http://schemas.openxmlformats.org/officeDocument/2006/relationships/image" Target="../media/image46.svg"/><Relationship Id="rId34" Type="http://schemas.openxmlformats.org/officeDocument/2006/relationships/image" Target="../media/image59.jpeg"/><Relationship Id="rId7" Type="http://schemas.openxmlformats.org/officeDocument/2006/relationships/image" Target="../media/image32.jpeg"/><Relationship Id="rId12" Type="http://schemas.openxmlformats.org/officeDocument/2006/relationships/image" Target="../media/image37.jpeg"/><Relationship Id="rId17" Type="http://schemas.openxmlformats.org/officeDocument/2006/relationships/image" Target="../media/image42.png"/><Relationship Id="rId25" Type="http://schemas.openxmlformats.org/officeDocument/2006/relationships/image" Target="../media/image50.png"/><Relationship Id="rId33" Type="http://schemas.openxmlformats.org/officeDocument/2006/relationships/image" Target="../media/image58.png"/><Relationship Id="rId38" Type="http://schemas.openxmlformats.org/officeDocument/2006/relationships/image" Target="../media/image63.png"/><Relationship Id="rId2" Type="http://schemas.openxmlformats.org/officeDocument/2006/relationships/image" Target="../media/image27.png"/><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5.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32" Type="http://schemas.openxmlformats.org/officeDocument/2006/relationships/image" Target="../media/image57.png"/><Relationship Id="rId37" Type="http://schemas.openxmlformats.org/officeDocument/2006/relationships/image" Target="../media/image62.jpe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36" Type="http://schemas.openxmlformats.org/officeDocument/2006/relationships/image" Target="../media/image61.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jpe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jpeg"/><Relationship Id="rId35" Type="http://schemas.openxmlformats.org/officeDocument/2006/relationships/image" Target="../media/image60.png"/><Relationship Id="rId8" Type="http://schemas.openxmlformats.org/officeDocument/2006/relationships/image" Target="../media/image33.jpeg"/><Relationship Id="rId3"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18" Type="http://schemas.openxmlformats.org/officeDocument/2006/relationships/image" Target="../media/image80.png"/><Relationship Id="rId26" Type="http://schemas.openxmlformats.org/officeDocument/2006/relationships/image" Target="../media/image88.png"/><Relationship Id="rId3" Type="http://schemas.openxmlformats.org/officeDocument/2006/relationships/image" Target="../media/image65.png"/><Relationship Id="rId21" Type="http://schemas.openxmlformats.org/officeDocument/2006/relationships/image" Target="../media/image83.png"/><Relationship Id="rId7" Type="http://schemas.openxmlformats.org/officeDocument/2006/relationships/image" Target="../media/image69.png"/><Relationship Id="rId12" Type="http://schemas.openxmlformats.org/officeDocument/2006/relationships/image" Target="../media/image74.png"/><Relationship Id="rId17" Type="http://schemas.openxmlformats.org/officeDocument/2006/relationships/image" Target="../media/image79.png"/><Relationship Id="rId25" Type="http://schemas.openxmlformats.org/officeDocument/2006/relationships/image" Target="../media/image87.png"/><Relationship Id="rId2" Type="http://schemas.openxmlformats.org/officeDocument/2006/relationships/image" Target="../media/image64.jpeg"/><Relationship Id="rId16" Type="http://schemas.openxmlformats.org/officeDocument/2006/relationships/image" Target="../media/image78.jpeg"/><Relationship Id="rId20" Type="http://schemas.openxmlformats.org/officeDocument/2006/relationships/image" Target="../media/image82.png"/><Relationship Id="rId29" Type="http://schemas.openxmlformats.org/officeDocument/2006/relationships/image" Target="../media/image90.jpeg"/><Relationship Id="rId1" Type="http://schemas.openxmlformats.org/officeDocument/2006/relationships/slideLayout" Target="../slideLayouts/slideLayout5.xml"/><Relationship Id="rId6" Type="http://schemas.openxmlformats.org/officeDocument/2006/relationships/image" Target="../media/image68.png"/><Relationship Id="rId11" Type="http://schemas.openxmlformats.org/officeDocument/2006/relationships/image" Target="../media/image73.png"/><Relationship Id="rId24" Type="http://schemas.openxmlformats.org/officeDocument/2006/relationships/image" Target="../media/image86.png"/><Relationship Id="rId5" Type="http://schemas.openxmlformats.org/officeDocument/2006/relationships/image" Target="../media/image67.png"/><Relationship Id="rId15" Type="http://schemas.openxmlformats.org/officeDocument/2006/relationships/image" Target="../media/image77.png"/><Relationship Id="rId23" Type="http://schemas.openxmlformats.org/officeDocument/2006/relationships/image" Target="../media/image85.png"/><Relationship Id="rId28" Type="http://schemas.microsoft.com/office/2007/relationships/hdphoto" Target="../media/hdphoto1.wdp"/><Relationship Id="rId10" Type="http://schemas.openxmlformats.org/officeDocument/2006/relationships/image" Target="../media/image72.png"/><Relationship Id="rId19" Type="http://schemas.openxmlformats.org/officeDocument/2006/relationships/image" Target="../media/image81.jpeg"/><Relationship Id="rId4" Type="http://schemas.openxmlformats.org/officeDocument/2006/relationships/image" Target="../media/image66.jpe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4.png"/><Relationship Id="rId27" Type="http://schemas.openxmlformats.org/officeDocument/2006/relationships/image" Target="../media/image8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67.png"/><Relationship Id="rId3" Type="http://schemas.openxmlformats.org/officeDocument/2006/relationships/image" Target="../media/image65.png"/><Relationship Id="rId7" Type="http://schemas.openxmlformats.org/officeDocument/2006/relationships/image" Target="../media/image70.png"/><Relationship Id="rId12" Type="http://schemas.openxmlformats.org/officeDocument/2006/relationships/image" Target="../media/image64.jpeg"/><Relationship Id="rId2" Type="http://schemas.openxmlformats.org/officeDocument/2006/relationships/image" Target="../media/image66.jpeg"/><Relationship Id="rId16" Type="http://schemas.openxmlformats.org/officeDocument/2006/relationships/image" Target="../media/image92.png"/><Relationship Id="rId1" Type="http://schemas.openxmlformats.org/officeDocument/2006/relationships/slideLayout" Target="../slideLayouts/slideLayout5.xml"/><Relationship Id="rId6" Type="http://schemas.openxmlformats.org/officeDocument/2006/relationships/image" Target="../media/image69.png"/><Relationship Id="rId11" Type="http://schemas.openxmlformats.org/officeDocument/2006/relationships/image" Target="../media/image68.png"/><Relationship Id="rId5" Type="http://schemas.openxmlformats.org/officeDocument/2006/relationships/image" Target="../media/image80.png"/><Relationship Id="rId15" Type="http://schemas.openxmlformats.org/officeDocument/2006/relationships/image" Target="../media/image91.png"/><Relationship Id="rId10" Type="http://schemas.openxmlformats.org/officeDocument/2006/relationships/image" Target="../media/image86.png"/><Relationship Id="rId4" Type="http://schemas.openxmlformats.org/officeDocument/2006/relationships/image" Target="../media/image72.png"/><Relationship Id="rId9" Type="http://schemas.openxmlformats.org/officeDocument/2006/relationships/image" Target="../media/image85.png"/><Relationship Id="rId14" Type="http://schemas.openxmlformats.org/officeDocument/2006/relationships/image" Target="../media/image8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6.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97.png"/><Relationship Id="rId5" Type="http://schemas.openxmlformats.org/officeDocument/2006/relationships/image" Target="../media/image75.png"/><Relationship Id="rId4" Type="http://schemas.openxmlformats.org/officeDocument/2006/relationships/image" Target="../media/image74.png"/></Relationships>
</file>

<file path=ppt/slides/_rels/slide15.xml.rels><?xml version="1.0" encoding="UTF-8" standalone="yes"?>
<Relationships xmlns="http://schemas.openxmlformats.org/package/2006/relationships"><Relationship Id="rId8" Type="http://schemas.openxmlformats.org/officeDocument/2006/relationships/image" Target="../media/image101.jpeg"/><Relationship Id="rId13" Type="http://schemas.openxmlformats.org/officeDocument/2006/relationships/image" Target="../media/image105.png"/><Relationship Id="rId3" Type="http://schemas.openxmlformats.org/officeDocument/2006/relationships/image" Target="../media/image99.png"/><Relationship Id="rId7" Type="http://schemas.openxmlformats.org/officeDocument/2006/relationships/image" Target="../media/image100.png"/><Relationship Id="rId12" Type="http://schemas.openxmlformats.org/officeDocument/2006/relationships/image" Target="../media/image35.png"/><Relationship Id="rId17" Type="http://schemas.openxmlformats.org/officeDocument/2006/relationships/image" Target="../media/image19.emf"/><Relationship Id="rId2" Type="http://schemas.openxmlformats.org/officeDocument/2006/relationships/image" Target="../media/image98.png"/><Relationship Id="rId16" Type="http://schemas.openxmlformats.org/officeDocument/2006/relationships/image" Target="../media/image107.png"/><Relationship Id="rId1" Type="http://schemas.openxmlformats.org/officeDocument/2006/relationships/slideLayout" Target="../slideLayouts/slideLayout5.xml"/><Relationship Id="rId6" Type="http://schemas.openxmlformats.org/officeDocument/2006/relationships/image" Target="../media/image24.png"/><Relationship Id="rId11" Type="http://schemas.openxmlformats.org/officeDocument/2006/relationships/image" Target="../media/image104.png"/><Relationship Id="rId5" Type="http://schemas.openxmlformats.org/officeDocument/2006/relationships/image" Target="../media/image26.png"/><Relationship Id="rId15" Type="http://schemas.openxmlformats.org/officeDocument/2006/relationships/image" Target="../media/image106.png"/><Relationship Id="rId10" Type="http://schemas.openxmlformats.org/officeDocument/2006/relationships/image" Target="../media/image103.png"/><Relationship Id="rId4" Type="http://schemas.openxmlformats.org/officeDocument/2006/relationships/image" Target="../media/image25.png"/><Relationship Id="rId9" Type="http://schemas.openxmlformats.org/officeDocument/2006/relationships/image" Target="../media/image102.png"/><Relationship Id="rId14" Type="http://schemas.openxmlformats.org/officeDocument/2006/relationships/image" Target="../media/image56.png"/></Relationships>
</file>

<file path=ppt/slides/_rels/slide1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9.png"/><Relationship Id="rId11" Type="http://schemas.openxmlformats.org/officeDocument/2006/relationships/image" Target="../media/image55.jpeg"/><Relationship Id="rId5" Type="http://schemas.openxmlformats.org/officeDocument/2006/relationships/image" Target="../media/image47.png"/><Relationship Id="rId10" Type="http://schemas.openxmlformats.org/officeDocument/2006/relationships/image" Target="../media/image54.png"/><Relationship Id="rId4" Type="http://schemas.openxmlformats.org/officeDocument/2006/relationships/image" Target="../media/image50.png"/><Relationship Id="rId9" Type="http://schemas.openxmlformats.org/officeDocument/2006/relationships/image" Target="../media/image53.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09.png"/><Relationship Id="rId5" Type="http://schemas.openxmlformats.org/officeDocument/2006/relationships/image" Target="../media/image32.jpe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D9E8D4D-0250-4F2E-9283-56208C1A98F6}"/>
              </a:ext>
            </a:extLst>
          </p:cNvPr>
          <p:cNvSpPr>
            <a:spLocks noGrp="1"/>
          </p:cNvSpPr>
          <p:nvPr>
            <p:ph type="ctrTitle"/>
          </p:nvPr>
        </p:nvSpPr>
        <p:spPr>
          <a:xfrm>
            <a:off x="896646" y="1118616"/>
            <a:ext cx="9781513" cy="876440"/>
          </a:xfrm>
        </p:spPr>
        <p:txBody>
          <a:bodyPr>
            <a:normAutofit/>
          </a:bodyPr>
          <a:lstStyle/>
          <a:p>
            <a:pPr>
              <a:lnSpc>
                <a:spcPct val="150000"/>
              </a:lnSpc>
            </a:pPr>
            <a:r>
              <a:rPr lang="zh-TW" altLang="en-US" sz="3200" b="1">
                <a:latin typeface="Times New Roman" panose="02020603050405020304" pitchFamily="18" charset="0"/>
                <a:cs typeface="Times New Roman" panose="02020603050405020304" pitchFamily="18" charset="0"/>
              </a:rPr>
              <a:t>數據中台運作架構圖</a:t>
            </a:r>
            <a:endParaRPr lang="en-US"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649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標題 1">
            <a:extLst>
              <a:ext uri="{FF2B5EF4-FFF2-40B4-BE49-F238E27FC236}">
                <a16:creationId xmlns:a16="http://schemas.microsoft.com/office/drawing/2014/main" id="{D1347FD2-6529-495A-9E8C-6D2EC8C3291B}"/>
              </a:ext>
            </a:extLst>
          </p:cNvPr>
          <p:cNvSpPr txBox="1">
            <a:spLocks/>
          </p:cNvSpPr>
          <p:nvPr/>
        </p:nvSpPr>
        <p:spPr>
          <a:xfrm>
            <a:off x="2416189" y="0"/>
            <a:ext cx="7200000" cy="679396"/>
          </a:xfrm>
          <a:prstGeom prst="rect">
            <a:avLst/>
          </a:prstGeom>
        </p:spPr>
        <p:txBody>
          <a:bodyPr vert="horz" lIns="0" tIns="45720" rIns="0" bIns="45720" rtlCol="0" anchor="b">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altLang="zh-TW" sz="2800" b="1" i="0" u="none" strike="noStrike" kern="1200" cap="none" spc="0" normalizeH="0" baseline="0" noProof="0">
                <a:ln>
                  <a:noFill/>
                </a:ln>
                <a:solidFill>
                  <a:srgbClr val="0087DC"/>
                </a:solidFill>
                <a:effectLst/>
                <a:uLnTx/>
                <a:uFillTx/>
                <a:latin typeface="Arial"/>
                <a:ea typeface="Microsoft JhengHei"/>
                <a:cs typeface="+mj-cs"/>
              </a:rPr>
              <a:t>MFG</a:t>
            </a:r>
            <a:r>
              <a:rPr kumimoji="0" lang="zh-TW" altLang="en-US" sz="2800" b="1" i="0" u="none" strike="noStrike" kern="1200" cap="none" spc="0" normalizeH="0" baseline="0" noProof="0">
                <a:ln>
                  <a:noFill/>
                </a:ln>
                <a:solidFill>
                  <a:srgbClr val="0087DC"/>
                </a:solidFill>
                <a:effectLst/>
                <a:uLnTx/>
                <a:uFillTx/>
                <a:latin typeface="Arial"/>
                <a:ea typeface="Microsoft JhengHei"/>
                <a:cs typeface="+mj-cs"/>
              </a:rPr>
              <a:t>數據中台</a:t>
            </a:r>
            <a:r>
              <a:rPr kumimoji="0" lang="en-US" altLang="zh-TW" sz="2800" b="1" i="0" u="none" strike="noStrike" kern="1200" cap="none" spc="0" normalizeH="0" baseline="0" noProof="0">
                <a:ln>
                  <a:noFill/>
                </a:ln>
                <a:solidFill>
                  <a:srgbClr val="0087DC"/>
                </a:solidFill>
                <a:effectLst/>
                <a:uLnTx/>
                <a:uFillTx/>
                <a:latin typeface="Arial"/>
                <a:ea typeface="Microsoft JhengHei"/>
                <a:cs typeface="+mj-cs"/>
              </a:rPr>
              <a:t>POC1</a:t>
            </a:r>
            <a:endParaRPr kumimoji="0" lang="zh-TW" altLang="en-US" sz="2800" b="1" i="0" u="none" strike="noStrike" kern="1200" cap="none" spc="0" normalizeH="0" baseline="0" noProof="0">
              <a:ln>
                <a:noFill/>
              </a:ln>
              <a:solidFill>
                <a:srgbClr val="0087DC"/>
              </a:solidFill>
              <a:effectLst/>
              <a:uLnTx/>
              <a:uFillTx/>
              <a:latin typeface="Arial"/>
              <a:ea typeface="Microsoft JhengHei"/>
              <a:cs typeface="+mj-cs"/>
            </a:endParaRPr>
          </a:p>
        </p:txBody>
      </p:sp>
      <p:sp>
        <p:nvSpPr>
          <p:cNvPr id="4" name="標題 1">
            <a:extLst>
              <a:ext uri="{FF2B5EF4-FFF2-40B4-BE49-F238E27FC236}">
                <a16:creationId xmlns:a16="http://schemas.microsoft.com/office/drawing/2014/main" id="{A348C5EC-D89D-4586-A7E9-B14D03D85DE5}"/>
              </a:ext>
            </a:extLst>
          </p:cNvPr>
          <p:cNvSpPr txBox="1">
            <a:spLocks/>
          </p:cNvSpPr>
          <p:nvPr/>
        </p:nvSpPr>
        <p:spPr>
          <a:xfrm>
            <a:off x="9616189" y="186908"/>
            <a:ext cx="2271011" cy="492488"/>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lnSpc>
                <a:spcPct val="100000"/>
              </a:lnSpc>
            </a:pPr>
            <a:r>
              <a:rPr lang="zh-CN" altLang="en-US" sz="1200">
                <a:solidFill>
                  <a:schemeClr val="tx1"/>
                </a:solidFill>
                <a:latin typeface="+mn-ea"/>
                <a:ea typeface="+mn-ea"/>
              </a:rPr>
              <a:t>專案屬性：</a:t>
            </a:r>
            <a:r>
              <a:rPr lang="en-US" altLang="zh-CN" sz="1200" b="0">
                <a:solidFill>
                  <a:srgbClr val="C00000"/>
                </a:solidFill>
                <a:ea typeface="+mn-ea"/>
              </a:rPr>
              <a:t>General Solution</a:t>
            </a:r>
          </a:p>
          <a:p>
            <a:pPr algn="l">
              <a:lnSpc>
                <a:spcPct val="100000"/>
              </a:lnSpc>
            </a:pPr>
            <a:r>
              <a:rPr lang="zh-CN" altLang="en-US" sz="1200">
                <a:solidFill>
                  <a:schemeClr val="tx1"/>
                </a:solidFill>
                <a:latin typeface="+mn-ea"/>
                <a:ea typeface="+mn-ea"/>
              </a:rPr>
              <a:t>專案編號：</a:t>
            </a:r>
            <a:r>
              <a:rPr lang="en-US" altLang="zh-CN" sz="1200" b="0">
                <a:solidFill>
                  <a:srgbClr val="C00000"/>
                </a:solidFill>
                <a:ea typeface="+mn-ea"/>
              </a:rPr>
              <a:t>PM</a:t>
            </a:r>
            <a:r>
              <a:rPr lang="en-US" altLang="zh-TW" sz="1200" b="0">
                <a:solidFill>
                  <a:srgbClr val="C00000"/>
                </a:solidFill>
                <a:ea typeface="+mn-ea"/>
              </a:rPr>
              <a:t>6W3</a:t>
            </a:r>
            <a:endParaRPr lang="en-US" sz="1200" b="0">
              <a:solidFill>
                <a:srgbClr val="C00000"/>
              </a:solidFill>
              <a:ea typeface="+mn-ea"/>
            </a:endParaRPr>
          </a:p>
        </p:txBody>
      </p:sp>
      <p:sp>
        <p:nvSpPr>
          <p:cNvPr id="2" name="文字方塊 1">
            <a:extLst>
              <a:ext uri="{FF2B5EF4-FFF2-40B4-BE49-F238E27FC236}">
                <a16:creationId xmlns:a16="http://schemas.microsoft.com/office/drawing/2014/main" id="{87C8143E-C2D1-465F-B5DB-BF345CB8AD54}"/>
              </a:ext>
            </a:extLst>
          </p:cNvPr>
          <p:cNvSpPr txBox="1"/>
          <p:nvPr/>
        </p:nvSpPr>
        <p:spPr>
          <a:xfrm>
            <a:off x="347135" y="863598"/>
            <a:ext cx="3268133" cy="461665"/>
          </a:xfrm>
          <a:prstGeom prst="rect">
            <a:avLst/>
          </a:prstGeom>
          <a:noFill/>
        </p:spPr>
        <p:txBody>
          <a:bodyPr wrap="square" rtlCol="0">
            <a:spAutoFit/>
          </a:bodyPr>
          <a:lstStyle/>
          <a:p>
            <a:r>
              <a:rPr lang="en-US" altLang="zh-TW" sz="1200" b="1">
                <a:solidFill>
                  <a:srgbClr val="0070C0"/>
                </a:solidFill>
              </a:rPr>
              <a:t>D</a:t>
            </a:r>
            <a:r>
              <a:rPr lang="en-US" altLang="zh-CN" sz="1200" b="1">
                <a:solidFill>
                  <a:srgbClr val="0070C0"/>
                </a:solidFill>
              </a:rPr>
              <a:t>escription of Project / Product</a:t>
            </a:r>
            <a:br>
              <a:rPr lang="en-US" altLang="zh-CN" sz="1200" b="1">
                <a:solidFill>
                  <a:srgbClr val="0070C0"/>
                </a:solidFill>
              </a:rPr>
            </a:br>
            <a:r>
              <a:rPr lang="zh-CN" altLang="en-US" sz="1200" b="1">
                <a:solidFill>
                  <a:srgbClr val="0070C0"/>
                </a:solidFill>
                <a:latin typeface="+mn-ea"/>
              </a:rPr>
              <a:t>專案</a:t>
            </a:r>
            <a:r>
              <a:rPr lang="en-US" altLang="zh-CN" sz="1200" b="1">
                <a:solidFill>
                  <a:srgbClr val="0070C0"/>
                </a:solidFill>
                <a:latin typeface="+mn-ea"/>
              </a:rPr>
              <a:t>/</a:t>
            </a:r>
            <a:r>
              <a:rPr lang="zh-CN" altLang="en-US" sz="1200" b="1">
                <a:solidFill>
                  <a:srgbClr val="0070C0"/>
                </a:solidFill>
                <a:latin typeface="+mn-ea"/>
              </a:rPr>
              <a:t>產品描述 </a:t>
            </a:r>
            <a:r>
              <a:rPr lang="en-US" altLang="zh-CN" sz="1200" b="1">
                <a:solidFill>
                  <a:srgbClr val="0070C0"/>
                </a:solidFill>
                <a:latin typeface="+mn-ea"/>
              </a:rPr>
              <a:t> </a:t>
            </a:r>
            <a:endParaRPr lang="zh-TW" altLang="en-US" sz="1200" b="1">
              <a:solidFill>
                <a:srgbClr val="0070C0"/>
              </a:solidFill>
              <a:latin typeface="+mn-ea"/>
            </a:endParaRPr>
          </a:p>
        </p:txBody>
      </p:sp>
      <p:sp>
        <p:nvSpPr>
          <p:cNvPr id="9" name="文字方塊 8">
            <a:extLst>
              <a:ext uri="{FF2B5EF4-FFF2-40B4-BE49-F238E27FC236}">
                <a16:creationId xmlns:a16="http://schemas.microsoft.com/office/drawing/2014/main" id="{188E6031-F15D-471A-B40F-CA40ADCB5B80}"/>
              </a:ext>
            </a:extLst>
          </p:cNvPr>
          <p:cNvSpPr txBox="1"/>
          <p:nvPr/>
        </p:nvSpPr>
        <p:spPr>
          <a:xfrm>
            <a:off x="4284132" y="863598"/>
            <a:ext cx="4021668" cy="461665"/>
          </a:xfrm>
          <a:prstGeom prst="rect">
            <a:avLst/>
          </a:prstGeom>
          <a:noFill/>
        </p:spPr>
        <p:txBody>
          <a:bodyPr wrap="square" rtlCol="0">
            <a:spAutoFit/>
          </a:bodyPr>
          <a:lstStyle/>
          <a:p>
            <a:r>
              <a:rPr lang="en-US" altLang="zh-CN" sz="1200" b="1">
                <a:solidFill>
                  <a:srgbClr val="0070C0"/>
                </a:solidFill>
              </a:rPr>
              <a:t>Technology / </a:t>
            </a:r>
            <a:r>
              <a:rPr lang="en-US" altLang="zh-TW" sz="1200" b="1">
                <a:solidFill>
                  <a:srgbClr val="0070C0"/>
                </a:solidFill>
              </a:rPr>
              <a:t>S</a:t>
            </a:r>
            <a:r>
              <a:rPr lang="en-US" altLang="zh-CN" sz="1200" b="1">
                <a:solidFill>
                  <a:srgbClr val="0070C0"/>
                </a:solidFill>
              </a:rPr>
              <a:t>olution</a:t>
            </a:r>
          </a:p>
          <a:p>
            <a:r>
              <a:rPr lang="zh-CN" altLang="en-US" sz="1200" b="1">
                <a:solidFill>
                  <a:srgbClr val="0070C0"/>
                </a:solidFill>
                <a:latin typeface="+mn-ea"/>
              </a:rPr>
              <a:t>技術 </a:t>
            </a:r>
            <a:r>
              <a:rPr lang="en-US" altLang="zh-CN" sz="1200" b="1">
                <a:solidFill>
                  <a:srgbClr val="0070C0"/>
                </a:solidFill>
                <a:latin typeface="+mn-ea"/>
              </a:rPr>
              <a:t>/ </a:t>
            </a:r>
            <a:r>
              <a:rPr lang="zh-CN" altLang="en-US" sz="1200" b="1">
                <a:solidFill>
                  <a:srgbClr val="0070C0"/>
                </a:solidFill>
                <a:latin typeface="+mn-ea"/>
              </a:rPr>
              <a:t>解決方案</a:t>
            </a:r>
            <a:endParaRPr lang="zh-TW" altLang="en-US" sz="1200" b="1">
              <a:solidFill>
                <a:srgbClr val="0070C0"/>
              </a:solidFill>
              <a:latin typeface="+mn-ea"/>
            </a:endParaRPr>
          </a:p>
        </p:txBody>
      </p:sp>
      <p:cxnSp>
        <p:nvCxnSpPr>
          <p:cNvPr id="11" name="直接连接符 73">
            <a:extLst>
              <a:ext uri="{FF2B5EF4-FFF2-40B4-BE49-F238E27FC236}">
                <a16:creationId xmlns:a16="http://schemas.microsoft.com/office/drawing/2014/main" id="{3E2A3265-0E04-4B5E-B0EE-A4AC9DC64249}"/>
              </a:ext>
            </a:extLst>
          </p:cNvPr>
          <p:cNvCxnSpPr>
            <a:cxnSpLocks/>
          </p:cNvCxnSpPr>
          <p:nvPr/>
        </p:nvCxnSpPr>
        <p:spPr>
          <a:xfrm flipH="1">
            <a:off x="372534" y="1321687"/>
            <a:ext cx="3456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直接连接符 73">
            <a:extLst>
              <a:ext uri="{FF2B5EF4-FFF2-40B4-BE49-F238E27FC236}">
                <a16:creationId xmlns:a16="http://schemas.microsoft.com/office/drawing/2014/main" id="{0B4EA1B6-5EC5-4D41-90D4-C471DC38C903}"/>
              </a:ext>
            </a:extLst>
          </p:cNvPr>
          <p:cNvCxnSpPr>
            <a:cxnSpLocks/>
          </p:cNvCxnSpPr>
          <p:nvPr/>
        </p:nvCxnSpPr>
        <p:spPr>
          <a:xfrm flipH="1">
            <a:off x="4356099" y="1321687"/>
            <a:ext cx="3168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FA269D4C-B937-4FF6-95AC-E37964DE247F}"/>
              </a:ext>
            </a:extLst>
          </p:cNvPr>
          <p:cNvSpPr txBox="1"/>
          <p:nvPr/>
        </p:nvSpPr>
        <p:spPr>
          <a:xfrm>
            <a:off x="8178799" y="863598"/>
            <a:ext cx="3191934" cy="461665"/>
          </a:xfrm>
          <a:prstGeom prst="rect">
            <a:avLst/>
          </a:prstGeom>
          <a:noFill/>
        </p:spPr>
        <p:txBody>
          <a:bodyPr wrap="square" rtlCol="0">
            <a:spAutoFit/>
          </a:bodyPr>
          <a:lstStyle/>
          <a:p>
            <a:r>
              <a:rPr lang="en-US" altLang="zh-CN" sz="1200" b="1">
                <a:solidFill>
                  <a:srgbClr val="0070C0"/>
                </a:solidFill>
              </a:rPr>
              <a:t>Current Progress</a:t>
            </a:r>
            <a:br>
              <a:rPr lang="en-US" altLang="zh-CN" sz="1200" b="1">
                <a:solidFill>
                  <a:srgbClr val="0070C0"/>
                </a:solidFill>
              </a:rPr>
            </a:br>
            <a:r>
              <a:rPr lang="zh-CN" altLang="en-US" sz="1200" b="1">
                <a:solidFill>
                  <a:srgbClr val="0070C0"/>
                </a:solidFill>
              </a:rPr>
              <a:t>當前進度</a:t>
            </a:r>
            <a:endParaRPr lang="zh-TW" altLang="en-US" sz="1200" b="1">
              <a:solidFill>
                <a:srgbClr val="0070C0"/>
              </a:solidFill>
            </a:endParaRPr>
          </a:p>
        </p:txBody>
      </p:sp>
      <p:cxnSp>
        <p:nvCxnSpPr>
          <p:cNvPr id="17" name="直接连接符 73">
            <a:extLst>
              <a:ext uri="{FF2B5EF4-FFF2-40B4-BE49-F238E27FC236}">
                <a16:creationId xmlns:a16="http://schemas.microsoft.com/office/drawing/2014/main" id="{6318B2F9-376A-48B3-B3C1-C654BF4EC21C}"/>
              </a:ext>
            </a:extLst>
          </p:cNvPr>
          <p:cNvCxnSpPr>
            <a:cxnSpLocks/>
          </p:cNvCxnSpPr>
          <p:nvPr/>
        </p:nvCxnSpPr>
        <p:spPr>
          <a:xfrm flipH="1">
            <a:off x="8250766" y="1321687"/>
            <a:ext cx="2921002"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6E6541C8-6BD0-44D0-A9C8-1BA2E4644ED6}"/>
              </a:ext>
            </a:extLst>
          </p:cNvPr>
          <p:cNvSpPr txBox="1"/>
          <p:nvPr/>
        </p:nvSpPr>
        <p:spPr>
          <a:xfrm>
            <a:off x="4191138" y="4317998"/>
            <a:ext cx="3268133" cy="461665"/>
          </a:xfrm>
          <a:prstGeom prst="rect">
            <a:avLst/>
          </a:prstGeom>
          <a:noFill/>
        </p:spPr>
        <p:txBody>
          <a:bodyPr wrap="square" rtlCol="0">
            <a:spAutoFit/>
          </a:bodyPr>
          <a:lstStyle/>
          <a:p>
            <a:r>
              <a:rPr lang="en-US" altLang="zh-TW" sz="1200" b="1">
                <a:solidFill>
                  <a:srgbClr val="0070C0"/>
                </a:solidFill>
              </a:rPr>
              <a:t>0~1 / 1~N</a:t>
            </a:r>
            <a:r>
              <a:rPr lang="en-US" altLang="zh-CN" sz="1200" b="1">
                <a:solidFill>
                  <a:srgbClr val="0070C0"/>
                </a:solidFill>
              </a:rPr>
              <a:t>  Scope &amp; Progress</a:t>
            </a:r>
            <a:br>
              <a:rPr lang="en-US" altLang="zh-CN" sz="1200" b="1">
                <a:solidFill>
                  <a:srgbClr val="0070C0"/>
                </a:solidFill>
              </a:rPr>
            </a:br>
            <a:r>
              <a:rPr lang="zh-CN" altLang="en-US" sz="1200" b="1">
                <a:solidFill>
                  <a:srgbClr val="0070C0"/>
                </a:solidFill>
                <a:latin typeface="+mn-ea"/>
              </a:rPr>
              <a:t>推廣範疇及進度 </a:t>
            </a:r>
            <a:r>
              <a:rPr lang="en-US" altLang="zh-CN" sz="1200" b="1">
                <a:solidFill>
                  <a:srgbClr val="0070C0"/>
                </a:solidFill>
                <a:latin typeface="+mn-ea"/>
              </a:rPr>
              <a:t> </a:t>
            </a:r>
            <a:endParaRPr lang="zh-TW" altLang="en-US" sz="1200" b="1">
              <a:solidFill>
                <a:srgbClr val="0070C0"/>
              </a:solidFill>
              <a:latin typeface="+mn-ea"/>
            </a:endParaRPr>
          </a:p>
        </p:txBody>
      </p:sp>
      <p:sp>
        <p:nvSpPr>
          <p:cNvPr id="20" name="文字方塊 19">
            <a:extLst>
              <a:ext uri="{FF2B5EF4-FFF2-40B4-BE49-F238E27FC236}">
                <a16:creationId xmlns:a16="http://schemas.microsoft.com/office/drawing/2014/main" id="{30970EAD-88D5-409D-91A0-7B7E2C4C5FD1}"/>
              </a:ext>
            </a:extLst>
          </p:cNvPr>
          <p:cNvSpPr txBox="1"/>
          <p:nvPr/>
        </p:nvSpPr>
        <p:spPr>
          <a:xfrm>
            <a:off x="8128135" y="3591425"/>
            <a:ext cx="4021668" cy="461665"/>
          </a:xfrm>
          <a:prstGeom prst="rect">
            <a:avLst/>
          </a:prstGeom>
          <a:noFill/>
        </p:spPr>
        <p:txBody>
          <a:bodyPr wrap="square" rtlCol="0">
            <a:spAutoFit/>
          </a:bodyPr>
          <a:lstStyle/>
          <a:p>
            <a:r>
              <a:rPr lang="en-US" altLang="zh-CN" sz="1200" b="1">
                <a:solidFill>
                  <a:srgbClr val="0070C0"/>
                </a:solidFill>
              </a:rPr>
              <a:t>Impact / Benefit </a:t>
            </a:r>
          </a:p>
          <a:p>
            <a:r>
              <a:rPr lang="zh-CN" altLang="en-US" sz="1200" b="1">
                <a:solidFill>
                  <a:srgbClr val="0070C0"/>
                </a:solidFill>
                <a:latin typeface="+mn-ea"/>
              </a:rPr>
              <a:t>產生的影響</a:t>
            </a:r>
            <a:r>
              <a:rPr lang="en-US" altLang="zh-CN" sz="1200" b="1">
                <a:solidFill>
                  <a:srgbClr val="0070C0"/>
                </a:solidFill>
                <a:latin typeface="+mn-ea"/>
              </a:rPr>
              <a:t>/</a:t>
            </a:r>
            <a:r>
              <a:rPr lang="zh-CN" altLang="en-US" sz="1200" b="1">
                <a:solidFill>
                  <a:srgbClr val="0070C0"/>
                </a:solidFill>
                <a:latin typeface="+mn-ea"/>
              </a:rPr>
              <a:t>收益</a:t>
            </a:r>
            <a:endParaRPr lang="zh-TW" altLang="en-US" sz="1200" b="1">
              <a:solidFill>
                <a:srgbClr val="0070C0"/>
              </a:solidFill>
              <a:latin typeface="+mn-ea"/>
            </a:endParaRPr>
          </a:p>
        </p:txBody>
      </p:sp>
      <p:cxnSp>
        <p:nvCxnSpPr>
          <p:cNvPr id="21" name="直接连接符 73">
            <a:extLst>
              <a:ext uri="{FF2B5EF4-FFF2-40B4-BE49-F238E27FC236}">
                <a16:creationId xmlns:a16="http://schemas.microsoft.com/office/drawing/2014/main" id="{182F9B5F-887F-4DD5-94CA-804BF30BD59D}"/>
              </a:ext>
            </a:extLst>
          </p:cNvPr>
          <p:cNvCxnSpPr>
            <a:cxnSpLocks/>
          </p:cNvCxnSpPr>
          <p:nvPr/>
        </p:nvCxnSpPr>
        <p:spPr>
          <a:xfrm flipH="1">
            <a:off x="4216537" y="4776087"/>
            <a:ext cx="3456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2" name="直接连接符 73">
            <a:extLst>
              <a:ext uri="{FF2B5EF4-FFF2-40B4-BE49-F238E27FC236}">
                <a16:creationId xmlns:a16="http://schemas.microsoft.com/office/drawing/2014/main" id="{CE7C220C-23AE-42A8-8171-F96BD17E4D14}"/>
              </a:ext>
            </a:extLst>
          </p:cNvPr>
          <p:cNvCxnSpPr>
            <a:cxnSpLocks/>
          </p:cNvCxnSpPr>
          <p:nvPr/>
        </p:nvCxnSpPr>
        <p:spPr>
          <a:xfrm flipH="1">
            <a:off x="8200102" y="4049514"/>
            <a:ext cx="3168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DCF2ACB2-4B23-46EA-A261-69D7F2101336}"/>
              </a:ext>
            </a:extLst>
          </p:cNvPr>
          <p:cNvSpPr txBox="1"/>
          <p:nvPr/>
        </p:nvSpPr>
        <p:spPr>
          <a:xfrm>
            <a:off x="430108" y="4381762"/>
            <a:ext cx="3191934" cy="461665"/>
          </a:xfrm>
          <a:prstGeom prst="rect">
            <a:avLst/>
          </a:prstGeom>
          <a:noFill/>
        </p:spPr>
        <p:txBody>
          <a:bodyPr wrap="square" rtlCol="0">
            <a:spAutoFit/>
          </a:bodyPr>
          <a:lstStyle/>
          <a:p>
            <a:r>
              <a:rPr lang="en-US" altLang="zh-CN" sz="1200" b="1">
                <a:solidFill>
                  <a:srgbClr val="0070C0"/>
                </a:solidFill>
              </a:rPr>
              <a:t>Team</a:t>
            </a:r>
            <a:br>
              <a:rPr lang="en-US" altLang="zh-CN" sz="1200" b="1">
                <a:solidFill>
                  <a:srgbClr val="0070C0"/>
                </a:solidFill>
              </a:rPr>
            </a:br>
            <a:r>
              <a:rPr lang="zh-CN" altLang="en-US" sz="1200" b="1">
                <a:solidFill>
                  <a:srgbClr val="0070C0"/>
                </a:solidFill>
              </a:rPr>
              <a:t>團隊</a:t>
            </a:r>
            <a:endParaRPr lang="zh-TW" altLang="en-US" sz="1200" b="1">
              <a:solidFill>
                <a:srgbClr val="0070C0"/>
              </a:solidFill>
            </a:endParaRPr>
          </a:p>
        </p:txBody>
      </p:sp>
      <p:cxnSp>
        <p:nvCxnSpPr>
          <p:cNvPr id="24" name="直接连接符 73">
            <a:extLst>
              <a:ext uri="{FF2B5EF4-FFF2-40B4-BE49-F238E27FC236}">
                <a16:creationId xmlns:a16="http://schemas.microsoft.com/office/drawing/2014/main" id="{0DC19187-F162-4779-8C3D-23143CEB6AF3}"/>
              </a:ext>
            </a:extLst>
          </p:cNvPr>
          <p:cNvCxnSpPr>
            <a:cxnSpLocks/>
          </p:cNvCxnSpPr>
          <p:nvPr/>
        </p:nvCxnSpPr>
        <p:spPr>
          <a:xfrm flipH="1">
            <a:off x="379308" y="4839851"/>
            <a:ext cx="2921002"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35" name="表格 34">
            <a:extLst>
              <a:ext uri="{FF2B5EF4-FFF2-40B4-BE49-F238E27FC236}">
                <a16:creationId xmlns:a16="http://schemas.microsoft.com/office/drawing/2014/main" id="{F5455D29-F9C5-4409-AA20-3A69E7F1D4B7}"/>
              </a:ext>
            </a:extLst>
          </p:cNvPr>
          <p:cNvGraphicFramePr>
            <a:graphicFrameLocks noGrp="1"/>
          </p:cNvGraphicFramePr>
          <p:nvPr/>
        </p:nvGraphicFramePr>
        <p:xfrm>
          <a:off x="8250766" y="4693380"/>
          <a:ext cx="3216925" cy="1573560"/>
        </p:xfrm>
        <a:graphic>
          <a:graphicData uri="http://schemas.openxmlformats.org/drawingml/2006/table">
            <a:tbl>
              <a:tblPr firstRow="1" bandCol="1">
                <a:tableStyleId>{3B4B98B0-60AC-42C2-AFA5-B58CD77FA1E5}</a:tableStyleId>
              </a:tblPr>
              <a:tblGrid>
                <a:gridCol w="2356138">
                  <a:extLst>
                    <a:ext uri="{9D8B030D-6E8A-4147-A177-3AD203B41FA5}">
                      <a16:colId xmlns:a16="http://schemas.microsoft.com/office/drawing/2014/main" val="3601475834"/>
                    </a:ext>
                  </a:extLst>
                </a:gridCol>
                <a:gridCol w="860787">
                  <a:extLst>
                    <a:ext uri="{9D8B030D-6E8A-4147-A177-3AD203B41FA5}">
                      <a16:colId xmlns:a16="http://schemas.microsoft.com/office/drawing/2014/main" val="3963661121"/>
                    </a:ext>
                  </a:extLst>
                </a:gridCol>
              </a:tblGrid>
              <a:tr h="375360">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1" kern="1200" baseline="0">
                          <a:solidFill>
                            <a:schemeClr val="tx1"/>
                          </a:solidFill>
                          <a:latin typeface="Arial" panose="020B0604020202020204" pitchFamily="34" charset="0"/>
                          <a:ea typeface="+mn-ea"/>
                          <a:cs typeface="Arial" panose="020B0604020202020204" pitchFamily="34" charset="0"/>
                        </a:rPr>
                        <a:t>項目</a:t>
                      </a:r>
                    </a:p>
                  </a:txBody>
                  <a:tcPr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algn="ctr"/>
                      <a:r>
                        <a:rPr lang="zh-CN" altLang="en-US" sz="1200" b="1" kern="1200" baseline="0">
                          <a:solidFill>
                            <a:schemeClr val="tx1"/>
                          </a:solidFill>
                          <a:latin typeface="Arial" panose="020B0604020202020204" pitchFamily="34" charset="0"/>
                          <a:ea typeface="+mn-ea"/>
                          <a:cs typeface="Arial" panose="020B0604020202020204" pitchFamily="34" charset="0"/>
                        </a:rPr>
                        <a:t>效益 </a:t>
                      </a:r>
                      <a:r>
                        <a:rPr lang="en-US" altLang="zh-CN" sz="1000" b="0" kern="1200" baseline="0">
                          <a:solidFill>
                            <a:schemeClr val="tx1"/>
                          </a:solidFill>
                          <a:latin typeface="Arial" panose="020B0604020202020204" pitchFamily="34" charset="0"/>
                          <a:ea typeface="+mn-ea"/>
                          <a:cs typeface="Arial" panose="020B0604020202020204" pitchFamily="34" charset="0"/>
                        </a:rPr>
                        <a:t>(KUSD)</a:t>
                      </a:r>
                      <a:endParaRPr lang="zh-CN" altLang="en-US" sz="1200" b="0" kern="1200" baseline="0">
                        <a:solidFill>
                          <a:schemeClr val="tx1"/>
                        </a:solidFill>
                        <a:latin typeface="Arial" panose="020B0604020202020204" pitchFamily="34" charset="0"/>
                        <a:ea typeface="+mn-ea"/>
                        <a:cs typeface="Arial" panose="020B0604020202020204" pitchFamily="34" charset="0"/>
                      </a:endParaRPr>
                    </a:p>
                  </a:txBody>
                  <a:tcPr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451199163"/>
                  </a:ext>
                </a:extLst>
              </a:tr>
              <a:tr h="210797">
                <a:tc>
                  <a:txBody>
                    <a:bodyPr/>
                    <a:lstStyle/>
                    <a:p>
                      <a:pPr marL="171450" indent="-171450" algn="l">
                        <a:buFont typeface="Arial" panose="020B0604020202020204" pitchFamily="34" charset="0"/>
                        <a:buChar char="•"/>
                      </a:pPr>
                      <a:r>
                        <a:rPr lang="zh-TW" altLang="en-US" sz="1100" b="0" kern="1200" baseline="0">
                          <a:solidFill>
                            <a:srgbClr val="0000CC"/>
                          </a:solidFill>
                          <a:latin typeface="+mj-lt"/>
                          <a:ea typeface="微软雅黑" panose="020B0503020204020204" pitchFamily="34" charset="-122"/>
                          <a:cs typeface="+mn-cs"/>
                        </a:rPr>
                        <a:t>每</a:t>
                      </a:r>
                      <a:r>
                        <a:rPr lang="en-US" altLang="zh-TW" sz="1100" b="0" kern="1200" baseline="0">
                          <a:solidFill>
                            <a:srgbClr val="0000CC"/>
                          </a:solidFill>
                          <a:latin typeface="+mj-lt"/>
                          <a:ea typeface="微软雅黑" panose="020B0503020204020204" pitchFamily="34" charset="-122"/>
                          <a:cs typeface="+mn-cs"/>
                        </a:rPr>
                        <a:t>Regin</a:t>
                      </a:r>
                      <a:r>
                        <a:rPr lang="zh-TW" altLang="en-US" sz="1100" b="0" kern="1200" baseline="0">
                          <a:solidFill>
                            <a:srgbClr val="0000CC"/>
                          </a:solidFill>
                          <a:latin typeface="+mj-lt"/>
                          <a:ea typeface="微软雅黑" panose="020B0503020204020204" pitchFamily="34" charset="-122"/>
                          <a:cs typeface="+mn-cs"/>
                        </a:rPr>
                        <a:t>建置</a:t>
                      </a:r>
                      <a:r>
                        <a:rPr lang="en-US" altLang="zh-TW" sz="1100" b="0" kern="1200" baseline="0">
                          <a:solidFill>
                            <a:srgbClr val="0000CC"/>
                          </a:solidFill>
                          <a:latin typeface="+mj-lt"/>
                          <a:ea typeface="微软雅黑" panose="020B0503020204020204" pitchFamily="34" charset="-122"/>
                          <a:cs typeface="+mn-cs"/>
                        </a:rPr>
                        <a:t>+</a:t>
                      </a:r>
                      <a:r>
                        <a:rPr lang="zh-TW" altLang="en-US" sz="1100" b="0" kern="1200" baseline="0">
                          <a:solidFill>
                            <a:srgbClr val="0000CC"/>
                          </a:solidFill>
                          <a:latin typeface="+mj-lt"/>
                          <a:ea typeface="微软雅黑" panose="020B0503020204020204" pitchFamily="34" charset="-122"/>
                          <a:cs typeface="+mn-cs"/>
                        </a:rPr>
                        <a:t>運行五年省下費用</a:t>
                      </a:r>
                      <a:r>
                        <a:rPr lang="en-US" altLang="zh-TW" sz="1100" b="0" kern="1200" baseline="0">
                          <a:solidFill>
                            <a:srgbClr val="0000CC"/>
                          </a:solidFill>
                          <a:latin typeface="+mj-lt"/>
                          <a:ea typeface="微软雅黑" panose="020B0503020204020204" pitchFamily="34" charset="-122"/>
                          <a:cs typeface="+mn-cs"/>
                        </a:rPr>
                        <a:t>*</a:t>
                      </a:r>
                      <a:endParaRPr lang="zh-CN" altLang="en-US" sz="1100" b="0" kern="1200" baseline="0">
                        <a:solidFill>
                          <a:srgbClr val="0000CC"/>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r>
                        <a:rPr lang="en-US" altLang="zh-TW" sz="1100" b="0" kern="1200" baseline="0">
                          <a:solidFill>
                            <a:srgbClr val="0000CC"/>
                          </a:solidFill>
                          <a:latin typeface="+mj-lt"/>
                          <a:ea typeface="微软雅黑" panose="020B0503020204020204" pitchFamily="34" charset="-122"/>
                          <a:cs typeface="+mn-cs"/>
                        </a:rPr>
                        <a:t>1,500</a:t>
                      </a:r>
                      <a:endParaRPr lang="zh-CN" altLang="en-US" sz="1100" b="0" kern="1200" baseline="0">
                        <a:solidFill>
                          <a:srgbClr val="0000CC"/>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450875191"/>
                  </a:ext>
                </a:extLst>
              </a:tr>
              <a:tr h="21079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zh-TW" altLang="en-US" sz="1100" b="1" kern="1200">
                        <a:solidFill>
                          <a:srgbClr val="C00000"/>
                        </a:solidFill>
                        <a:latin typeface="+mn-lt"/>
                        <a:ea typeface="+mn-ea"/>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986226349"/>
                  </a:ext>
                </a:extLst>
              </a:tr>
              <a:tr h="210797">
                <a:tc>
                  <a:txBody>
                    <a:bodyPr/>
                    <a:lstStyle/>
                    <a:p>
                      <a:pPr algn="l"/>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835902117"/>
                  </a:ext>
                </a:extLst>
              </a:tr>
              <a:tr h="210797">
                <a:tc>
                  <a:txBody>
                    <a:bodyPr/>
                    <a:lstStyle/>
                    <a:p>
                      <a:pPr algn="l"/>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180464210"/>
                  </a:ext>
                </a:extLst>
              </a:tr>
              <a:tr h="210797">
                <a:tc>
                  <a:txBody>
                    <a:bodyPr/>
                    <a:lstStyle/>
                    <a:p>
                      <a:pPr algn="l"/>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40761946"/>
                  </a:ext>
                </a:extLst>
              </a:tr>
            </a:tbl>
          </a:graphicData>
        </a:graphic>
      </p:graphicFrame>
      <p:graphicFrame>
        <p:nvGraphicFramePr>
          <p:cNvPr id="36" name="表格 35">
            <a:extLst>
              <a:ext uri="{FF2B5EF4-FFF2-40B4-BE49-F238E27FC236}">
                <a16:creationId xmlns:a16="http://schemas.microsoft.com/office/drawing/2014/main" id="{2E882E13-5106-4FCE-9CD3-7B99E99A566B}"/>
              </a:ext>
            </a:extLst>
          </p:cNvPr>
          <p:cNvGraphicFramePr>
            <a:graphicFrameLocks noGrp="1"/>
          </p:cNvGraphicFramePr>
          <p:nvPr/>
        </p:nvGraphicFramePr>
        <p:xfrm>
          <a:off x="8118704" y="4339157"/>
          <a:ext cx="578271" cy="255079"/>
        </p:xfrm>
        <a:graphic>
          <a:graphicData uri="http://schemas.openxmlformats.org/drawingml/2006/table">
            <a:tbl>
              <a:tblPr firstRow="1">
                <a:tableStyleId>{5C22544A-7EE6-4342-B048-85BDC9FD1C3A}</a:tableStyleId>
              </a:tblPr>
              <a:tblGrid>
                <a:gridCol w="578271">
                  <a:extLst>
                    <a:ext uri="{9D8B030D-6E8A-4147-A177-3AD203B41FA5}">
                      <a16:colId xmlns:a16="http://schemas.microsoft.com/office/drawing/2014/main" val="1190386732"/>
                    </a:ext>
                  </a:extLst>
                </a:gridCol>
              </a:tblGrid>
              <a:tr h="255079">
                <a:tc>
                  <a:txBody>
                    <a:bodyPr/>
                    <a:lstStyle/>
                    <a:p>
                      <a:pPr algn="ctr">
                        <a:lnSpc>
                          <a:spcPct val="100000"/>
                        </a:lnSpc>
                      </a:pPr>
                      <a:r>
                        <a:rPr lang="en-US" altLang="zh-CN" sz="1200" b="1">
                          <a:solidFill>
                            <a:srgbClr val="0000CC"/>
                          </a:solidFill>
                          <a:latin typeface="+mj-lt"/>
                        </a:rPr>
                        <a:t>300</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2176631"/>
                  </a:ext>
                </a:extLst>
              </a:tr>
            </a:tbl>
          </a:graphicData>
        </a:graphic>
      </p:graphicFrame>
      <p:graphicFrame>
        <p:nvGraphicFramePr>
          <p:cNvPr id="37" name="表格 36">
            <a:extLst>
              <a:ext uri="{FF2B5EF4-FFF2-40B4-BE49-F238E27FC236}">
                <a16:creationId xmlns:a16="http://schemas.microsoft.com/office/drawing/2014/main" id="{17BCF42E-FDAD-4300-8808-EA25F14B67C8}"/>
              </a:ext>
            </a:extLst>
          </p:cNvPr>
          <p:cNvGraphicFramePr>
            <a:graphicFrameLocks noGrp="1"/>
          </p:cNvGraphicFramePr>
          <p:nvPr/>
        </p:nvGraphicFramePr>
        <p:xfrm>
          <a:off x="10428453" y="4360600"/>
          <a:ext cx="551305" cy="248997"/>
        </p:xfrm>
        <a:graphic>
          <a:graphicData uri="http://schemas.openxmlformats.org/drawingml/2006/table">
            <a:tbl>
              <a:tblPr firstRow="1">
                <a:tableStyleId>{5C22544A-7EE6-4342-B048-85BDC9FD1C3A}</a:tableStyleId>
              </a:tblPr>
              <a:tblGrid>
                <a:gridCol w="551305">
                  <a:extLst>
                    <a:ext uri="{9D8B030D-6E8A-4147-A177-3AD203B41FA5}">
                      <a16:colId xmlns:a16="http://schemas.microsoft.com/office/drawing/2014/main" val="1190386732"/>
                    </a:ext>
                  </a:extLst>
                </a:gridCol>
              </a:tblGrid>
              <a:tr h="248997">
                <a:tc>
                  <a:txBody>
                    <a:bodyPr/>
                    <a:lstStyle/>
                    <a:p>
                      <a:pPr algn="ctr">
                        <a:lnSpc>
                          <a:spcPct val="100000"/>
                        </a:lnSpc>
                      </a:pPr>
                      <a:endParaRPr lang="en-US" altLang="zh-CN" sz="1200" b="1">
                        <a:solidFill>
                          <a:srgbClr val="0000CC"/>
                        </a:solidFill>
                        <a:latin typeface="+mj-lt"/>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2176631"/>
                  </a:ext>
                </a:extLst>
              </a:tr>
            </a:tbl>
          </a:graphicData>
        </a:graphic>
      </p:graphicFrame>
      <p:sp>
        <p:nvSpPr>
          <p:cNvPr id="38" name="文本框 75">
            <a:extLst>
              <a:ext uri="{FF2B5EF4-FFF2-40B4-BE49-F238E27FC236}">
                <a16:creationId xmlns:a16="http://schemas.microsoft.com/office/drawing/2014/main" id="{7467BE4B-34A4-4A99-B269-08E826E29128}"/>
              </a:ext>
            </a:extLst>
          </p:cNvPr>
          <p:cNvSpPr txBox="1"/>
          <p:nvPr/>
        </p:nvSpPr>
        <p:spPr>
          <a:xfrm>
            <a:off x="9979690" y="4360734"/>
            <a:ext cx="603188" cy="332646"/>
          </a:xfrm>
          <a:prstGeom prst="rect">
            <a:avLst/>
          </a:prstGeom>
          <a:noFill/>
          <a:ln>
            <a:noFill/>
          </a:ln>
        </p:spPr>
        <p:txBody>
          <a:bodyPr wrap="square" rtlCol="0" anchor="t">
            <a:noAutofit/>
          </a:bodyPr>
          <a:lstStyle/>
          <a:p>
            <a:pPr>
              <a:lnSpc>
                <a:spcPct val="100000"/>
              </a:lnSpc>
            </a:pPr>
            <a:r>
              <a:rPr lang="en-US" altLang="zh-CN" sz="1200" b="1" kern="1200" baseline="0">
                <a:solidFill>
                  <a:schemeClr val="tx1"/>
                </a:solidFill>
                <a:latin typeface="+mj-lt"/>
                <a:ea typeface="微软雅黑" panose="020B0503020204020204" pitchFamily="34" charset="-122"/>
                <a:cs typeface="+mn-cs"/>
              </a:rPr>
              <a:t>ROI</a:t>
            </a:r>
            <a:r>
              <a:rPr lang="zh-CN" altLang="en-US" sz="1200" b="1" kern="1200" baseline="0">
                <a:solidFill>
                  <a:schemeClr val="tx1"/>
                </a:solidFill>
                <a:latin typeface="+mj-lt"/>
                <a:ea typeface="微软雅黑" panose="020B0503020204020204" pitchFamily="34" charset="-122"/>
                <a:cs typeface="+mn-cs"/>
              </a:rPr>
              <a:t>：</a:t>
            </a:r>
            <a:endParaRPr lang="en-US" altLang="zh-CN" sz="1200" b="1" kern="1200" baseline="0">
              <a:solidFill>
                <a:schemeClr val="tx1"/>
              </a:solidFill>
              <a:latin typeface="+mj-lt"/>
              <a:ea typeface="微软雅黑" panose="020B0503020204020204" pitchFamily="34" charset="-122"/>
              <a:cs typeface="+mn-cs"/>
            </a:endParaRPr>
          </a:p>
        </p:txBody>
      </p:sp>
      <p:sp>
        <p:nvSpPr>
          <p:cNvPr id="39" name="矩形 38">
            <a:extLst>
              <a:ext uri="{FF2B5EF4-FFF2-40B4-BE49-F238E27FC236}">
                <a16:creationId xmlns:a16="http://schemas.microsoft.com/office/drawing/2014/main" id="{E6F97A8D-A6AA-4680-979D-13FAF0BF3250}"/>
              </a:ext>
            </a:extLst>
          </p:cNvPr>
          <p:cNvSpPr/>
          <p:nvPr/>
        </p:nvSpPr>
        <p:spPr>
          <a:xfrm>
            <a:off x="8652619" y="4333065"/>
            <a:ext cx="1500283" cy="276999"/>
          </a:xfrm>
          <a:prstGeom prst="rect">
            <a:avLst/>
          </a:prstGeom>
        </p:spPr>
        <p:txBody>
          <a:bodyPr wrap="non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KUSD/Year</a:t>
            </a:r>
            <a:r>
              <a:rPr lang="en-US" altLang="zh-CN" sz="1200" b="1">
                <a:ea typeface="微软雅黑" panose="020B0503020204020204" pitchFamily="34" charset="-122"/>
              </a:rPr>
              <a:t>/Regin</a:t>
            </a:r>
            <a:r>
              <a:rPr kumimoji="0" lang="en-US" altLang="zh-CN" sz="1200" b="1"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 </a:t>
            </a:r>
          </a:p>
        </p:txBody>
      </p:sp>
      <p:sp>
        <p:nvSpPr>
          <p:cNvPr id="40" name="矩形 39">
            <a:extLst>
              <a:ext uri="{FF2B5EF4-FFF2-40B4-BE49-F238E27FC236}">
                <a16:creationId xmlns:a16="http://schemas.microsoft.com/office/drawing/2014/main" id="{CF6E2D94-71EB-44C9-93FA-2C8DD3AD47DD}"/>
              </a:ext>
            </a:extLst>
          </p:cNvPr>
          <p:cNvSpPr/>
          <p:nvPr/>
        </p:nvSpPr>
        <p:spPr>
          <a:xfrm>
            <a:off x="10916387" y="4347027"/>
            <a:ext cx="551305" cy="276999"/>
          </a:xfrm>
          <a:prstGeom prst="rect">
            <a:avLst/>
          </a:prstGeom>
        </p:spPr>
        <p:txBody>
          <a:bodyPr wrap="none">
            <a:spAutoFit/>
          </a:bodyPr>
          <a:lstStyle/>
          <a:p>
            <a:r>
              <a:rPr kumimoji="0" lang="en-US" altLang="zh-CN" sz="1200" b="1"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a:t>
            </a: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 </a:t>
            </a:r>
            <a:endParaRPr lang="zh-TW" altLang="en-US" b="0">
              <a:solidFill>
                <a:schemeClr val="tx1"/>
              </a:solidFill>
            </a:endParaRPr>
          </a:p>
        </p:txBody>
      </p:sp>
      <p:graphicFrame>
        <p:nvGraphicFramePr>
          <p:cNvPr id="41" name="表格 40">
            <a:extLst>
              <a:ext uri="{FF2B5EF4-FFF2-40B4-BE49-F238E27FC236}">
                <a16:creationId xmlns:a16="http://schemas.microsoft.com/office/drawing/2014/main" id="{E205B86C-B42B-4898-A7DF-BD512FC60438}"/>
              </a:ext>
            </a:extLst>
          </p:cNvPr>
          <p:cNvGraphicFramePr>
            <a:graphicFrameLocks noGrp="1"/>
          </p:cNvGraphicFramePr>
          <p:nvPr>
            <p:extLst>
              <p:ext uri="{D42A27DB-BD31-4B8C-83A1-F6EECF244321}">
                <p14:modId xmlns:p14="http://schemas.microsoft.com/office/powerpoint/2010/main" val="2971464013"/>
              </p:ext>
            </p:extLst>
          </p:nvPr>
        </p:nvGraphicFramePr>
        <p:xfrm>
          <a:off x="379308" y="4902887"/>
          <a:ext cx="3242734" cy="1653740"/>
        </p:xfrm>
        <a:graphic>
          <a:graphicData uri="http://schemas.openxmlformats.org/drawingml/2006/table">
            <a:tbl>
              <a:tblPr firstRow="1">
                <a:tableStyleId>{3B4B98B0-60AC-42C2-AFA5-B58CD77FA1E5}</a:tableStyleId>
              </a:tblPr>
              <a:tblGrid>
                <a:gridCol w="671612">
                  <a:extLst>
                    <a:ext uri="{9D8B030D-6E8A-4147-A177-3AD203B41FA5}">
                      <a16:colId xmlns:a16="http://schemas.microsoft.com/office/drawing/2014/main" val="598168328"/>
                    </a:ext>
                  </a:extLst>
                </a:gridCol>
                <a:gridCol w="711266">
                  <a:extLst>
                    <a:ext uri="{9D8B030D-6E8A-4147-A177-3AD203B41FA5}">
                      <a16:colId xmlns:a16="http://schemas.microsoft.com/office/drawing/2014/main" val="4205264334"/>
                    </a:ext>
                  </a:extLst>
                </a:gridCol>
                <a:gridCol w="1859856">
                  <a:extLst>
                    <a:ext uri="{9D8B030D-6E8A-4147-A177-3AD203B41FA5}">
                      <a16:colId xmlns:a16="http://schemas.microsoft.com/office/drawing/2014/main" val="3996203012"/>
                    </a:ext>
                  </a:extLst>
                </a:gridCol>
              </a:tblGrid>
              <a:tr h="330748">
                <a:tc>
                  <a:txBody>
                    <a:bodyPr/>
                    <a:lstStyle/>
                    <a:p>
                      <a:pPr marL="0" algn="ctr" defTabSz="914377" rtl="0" eaLnBrk="1" latinLnBrk="0" hangingPunct="1"/>
                      <a:r>
                        <a:rPr lang="zh-CN" altLang="en-US" sz="1200" b="1" kern="1200">
                          <a:solidFill>
                            <a:schemeClr val="tx1"/>
                          </a:solidFill>
                          <a:latin typeface="+mn-ea"/>
                          <a:ea typeface="+mn-ea"/>
                          <a:cs typeface="+mn-cs"/>
                        </a:rPr>
                        <a:t>成員</a:t>
                      </a:r>
                      <a:endParaRPr lang="en-US" altLang="zh-TW" sz="1200" b="1" kern="1200">
                        <a:solidFill>
                          <a:schemeClr val="tx1"/>
                        </a:solidFill>
                        <a:latin typeface="+mn-ea"/>
                        <a:ea typeface="+mn-ea"/>
                        <a:cs typeface="+mn-cs"/>
                      </a:endParaRPr>
                    </a:p>
                  </a:txBody>
                  <a:tcPr marL="0" marR="0" marT="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gridSpan="2">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TW" sz="1200" b="1" kern="1200">
                          <a:solidFill>
                            <a:schemeClr val="tx1"/>
                          </a:solidFill>
                          <a:latin typeface="Arial" panose="020B0604020202020204" pitchFamily="34" charset="0"/>
                          <a:ea typeface="+mn-ea"/>
                          <a:cs typeface="Arial" panose="020B0604020202020204" pitchFamily="34" charset="0"/>
                        </a:rPr>
                        <a:t>R&amp;R</a:t>
                      </a:r>
                      <a:endParaRPr lang="zh-TW" altLang="en-US" sz="1200" b="1" kern="1200">
                        <a:solidFill>
                          <a:schemeClr val="tx1"/>
                        </a:solidFill>
                        <a:latin typeface="Arial" panose="020B0604020202020204" pitchFamily="34" charset="0"/>
                        <a:ea typeface="+mn-ea"/>
                        <a:cs typeface="Arial" panose="020B0604020202020204" pitchFamily="34" charset="0"/>
                      </a:endParaRPr>
                    </a:p>
                  </a:txBody>
                  <a:tcPr marL="72000" marR="0" marT="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hMerge="1">
                  <a:txBody>
                    <a:bodyPr/>
                    <a:lstStyle/>
                    <a:p>
                      <a:pPr marL="0" marR="0" indent="0" algn="l" defTabSz="914377" rtl="0" eaLnBrk="1" fontAlgn="auto" latinLnBrk="0" hangingPunct="1">
                        <a:lnSpc>
                          <a:spcPct val="100000"/>
                        </a:lnSpc>
                        <a:spcBef>
                          <a:spcPts val="0"/>
                        </a:spcBef>
                        <a:spcAft>
                          <a:spcPts val="0"/>
                        </a:spcAft>
                        <a:buClrTx/>
                        <a:buSzTx/>
                        <a:buFontTx/>
                        <a:buNone/>
                        <a:tabLst/>
                        <a:defRPr/>
                      </a:pPr>
                      <a:endParaRPr lang="zh-TW" altLang="en-US" sz="1200" b="0" kern="1200">
                        <a:solidFill>
                          <a:schemeClr val="tx1"/>
                        </a:solidFill>
                        <a:latin typeface="微软雅黑" panose="020B0503020204020204" pitchFamily="34" charset="-122"/>
                        <a:ea typeface="微软雅黑" panose="020B0503020204020204" pitchFamily="34" charset="-122"/>
                        <a:cs typeface="+mn-cs"/>
                      </a:endParaRPr>
                    </a:p>
                  </a:txBody>
                  <a:tcPr marL="72000" marR="0" marT="0" marB="3600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324693731"/>
                  </a:ext>
                </a:extLst>
              </a:tr>
              <a:tr h="330748">
                <a:tc>
                  <a:txBody>
                    <a:bodyPr/>
                    <a:lstStyle/>
                    <a:p>
                      <a:pPr algn="ctr"/>
                      <a:r>
                        <a:rPr lang="zh-TW" altLang="en-US" sz="1050" b="1">
                          <a:solidFill>
                            <a:srgbClr val="0000CC"/>
                          </a:solidFill>
                          <a:latin typeface="+mn-ea"/>
                          <a:ea typeface="+mn-ea"/>
                        </a:rPr>
                        <a:t>孫得皓</a:t>
                      </a:r>
                      <a:endParaRPr lang="zh-CN" altLang="en-US" sz="1050" b="1">
                        <a:solidFill>
                          <a:srgbClr val="0000CC"/>
                        </a:solidFill>
                        <a:latin typeface="+mn-ea"/>
                        <a:ea typeface="+mn-ea"/>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TW" sz="1050" b="1">
                          <a:solidFill>
                            <a:schemeClr val="tx1"/>
                          </a:solidFill>
                          <a:latin typeface="+mn-ea"/>
                          <a:ea typeface="+mn-ea"/>
                        </a:rPr>
                        <a:t>PM/</a:t>
                      </a:r>
                      <a:r>
                        <a:rPr lang="zh-TW" altLang="en-US" sz="1050" b="0">
                          <a:solidFill>
                            <a:schemeClr val="tx1"/>
                          </a:solidFill>
                          <a:latin typeface="+mn-ea"/>
                          <a:ea typeface="+mn-ea"/>
                        </a:rPr>
                        <a:t>技術架構</a:t>
                      </a:r>
                      <a:endParaRPr lang="zh-CN" altLang="en-US" sz="1050" b="0">
                        <a:solidFill>
                          <a:schemeClr val="tx1"/>
                        </a:solidFill>
                        <a:latin typeface="+mn-ea"/>
                        <a:ea typeface="+mn-ea"/>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algn="l"/>
                      <a:r>
                        <a:rPr lang="zh-TW" altLang="en-US" sz="1050" b="1">
                          <a:solidFill>
                            <a:srgbClr val="0000CC"/>
                          </a:solidFill>
                          <a:latin typeface="+mn-ea"/>
                          <a:ea typeface="+mn-ea"/>
                        </a:rPr>
                        <a:t>專案推展及架構規劃</a:t>
                      </a:r>
                      <a:endParaRPr lang="en-US" altLang="zh-CN" sz="1050" b="1">
                        <a:solidFill>
                          <a:srgbClr val="0000CC"/>
                        </a:solidFill>
                        <a:latin typeface="+mn-ea"/>
                        <a:ea typeface="+mn-ea"/>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24082158"/>
                  </a:ext>
                </a:extLst>
              </a:tr>
              <a:tr h="330748">
                <a:tc>
                  <a:txBody>
                    <a:bodyPr/>
                    <a:lstStyle/>
                    <a:p>
                      <a:pPr marL="0" algn="ctr" defTabSz="914377" rtl="0" eaLnBrk="1" latinLnBrk="0" hangingPunct="1"/>
                      <a:r>
                        <a:rPr lang="zh-TW" altLang="en-US" sz="1050" b="1" kern="1200">
                          <a:solidFill>
                            <a:srgbClr val="0000CC"/>
                          </a:solidFill>
                          <a:latin typeface="+mn-ea"/>
                          <a:ea typeface="+mn-ea"/>
                          <a:cs typeface="+mn-cs"/>
                        </a:rPr>
                        <a:t>錢傳明</a:t>
                      </a:r>
                      <a:endParaRPr lang="zh-CN" altLang="en-US" sz="1050" b="1" kern="1200">
                        <a:solidFill>
                          <a:srgbClr val="0000CC"/>
                        </a:solidFill>
                        <a:latin typeface="+mn-ea"/>
                        <a:ea typeface="+mn-ea"/>
                        <a:cs typeface="+mn-cs"/>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algn="l"/>
                      <a:r>
                        <a:rPr lang="zh-TW" altLang="en-US" sz="1050" b="0">
                          <a:solidFill>
                            <a:schemeClr val="tx1"/>
                          </a:solidFill>
                          <a:latin typeface="+mn-ea"/>
                          <a:ea typeface="+mn-ea"/>
                        </a:rPr>
                        <a:t>技術架構</a:t>
                      </a:r>
                      <a:endParaRPr lang="zh-CN" altLang="en-US" sz="1050" b="0">
                        <a:solidFill>
                          <a:schemeClr val="tx1"/>
                        </a:solidFill>
                        <a:latin typeface="+mn-ea"/>
                        <a:ea typeface="+mn-ea"/>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914377" rtl="0" eaLnBrk="1" latinLnBrk="0" hangingPunct="1"/>
                      <a:r>
                        <a:rPr lang="zh-TW" altLang="en-US" sz="1050" b="1">
                          <a:solidFill>
                            <a:srgbClr val="0000CC"/>
                          </a:solidFill>
                          <a:latin typeface="+mn-ea"/>
                          <a:ea typeface="+mn-ea"/>
                        </a:rPr>
                        <a:t>架構規劃</a:t>
                      </a:r>
                      <a:endParaRPr lang="zh-CN" altLang="en-US" sz="1050" b="1" kern="1200">
                        <a:solidFill>
                          <a:srgbClr val="0000CC"/>
                        </a:solidFill>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8492835"/>
                  </a:ext>
                </a:extLst>
              </a:tr>
              <a:tr h="330748">
                <a:tc>
                  <a:txBody>
                    <a:bodyPr/>
                    <a:lstStyle/>
                    <a:p>
                      <a:pPr marL="0" algn="ctr" defTabSz="914377" rtl="0" eaLnBrk="1" latinLnBrk="0" hangingPunct="1"/>
                      <a:r>
                        <a:rPr lang="zh-TW" altLang="en-US" sz="1050" b="1" kern="1200">
                          <a:solidFill>
                            <a:srgbClr val="0000CC"/>
                          </a:solidFill>
                          <a:latin typeface="+mn-ea"/>
                          <a:ea typeface="+mn-ea"/>
                          <a:cs typeface="+mn-cs"/>
                        </a:rPr>
                        <a:t>林采馨</a:t>
                      </a:r>
                      <a:endParaRPr lang="zh-CN" altLang="en-US" sz="1050" b="1" kern="1200">
                        <a:solidFill>
                          <a:srgbClr val="0000CC"/>
                        </a:solidFill>
                        <a:latin typeface="+mn-ea"/>
                        <a:ea typeface="+mn-ea"/>
                        <a:cs typeface="+mn-cs"/>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zh-TW" altLang="en-US" sz="1050" b="0" i="0" u="none" strike="noStrike" kern="1200" cap="none" spc="0" normalizeH="0" baseline="0" noProof="0">
                          <a:ln>
                            <a:noFill/>
                          </a:ln>
                          <a:solidFill>
                            <a:prstClr val="black"/>
                          </a:solidFill>
                          <a:effectLst/>
                          <a:uLnTx/>
                          <a:uFillTx/>
                          <a:latin typeface="+mn-ea"/>
                          <a:ea typeface="+mn-ea"/>
                          <a:cs typeface="+mn-cs"/>
                        </a:rPr>
                        <a:t>執行</a:t>
                      </a:r>
                      <a:endParaRPr kumimoji="0" lang="zh-CN" altLang="en-US" sz="1050" b="0" i="0" u="none" strike="noStrike" kern="1200" cap="none" spc="0" normalizeH="0" baseline="0" noProof="0">
                        <a:ln>
                          <a:noFill/>
                        </a:ln>
                        <a:solidFill>
                          <a:prstClr val="black"/>
                        </a:solidFill>
                        <a:effectLst/>
                        <a:uLnTx/>
                        <a:uFillTx/>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914377" rtl="0" eaLnBrk="1" latinLnBrk="0" hangingPunct="1"/>
                      <a:r>
                        <a:rPr lang="zh-TW" altLang="en-US" sz="1050" b="1" kern="1200">
                          <a:solidFill>
                            <a:srgbClr val="0000CC"/>
                          </a:solidFill>
                          <a:latin typeface="+mn-ea"/>
                          <a:ea typeface="+mn-ea"/>
                          <a:cs typeface="+mn-cs"/>
                        </a:rPr>
                        <a:t>執行各解決方案測試</a:t>
                      </a:r>
                      <a:endParaRPr lang="zh-CN" altLang="en-US" sz="1050" b="1" kern="1200">
                        <a:solidFill>
                          <a:srgbClr val="0000CC"/>
                        </a:solidFill>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6695854"/>
                  </a:ext>
                </a:extLst>
              </a:tr>
              <a:tr h="330748">
                <a:tc>
                  <a:txBody>
                    <a:bodyPr/>
                    <a:lstStyle/>
                    <a:p>
                      <a:pPr marL="0" algn="ctr" defTabSz="914377" rtl="0" eaLnBrk="1" latinLnBrk="0" hangingPunct="1"/>
                      <a:r>
                        <a:rPr lang="zh-TW" altLang="en-US" sz="1050" b="1" kern="1200">
                          <a:solidFill>
                            <a:srgbClr val="0000CC"/>
                          </a:solidFill>
                          <a:latin typeface="+mn-ea"/>
                          <a:ea typeface="+mn-ea"/>
                          <a:cs typeface="+mn-cs"/>
                        </a:rPr>
                        <a:t>賴詩涵</a:t>
                      </a:r>
                      <a:endParaRPr lang="zh-CN" altLang="en-US" sz="1050" b="1" kern="1200">
                        <a:solidFill>
                          <a:srgbClr val="0000CC"/>
                        </a:solidFill>
                        <a:latin typeface="+mn-ea"/>
                        <a:ea typeface="+mn-ea"/>
                        <a:cs typeface="+mn-cs"/>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zh-TW" altLang="en-US" sz="1050" b="0" i="0" u="none" strike="noStrike" kern="1200" cap="none" spc="0" normalizeH="0" baseline="0" noProof="0">
                          <a:ln>
                            <a:noFill/>
                          </a:ln>
                          <a:solidFill>
                            <a:prstClr val="black"/>
                          </a:solidFill>
                          <a:effectLst/>
                          <a:uLnTx/>
                          <a:uFillTx/>
                          <a:latin typeface="+mn-ea"/>
                          <a:ea typeface="+mn-ea"/>
                          <a:cs typeface="+mn-cs"/>
                        </a:rPr>
                        <a:t>執行</a:t>
                      </a:r>
                      <a:endParaRPr kumimoji="0" lang="zh-CN" altLang="en-US" sz="1050" b="0" i="0" u="none" strike="noStrike" kern="1200" cap="none" spc="0" normalizeH="0" baseline="0" noProof="0">
                        <a:ln>
                          <a:noFill/>
                        </a:ln>
                        <a:solidFill>
                          <a:prstClr val="black"/>
                        </a:solidFill>
                        <a:effectLst/>
                        <a:uLnTx/>
                        <a:uFillTx/>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050" b="1" kern="1200">
                          <a:solidFill>
                            <a:srgbClr val="0000CC"/>
                          </a:solidFill>
                          <a:latin typeface="+mn-ea"/>
                          <a:ea typeface="+mn-ea"/>
                          <a:cs typeface="+mn-cs"/>
                        </a:rPr>
                        <a:t>執行各解決方案測試</a:t>
                      </a:r>
                      <a:endParaRPr lang="zh-CN" altLang="en-US" sz="1050" b="1" kern="1200">
                        <a:solidFill>
                          <a:srgbClr val="0000CC"/>
                        </a:solidFill>
                        <a:latin typeface="+mn-ea"/>
                        <a:ea typeface="+mn-ea"/>
                        <a:cs typeface="+mn-cs"/>
                      </a:endParaRPr>
                    </a:p>
                    <a:p>
                      <a:pPr marL="0" algn="l" defTabSz="914377" rtl="0" eaLnBrk="1" latinLnBrk="0" hangingPunct="1"/>
                      <a:endParaRPr lang="zh-CN" altLang="en-US" sz="1050" b="1" kern="1200">
                        <a:solidFill>
                          <a:srgbClr val="0000CC"/>
                        </a:solidFill>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8872308"/>
                  </a:ext>
                </a:extLst>
              </a:tr>
            </a:tbl>
          </a:graphicData>
        </a:graphic>
      </p:graphicFrame>
      <p:pic>
        <p:nvPicPr>
          <p:cNvPr id="6" name="圖片 5">
            <a:extLst>
              <a:ext uri="{FF2B5EF4-FFF2-40B4-BE49-F238E27FC236}">
                <a16:creationId xmlns:a16="http://schemas.microsoft.com/office/drawing/2014/main" id="{2C031E97-8552-C0E8-628C-84BE0CEFAF29}"/>
              </a:ext>
            </a:extLst>
          </p:cNvPr>
          <p:cNvPicPr>
            <a:picLocks noChangeAspect="1"/>
          </p:cNvPicPr>
          <p:nvPr/>
        </p:nvPicPr>
        <p:blipFill>
          <a:blip r:embed="rId3"/>
          <a:stretch>
            <a:fillRect/>
          </a:stretch>
        </p:blipFill>
        <p:spPr>
          <a:xfrm>
            <a:off x="446941" y="3042718"/>
            <a:ext cx="3066234" cy="1342702"/>
          </a:xfrm>
          <a:prstGeom prst="rect">
            <a:avLst/>
          </a:prstGeom>
        </p:spPr>
      </p:pic>
      <p:pic>
        <p:nvPicPr>
          <p:cNvPr id="7" name="圖片 6">
            <a:extLst>
              <a:ext uri="{FF2B5EF4-FFF2-40B4-BE49-F238E27FC236}">
                <a16:creationId xmlns:a16="http://schemas.microsoft.com/office/drawing/2014/main" id="{93ADBD1C-4911-36BB-3B9F-D3CBC8CC1117}"/>
              </a:ext>
            </a:extLst>
          </p:cNvPr>
          <p:cNvPicPr>
            <a:picLocks noChangeAspect="1"/>
          </p:cNvPicPr>
          <p:nvPr/>
        </p:nvPicPr>
        <p:blipFill>
          <a:blip r:embed="rId4"/>
          <a:stretch>
            <a:fillRect/>
          </a:stretch>
        </p:blipFill>
        <p:spPr>
          <a:xfrm>
            <a:off x="4333098" y="2801427"/>
            <a:ext cx="1705594" cy="1247995"/>
          </a:xfrm>
          <a:prstGeom prst="rect">
            <a:avLst/>
          </a:prstGeom>
        </p:spPr>
      </p:pic>
      <p:grpSp>
        <p:nvGrpSpPr>
          <p:cNvPr id="8" name="群組 7">
            <a:extLst>
              <a:ext uri="{FF2B5EF4-FFF2-40B4-BE49-F238E27FC236}">
                <a16:creationId xmlns:a16="http://schemas.microsoft.com/office/drawing/2014/main" id="{81F1739C-0251-379A-7C66-A9E8A07EDC4F}"/>
              </a:ext>
            </a:extLst>
          </p:cNvPr>
          <p:cNvGrpSpPr/>
          <p:nvPr/>
        </p:nvGrpSpPr>
        <p:grpSpPr>
          <a:xfrm>
            <a:off x="6149186" y="2878902"/>
            <a:ext cx="1761903" cy="1093044"/>
            <a:chOff x="-400982" y="3058831"/>
            <a:chExt cx="2353514" cy="1460066"/>
          </a:xfrm>
        </p:grpSpPr>
        <p:pic>
          <p:nvPicPr>
            <p:cNvPr id="10" name="Picture 16" descr="upload.wikimedia.org/wikipedia/commons/thumb/3/39/...">
              <a:extLst>
                <a:ext uri="{FF2B5EF4-FFF2-40B4-BE49-F238E27FC236}">
                  <a16:creationId xmlns:a16="http://schemas.microsoft.com/office/drawing/2014/main" id="{22C9000B-7939-3668-B1B4-FEC398F4740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0494" y="3520531"/>
              <a:ext cx="502704" cy="487270"/>
            </a:xfrm>
            <a:prstGeom prst="rect">
              <a:avLst/>
            </a:prstGeom>
            <a:noFill/>
            <a:extLst>
              <a:ext uri="{909E8E84-426E-40DD-AFC4-6F175D3DCCD1}">
                <a14:hiddenFill xmlns:a14="http://schemas.microsoft.com/office/drawing/2010/main">
                  <a:solidFill>
                    <a:srgbClr val="FFFFFF"/>
                  </a:solidFill>
                </a14:hiddenFill>
              </a:ext>
            </a:extLst>
          </p:spPr>
        </p:pic>
        <p:pic>
          <p:nvPicPr>
            <p:cNvPr id="12" name="圖片 11">
              <a:extLst>
                <a:ext uri="{FF2B5EF4-FFF2-40B4-BE49-F238E27FC236}">
                  <a16:creationId xmlns:a16="http://schemas.microsoft.com/office/drawing/2014/main" id="{998F81B1-699F-5AE5-5C7E-A6580B66921F}"/>
                </a:ext>
              </a:extLst>
            </p:cNvPr>
            <p:cNvPicPr>
              <a:picLocks noChangeAspect="1"/>
            </p:cNvPicPr>
            <p:nvPr/>
          </p:nvPicPr>
          <p:blipFill>
            <a:blip r:embed="rId6"/>
            <a:stretch>
              <a:fillRect/>
            </a:stretch>
          </p:blipFill>
          <p:spPr>
            <a:xfrm>
              <a:off x="244800" y="3523537"/>
              <a:ext cx="454470" cy="505235"/>
            </a:xfrm>
            <a:prstGeom prst="rect">
              <a:avLst/>
            </a:prstGeom>
          </p:spPr>
        </p:pic>
        <p:pic>
          <p:nvPicPr>
            <p:cNvPr id="13" name="圖片 12">
              <a:extLst>
                <a:ext uri="{FF2B5EF4-FFF2-40B4-BE49-F238E27FC236}">
                  <a16:creationId xmlns:a16="http://schemas.microsoft.com/office/drawing/2014/main" id="{E079F389-CA1D-5FA5-0E3D-D631A2CEF3D1}"/>
                </a:ext>
              </a:extLst>
            </p:cNvPr>
            <p:cNvPicPr>
              <a:picLocks noChangeAspect="1"/>
            </p:cNvPicPr>
            <p:nvPr/>
          </p:nvPicPr>
          <p:blipFill>
            <a:blip r:embed="rId7"/>
            <a:stretch>
              <a:fillRect/>
            </a:stretch>
          </p:blipFill>
          <p:spPr>
            <a:xfrm>
              <a:off x="-59227" y="4007801"/>
              <a:ext cx="447704" cy="511096"/>
            </a:xfrm>
            <a:prstGeom prst="rect">
              <a:avLst/>
            </a:prstGeom>
          </p:spPr>
        </p:pic>
        <p:pic>
          <p:nvPicPr>
            <p:cNvPr id="14" name="圖片 13">
              <a:extLst>
                <a:ext uri="{FF2B5EF4-FFF2-40B4-BE49-F238E27FC236}">
                  <a16:creationId xmlns:a16="http://schemas.microsoft.com/office/drawing/2014/main" id="{ABA71C01-DBA4-AD53-67CA-1A46E00F2010}"/>
                </a:ext>
              </a:extLst>
            </p:cNvPr>
            <p:cNvPicPr>
              <a:picLocks noChangeAspect="1"/>
            </p:cNvPicPr>
            <p:nvPr/>
          </p:nvPicPr>
          <p:blipFill>
            <a:blip r:embed="rId8"/>
            <a:stretch>
              <a:fillRect/>
            </a:stretch>
          </p:blipFill>
          <p:spPr>
            <a:xfrm>
              <a:off x="-400982" y="3564568"/>
              <a:ext cx="458760" cy="446016"/>
            </a:xfrm>
            <a:prstGeom prst="rect">
              <a:avLst/>
            </a:prstGeom>
          </p:spPr>
        </p:pic>
        <p:pic>
          <p:nvPicPr>
            <p:cNvPr id="25" name="圖片 24">
              <a:extLst>
                <a:ext uri="{FF2B5EF4-FFF2-40B4-BE49-F238E27FC236}">
                  <a16:creationId xmlns:a16="http://schemas.microsoft.com/office/drawing/2014/main" id="{80C53ECC-11E8-DD4F-1594-28EA0E8D83A8}"/>
                </a:ext>
              </a:extLst>
            </p:cNvPr>
            <p:cNvPicPr>
              <a:picLocks noChangeAspect="1"/>
            </p:cNvPicPr>
            <p:nvPr/>
          </p:nvPicPr>
          <p:blipFill>
            <a:blip r:embed="rId9"/>
            <a:stretch>
              <a:fillRect/>
            </a:stretch>
          </p:blipFill>
          <p:spPr>
            <a:xfrm>
              <a:off x="-48958" y="3067050"/>
              <a:ext cx="431629" cy="446016"/>
            </a:xfrm>
            <a:prstGeom prst="rect">
              <a:avLst/>
            </a:prstGeom>
            <a:ln>
              <a:solidFill>
                <a:schemeClr val="tx1"/>
              </a:solidFill>
            </a:ln>
          </p:spPr>
        </p:pic>
        <p:pic>
          <p:nvPicPr>
            <p:cNvPr id="29" name="Picture 10" descr="Compare Apache Doris vs Snowflake">
              <a:extLst>
                <a:ext uri="{FF2B5EF4-FFF2-40B4-BE49-F238E27FC236}">
                  <a16:creationId xmlns:a16="http://schemas.microsoft.com/office/drawing/2014/main" id="{4062ABB1-7498-7A61-FEA9-B1B56C25084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3479" t="3429" r="6838" b="3151"/>
            <a:stretch/>
          </p:blipFill>
          <p:spPr bwMode="auto">
            <a:xfrm>
              <a:off x="543479" y="3067050"/>
              <a:ext cx="431629" cy="44961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 name="Picture 12" descr="Dremio raises $30 million from Cisco Investments and others to streamline  data management | VentureBeat">
              <a:extLst>
                <a:ext uri="{FF2B5EF4-FFF2-40B4-BE49-F238E27FC236}">
                  <a16:creationId xmlns:a16="http://schemas.microsoft.com/office/drawing/2014/main" id="{F0F84DFE-F9DB-10BD-C676-5347660CAD2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6278" y="3058831"/>
              <a:ext cx="462226" cy="44601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4" name="圖片 33">
              <a:extLst>
                <a:ext uri="{FF2B5EF4-FFF2-40B4-BE49-F238E27FC236}">
                  <a16:creationId xmlns:a16="http://schemas.microsoft.com/office/drawing/2014/main" id="{14B25BC8-CF34-273D-034F-8CDC523A3AD3}"/>
                </a:ext>
              </a:extLst>
            </p:cNvPr>
            <p:cNvPicPr>
              <a:picLocks noChangeAspect="1"/>
            </p:cNvPicPr>
            <p:nvPr/>
          </p:nvPicPr>
          <p:blipFill>
            <a:blip r:embed="rId12"/>
            <a:stretch>
              <a:fillRect/>
            </a:stretch>
          </p:blipFill>
          <p:spPr>
            <a:xfrm>
              <a:off x="1213263" y="4022178"/>
              <a:ext cx="419136" cy="413913"/>
            </a:xfrm>
            <a:prstGeom prst="rect">
              <a:avLst/>
            </a:prstGeom>
          </p:spPr>
        </p:pic>
        <p:pic>
          <p:nvPicPr>
            <p:cNvPr id="42" name="圖片 41">
              <a:extLst>
                <a:ext uri="{FF2B5EF4-FFF2-40B4-BE49-F238E27FC236}">
                  <a16:creationId xmlns:a16="http://schemas.microsoft.com/office/drawing/2014/main" id="{29C1569B-AC99-3BE7-FBAA-295FD644FB02}"/>
                </a:ext>
              </a:extLst>
            </p:cNvPr>
            <p:cNvPicPr>
              <a:picLocks noChangeAspect="1"/>
            </p:cNvPicPr>
            <p:nvPr/>
          </p:nvPicPr>
          <p:blipFill>
            <a:blip r:embed="rId13"/>
            <a:stretch>
              <a:fillRect/>
            </a:stretch>
          </p:blipFill>
          <p:spPr>
            <a:xfrm>
              <a:off x="1499200" y="3560185"/>
              <a:ext cx="453332" cy="411486"/>
            </a:xfrm>
            <a:prstGeom prst="rect">
              <a:avLst/>
            </a:prstGeom>
            <a:ln>
              <a:solidFill>
                <a:schemeClr val="tx1"/>
              </a:solidFill>
            </a:ln>
          </p:spPr>
        </p:pic>
        <p:pic>
          <p:nvPicPr>
            <p:cNvPr id="43" name="Picture 6" descr="Logopond - Logo, Brand &amp; Identity Inspiration (Airbyte Octopus)">
              <a:extLst>
                <a:ext uri="{FF2B5EF4-FFF2-40B4-BE49-F238E27FC236}">
                  <a16:creationId xmlns:a16="http://schemas.microsoft.com/office/drawing/2014/main" id="{6428D2C0-D2A7-AED5-DF0D-4FF7145CC148}"/>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37626" t="18026" r="36126" b="48361"/>
            <a:stretch/>
          </p:blipFill>
          <p:spPr bwMode="auto">
            <a:xfrm>
              <a:off x="578848" y="4036449"/>
              <a:ext cx="434920" cy="407462"/>
            </a:xfrm>
            <a:prstGeom prst="rect">
              <a:avLst/>
            </a:prstGeom>
            <a:noFill/>
            <a:extLst>
              <a:ext uri="{909E8E84-426E-40DD-AFC4-6F175D3DCCD1}">
                <a14:hiddenFill xmlns:a14="http://schemas.microsoft.com/office/drawing/2010/main">
                  <a:solidFill>
                    <a:srgbClr val="FFFFFF"/>
                  </a:solidFill>
                </a14:hiddenFill>
              </a:ext>
            </a:extLst>
          </p:spPr>
        </p:pic>
      </p:grpSp>
      <p:sp>
        <p:nvSpPr>
          <p:cNvPr id="44" name="文字方塊 43">
            <a:extLst>
              <a:ext uri="{FF2B5EF4-FFF2-40B4-BE49-F238E27FC236}">
                <a16:creationId xmlns:a16="http://schemas.microsoft.com/office/drawing/2014/main" id="{105A4E34-A98D-6A0F-6CB8-2F8E14583822}"/>
              </a:ext>
            </a:extLst>
          </p:cNvPr>
          <p:cNvSpPr txBox="1"/>
          <p:nvPr/>
        </p:nvSpPr>
        <p:spPr>
          <a:xfrm>
            <a:off x="8142962" y="6266940"/>
            <a:ext cx="3704860" cy="261610"/>
          </a:xfrm>
          <a:prstGeom prst="rect">
            <a:avLst/>
          </a:prstGeom>
          <a:noFill/>
        </p:spPr>
        <p:txBody>
          <a:bodyPr wrap="none" rtlCol="0">
            <a:spAutoFit/>
          </a:bodyPr>
          <a:lstStyle/>
          <a:p>
            <a:r>
              <a:rPr lang="en-US" altLang="zh-TW" sz="1100"/>
              <a:t>*</a:t>
            </a:r>
            <a:r>
              <a:rPr lang="zh-TW" altLang="en-US" sz="1100"/>
              <a:t>依照</a:t>
            </a:r>
            <a:r>
              <a:rPr lang="en-US" altLang="zh-TW" sz="1100"/>
              <a:t>Oracle DW(32core)+EL(8core)</a:t>
            </a:r>
            <a:r>
              <a:rPr lang="zh-TW" altLang="en-US" sz="1100"/>
              <a:t>整合方案保守評估</a:t>
            </a:r>
          </a:p>
        </p:txBody>
      </p:sp>
      <p:sp>
        <p:nvSpPr>
          <p:cNvPr id="45" name="文字方塊 44">
            <a:extLst>
              <a:ext uri="{FF2B5EF4-FFF2-40B4-BE49-F238E27FC236}">
                <a16:creationId xmlns:a16="http://schemas.microsoft.com/office/drawing/2014/main" id="{C5F7C037-1DE4-2381-B8BC-B54990817A8B}"/>
              </a:ext>
            </a:extLst>
          </p:cNvPr>
          <p:cNvSpPr txBox="1"/>
          <p:nvPr/>
        </p:nvSpPr>
        <p:spPr>
          <a:xfrm>
            <a:off x="347135" y="1381148"/>
            <a:ext cx="3456000" cy="1631216"/>
          </a:xfrm>
          <a:prstGeom prst="rect">
            <a:avLst/>
          </a:prstGeom>
          <a:noFill/>
        </p:spPr>
        <p:txBody>
          <a:bodyPr wrap="square" rtlCol="0">
            <a:spAutoFit/>
          </a:bodyPr>
          <a:lstStyle/>
          <a:p>
            <a:pPr defTabSz="609523">
              <a:lnSpc>
                <a:spcPct val="100000"/>
              </a:lnSpc>
            </a:pPr>
            <a:r>
              <a:rPr lang="zh-TW" altLang="en-US" sz="1000">
                <a:solidFill>
                  <a:prstClr val="black"/>
                </a:solidFill>
                <a:latin typeface="Arial"/>
                <a:ea typeface=""/>
                <a:cs typeface=""/>
              </a:rPr>
              <a:t>數據中台每模組提出至少兩個開源解決方案</a:t>
            </a:r>
            <a:r>
              <a:rPr lang="en-US" altLang="zh-TW" sz="1000">
                <a:solidFill>
                  <a:prstClr val="black"/>
                </a:solidFill>
                <a:latin typeface="Arial"/>
                <a:ea typeface=""/>
                <a:cs typeface=""/>
              </a:rPr>
              <a:t>, </a:t>
            </a:r>
            <a:r>
              <a:rPr lang="zh-TW" altLang="en-US" sz="1000">
                <a:solidFill>
                  <a:prstClr val="black"/>
                </a:solidFill>
                <a:latin typeface="Arial"/>
                <a:ea typeface=""/>
                <a:cs typeface=""/>
              </a:rPr>
              <a:t>在</a:t>
            </a:r>
            <a:r>
              <a:rPr lang="en-US" altLang="zh-TW" sz="1000">
                <a:solidFill>
                  <a:prstClr val="black"/>
                </a:solidFill>
                <a:latin typeface="Arial"/>
                <a:ea typeface=""/>
                <a:cs typeface=""/>
              </a:rPr>
              <a:t>POC</a:t>
            </a:r>
            <a:r>
              <a:rPr lang="zh-TW" altLang="en-US" sz="1000">
                <a:solidFill>
                  <a:prstClr val="black"/>
                </a:solidFill>
                <a:latin typeface="Arial"/>
                <a:ea typeface=""/>
                <a:cs typeface=""/>
              </a:rPr>
              <a:t>過程中評估最終解決方案</a:t>
            </a:r>
            <a:r>
              <a:rPr lang="en-US" altLang="zh-TW" sz="1000">
                <a:solidFill>
                  <a:prstClr val="black"/>
                </a:solidFill>
                <a:latin typeface="Arial"/>
                <a:ea typeface=""/>
                <a:cs typeface=""/>
              </a:rPr>
              <a:t>, POC</a:t>
            </a:r>
            <a:r>
              <a:rPr lang="zh-TW" altLang="en-US" sz="1000">
                <a:solidFill>
                  <a:prstClr val="black"/>
                </a:solidFill>
                <a:latin typeface="Arial"/>
                <a:ea typeface=""/>
                <a:cs typeface=""/>
              </a:rPr>
              <a:t>使用者故事</a:t>
            </a:r>
            <a:r>
              <a:rPr lang="en-US" altLang="zh-TW" sz="1000">
                <a:solidFill>
                  <a:prstClr val="black"/>
                </a:solidFill>
                <a:latin typeface="Arial"/>
                <a:ea typeface=""/>
                <a:cs typeface=""/>
              </a:rPr>
              <a:t>:</a:t>
            </a:r>
            <a:r>
              <a:rPr lang="zh-TW" altLang="en-US" sz="1000">
                <a:solidFill>
                  <a:prstClr val="black"/>
                </a:solidFill>
                <a:latin typeface="Arial"/>
                <a:ea typeface=""/>
                <a:cs typeface=""/>
              </a:rPr>
              <a:t>整合</a:t>
            </a:r>
            <a:r>
              <a:rPr lang="en-US" altLang="zh-TW" sz="1000">
                <a:solidFill>
                  <a:prstClr val="black"/>
                </a:solidFill>
                <a:latin typeface="Arial"/>
                <a:ea typeface=""/>
                <a:cs typeface=""/>
              </a:rPr>
              <a:t>MES</a:t>
            </a:r>
            <a:r>
              <a:rPr lang="zh-TW" altLang="en-US" sz="1000">
                <a:solidFill>
                  <a:prstClr val="black"/>
                </a:solidFill>
                <a:latin typeface="Arial"/>
                <a:ea typeface=""/>
                <a:cs typeface=""/>
              </a:rPr>
              <a:t>主檔與機連數據產生對比報表符合最終數據中台可以達到目標 </a:t>
            </a:r>
            <a:r>
              <a:rPr lang="en-US" altLang="zh-TW" sz="1000">
                <a:solidFill>
                  <a:prstClr val="black"/>
                </a:solidFill>
                <a:latin typeface="Arial"/>
                <a:ea typeface=""/>
                <a:cs typeface=""/>
              </a:rPr>
              <a:t>:</a:t>
            </a:r>
          </a:p>
          <a:p>
            <a:pPr defTabSz="609523">
              <a:lnSpc>
                <a:spcPct val="100000"/>
              </a:lnSpc>
            </a:pPr>
            <a:endParaRPr lang="en-US" altLang="zh-TW" sz="100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a:solidFill>
                  <a:prstClr val="black"/>
                </a:solidFill>
                <a:latin typeface="Arial"/>
                <a:ea typeface=""/>
                <a:cs typeface=""/>
              </a:rPr>
              <a:t>統合所有數據源並精煉</a:t>
            </a:r>
            <a:r>
              <a:rPr lang="en-US" altLang="zh-TW" sz="1000">
                <a:solidFill>
                  <a:prstClr val="black"/>
                </a:solidFill>
                <a:latin typeface="Arial"/>
                <a:ea typeface=""/>
                <a:cs typeface=""/>
              </a:rPr>
              <a:t>, </a:t>
            </a:r>
            <a:r>
              <a:rPr lang="zh-TW" altLang="en-US" sz="1000">
                <a:solidFill>
                  <a:prstClr val="black"/>
                </a:solidFill>
                <a:latin typeface="Arial"/>
                <a:ea typeface=""/>
                <a:cs typeface=""/>
              </a:rPr>
              <a:t>成為單一數據入口點</a:t>
            </a:r>
            <a:endParaRPr lang="en-US" altLang="zh-TW" sz="100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a:solidFill>
                  <a:prstClr val="black"/>
                </a:solidFill>
                <a:latin typeface="Arial"/>
                <a:ea typeface=""/>
                <a:cs typeface=""/>
              </a:rPr>
              <a:t>遵循公司數據治理規範</a:t>
            </a:r>
            <a:r>
              <a:rPr lang="en-US" altLang="zh-TW" sz="1000">
                <a:solidFill>
                  <a:prstClr val="black"/>
                </a:solidFill>
                <a:latin typeface="Arial"/>
                <a:ea typeface=""/>
                <a:cs typeface=""/>
              </a:rPr>
              <a:t>, </a:t>
            </a:r>
            <a:r>
              <a:rPr lang="zh-TW" altLang="en-US" sz="1000">
                <a:solidFill>
                  <a:prstClr val="black"/>
                </a:solidFill>
                <a:latin typeface="Arial"/>
                <a:ea typeface=""/>
                <a:cs typeface=""/>
              </a:rPr>
              <a:t>實行數據管理與數據質量檢測</a:t>
            </a:r>
            <a:endParaRPr lang="en-US" altLang="zh-TW" sz="100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a:solidFill>
                  <a:prstClr val="black"/>
                </a:solidFill>
                <a:latin typeface="Arial"/>
                <a:ea typeface=""/>
                <a:cs typeface=""/>
              </a:rPr>
              <a:t>嚴謹落實數據安全管控</a:t>
            </a:r>
            <a:r>
              <a:rPr lang="en-US" altLang="zh-TW" sz="1000">
                <a:solidFill>
                  <a:prstClr val="black"/>
                </a:solidFill>
                <a:latin typeface="Arial"/>
                <a:ea typeface=""/>
                <a:cs typeface=""/>
              </a:rPr>
              <a:t>, </a:t>
            </a:r>
            <a:r>
              <a:rPr lang="zh-TW" altLang="en-US" sz="1000">
                <a:solidFill>
                  <a:prstClr val="black"/>
                </a:solidFill>
                <a:latin typeface="Arial"/>
                <a:ea typeface=""/>
                <a:cs typeface=""/>
              </a:rPr>
              <a:t>限制使用者僅能取得權限內之數據</a:t>
            </a:r>
            <a:endParaRPr lang="en-US" altLang="zh-TW" sz="100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a:solidFill>
                  <a:prstClr val="black"/>
                </a:solidFill>
                <a:latin typeface="Arial"/>
                <a:ea typeface=""/>
                <a:cs typeface=""/>
              </a:rPr>
              <a:t>支持多樣數據接口</a:t>
            </a:r>
            <a:r>
              <a:rPr lang="en-US" altLang="zh-TW" sz="1000">
                <a:solidFill>
                  <a:prstClr val="black"/>
                </a:solidFill>
                <a:latin typeface="Arial"/>
                <a:ea typeface=""/>
                <a:cs typeface=""/>
              </a:rPr>
              <a:t>, </a:t>
            </a:r>
            <a:r>
              <a:rPr lang="zh-TW" altLang="en-US" sz="1000">
                <a:solidFill>
                  <a:prstClr val="black"/>
                </a:solidFill>
                <a:latin typeface="Arial"/>
                <a:ea typeface=""/>
                <a:cs typeface=""/>
              </a:rPr>
              <a:t>滿足各式業務需求</a:t>
            </a:r>
            <a:r>
              <a:rPr lang="en-US" altLang="zh-TW" sz="1000">
                <a:solidFill>
                  <a:prstClr val="black"/>
                </a:solidFill>
                <a:latin typeface="Arial"/>
                <a:ea typeface=""/>
                <a:cs typeface=""/>
              </a:rPr>
              <a:t> </a:t>
            </a:r>
          </a:p>
          <a:p>
            <a:endParaRPr lang="zh-TW" altLang="en-US" sz="1000"/>
          </a:p>
        </p:txBody>
      </p:sp>
      <p:sp>
        <p:nvSpPr>
          <p:cNvPr id="46" name="文字方塊 45">
            <a:extLst>
              <a:ext uri="{FF2B5EF4-FFF2-40B4-BE49-F238E27FC236}">
                <a16:creationId xmlns:a16="http://schemas.microsoft.com/office/drawing/2014/main" id="{A3045720-9DF7-BEF7-14B5-332237593E45}"/>
              </a:ext>
            </a:extLst>
          </p:cNvPr>
          <p:cNvSpPr txBox="1"/>
          <p:nvPr/>
        </p:nvSpPr>
        <p:spPr>
          <a:xfrm>
            <a:off x="4284132" y="1428883"/>
            <a:ext cx="3456000" cy="1169551"/>
          </a:xfrm>
          <a:prstGeom prst="rect">
            <a:avLst/>
          </a:prstGeom>
          <a:noFill/>
        </p:spPr>
        <p:txBody>
          <a:bodyPr wrap="square" rtlCol="0">
            <a:spAutoFit/>
          </a:bodyPr>
          <a:lstStyle/>
          <a:p>
            <a:pPr defTabSz="609523">
              <a:lnSpc>
                <a:spcPct val="100000"/>
              </a:lnSpc>
            </a:pPr>
            <a:r>
              <a:rPr lang="zh-TW" altLang="en-US" sz="1000">
                <a:solidFill>
                  <a:prstClr val="black"/>
                </a:solidFill>
                <a:latin typeface="Arial"/>
                <a:ea typeface=""/>
                <a:cs typeface=""/>
              </a:rPr>
              <a:t>數據擷取 </a:t>
            </a:r>
            <a:r>
              <a:rPr lang="en-US" altLang="zh-TW" sz="1000">
                <a:solidFill>
                  <a:prstClr val="black"/>
                </a:solidFill>
                <a:latin typeface="Arial"/>
                <a:ea typeface=""/>
                <a:cs typeface=""/>
              </a:rPr>
              <a:t>:</a:t>
            </a:r>
            <a:r>
              <a:rPr lang="zh-TW" altLang="en-US" sz="1000">
                <a:solidFill>
                  <a:prstClr val="black"/>
                </a:solidFill>
                <a:latin typeface="Arial"/>
                <a:ea typeface=""/>
                <a:cs typeface=""/>
              </a:rPr>
              <a:t> </a:t>
            </a:r>
            <a:r>
              <a:rPr lang="en-US" altLang="zh-TW" sz="1000" err="1">
                <a:solidFill>
                  <a:prstClr val="black"/>
                </a:solidFill>
                <a:latin typeface="Arial"/>
                <a:ea typeface=""/>
                <a:cs typeface=""/>
              </a:rPr>
              <a:t>AirByte</a:t>
            </a:r>
            <a:r>
              <a:rPr lang="en-US" altLang="zh-TW" sz="1000">
                <a:solidFill>
                  <a:prstClr val="black"/>
                </a:solidFill>
                <a:latin typeface="Arial"/>
                <a:ea typeface=""/>
                <a:cs typeface=""/>
              </a:rPr>
              <a:t> </a:t>
            </a:r>
            <a:r>
              <a:rPr lang="zh-TW" altLang="en-US" sz="1000">
                <a:solidFill>
                  <a:prstClr val="black"/>
                </a:solidFill>
                <a:latin typeface="Arial"/>
                <a:ea typeface=""/>
                <a:cs typeface=""/>
              </a:rPr>
              <a:t>與 </a:t>
            </a:r>
            <a:r>
              <a:rPr lang="en-US" altLang="zh-TW" sz="1000" err="1">
                <a:solidFill>
                  <a:prstClr val="black"/>
                </a:solidFill>
                <a:latin typeface="Arial"/>
                <a:ea typeface=""/>
                <a:cs typeface=""/>
              </a:rPr>
              <a:t>seaTunnel</a:t>
            </a:r>
            <a:endParaRPr lang="en-US" altLang="zh-TW" sz="1000">
              <a:solidFill>
                <a:prstClr val="black"/>
              </a:solidFill>
              <a:latin typeface="Arial"/>
              <a:ea typeface=""/>
              <a:cs typeface=""/>
            </a:endParaRPr>
          </a:p>
          <a:p>
            <a:pPr defTabSz="609523">
              <a:lnSpc>
                <a:spcPct val="100000"/>
              </a:lnSpc>
            </a:pPr>
            <a:r>
              <a:rPr lang="zh-TW" altLang="en-US" sz="1000">
                <a:solidFill>
                  <a:prstClr val="black"/>
                </a:solidFill>
                <a:latin typeface="Arial"/>
              </a:rPr>
              <a:t>結構式數據湖泊 </a:t>
            </a:r>
            <a:r>
              <a:rPr lang="en-US" altLang="zh-TW" sz="1000">
                <a:solidFill>
                  <a:prstClr val="black"/>
                </a:solidFill>
                <a:latin typeface="Arial"/>
              </a:rPr>
              <a:t>:</a:t>
            </a:r>
            <a:r>
              <a:rPr lang="zh-TW" altLang="en-US" sz="1000">
                <a:solidFill>
                  <a:prstClr val="black"/>
                </a:solidFill>
                <a:latin typeface="Arial"/>
              </a:rPr>
              <a:t> </a:t>
            </a:r>
            <a:r>
              <a:rPr lang="en-US" altLang="zh-TW" sz="1000">
                <a:solidFill>
                  <a:prstClr val="black"/>
                </a:solidFill>
                <a:latin typeface="Arial"/>
              </a:rPr>
              <a:t>Apache Doris </a:t>
            </a:r>
            <a:r>
              <a:rPr lang="zh-TW" altLang="en-US" sz="1000">
                <a:solidFill>
                  <a:prstClr val="black"/>
                </a:solidFill>
                <a:latin typeface="Arial"/>
              </a:rPr>
              <a:t>與 </a:t>
            </a:r>
            <a:r>
              <a:rPr lang="en-US" altLang="zh-TW" sz="1000" err="1">
                <a:solidFill>
                  <a:prstClr val="black"/>
                </a:solidFill>
                <a:latin typeface="Arial"/>
              </a:rPr>
              <a:t>ClickHouse</a:t>
            </a:r>
            <a:endParaRPr lang="en-US" altLang="zh-TW" sz="1000">
              <a:solidFill>
                <a:prstClr val="black"/>
              </a:solidFill>
              <a:latin typeface="Arial"/>
            </a:endParaRPr>
          </a:p>
          <a:p>
            <a:pPr defTabSz="609523">
              <a:lnSpc>
                <a:spcPct val="100000"/>
              </a:lnSpc>
            </a:pPr>
            <a:r>
              <a:rPr lang="zh-TW" altLang="en-US" sz="1000">
                <a:solidFill>
                  <a:prstClr val="black"/>
                </a:solidFill>
                <a:latin typeface="Arial"/>
              </a:rPr>
              <a:t>數據處理 </a:t>
            </a:r>
            <a:r>
              <a:rPr lang="en-US" altLang="zh-TW" sz="1000">
                <a:solidFill>
                  <a:prstClr val="black"/>
                </a:solidFill>
                <a:latin typeface="Arial"/>
              </a:rPr>
              <a:t>:</a:t>
            </a:r>
            <a:r>
              <a:rPr lang="zh-TW" altLang="en-US" sz="1000">
                <a:solidFill>
                  <a:prstClr val="black"/>
                </a:solidFill>
                <a:latin typeface="Arial"/>
              </a:rPr>
              <a:t> </a:t>
            </a:r>
            <a:r>
              <a:rPr lang="en-US" altLang="zh-TW" sz="1000" err="1">
                <a:solidFill>
                  <a:prstClr val="black"/>
                </a:solidFill>
                <a:latin typeface="Arial"/>
              </a:rPr>
              <a:t>Nifi</a:t>
            </a:r>
            <a:r>
              <a:rPr lang="en-US" altLang="zh-TW" sz="1000">
                <a:solidFill>
                  <a:prstClr val="black"/>
                </a:solidFill>
                <a:latin typeface="Arial"/>
              </a:rPr>
              <a:t> </a:t>
            </a:r>
            <a:r>
              <a:rPr lang="zh-TW" altLang="en-US" sz="1000">
                <a:solidFill>
                  <a:prstClr val="black"/>
                </a:solidFill>
                <a:latin typeface="Arial"/>
              </a:rPr>
              <a:t>與 </a:t>
            </a:r>
            <a:r>
              <a:rPr lang="en-US" altLang="zh-TW" sz="1000" err="1">
                <a:solidFill>
                  <a:prstClr val="black"/>
                </a:solidFill>
                <a:latin typeface="Arial"/>
              </a:rPr>
              <a:t>Perfet</a:t>
            </a:r>
            <a:endParaRPr lang="en-US" altLang="zh-TW" sz="1000">
              <a:solidFill>
                <a:prstClr val="black"/>
              </a:solidFill>
              <a:latin typeface="Arial"/>
            </a:endParaRPr>
          </a:p>
          <a:p>
            <a:pPr defTabSz="609523">
              <a:lnSpc>
                <a:spcPct val="100000"/>
              </a:lnSpc>
            </a:pPr>
            <a:r>
              <a:rPr lang="zh-TW" altLang="en-US" sz="1000">
                <a:solidFill>
                  <a:prstClr val="black"/>
                </a:solidFill>
                <a:latin typeface="Arial"/>
              </a:rPr>
              <a:t>數據上架 </a:t>
            </a:r>
            <a:r>
              <a:rPr lang="en-US" altLang="zh-TW" sz="1000">
                <a:solidFill>
                  <a:prstClr val="black"/>
                </a:solidFill>
                <a:latin typeface="Arial"/>
              </a:rPr>
              <a:t>:</a:t>
            </a:r>
            <a:r>
              <a:rPr lang="zh-TW" altLang="en-US" sz="1000">
                <a:solidFill>
                  <a:prstClr val="black"/>
                </a:solidFill>
                <a:latin typeface="Arial"/>
              </a:rPr>
              <a:t> </a:t>
            </a:r>
            <a:r>
              <a:rPr lang="en-US" altLang="zh-TW" sz="1000">
                <a:solidFill>
                  <a:prstClr val="black"/>
                </a:solidFill>
                <a:latin typeface="Arial"/>
              </a:rPr>
              <a:t>ROAPI</a:t>
            </a:r>
            <a:r>
              <a:rPr lang="zh-TW" altLang="en-US" sz="1000">
                <a:solidFill>
                  <a:prstClr val="black"/>
                </a:solidFill>
                <a:latin typeface="Arial"/>
              </a:rPr>
              <a:t>與</a:t>
            </a:r>
            <a:r>
              <a:rPr lang="en-US" altLang="zh-TW" sz="1000">
                <a:solidFill>
                  <a:prstClr val="black"/>
                </a:solidFill>
                <a:latin typeface="Arial"/>
              </a:rPr>
              <a:t>Cube JS</a:t>
            </a:r>
          </a:p>
          <a:p>
            <a:pPr defTabSz="609523">
              <a:lnSpc>
                <a:spcPct val="100000"/>
              </a:lnSpc>
            </a:pPr>
            <a:r>
              <a:rPr lang="zh-TW" altLang="en-US" sz="1000">
                <a:solidFill>
                  <a:prstClr val="black"/>
                </a:solidFill>
                <a:latin typeface="Arial"/>
              </a:rPr>
              <a:t>數據權限 </a:t>
            </a:r>
            <a:r>
              <a:rPr lang="en-US" altLang="zh-TW" sz="1000">
                <a:solidFill>
                  <a:prstClr val="black"/>
                </a:solidFill>
                <a:latin typeface="Arial"/>
              </a:rPr>
              <a:t>:</a:t>
            </a:r>
            <a:r>
              <a:rPr lang="zh-TW" altLang="en-US" sz="1000">
                <a:solidFill>
                  <a:prstClr val="black"/>
                </a:solidFill>
                <a:latin typeface="Arial"/>
              </a:rPr>
              <a:t> 依照訂定的角色群組確認各解決方案是否能支援此設計</a:t>
            </a:r>
            <a:endParaRPr lang="en-US" altLang="zh-TW" sz="1000">
              <a:solidFill>
                <a:prstClr val="black"/>
              </a:solidFill>
              <a:latin typeface="Arial"/>
            </a:endParaRPr>
          </a:p>
          <a:p>
            <a:pPr defTabSz="609523">
              <a:lnSpc>
                <a:spcPct val="100000"/>
              </a:lnSpc>
            </a:pPr>
            <a:r>
              <a:rPr lang="zh-TW" altLang="en-US" sz="1000">
                <a:solidFill>
                  <a:prstClr val="black"/>
                </a:solidFill>
                <a:latin typeface="Arial"/>
              </a:rPr>
              <a:t>高擴展性架構 </a:t>
            </a:r>
            <a:r>
              <a:rPr lang="en-US" altLang="zh-TW" sz="1000">
                <a:solidFill>
                  <a:prstClr val="black"/>
                </a:solidFill>
                <a:latin typeface="Arial"/>
              </a:rPr>
              <a:t>: MicroK8S</a:t>
            </a:r>
            <a:endParaRPr lang="zh-TW" altLang="en-US" sz="1000"/>
          </a:p>
        </p:txBody>
      </p:sp>
      <p:graphicFrame>
        <p:nvGraphicFramePr>
          <p:cNvPr id="3" name="圖表 2">
            <a:extLst>
              <a:ext uri="{FF2B5EF4-FFF2-40B4-BE49-F238E27FC236}">
                <a16:creationId xmlns:a16="http://schemas.microsoft.com/office/drawing/2014/main" id="{63AB3CDC-3325-9321-BD10-9A8B8C327228}"/>
              </a:ext>
            </a:extLst>
          </p:cNvPr>
          <p:cNvGraphicFramePr/>
          <p:nvPr/>
        </p:nvGraphicFramePr>
        <p:xfrm>
          <a:off x="8739889" y="1665049"/>
          <a:ext cx="1851912" cy="1992552"/>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18" name="表格 17">
            <a:extLst>
              <a:ext uri="{FF2B5EF4-FFF2-40B4-BE49-F238E27FC236}">
                <a16:creationId xmlns:a16="http://schemas.microsoft.com/office/drawing/2014/main" id="{92B3AD3C-CFD6-BFD4-CC5F-1BC0A4BCAA79}"/>
              </a:ext>
            </a:extLst>
          </p:cNvPr>
          <p:cNvGraphicFramePr>
            <a:graphicFrameLocks noGrp="1"/>
          </p:cNvGraphicFramePr>
          <p:nvPr/>
        </p:nvGraphicFramePr>
        <p:xfrm>
          <a:off x="8305798" y="1570633"/>
          <a:ext cx="2865970" cy="259080"/>
        </p:xfrm>
        <a:graphic>
          <a:graphicData uri="http://schemas.openxmlformats.org/drawingml/2006/table">
            <a:tbl>
              <a:tblPr firstRow="1" bandRow="1">
                <a:tableStyleId>{5C22544A-7EE6-4342-B048-85BDC9FD1C3A}</a:tableStyleId>
              </a:tblPr>
              <a:tblGrid>
                <a:gridCol w="573194">
                  <a:extLst>
                    <a:ext uri="{9D8B030D-6E8A-4147-A177-3AD203B41FA5}">
                      <a16:colId xmlns:a16="http://schemas.microsoft.com/office/drawing/2014/main" val="2389258531"/>
                    </a:ext>
                  </a:extLst>
                </a:gridCol>
                <a:gridCol w="573194">
                  <a:extLst>
                    <a:ext uri="{9D8B030D-6E8A-4147-A177-3AD203B41FA5}">
                      <a16:colId xmlns:a16="http://schemas.microsoft.com/office/drawing/2014/main" val="734042488"/>
                    </a:ext>
                  </a:extLst>
                </a:gridCol>
                <a:gridCol w="573194">
                  <a:extLst>
                    <a:ext uri="{9D8B030D-6E8A-4147-A177-3AD203B41FA5}">
                      <a16:colId xmlns:a16="http://schemas.microsoft.com/office/drawing/2014/main" val="4071878471"/>
                    </a:ext>
                  </a:extLst>
                </a:gridCol>
                <a:gridCol w="573194">
                  <a:extLst>
                    <a:ext uri="{9D8B030D-6E8A-4147-A177-3AD203B41FA5}">
                      <a16:colId xmlns:a16="http://schemas.microsoft.com/office/drawing/2014/main" val="1962283870"/>
                    </a:ext>
                  </a:extLst>
                </a:gridCol>
                <a:gridCol w="573194">
                  <a:extLst>
                    <a:ext uri="{9D8B030D-6E8A-4147-A177-3AD203B41FA5}">
                      <a16:colId xmlns:a16="http://schemas.microsoft.com/office/drawing/2014/main" val="2294945033"/>
                    </a:ext>
                  </a:extLst>
                </a:gridCol>
              </a:tblGrid>
              <a:tr h="255613">
                <a:tc>
                  <a:txBody>
                    <a:bodyPr/>
                    <a:lstStyle/>
                    <a:p>
                      <a:pPr algn="ctr"/>
                      <a:r>
                        <a:rPr lang="en-US" altLang="zh-TW" sz="1100" b="0">
                          <a:solidFill>
                            <a:schemeClr val="bg1"/>
                          </a:solidFill>
                        </a:rPr>
                        <a:t>M1</a:t>
                      </a:r>
                      <a:endParaRPr lang="zh-TW" altLang="en-US" sz="1100" b="0">
                        <a:solidFill>
                          <a:schemeClr val="bg1"/>
                        </a:solidFill>
                      </a:endParaRPr>
                    </a:p>
                  </a:txBody>
                  <a:tcPr>
                    <a:solidFill>
                      <a:srgbClr val="00B050"/>
                    </a:solidFill>
                  </a:tcPr>
                </a:tc>
                <a:tc>
                  <a:txBody>
                    <a:bodyPr/>
                    <a:lstStyle/>
                    <a:p>
                      <a:pPr algn="ctr"/>
                      <a:r>
                        <a:rPr lang="en-US" altLang="zh-TW" sz="1100" b="0">
                          <a:solidFill>
                            <a:schemeClr val="tx1"/>
                          </a:solidFill>
                        </a:rPr>
                        <a:t>M2</a:t>
                      </a:r>
                      <a:endParaRPr lang="zh-TW" altLang="en-US" sz="1100" b="0">
                        <a:solidFill>
                          <a:schemeClr val="tx1"/>
                        </a:solidFill>
                      </a:endParaRPr>
                    </a:p>
                  </a:txBody>
                  <a:tcPr>
                    <a:gradFill flip="none" rotWithShape="1">
                      <a:gsLst>
                        <a:gs pos="25000">
                          <a:srgbClr val="00B050"/>
                        </a:gs>
                        <a:gs pos="58000">
                          <a:schemeClr val="bg1">
                            <a:lumMod val="85000"/>
                          </a:schemeClr>
                        </a:gs>
                        <a:gs pos="100000">
                          <a:schemeClr val="bg1">
                            <a:lumMod val="85000"/>
                          </a:schemeClr>
                        </a:gs>
                      </a:gsLst>
                      <a:lin ang="0" scaled="1"/>
                      <a:tileRect/>
                    </a:gradFill>
                  </a:tcPr>
                </a:tc>
                <a:tc>
                  <a:txBody>
                    <a:bodyPr/>
                    <a:lstStyle/>
                    <a:p>
                      <a:pPr algn="ctr"/>
                      <a:r>
                        <a:rPr lang="en-US" altLang="zh-TW" sz="1100" b="0">
                          <a:solidFill>
                            <a:schemeClr val="tx1"/>
                          </a:solidFill>
                        </a:rPr>
                        <a:t>M3</a:t>
                      </a:r>
                      <a:endParaRPr lang="zh-TW" altLang="en-US" sz="1100" b="0">
                        <a:solidFill>
                          <a:schemeClr val="tx1"/>
                        </a:solidFill>
                      </a:endParaRPr>
                    </a:p>
                  </a:txBody>
                  <a:tcPr>
                    <a:solidFill>
                      <a:schemeClr val="bg1">
                        <a:lumMod val="85000"/>
                      </a:schemeClr>
                    </a:solidFill>
                  </a:tcPr>
                </a:tc>
                <a:tc>
                  <a:txBody>
                    <a:bodyPr/>
                    <a:lstStyle/>
                    <a:p>
                      <a:pPr algn="ctr"/>
                      <a:r>
                        <a:rPr lang="en-US" altLang="zh-TW" sz="1100" b="0">
                          <a:solidFill>
                            <a:schemeClr val="tx1"/>
                          </a:solidFill>
                        </a:rPr>
                        <a:t>M4</a:t>
                      </a:r>
                      <a:endParaRPr lang="zh-TW" altLang="en-US" sz="1100" b="0">
                        <a:solidFill>
                          <a:schemeClr val="tx1"/>
                        </a:solidFill>
                      </a:endParaRPr>
                    </a:p>
                  </a:txBody>
                  <a:tcPr>
                    <a:solidFill>
                      <a:schemeClr val="bg1">
                        <a:lumMod val="85000"/>
                      </a:schemeClr>
                    </a:solidFill>
                  </a:tcPr>
                </a:tc>
                <a:tc>
                  <a:txBody>
                    <a:bodyPr/>
                    <a:lstStyle/>
                    <a:p>
                      <a:pPr algn="ctr"/>
                      <a:r>
                        <a:rPr lang="en-US" altLang="zh-TW" sz="1100" b="0">
                          <a:solidFill>
                            <a:schemeClr val="tx1"/>
                          </a:solidFill>
                        </a:rPr>
                        <a:t>M5</a:t>
                      </a:r>
                      <a:endParaRPr lang="zh-TW" altLang="en-US" sz="1100" b="0">
                        <a:solidFill>
                          <a:schemeClr val="tx1"/>
                        </a:solidFill>
                      </a:endParaRPr>
                    </a:p>
                  </a:txBody>
                  <a:tcPr>
                    <a:solidFill>
                      <a:schemeClr val="bg1">
                        <a:lumMod val="85000"/>
                      </a:schemeClr>
                    </a:solidFill>
                  </a:tcPr>
                </a:tc>
                <a:extLst>
                  <a:ext uri="{0D108BD9-81ED-4DB2-BD59-A6C34878D82A}">
                    <a16:rowId xmlns:a16="http://schemas.microsoft.com/office/drawing/2014/main" val="2409848180"/>
                  </a:ext>
                </a:extLst>
              </a:tr>
            </a:tbl>
          </a:graphicData>
        </a:graphic>
      </p:graphicFrame>
    </p:spTree>
    <p:extLst>
      <p:ext uri="{BB962C8B-B14F-4D97-AF65-F5344CB8AC3E}">
        <p14:creationId xmlns:p14="http://schemas.microsoft.com/office/powerpoint/2010/main" val="3771121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a:extLst>
              <a:ext uri="{FF2B5EF4-FFF2-40B4-BE49-F238E27FC236}">
                <a16:creationId xmlns:a16="http://schemas.microsoft.com/office/drawing/2014/main" id="{07155D37-0562-7E61-0A35-AAB050B5755F}"/>
              </a:ext>
            </a:extLst>
          </p:cNvPr>
          <p:cNvSpPr>
            <a:spLocks noGrp="1"/>
          </p:cNvSpPr>
          <p:nvPr>
            <p:ph type="title"/>
          </p:nvPr>
        </p:nvSpPr>
        <p:spPr/>
        <p:txBody>
          <a:bodyPr/>
          <a:lstStyle/>
          <a:p>
            <a:r>
              <a:rPr lang="en-US" altLang="zh-TW"/>
              <a:t>MFG</a:t>
            </a:r>
            <a:r>
              <a:rPr lang="zh-TW" altLang="en-US"/>
              <a:t>數據中台目標</a:t>
            </a:r>
          </a:p>
        </p:txBody>
      </p:sp>
      <p:sp>
        <p:nvSpPr>
          <p:cNvPr id="71" name="Trapezoid 200">
            <a:extLst>
              <a:ext uri="{FF2B5EF4-FFF2-40B4-BE49-F238E27FC236}">
                <a16:creationId xmlns:a16="http://schemas.microsoft.com/office/drawing/2014/main" id="{22F35D71-0B53-49CE-AAAC-42A5B3392DC0}"/>
              </a:ext>
            </a:extLst>
          </p:cNvPr>
          <p:cNvSpPr/>
          <p:nvPr/>
        </p:nvSpPr>
        <p:spPr>
          <a:xfrm rot="16200000">
            <a:off x="6465019" y="3201916"/>
            <a:ext cx="4661887" cy="650036"/>
          </a:xfrm>
          <a:prstGeom prst="trapezoid">
            <a:avLst>
              <a:gd name="adj" fmla="val 109351"/>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6" name="Rectangle 195">
            <a:extLst>
              <a:ext uri="{FF2B5EF4-FFF2-40B4-BE49-F238E27FC236}">
                <a16:creationId xmlns:a16="http://schemas.microsoft.com/office/drawing/2014/main" id="{B7E85145-C863-4A44-AB83-16F971FCB257}"/>
              </a:ext>
            </a:extLst>
          </p:cNvPr>
          <p:cNvSpPr/>
          <p:nvPr/>
        </p:nvSpPr>
        <p:spPr>
          <a:xfrm>
            <a:off x="9155858" y="1236192"/>
            <a:ext cx="2770914" cy="465289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lt1"/>
              </a:solidFill>
            </a:endParaRPr>
          </a:p>
        </p:txBody>
      </p:sp>
      <p:sp>
        <p:nvSpPr>
          <p:cNvPr id="67" name="Shape 348">
            <a:extLst>
              <a:ext uri="{FF2B5EF4-FFF2-40B4-BE49-F238E27FC236}">
                <a16:creationId xmlns:a16="http://schemas.microsoft.com/office/drawing/2014/main" id="{009BE4D3-BB6D-42C6-88D3-B49966D143FA}"/>
              </a:ext>
            </a:extLst>
          </p:cNvPr>
          <p:cNvSpPr/>
          <p:nvPr/>
        </p:nvSpPr>
        <p:spPr>
          <a:xfrm>
            <a:off x="9604832" y="2192975"/>
            <a:ext cx="2168030" cy="3477875"/>
          </a:xfrm>
          <a:prstGeom prst="rect">
            <a:avLst/>
          </a:prstGeom>
          <a:ln w="12700">
            <a:miter lim="400000"/>
          </a:ln>
          <a:extLst>
            <a:ext uri="{C572A759-6A51-4108-AA02-DFA0A04FC94B}">
              <ma14:wrappingTextBoxFlag xmlns:ma14="http://schemas.microsoft.com/office/mac/drawingml/2011/main" xmlns="" val="1"/>
            </a:ext>
          </a:extLst>
        </p:spPr>
        <p:txBody>
          <a:bodyPr wrap="square" lIns="73151" rIns="73151">
            <a:spAutoFit/>
          </a:bodyPr>
          <a:lstStyle>
            <a:lvl1pPr>
              <a:lnSpc>
                <a:spcPct val="120000"/>
              </a:lnSpc>
              <a:defRPr sz="1400">
                <a:solidFill>
                  <a:srgbClr val="535353"/>
                </a:solidFill>
                <a:latin typeface="Helvetica Light"/>
                <a:ea typeface="Helvetica Light"/>
                <a:cs typeface="Helvetica Light"/>
                <a:sym typeface="Helvetica Light"/>
              </a:defRPr>
            </a:lvl1pPr>
          </a:lstStyle>
          <a:p>
            <a:pPr defTabSz="609523">
              <a:lnSpc>
                <a:spcPct val="100000"/>
              </a:lnSpc>
            </a:pPr>
            <a:r>
              <a:rPr lang="zh-TW" altLang="en-US">
                <a:solidFill>
                  <a:prstClr val="black"/>
                </a:solidFill>
                <a:latin typeface="Arial"/>
                <a:ea typeface=""/>
                <a:cs typeface=""/>
              </a:rPr>
              <a:t>統合所有數據源並精煉</a:t>
            </a:r>
            <a:r>
              <a:rPr lang="en-US" altLang="zh-TW">
                <a:solidFill>
                  <a:prstClr val="black"/>
                </a:solidFill>
                <a:latin typeface="Arial"/>
                <a:ea typeface=""/>
                <a:cs typeface=""/>
              </a:rPr>
              <a:t>, </a:t>
            </a:r>
            <a:r>
              <a:rPr lang="zh-TW" altLang="en-US">
                <a:solidFill>
                  <a:prstClr val="black"/>
                </a:solidFill>
                <a:latin typeface="Arial"/>
                <a:ea typeface=""/>
                <a:cs typeface=""/>
              </a:rPr>
              <a:t>成為單一數據入口點</a:t>
            </a:r>
            <a:endParaRPr lang="en-US" altLang="zh-TW">
              <a:solidFill>
                <a:prstClr val="black"/>
              </a:solidFill>
              <a:latin typeface="Arial"/>
              <a:ea typeface=""/>
              <a:cs typeface=""/>
            </a:endParaRPr>
          </a:p>
          <a:p>
            <a:pPr defTabSz="609523">
              <a:lnSpc>
                <a:spcPct val="100000"/>
              </a:lnSpc>
            </a:pPr>
            <a:endParaRPr lang="en-US">
              <a:solidFill>
                <a:prstClr val="black"/>
              </a:solidFill>
              <a:latin typeface="Arial"/>
              <a:ea typeface=""/>
              <a:cs typeface=""/>
            </a:endParaRPr>
          </a:p>
          <a:p>
            <a:pPr defTabSz="609523">
              <a:lnSpc>
                <a:spcPct val="100000"/>
              </a:lnSpc>
            </a:pPr>
            <a:r>
              <a:rPr lang="zh-TW" altLang="en-US">
                <a:solidFill>
                  <a:prstClr val="black"/>
                </a:solidFill>
                <a:latin typeface="Arial"/>
                <a:ea typeface=""/>
                <a:cs typeface=""/>
              </a:rPr>
              <a:t>遵循公司數據治理規範</a:t>
            </a:r>
            <a:r>
              <a:rPr lang="en-US" altLang="zh-TW">
                <a:solidFill>
                  <a:prstClr val="black"/>
                </a:solidFill>
                <a:latin typeface="Arial"/>
                <a:ea typeface=""/>
                <a:cs typeface=""/>
              </a:rPr>
              <a:t>, </a:t>
            </a:r>
            <a:r>
              <a:rPr lang="zh-TW" altLang="en-US">
                <a:solidFill>
                  <a:prstClr val="black"/>
                </a:solidFill>
                <a:latin typeface="Arial"/>
                <a:ea typeface=""/>
                <a:cs typeface=""/>
              </a:rPr>
              <a:t>實行數據管理與數據質量檢測</a:t>
            </a:r>
            <a:endParaRPr lang="en-US">
              <a:solidFill>
                <a:prstClr val="black"/>
              </a:solidFill>
              <a:latin typeface="Arial"/>
              <a:ea typeface=""/>
              <a:cs typeface=""/>
            </a:endParaRPr>
          </a:p>
          <a:p>
            <a:pPr defTabSz="609523">
              <a:lnSpc>
                <a:spcPct val="100000"/>
              </a:lnSpc>
            </a:pPr>
            <a:endParaRPr lang="en-US">
              <a:solidFill>
                <a:prstClr val="black"/>
              </a:solidFill>
              <a:latin typeface="Arial"/>
              <a:ea typeface=""/>
              <a:cs typeface=""/>
            </a:endParaRPr>
          </a:p>
          <a:p>
            <a:pPr defTabSz="609523">
              <a:lnSpc>
                <a:spcPct val="100000"/>
              </a:lnSpc>
            </a:pPr>
            <a:r>
              <a:rPr lang="zh-TW" altLang="en-US">
                <a:solidFill>
                  <a:prstClr val="black"/>
                </a:solidFill>
                <a:latin typeface="Arial"/>
                <a:ea typeface=""/>
                <a:cs typeface=""/>
              </a:rPr>
              <a:t>嚴謹落實數據安全管控</a:t>
            </a:r>
            <a:r>
              <a:rPr lang="en-US" altLang="zh-TW">
                <a:solidFill>
                  <a:prstClr val="black"/>
                </a:solidFill>
                <a:latin typeface="Arial"/>
                <a:ea typeface=""/>
                <a:cs typeface=""/>
              </a:rPr>
              <a:t>, </a:t>
            </a:r>
            <a:r>
              <a:rPr lang="zh-TW" altLang="en-US">
                <a:solidFill>
                  <a:prstClr val="black"/>
                </a:solidFill>
                <a:latin typeface="Arial"/>
                <a:ea typeface=""/>
                <a:cs typeface=""/>
              </a:rPr>
              <a:t>限制使用者僅能取得權限內之數據</a:t>
            </a:r>
            <a:endParaRPr lang="en-US">
              <a:solidFill>
                <a:prstClr val="black"/>
              </a:solidFill>
              <a:latin typeface="Arial"/>
              <a:ea typeface=""/>
              <a:cs typeface=""/>
            </a:endParaRPr>
          </a:p>
          <a:p>
            <a:pPr defTabSz="609523">
              <a:lnSpc>
                <a:spcPct val="100000"/>
              </a:lnSpc>
            </a:pPr>
            <a:endParaRPr lang="en-US">
              <a:solidFill>
                <a:prstClr val="black"/>
              </a:solidFill>
              <a:latin typeface="Arial"/>
              <a:ea typeface=""/>
              <a:cs typeface=""/>
            </a:endParaRPr>
          </a:p>
          <a:p>
            <a:pPr defTabSz="609523">
              <a:lnSpc>
                <a:spcPct val="100000"/>
              </a:lnSpc>
            </a:pPr>
            <a:r>
              <a:rPr lang="zh-TW" altLang="en-US">
                <a:solidFill>
                  <a:prstClr val="black"/>
                </a:solidFill>
                <a:latin typeface="Arial"/>
                <a:ea typeface=""/>
                <a:cs typeface=""/>
              </a:rPr>
              <a:t>支持多樣數據接口</a:t>
            </a:r>
            <a:r>
              <a:rPr lang="en-US" altLang="zh-TW">
                <a:solidFill>
                  <a:prstClr val="black"/>
                </a:solidFill>
                <a:latin typeface="Arial"/>
                <a:ea typeface=""/>
                <a:cs typeface=""/>
              </a:rPr>
              <a:t>, </a:t>
            </a:r>
            <a:r>
              <a:rPr lang="zh-TW" altLang="en-US">
                <a:solidFill>
                  <a:prstClr val="black"/>
                </a:solidFill>
                <a:latin typeface="Arial"/>
                <a:ea typeface=""/>
                <a:cs typeface=""/>
              </a:rPr>
              <a:t>滿足各式業務需求</a:t>
            </a:r>
            <a:r>
              <a:rPr lang="en-US">
                <a:solidFill>
                  <a:prstClr val="black"/>
                </a:solidFill>
                <a:latin typeface="Arial"/>
                <a:ea typeface=""/>
                <a:cs typeface=""/>
              </a:rPr>
              <a:t> </a:t>
            </a:r>
            <a:br>
              <a:rPr lang="en-US" sz="1200" b="1">
                <a:solidFill>
                  <a:prstClr val="black"/>
                </a:solidFill>
                <a:latin typeface="Arial"/>
                <a:ea typeface=""/>
                <a:cs typeface=""/>
              </a:rPr>
            </a:br>
            <a:endParaRPr lang="en-US">
              <a:solidFill>
                <a:prstClr val="black"/>
              </a:solidFill>
              <a:latin typeface="Arial"/>
              <a:ea typeface=""/>
              <a:cs typeface=""/>
            </a:endParaRPr>
          </a:p>
          <a:p>
            <a:pPr defTabSz="609523">
              <a:lnSpc>
                <a:spcPct val="100000"/>
              </a:lnSpc>
            </a:pPr>
            <a:br>
              <a:rPr lang="en-US" sz="1200" b="1">
                <a:solidFill>
                  <a:prstClr val="black"/>
                </a:solidFill>
                <a:latin typeface="Arial"/>
                <a:ea typeface=""/>
                <a:cs typeface=""/>
              </a:rPr>
            </a:br>
            <a:endParaRPr lang="en-US" sz="1200" b="1">
              <a:solidFill>
                <a:prstClr val="black"/>
              </a:solidFill>
              <a:latin typeface="Arial"/>
              <a:ea typeface=""/>
              <a:cs typeface=""/>
            </a:endParaRPr>
          </a:p>
        </p:txBody>
      </p:sp>
      <p:pic>
        <p:nvPicPr>
          <p:cNvPr id="68" name="Picture 197">
            <a:extLst>
              <a:ext uri="{FF2B5EF4-FFF2-40B4-BE49-F238E27FC236}">
                <a16:creationId xmlns:a16="http://schemas.microsoft.com/office/drawing/2014/main" id="{752EBFF1-DA18-4C03-AB53-231168760552}"/>
              </a:ext>
            </a:extLst>
          </p:cNvPr>
          <p:cNvPicPr>
            <a:picLocks noChangeAspect="1"/>
          </p:cNvPicPr>
          <p:nvPr/>
        </p:nvPicPr>
        <p:blipFill>
          <a:blip r:embed="rId3"/>
          <a:stretch>
            <a:fillRect/>
          </a:stretch>
        </p:blipFill>
        <p:spPr>
          <a:xfrm>
            <a:off x="9302512" y="2323021"/>
            <a:ext cx="297117" cy="297115"/>
          </a:xfrm>
          <a:prstGeom prst="rect">
            <a:avLst/>
          </a:prstGeom>
        </p:spPr>
      </p:pic>
      <p:pic>
        <p:nvPicPr>
          <p:cNvPr id="69" name="Picture 198">
            <a:extLst>
              <a:ext uri="{FF2B5EF4-FFF2-40B4-BE49-F238E27FC236}">
                <a16:creationId xmlns:a16="http://schemas.microsoft.com/office/drawing/2014/main" id="{9A155D6C-0FF8-4FA5-9EBE-5AF82744A3A7}"/>
              </a:ext>
            </a:extLst>
          </p:cNvPr>
          <p:cNvPicPr>
            <a:picLocks noChangeAspect="1"/>
          </p:cNvPicPr>
          <p:nvPr/>
        </p:nvPicPr>
        <p:blipFill>
          <a:blip r:embed="rId3"/>
          <a:stretch>
            <a:fillRect/>
          </a:stretch>
        </p:blipFill>
        <p:spPr>
          <a:xfrm>
            <a:off x="9302515" y="3053926"/>
            <a:ext cx="297117" cy="297117"/>
          </a:xfrm>
          <a:prstGeom prst="rect">
            <a:avLst/>
          </a:prstGeom>
        </p:spPr>
      </p:pic>
      <p:pic>
        <p:nvPicPr>
          <p:cNvPr id="70" name="Picture 199">
            <a:extLst>
              <a:ext uri="{FF2B5EF4-FFF2-40B4-BE49-F238E27FC236}">
                <a16:creationId xmlns:a16="http://schemas.microsoft.com/office/drawing/2014/main" id="{70E2714B-F26A-400E-91E7-FC7D8894789C}"/>
              </a:ext>
            </a:extLst>
          </p:cNvPr>
          <p:cNvPicPr>
            <a:picLocks noChangeAspect="1"/>
          </p:cNvPicPr>
          <p:nvPr/>
        </p:nvPicPr>
        <p:blipFill>
          <a:blip r:embed="rId3"/>
          <a:stretch>
            <a:fillRect/>
          </a:stretch>
        </p:blipFill>
        <p:spPr>
          <a:xfrm>
            <a:off x="9302513" y="4664501"/>
            <a:ext cx="297117" cy="297117"/>
          </a:xfrm>
          <a:prstGeom prst="rect">
            <a:avLst/>
          </a:prstGeom>
        </p:spPr>
      </p:pic>
      <p:pic>
        <p:nvPicPr>
          <p:cNvPr id="73" name="Picture 202">
            <a:extLst>
              <a:ext uri="{FF2B5EF4-FFF2-40B4-BE49-F238E27FC236}">
                <a16:creationId xmlns:a16="http://schemas.microsoft.com/office/drawing/2014/main" id="{47049CFD-904C-4627-B994-C4DAC242A36E}"/>
              </a:ext>
            </a:extLst>
          </p:cNvPr>
          <p:cNvPicPr>
            <a:picLocks noChangeAspect="1"/>
          </p:cNvPicPr>
          <p:nvPr/>
        </p:nvPicPr>
        <p:blipFill>
          <a:blip r:embed="rId3"/>
          <a:stretch>
            <a:fillRect/>
          </a:stretch>
        </p:blipFill>
        <p:spPr>
          <a:xfrm>
            <a:off x="9302514" y="3891634"/>
            <a:ext cx="297117" cy="297115"/>
          </a:xfrm>
          <a:prstGeom prst="rect">
            <a:avLst/>
          </a:prstGeom>
        </p:spPr>
      </p:pic>
      <p:sp>
        <p:nvSpPr>
          <p:cNvPr id="75" name="TextBox 204">
            <a:extLst>
              <a:ext uri="{FF2B5EF4-FFF2-40B4-BE49-F238E27FC236}">
                <a16:creationId xmlns:a16="http://schemas.microsoft.com/office/drawing/2014/main" id="{CA6B98C6-30E7-4ED5-B26B-6C8DD7F91077}"/>
              </a:ext>
            </a:extLst>
          </p:cNvPr>
          <p:cNvSpPr txBox="1"/>
          <p:nvPr/>
        </p:nvSpPr>
        <p:spPr>
          <a:xfrm>
            <a:off x="9149714" y="1685944"/>
            <a:ext cx="2151990" cy="369330"/>
          </a:xfrm>
          <a:prstGeom prst="rect">
            <a:avLst/>
          </a:prstGeom>
          <a:noFill/>
          <a:ln w="12700" cap="flat">
            <a:noFill/>
            <a:miter lim="400000"/>
          </a:ln>
          <a:effectLst/>
          <a:sp3d/>
        </p:spPr>
        <p:txBody>
          <a:bodyPr rot="0" spcFirstLastPara="1" vertOverflow="overflow" horzOverflow="overflow" vert="horz" wrap="square" lIns="60959" tIns="60959" rIns="60959" bIns="60959" numCol="1" spcCol="38100" rtlCol="0" anchor="t">
            <a:spAutoFit/>
          </a:bodyPr>
          <a:lstStyle/>
          <a:p>
            <a:pPr defTabSz="1219140" hangingPunct="0">
              <a:defRPr/>
            </a:pPr>
            <a:r>
              <a:rPr lang="zh-TW" altLang="en-US" sz="1600" kern="0">
                <a:solidFill>
                  <a:prstClr val="black"/>
                </a:solidFill>
                <a:latin typeface="Arial"/>
                <a:ea typeface="Arial"/>
                <a:cs typeface="Arial"/>
                <a:sym typeface="Arial"/>
              </a:rPr>
              <a:t>核心目標</a:t>
            </a:r>
            <a:endParaRPr lang="en-US" sz="1600" kern="0">
              <a:solidFill>
                <a:prstClr val="black"/>
              </a:solidFill>
              <a:latin typeface="Arial"/>
              <a:ea typeface="Arial"/>
              <a:cs typeface="Arial"/>
              <a:sym typeface="Arial"/>
            </a:endParaRPr>
          </a:p>
        </p:txBody>
      </p:sp>
      <p:grpSp>
        <p:nvGrpSpPr>
          <p:cNvPr id="76" name="Group 6">
            <a:extLst>
              <a:ext uri="{FF2B5EF4-FFF2-40B4-BE49-F238E27FC236}">
                <a16:creationId xmlns:a16="http://schemas.microsoft.com/office/drawing/2014/main" id="{50546A1D-FD7A-418E-A072-13F57059CCAA}"/>
              </a:ext>
            </a:extLst>
          </p:cNvPr>
          <p:cNvGrpSpPr/>
          <p:nvPr/>
        </p:nvGrpSpPr>
        <p:grpSpPr>
          <a:xfrm>
            <a:off x="401232" y="1556730"/>
            <a:ext cx="8123135" cy="3794276"/>
            <a:chOff x="674537" y="1781205"/>
            <a:chExt cx="5752661" cy="2981156"/>
          </a:xfrm>
        </p:grpSpPr>
        <p:sp>
          <p:nvSpPr>
            <p:cNvPr id="77" name="Rounded Rectangle 160">
              <a:extLst>
                <a:ext uri="{FF2B5EF4-FFF2-40B4-BE49-F238E27FC236}">
                  <a16:creationId xmlns:a16="http://schemas.microsoft.com/office/drawing/2014/main" id="{7DFAEFDC-7585-4705-9142-26D1F5CE3833}"/>
                </a:ext>
              </a:extLst>
            </p:cNvPr>
            <p:cNvSpPr/>
            <p:nvPr/>
          </p:nvSpPr>
          <p:spPr>
            <a:xfrm>
              <a:off x="674537" y="1781205"/>
              <a:ext cx="5752661" cy="2981156"/>
            </a:xfrm>
            <a:prstGeom prst="roundRect">
              <a:avLst>
                <a:gd name="adj" fmla="val 5070"/>
              </a:avLst>
            </a:prstGeom>
            <a:solidFill>
              <a:srgbClr val="C4E6FA"/>
            </a:solidFill>
            <a:ln w="6350" cap="flat" cmpd="sng" algn="ctr">
              <a:noFill/>
              <a:prstDash val="solid"/>
              <a:miter lim="800000"/>
            </a:ln>
            <a:effectLst/>
          </p:spPr>
          <p:txBody>
            <a:bodyPr lIns="68580" tIns="34291" rIns="68580" bIns="34291" rtlCol="0" anchor="t" anchorCtr="0"/>
            <a:lstStyle/>
            <a:p>
              <a:pPr algn="ctr" defTabSz="685766">
                <a:defRPr/>
              </a:pPr>
              <a:endParaRPr lang="en-US" sz="1651" kern="0">
                <a:solidFill>
                  <a:prstClr val="black"/>
                </a:solidFill>
                <a:latin typeface="Arial" charset="0"/>
                <a:ea typeface="Arial" charset="0"/>
                <a:cs typeface="Arial" charset="0"/>
              </a:endParaRPr>
            </a:p>
          </p:txBody>
        </p:sp>
        <p:grpSp>
          <p:nvGrpSpPr>
            <p:cNvPr id="78" name="Group 168">
              <a:extLst>
                <a:ext uri="{FF2B5EF4-FFF2-40B4-BE49-F238E27FC236}">
                  <a16:creationId xmlns:a16="http://schemas.microsoft.com/office/drawing/2014/main" id="{F372CD75-E340-4274-89E4-1F8E860D15B4}"/>
                </a:ext>
              </a:extLst>
            </p:cNvPr>
            <p:cNvGrpSpPr/>
            <p:nvPr/>
          </p:nvGrpSpPr>
          <p:grpSpPr>
            <a:xfrm>
              <a:off x="709164" y="1833600"/>
              <a:ext cx="5640728" cy="2852741"/>
              <a:chOff x="611521" y="2244972"/>
              <a:chExt cx="7816862" cy="4175086"/>
            </a:xfrm>
            <a:solidFill>
              <a:sysClr val="window" lastClr="FFFFFF">
                <a:lumMod val="75000"/>
                <a:alpha val="7000"/>
              </a:sysClr>
            </a:solidFill>
          </p:grpSpPr>
          <p:grpSp>
            <p:nvGrpSpPr>
              <p:cNvPr id="79" name="Group 169">
                <a:extLst>
                  <a:ext uri="{FF2B5EF4-FFF2-40B4-BE49-F238E27FC236}">
                    <a16:creationId xmlns:a16="http://schemas.microsoft.com/office/drawing/2014/main" id="{C31CBA46-AA63-4D89-AE13-8AF7D9AEF299}"/>
                  </a:ext>
                </a:extLst>
              </p:cNvPr>
              <p:cNvGrpSpPr/>
              <p:nvPr/>
            </p:nvGrpSpPr>
            <p:grpSpPr>
              <a:xfrm>
                <a:off x="611521" y="2244972"/>
                <a:ext cx="7816862" cy="2047026"/>
                <a:chOff x="-477865" y="1404705"/>
                <a:chExt cx="18568512" cy="4862598"/>
              </a:xfrm>
              <a:grpFill/>
            </p:grpSpPr>
            <p:sp>
              <p:nvSpPr>
                <p:cNvPr id="103" name="Hexagon 216">
                  <a:extLst>
                    <a:ext uri="{FF2B5EF4-FFF2-40B4-BE49-F238E27FC236}">
                      <a16:creationId xmlns:a16="http://schemas.microsoft.com/office/drawing/2014/main" id="{57CD71AD-B633-4549-AE4D-B9E925538EB6}"/>
                    </a:ext>
                  </a:extLst>
                </p:cNvPr>
                <p:cNvSpPr/>
                <p:nvPr/>
              </p:nvSpPr>
              <p:spPr>
                <a:xfrm>
                  <a:off x="-477863" y="4438503"/>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04" name="Hexagon 217">
                  <a:extLst>
                    <a:ext uri="{FF2B5EF4-FFF2-40B4-BE49-F238E27FC236}">
                      <a16:creationId xmlns:a16="http://schemas.microsoft.com/office/drawing/2014/main" id="{3AED30D3-B9EC-4D06-BC66-651C76CB6562}"/>
                    </a:ext>
                  </a:extLst>
                </p:cNvPr>
                <p:cNvSpPr/>
                <p:nvPr/>
              </p:nvSpPr>
              <p:spPr>
                <a:xfrm>
                  <a:off x="3589143" y="4420180"/>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05" name="Hexagon 218">
                  <a:extLst>
                    <a:ext uri="{FF2B5EF4-FFF2-40B4-BE49-F238E27FC236}">
                      <a16:creationId xmlns:a16="http://schemas.microsoft.com/office/drawing/2014/main" id="{25DE7B27-40E7-4D09-9047-43350860FAA9}"/>
                    </a:ext>
                  </a:extLst>
                </p:cNvPr>
                <p:cNvSpPr/>
                <p:nvPr/>
              </p:nvSpPr>
              <p:spPr>
                <a:xfrm>
                  <a:off x="11723157" y="4420180"/>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06" name="Hexagon 219">
                  <a:extLst>
                    <a:ext uri="{FF2B5EF4-FFF2-40B4-BE49-F238E27FC236}">
                      <a16:creationId xmlns:a16="http://schemas.microsoft.com/office/drawing/2014/main" id="{2DD29318-3FB4-433B-B602-396220A251BD}"/>
                    </a:ext>
                  </a:extLst>
                </p:cNvPr>
                <p:cNvSpPr/>
                <p:nvPr/>
              </p:nvSpPr>
              <p:spPr>
                <a:xfrm>
                  <a:off x="1553565" y="3380463"/>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07" name="Hexagon 221">
                  <a:extLst>
                    <a:ext uri="{FF2B5EF4-FFF2-40B4-BE49-F238E27FC236}">
                      <a16:creationId xmlns:a16="http://schemas.microsoft.com/office/drawing/2014/main" id="{9C58CE2C-43D9-40F4-BA6A-A04B0F2E54FA}"/>
                    </a:ext>
                  </a:extLst>
                </p:cNvPr>
                <p:cNvSpPr/>
                <p:nvPr/>
              </p:nvSpPr>
              <p:spPr>
                <a:xfrm>
                  <a:off x="9697452" y="3423401"/>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08" name="Hexagon 226">
                  <a:extLst>
                    <a:ext uri="{FF2B5EF4-FFF2-40B4-BE49-F238E27FC236}">
                      <a16:creationId xmlns:a16="http://schemas.microsoft.com/office/drawing/2014/main" id="{7B42BB0D-06A7-48D3-9A6F-FB9FC4207460}"/>
                    </a:ext>
                  </a:extLst>
                </p:cNvPr>
                <p:cNvSpPr/>
                <p:nvPr/>
              </p:nvSpPr>
              <p:spPr>
                <a:xfrm>
                  <a:off x="5613006" y="3423401"/>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09" name="Hexagon 227">
                  <a:extLst>
                    <a:ext uri="{FF2B5EF4-FFF2-40B4-BE49-F238E27FC236}">
                      <a16:creationId xmlns:a16="http://schemas.microsoft.com/office/drawing/2014/main" id="{C73892C0-C053-4CD4-8E2D-45BED0083B6B}"/>
                    </a:ext>
                  </a:extLst>
                </p:cNvPr>
                <p:cNvSpPr/>
                <p:nvPr/>
              </p:nvSpPr>
              <p:spPr>
                <a:xfrm>
                  <a:off x="7656150" y="4420180"/>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10" name="Hexagon 232">
                  <a:extLst>
                    <a:ext uri="{FF2B5EF4-FFF2-40B4-BE49-F238E27FC236}">
                      <a16:creationId xmlns:a16="http://schemas.microsoft.com/office/drawing/2014/main" id="{9C1E4EBA-DC19-4B3A-AED5-A1A48B177932}"/>
                    </a:ext>
                  </a:extLst>
                </p:cNvPr>
                <p:cNvSpPr/>
                <p:nvPr/>
              </p:nvSpPr>
              <p:spPr>
                <a:xfrm>
                  <a:off x="15790165" y="4420180"/>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sp>
              <p:nvSpPr>
                <p:cNvPr id="111" name="Hexagon 233">
                  <a:extLst>
                    <a:ext uri="{FF2B5EF4-FFF2-40B4-BE49-F238E27FC236}">
                      <a16:creationId xmlns:a16="http://schemas.microsoft.com/office/drawing/2014/main" id="{5469BBC9-394E-4F00-A881-09D0D7BFF029}"/>
                    </a:ext>
                  </a:extLst>
                </p:cNvPr>
                <p:cNvSpPr/>
                <p:nvPr/>
              </p:nvSpPr>
              <p:spPr>
                <a:xfrm>
                  <a:off x="13781898" y="3423401"/>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sp>
              <p:nvSpPr>
                <p:cNvPr id="112" name="Hexagon 234">
                  <a:extLst>
                    <a:ext uri="{FF2B5EF4-FFF2-40B4-BE49-F238E27FC236}">
                      <a16:creationId xmlns:a16="http://schemas.microsoft.com/office/drawing/2014/main" id="{5403A4E1-4A2C-4584-9804-3BD92797E01A}"/>
                    </a:ext>
                  </a:extLst>
                </p:cNvPr>
                <p:cNvSpPr/>
                <p:nvPr/>
              </p:nvSpPr>
              <p:spPr>
                <a:xfrm>
                  <a:off x="-477865" y="2422839"/>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13" name="Hexagon 235">
                  <a:extLst>
                    <a:ext uri="{FF2B5EF4-FFF2-40B4-BE49-F238E27FC236}">
                      <a16:creationId xmlns:a16="http://schemas.microsoft.com/office/drawing/2014/main" id="{7428651A-454A-4EA5-8331-0F0290846E70}"/>
                    </a:ext>
                  </a:extLst>
                </p:cNvPr>
                <p:cNvSpPr/>
                <p:nvPr/>
              </p:nvSpPr>
              <p:spPr>
                <a:xfrm>
                  <a:off x="3589143" y="2361578"/>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14" name="Hexagon 236">
                  <a:extLst>
                    <a:ext uri="{FF2B5EF4-FFF2-40B4-BE49-F238E27FC236}">
                      <a16:creationId xmlns:a16="http://schemas.microsoft.com/office/drawing/2014/main" id="{B4BB7608-26EA-48C0-9589-108424817687}"/>
                    </a:ext>
                  </a:extLst>
                </p:cNvPr>
                <p:cNvSpPr/>
                <p:nvPr/>
              </p:nvSpPr>
              <p:spPr>
                <a:xfrm>
                  <a:off x="11723159" y="2361578"/>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15" name="Hexagon 237">
                  <a:extLst>
                    <a:ext uri="{FF2B5EF4-FFF2-40B4-BE49-F238E27FC236}">
                      <a16:creationId xmlns:a16="http://schemas.microsoft.com/office/drawing/2014/main" id="{F8033C0A-8A07-46C7-AAD4-BE844478F702}"/>
                    </a:ext>
                  </a:extLst>
                </p:cNvPr>
                <p:cNvSpPr/>
                <p:nvPr/>
              </p:nvSpPr>
              <p:spPr>
                <a:xfrm>
                  <a:off x="1555639" y="1404705"/>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16" name="Hexagon 238">
                  <a:extLst>
                    <a:ext uri="{FF2B5EF4-FFF2-40B4-BE49-F238E27FC236}">
                      <a16:creationId xmlns:a16="http://schemas.microsoft.com/office/drawing/2014/main" id="{AE662FE0-B861-413E-B06A-2566A21C120F}"/>
                    </a:ext>
                  </a:extLst>
                </p:cNvPr>
                <p:cNvSpPr/>
                <p:nvPr/>
              </p:nvSpPr>
              <p:spPr>
                <a:xfrm>
                  <a:off x="9689655" y="1404705"/>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17" name="Hexagon 239">
                  <a:extLst>
                    <a:ext uri="{FF2B5EF4-FFF2-40B4-BE49-F238E27FC236}">
                      <a16:creationId xmlns:a16="http://schemas.microsoft.com/office/drawing/2014/main" id="{D396F5D3-8B60-4AF4-9E78-B874774F3CCC}"/>
                    </a:ext>
                  </a:extLst>
                </p:cNvPr>
                <p:cNvSpPr/>
                <p:nvPr/>
              </p:nvSpPr>
              <p:spPr>
                <a:xfrm>
                  <a:off x="5622647" y="1404705"/>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18" name="Hexagon 240">
                  <a:extLst>
                    <a:ext uri="{FF2B5EF4-FFF2-40B4-BE49-F238E27FC236}">
                      <a16:creationId xmlns:a16="http://schemas.microsoft.com/office/drawing/2014/main" id="{D1252770-F477-4D44-B132-ED96A2AAEA72}"/>
                    </a:ext>
                  </a:extLst>
                </p:cNvPr>
                <p:cNvSpPr/>
                <p:nvPr/>
              </p:nvSpPr>
              <p:spPr>
                <a:xfrm>
                  <a:off x="7656151" y="2361578"/>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19" name="Hexagon 241">
                  <a:extLst>
                    <a:ext uri="{FF2B5EF4-FFF2-40B4-BE49-F238E27FC236}">
                      <a16:creationId xmlns:a16="http://schemas.microsoft.com/office/drawing/2014/main" id="{2F58F00B-800C-436D-B382-512EA90FA851}"/>
                    </a:ext>
                  </a:extLst>
                </p:cNvPr>
                <p:cNvSpPr/>
                <p:nvPr/>
              </p:nvSpPr>
              <p:spPr>
                <a:xfrm>
                  <a:off x="15790165" y="2361578"/>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sp>
              <p:nvSpPr>
                <p:cNvPr id="120" name="Hexagon 242">
                  <a:extLst>
                    <a:ext uri="{FF2B5EF4-FFF2-40B4-BE49-F238E27FC236}">
                      <a16:creationId xmlns:a16="http://schemas.microsoft.com/office/drawing/2014/main" id="{BC81F209-5C7D-4F1B-8F66-E2D50E86B3C9}"/>
                    </a:ext>
                  </a:extLst>
                </p:cNvPr>
                <p:cNvSpPr/>
                <p:nvPr/>
              </p:nvSpPr>
              <p:spPr>
                <a:xfrm>
                  <a:off x="13756663" y="1404705"/>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grpSp>
          <p:grpSp>
            <p:nvGrpSpPr>
              <p:cNvPr id="80" name="Group 174">
                <a:extLst>
                  <a:ext uri="{FF2B5EF4-FFF2-40B4-BE49-F238E27FC236}">
                    <a16:creationId xmlns:a16="http://schemas.microsoft.com/office/drawing/2014/main" id="{4E96D580-826A-4862-9C8B-1D3CAED4F9D0}"/>
                  </a:ext>
                </a:extLst>
              </p:cNvPr>
              <p:cNvGrpSpPr/>
              <p:nvPr/>
            </p:nvGrpSpPr>
            <p:grpSpPr>
              <a:xfrm>
                <a:off x="611521" y="3970013"/>
                <a:ext cx="7816862" cy="2047026"/>
                <a:chOff x="-477865" y="1404705"/>
                <a:chExt cx="18568512" cy="4862598"/>
              </a:xfrm>
              <a:grpFill/>
            </p:grpSpPr>
            <p:sp>
              <p:nvSpPr>
                <p:cNvPr id="85" name="Hexagon 179">
                  <a:extLst>
                    <a:ext uri="{FF2B5EF4-FFF2-40B4-BE49-F238E27FC236}">
                      <a16:creationId xmlns:a16="http://schemas.microsoft.com/office/drawing/2014/main" id="{06A2EF9A-7219-4A3A-9F20-53E3EFC1BAC4}"/>
                    </a:ext>
                  </a:extLst>
                </p:cNvPr>
                <p:cNvSpPr/>
                <p:nvPr/>
              </p:nvSpPr>
              <p:spPr>
                <a:xfrm>
                  <a:off x="-477865" y="4438503"/>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86" name="Hexagon 180">
                  <a:extLst>
                    <a:ext uri="{FF2B5EF4-FFF2-40B4-BE49-F238E27FC236}">
                      <a16:creationId xmlns:a16="http://schemas.microsoft.com/office/drawing/2014/main" id="{356FE384-185C-43D2-BBD2-DF4B3D70085C}"/>
                    </a:ext>
                  </a:extLst>
                </p:cNvPr>
                <p:cNvSpPr/>
                <p:nvPr/>
              </p:nvSpPr>
              <p:spPr>
                <a:xfrm>
                  <a:off x="3589143" y="4420180"/>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87" name="Hexagon 181">
                  <a:extLst>
                    <a:ext uri="{FF2B5EF4-FFF2-40B4-BE49-F238E27FC236}">
                      <a16:creationId xmlns:a16="http://schemas.microsoft.com/office/drawing/2014/main" id="{10B76FA0-01E3-4002-996E-B671FBFE04EC}"/>
                    </a:ext>
                  </a:extLst>
                </p:cNvPr>
                <p:cNvSpPr/>
                <p:nvPr/>
              </p:nvSpPr>
              <p:spPr>
                <a:xfrm>
                  <a:off x="11723157" y="4420180"/>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88" name="Hexagon 182">
                  <a:extLst>
                    <a:ext uri="{FF2B5EF4-FFF2-40B4-BE49-F238E27FC236}">
                      <a16:creationId xmlns:a16="http://schemas.microsoft.com/office/drawing/2014/main" id="{A8D2BDF7-DF41-4404-9C75-EEBA7C3EC081}"/>
                    </a:ext>
                  </a:extLst>
                </p:cNvPr>
                <p:cNvSpPr/>
                <p:nvPr/>
              </p:nvSpPr>
              <p:spPr>
                <a:xfrm>
                  <a:off x="1553565" y="3380463"/>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89" name="Hexagon 183">
                  <a:extLst>
                    <a:ext uri="{FF2B5EF4-FFF2-40B4-BE49-F238E27FC236}">
                      <a16:creationId xmlns:a16="http://schemas.microsoft.com/office/drawing/2014/main" id="{87AF2C59-FAB5-4EE8-8001-0BDB07E10407}"/>
                    </a:ext>
                  </a:extLst>
                </p:cNvPr>
                <p:cNvSpPr/>
                <p:nvPr/>
              </p:nvSpPr>
              <p:spPr>
                <a:xfrm>
                  <a:off x="9697452" y="3423401"/>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90" name="Hexagon 184">
                  <a:extLst>
                    <a:ext uri="{FF2B5EF4-FFF2-40B4-BE49-F238E27FC236}">
                      <a16:creationId xmlns:a16="http://schemas.microsoft.com/office/drawing/2014/main" id="{EEC01678-5732-44D4-8F09-199FFC1C9A36}"/>
                    </a:ext>
                  </a:extLst>
                </p:cNvPr>
                <p:cNvSpPr/>
                <p:nvPr/>
              </p:nvSpPr>
              <p:spPr>
                <a:xfrm>
                  <a:off x="5613006" y="3423401"/>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91" name="Hexagon 185">
                  <a:extLst>
                    <a:ext uri="{FF2B5EF4-FFF2-40B4-BE49-F238E27FC236}">
                      <a16:creationId xmlns:a16="http://schemas.microsoft.com/office/drawing/2014/main" id="{01283445-B760-4C24-B723-2FF0E02FF912}"/>
                    </a:ext>
                  </a:extLst>
                </p:cNvPr>
                <p:cNvSpPr/>
                <p:nvPr/>
              </p:nvSpPr>
              <p:spPr>
                <a:xfrm>
                  <a:off x="7656150" y="4420180"/>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92" name="Hexagon 186">
                  <a:extLst>
                    <a:ext uri="{FF2B5EF4-FFF2-40B4-BE49-F238E27FC236}">
                      <a16:creationId xmlns:a16="http://schemas.microsoft.com/office/drawing/2014/main" id="{9160AD36-B225-4206-A73E-8F31ADE2BCDD}"/>
                    </a:ext>
                  </a:extLst>
                </p:cNvPr>
                <p:cNvSpPr/>
                <p:nvPr/>
              </p:nvSpPr>
              <p:spPr>
                <a:xfrm>
                  <a:off x="15790165" y="4420180"/>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sp>
              <p:nvSpPr>
                <p:cNvPr id="93" name="Hexagon 187">
                  <a:extLst>
                    <a:ext uri="{FF2B5EF4-FFF2-40B4-BE49-F238E27FC236}">
                      <a16:creationId xmlns:a16="http://schemas.microsoft.com/office/drawing/2014/main" id="{4CE811C1-DE75-45FC-B35A-83759FDEEE94}"/>
                    </a:ext>
                  </a:extLst>
                </p:cNvPr>
                <p:cNvSpPr/>
                <p:nvPr/>
              </p:nvSpPr>
              <p:spPr>
                <a:xfrm>
                  <a:off x="13781898" y="3423401"/>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sp>
              <p:nvSpPr>
                <p:cNvPr id="94" name="Hexagon 190">
                  <a:extLst>
                    <a:ext uri="{FF2B5EF4-FFF2-40B4-BE49-F238E27FC236}">
                      <a16:creationId xmlns:a16="http://schemas.microsoft.com/office/drawing/2014/main" id="{514BAEC9-4D48-4DC4-AF3D-999BBA9CD706}"/>
                    </a:ext>
                  </a:extLst>
                </p:cNvPr>
                <p:cNvSpPr/>
                <p:nvPr/>
              </p:nvSpPr>
              <p:spPr>
                <a:xfrm>
                  <a:off x="-477865" y="2422839"/>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95" name="Hexagon 191">
                  <a:extLst>
                    <a:ext uri="{FF2B5EF4-FFF2-40B4-BE49-F238E27FC236}">
                      <a16:creationId xmlns:a16="http://schemas.microsoft.com/office/drawing/2014/main" id="{69B7F8BD-217B-41C8-8B05-3B4346F30699}"/>
                    </a:ext>
                  </a:extLst>
                </p:cNvPr>
                <p:cNvSpPr/>
                <p:nvPr/>
              </p:nvSpPr>
              <p:spPr>
                <a:xfrm>
                  <a:off x="3589143" y="2361578"/>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96" name="Hexagon 192">
                  <a:extLst>
                    <a:ext uri="{FF2B5EF4-FFF2-40B4-BE49-F238E27FC236}">
                      <a16:creationId xmlns:a16="http://schemas.microsoft.com/office/drawing/2014/main" id="{ABBA530D-1C33-4FA5-A9F8-F932F7503D93}"/>
                    </a:ext>
                  </a:extLst>
                </p:cNvPr>
                <p:cNvSpPr/>
                <p:nvPr/>
              </p:nvSpPr>
              <p:spPr>
                <a:xfrm>
                  <a:off x="11723159" y="2361578"/>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97" name="Hexagon 193">
                  <a:extLst>
                    <a:ext uri="{FF2B5EF4-FFF2-40B4-BE49-F238E27FC236}">
                      <a16:creationId xmlns:a16="http://schemas.microsoft.com/office/drawing/2014/main" id="{7C81183A-BE5C-4B76-9EC1-6BFB5CE778FA}"/>
                    </a:ext>
                  </a:extLst>
                </p:cNvPr>
                <p:cNvSpPr/>
                <p:nvPr/>
              </p:nvSpPr>
              <p:spPr>
                <a:xfrm>
                  <a:off x="1555639" y="1404705"/>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98" name="Hexagon 205">
                  <a:extLst>
                    <a:ext uri="{FF2B5EF4-FFF2-40B4-BE49-F238E27FC236}">
                      <a16:creationId xmlns:a16="http://schemas.microsoft.com/office/drawing/2014/main" id="{96919D3E-BACC-42DB-A170-BE8E4CE122D8}"/>
                    </a:ext>
                  </a:extLst>
                </p:cNvPr>
                <p:cNvSpPr/>
                <p:nvPr/>
              </p:nvSpPr>
              <p:spPr>
                <a:xfrm>
                  <a:off x="9689655" y="1404705"/>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99" name="Hexagon 206">
                  <a:extLst>
                    <a:ext uri="{FF2B5EF4-FFF2-40B4-BE49-F238E27FC236}">
                      <a16:creationId xmlns:a16="http://schemas.microsoft.com/office/drawing/2014/main" id="{04F433A7-4EC5-4A06-953C-9D658EE31B3E}"/>
                    </a:ext>
                  </a:extLst>
                </p:cNvPr>
                <p:cNvSpPr/>
                <p:nvPr/>
              </p:nvSpPr>
              <p:spPr>
                <a:xfrm>
                  <a:off x="5622647" y="1404705"/>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00" name="Hexagon 208">
                  <a:extLst>
                    <a:ext uri="{FF2B5EF4-FFF2-40B4-BE49-F238E27FC236}">
                      <a16:creationId xmlns:a16="http://schemas.microsoft.com/office/drawing/2014/main" id="{7EA7DD31-932D-4653-B88A-7AB0E39C74AD}"/>
                    </a:ext>
                  </a:extLst>
                </p:cNvPr>
                <p:cNvSpPr/>
                <p:nvPr/>
              </p:nvSpPr>
              <p:spPr>
                <a:xfrm>
                  <a:off x="7656151" y="2361578"/>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101" name="Hexagon 212">
                  <a:extLst>
                    <a:ext uri="{FF2B5EF4-FFF2-40B4-BE49-F238E27FC236}">
                      <a16:creationId xmlns:a16="http://schemas.microsoft.com/office/drawing/2014/main" id="{67920AD7-3C57-401F-8775-C025B15C7962}"/>
                    </a:ext>
                  </a:extLst>
                </p:cNvPr>
                <p:cNvSpPr/>
                <p:nvPr/>
              </p:nvSpPr>
              <p:spPr>
                <a:xfrm>
                  <a:off x="15790165" y="2361578"/>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sp>
              <p:nvSpPr>
                <p:cNvPr id="102" name="Hexagon 215">
                  <a:extLst>
                    <a:ext uri="{FF2B5EF4-FFF2-40B4-BE49-F238E27FC236}">
                      <a16:creationId xmlns:a16="http://schemas.microsoft.com/office/drawing/2014/main" id="{6BAF9CF8-96D6-4AD2-BC5B-E4888C7DC0D9}"/>
                    </a:ext>
                  </a:extLst>
                </p:cNvPr>
                <p:cNvSpPr/>
                <p:nvPr/>
              </p:nvSpPr>
              <p:spPr>
                <a:xfrm>
                  <a:off x="13756663" y="1404705"/>
                  <a:ext cx="2300482" cy="1828800"/>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grpSp>
          <p:sp>
            <p:nvSpPr>
              <p:cNvPr id="81" name="Hexagon 175">
                <a:extLst>
                  <a:ext uri="{FF2B5EF4-FFF2-40B4-BE49-F238E27FC236}">
                    <a16:creationId xmlns:a16="http://schemas.microsoft.com/office/drawing/2014/main" id="{13AA52CB-DA32-4016-959E-7046E7E3F5D1}"/>
                  </a:ext>
                </a:extLst>
              </p:cNvPr>
              <p:cNvSpPr/>
              <p:nvPr/>
            </p:nvSpPr>
            <p:spPr>
              <a:xfrm>
                <a:off x="1467573" y="5650181"/>
                <a:ext cx="968443" cy="769877"/>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82" name="Hexagon 176">
                <a:extLst>
                  <a:ext uri="{FF2B5EF4-FFF2-40B4-BE49-F238E27FC236}">
                    <a16:creationId xmlns:a16="http://schemas.microsoft.com/office/drawing/2014/main" id="{75EC9152-0D3C-4114-BC91-F6273CAF1775}"/>
                  </a:ext>
                </a:extLst>
              </p:cNvPr>
              <p:cNvSpPr/>
              <p:nvPr/>
            </p:nvSpPr>
            <p:spPr>
              <a:xfrm>
                <a:off x="4891783" y="5650181"/>
                <a:ext cx="968443" cy="769877"/>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83" name="Hexagon 177">
                <a:extLst>
                  <a:ext uri="{FF2B5EF4-FFF2-40B4-BE49-F238E27FC236}">
                    <a16:creationId xmlns:a16="http://schemas.microsoft.com/office/drawing/2014/main" id="{704142B4-21ED-4999-A8CB-E98905B00B5F}"/>
                  </a:ext>
                </a:extLst>
              </p:cNvPr>
              <p:cNvSpPr/>
              <p:nvPr/>
            </p:nvSpPr>
            <p:spPr>
              <a:xfrm>
                <a:off x="3179678" y="5650181"/>
                <a:ext cx="968443" cy="769877"/>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kern="0">
                  <a:solidFill>
                    <a:prstClr val="black"/>
                  </a:solidFill>
                  <a:latin typeface="Arial" charset="0"/>
                  <a:ea typeface="Arial" charset="0"/>
                  <a:cs typeface="Arial" charset="0"/>
                  <a:sym typeface="HelvNeue Medium for IBM"/>
                </a:endParaRPr>
              </a:p>
            </p:txBody>
          </p:sp>
          <p:sp>
            <p:nvSpPr>
              <p:cNvPr id="84" name="Hexagon 178">
                <a:extLst>
                  <a:ext uri="{FF2B5EF4-FFF2-40B4-BE49-F238E27FC236}">
                    <a16:creationId xmlns:a16="http://schemas.microsoft.com/office/drawing/2014/main" id="{61FE3891-047B-477A-84BA-05B0F4268658}"/>
                  </a:ext>
                </a:extLst>
              </p:cNvPr>
              <p:cNvSpPr/>
              <p:nvPr/>
            </p:nvSpPr>
            <p:spPr>
              <a:xfrm>
                <a:off x="6603888" y="5650181"/>
                <a:ext cx="968443" cy="769877"/>
              </a:xfrm>
              <a:prstGeom prst="hexagon">
                <a:avLst/>
              </a:prstGeom>
              <a:grpFill/>
              <a:ln w="12700" cap="flat" cmpd="sng" algn="ctr">
                <a:solidFill>
                  <a:sysClr val="windowText" lastClr="000000">
                    <a:alpha val="29000"/>
                  </a:sysClr>
                </a:solidFill>
                <a:prstDash val="sysDot"/>
                <a:miter lim="800000"/>
              </a:ln>
              <a:effectLst/>
            </p:spPr>
            <p:txBody>
              <a:bodyPr lIns="182880" tIns="91440" rIns="182880" bIns="91440" rtlCol="0" anchor="b" anchorCtr="0"/>
              <a:lstStyle/>
              <a:p>
                <a:pPr algn="ctr" defTabSz="1828709">
                  <a:defRPr/>
                </a:pPr>
                <a:endParaRPr lang="en-US" sz="2400" b="1" kern="0">
                  <a:solidFill>
                    <a:prstClr val="black"/>
                  </a:solidFill>
                  <a:latin typeface="Arial" charset="0"/>
                  <a:ea typeface="Arial" charset="0"/>
                  <a:cs typeface="Arial" charset="0"/>
                  <a:sym typeface="HelvNeue Medium for IBM"/>
                </a:endParaRPr>
              </a:p>
            </p:txBody>
          </p:sp>
        </p:grpSp>
      </p:grpSp>
      <p:grpSp>
        <p:nvGrpSpPr>
          <p:cNvPr id="145" name="Group 3">
            <a:extLst>
              <a:ext uri="{FF2B5EF4-FFF2-40B4-BE49-F238E27FC236}">
                <a16:creationId xmlns:a16="http://schemas.microsoft.com/office/drawing/2014/main" id="{5393C66D-0672-4A4F-808C-5BA8D2E058B8}"/>
              </a:ext>
            </a:extLst>
          </p:cNvPr>
          <p:cNvGrpSpPr/>
          <p:nvPr/>
        </p:nvGrpSpPr>
        <p:grpSpPr>
          <a:xfrm>
            <a:off x="579650" y="762586"/>
            <a:ext cx="7785143" cy="1004468"/>
            <a:chOff x="781629" y="1293972"/>
            <a:chExt cx="5513301" cy="711346"/>
          </a:xfrm>
        </p:grpSpPr>
        <p:sp>
          <p:nvSpPr>
            <p:cNvPr id="146" name="Rounded Rectangle 148">
              <a:extLst>
                <a:ext uri="{FF2B5EF4-FFF2-40B4-BE49-F238E27FC236}">
                  <a16:creationId xmlns:a16="http://schemas.microsoft.com/office/drawing/2014/main" id="{7EA45555-6D56-47E5-9E05-89AD344BCB5D}"/>
                </a:ext>
              </a:extLst>
            </p:cNvPr>
            <p:cNvSpPr/>
            <p:nvPr/>
          </p:nvSpPr>
          <p:spPr>
            <a:xfrm>
              <a:off x="2187408" y="1490186"/>
              <a:ext cx="1317642" cy="515132"/>
            </a:xfrm>
            <a:prstGeom prst="roundRect">
              <a:avLst>
                <a:gd name="adj" fmla="val 8337"/>
              </a:avLst>
            </a:prstGeom>
            <a:solidFill>
              <a:srgbClr val="00B0F0"/>
            </a:solidFill>
            <a:ln w="12700" cap="flat" cmpd="sng" algn="ctr">
              <a:noFill/>
              <a:prstDash val="sysDot"/>
              <a:miter lim="800000"/>
            </a:ln>
            <a:effectLst/>
          </p:spPr>
          <p:txBody>
            <a:bodyPr lIns="68580" tIns="34291" rIns="68580" bIns="34291" rtlCol="0" anchor="b" anchorCtr="0"/>
            <a:lstStyle/>
            <a:p>
              <a:pPr algn="ctr" defTabSz="685766"/>
              <a:endParaRPr lang="en-US" sz="1000" kern="0">
                <a:solidFill>
                  <a:prstClr val="black"/>
                </a:solidFill>
                <a:latin typeface="Arial" charset="0"/>
                <a:cs typeface="Arial" charset="0"/>
              </a:endParaRPr>
            </a:p>
          </p:txBody>
        </p:sp>
        <p:sp>
          <p:nvSpPr>
            <p:cNvPr id="147" name="Rounded Rectangle 149">
              <a:extLst>
                <a:ext uri="{FF2B5EF4-FFF2-40B4-BE49-F238E27FC236}">
                  <a16:creationId xmlns:a16="http://schemas.microsoft.com/office/drawing/2014/main" id="{5F37C668-C990-442B-B7DF-6E3D737659CE}"/>
                </a:ext>
              </a:extLst>
            </p:cNvPr>
            <p:cNvSpPr/>
            <p:nvPr/>
          </p:nvSpPr>
          <p:spPr>
            <a:xfrm>
              <a:off x="3582348" y="1490184"/>
              <a:ext cx="1317642" cy="515133"/>
            </a:xfrm>
            <a:prstGeom prst="roundRect">
              <a:avLst>
                <a:gd name="adj" fmla="val 8337"/>
              </a:avLst>
            </a:prstGeom>
            <a:solidFill>
              <a:srgbClr val="00B0F0"/>
            </a:solidFill>
            <a:ln w="12700" cap="flat" cmpd="sng" algn="ctr">
              <a:noFill/>
              <a:prstDash val="sysDot"/>
              <a:miter lim="800000"/>
            </a:ln>
            <a:effectLst/>
          </p:spPr>
          <p:txBody>
            <a:bodyPr lIns="68580" tIns="34291" rIns="68580" bIns="34291" rtlCol="0" anchor="b" anchorCtr="0"/>
            <a:lstStyle/>
            <a:p>
              <a:pPr algn="ctr" defTabSz="685766"/>
              <a:endParaRPr lang="en-US" sz="1000" kern="0">
                <a:solidFill>
                  <a:prstClr val="black"/>
                </a:solidFill>
                <a:latin typeface="Arial" charset="0"/>
                <a:cs typeface="Arial" charset="0"/>
              </a:endParaRPr>
            </a:p>
          </p:txBody>
        </p:sp>
        <p:sp>
          <p:nvSpPr>
            <p:cNvPr id="148" name="Rounded Rectangle 150">
              <a:extLst>
                <a:ext uri="{FF2B5EF4-FFF2-40B4-BE49-F238E27FC236}">
                  <a16:creationId xmlns:a16="http://schemas.microsoft.com/office/drawing/2014/main" id="{4515DFEC-67F1-4613-A8ED-8F81D56E9C68}"/>
                </a:ext>
              </a:extLst>
            </p:cNvPr>
            <p:cNvSpPr/>
            <p:nvPr/>
          </p:nvSpPr>
          <p:spPr>
            <a:xfrm>
              <a:off x="4977288" y="1490185"/>
              <a:ext cx="1317642" cy="514327"/>
            </a:xfrm>
            <a:prstGeom prst="roundRect">
              <a:avLst>
                <a:gd name="adj" fmla="val 8337"/>
              </a:avLst>
            </a:prstGeom>
            <a:solidFill>
              <a:srgbClr val="00B0F0"/>
            </a:solidFill>
            <a:ln w="12700" cap="flat" cmpd="sng" algn="ctr">
              <a:noFill/>
              <a:prstDash val="sysDot"/>
              <a:miter lim="800000"/>
            </a:ln>
            <a:effectLst/>
          </p:spPr>
          <p:txBody>
            <a:bodyPr lIns="68580" tIns="34291" rIns="68580" bIns="34291" rtlCol="0" anchor="b" anchorCtr="0"/>
            <a:lstStyle/>
            <a:p>
              <a:pPr algn="ctr" defTabSz="685766"/>
              <a:endParaRPr lang="en-US" sz="1000" kern="0">
                <a:solidFill>
                  <a:prstClr val="black"/>
                </a:solidFill>
                <a:latin typeface="Arial" charset="0"/>
                <a:cs typeface="Arial" charset="0"/>
              </a:endParaRPr>
            </a:p>
          </p:txBody>
        </p:sp>
        <p:sp>
          <p:nvSpPr>
            <p:cNvPr id="149" name="Rounded Rectangle 151">
              <a:extLst>
                <a:ext uri="{FF2B5EF4-FFF2-40B4-BE49-F238E27FC236}">
                  <a16:creationId xmlns:a16="http://schemas.microsoft.com/office/drawing/2014/main" id="{E8377A89-4FB9-4674-AB1D-1B3B8D3AFD34}"/>
                </a:ext>
              </a:extLst>
            </p:cNvPr>
            <p:cNvSpPr/>
            <p:nvPr/>
          </p:nvSpPr>
          <p:spPr>
            <a:xfrm>
              <a:off x="781629" y="1496594"/>
              <a:ext cx="1317642" cy="508724"/>
            </a:xfrm>
            <a:prstGeom prst="roundRect">
              <a:avLst>
                <a:gd name="adj" fmla="val 8337"/>
              </a:avLst>
            </a:prstGeom>
            <a:solidFill>
              <a:srgbClr val="00B0F0"/>
            </a:solidFill>
            <a:ln w="12700" cap="flat" cmpd="sng" algn="ctr">
              <a:noFill/>
              <a:prstDash val="sysDot"/>
              <a:miter lim="800000"/>
            </a:ln>
            <a:effectLst/>
          </p:spPr>
          <p:txBody>
            <a:bodyPr lIns="68580" tIns="34291" rIns="68580" bIns="34291" rtlCol="0" anchor="b" anchorCtr="0"/>
            <a:lstStyle/>
            <a:p>
              <a:pPr algn="ctr" defTabSz="685766">
                <a:defRPr/>
              </a:pPr>
              <a:endParaRPr lang="en-US" sz="1000" kern="0">
                <a:solidFill>
                  <a:prstClr val="black"/>
                </a:solidFill>
                <a:latin typeface="Arial" charset="0"/>
                <a:ea typeface="Arial" charset="0"/>
                <a:cs typeface="Arial" charset="0"/>
              </a:endParaRPr>
            </a:p>
          </p:txBody>
        </p:sp>
        <p:sp>
          <p:nvSpPr>
            <p:cNvPr id="150" name="TextBox 152">
              <a:extLst>
                <a:ext uri="{FF2B5EF4-FFF2-40B4-BE49-F238E27FC236}">
                  <a16:creationId xmlns:a16="http://schemas.microsoft.com/office/drawing/2014/main" id="{7B5BE3C4-ACA3-4F5F-AFEF-FA8FD4A55436}"/>
                </a:ext>
              </a:extLst>
            </p:cNvPr>
            <p:cNvSpPr txBox="1"/>
            <p:nvPr/>
          </p:nvSpPr>
          <p:spPr>
            <a:xfrm>
              <a:off x="825971" y="1661422"/>
              <a:ext cx="1228959" cy="217962"/>
            </a:xfrm>
            <a:prstGeom prst="rect">
              <a:avLst/>
            </a:prstGeom>
            <a:noFill/>
          </p:spPr>
          <p:txBody>
            <a:bodyPr wrap="square" rtlCol="0">
              <a:spAutoFit/>
            </a:bodyPr>
            <a:lstStyle/>
            <a:p>
              <a:pPr algn="ctr"/>
              <a:r>
                <a:rPr lang="zh-TW" altLang="en-US" sz="1400" b="1">
                  <a:solidFill>
                    <a:schemeClr val="bg1"/>
                  </a:solidFill>
                  <a:latin typeface="Calibri"/>
                  <a:ea typeface="Arial" charset="0"/>
                  <a:cs typeface="Arial" charset="0"/>
                </a:rPr>
                <a:t>報表人員</a:t>
              </a:r>
              <a:endParaRPr lang="en-US" sz="1400" b="1">
                <a:solidFill>
                  <a:schemeClr val="bg1"/>
                </a:solidFill>
                <a:latin typeface="Calibri"/>
                <a:ea typeface="Arial" charset="0"/>
                <a:cs typeface="Arial" charset="0"/>
              </a:endParaRPr>
            </a:p>
          </p:txBody>
        </p:sp>
        <p:sp>
          <p:nvSpPr>
            <p:cNvPr id="151" name="TextBox 153">
              <a:extLst>
                <a:ext uri="{FF2B5EF4-FFF2-40B4-BE49-F238E27FC236}">
                  <a16:creationId xmlns:a16="http://schemas.microsoft.com/office/drawing/2014/main" id="{9B23789B-D4C5-4428-9D24-8875FAAC6E60}"/>
                </a:ext>
              </a:extLst>
            </p:cNvPr>
            <p:cNvSpPr txBox="1"/>
            <p:nvPr/>
          </p:nvSpPr>
          <p:spPr>
            <a:xfrm>
              <a:off x="2462982" y="1661422"/>
              <a:ext cx="766500" cy="217962"/>
            </a:xfrm>
            <a:prstGeom prst="rect">
              <a:avLst/>
            </a:prstGeom>
            <a:noFill/>
          </p:spPr>
          <p:txBody>
            <a:bodyPr wrap="none" rtlCol="0">
              <a:spAutoFit/>
            </a:bodyPr>
            <a:lstStyle/>
            <a:p>
              <a:pPr algn="ctr"/>
              <a:r>
                <a:rPr lang="zh-TW" altLang="en-US" sz="1400" b="1">
                  <a:solidFill>
                    <a:schemeClr val="bg1"/>
                  </a:solidFill>
                  <a:latin typeface="Calibri"/>
                  <a:ea typeface="Arial" charset="0"/>
                  <a:cs typeface="Arial" charset="0"/>
                </a:rPr>
                <a:t>數據分析師</a:t>
              </a:r>
              <a:endParaRPr lang="en-US" sz="1400" b="1">
                <a:solidFill>
                  <a:schemeClr val="bg1"/>
                </a:solidFill>
                <a:latin typeface="Calibri"/>
                <a:ea typeface="Arial" charset="0"/>
                <a:cs typeface="Arial" charset="0"/>
              </a:endParaRPr>
            </a:p>
          </p:txBody>
        </p:sp>
        <p:sp>
          <p:nvSpPr>
            <p:cNvPr id="152" name="TextBox 154">
              <a:extLst>
                <a:ext uri="{FF2B5EF4-FFF2-40B4-BE49-F238E27FC236}">
                  <a16:creationId xmlns:a16="http://schemas.microsoft.com/office/drawing/2014/main" id="{1B589A45-DBE4-4984-BDD5-36BBF540F46E}"/>
                </a:ext>
              </a:extLst>
            </p:cNvPr>
            <p:cNvSpPr txBox="1"/>
            <p:nvPr/>
          </p:nvSpPr>
          <p:spPr>
            <a:xfrm>
              <a:off x="3875937" y="1661422"/>
              <a:ext cx="730491" cy="217962"/>
            </a:xfrm>
            <a:prstGeom prst="rect">
              <a:avLst/>
            </a:prstGeom>
            <a:noFill/>
          </p:spPr>
          <p:txBody>
            <a:bodyPr wrap="none" rtlCol="0">
              <a:spAutoFit/>
            </a:bodyPr>
            <a:lstStyle/>
            <a:p>
              <a:pPr algn="ctr"/>
              <a:r>
                <a:rPr lang="en-US" altLang="zh-TW" sz="1400" b="1">
                  <a:solidFill>
                    <a:schemeClr val="bg1"/>
                  </a:solidFill>
                  <a:latin typeface="Calibri"/>
                  <a:ea typeface="Arial" charset="0"/>
                  <a:cs typeface="Arial" charset="0"/>
                </a:rPr>
                <a:t>AI</a:t>
              </a:r>
              <a:r>
                <a:rPr lang="zh-TW" altLang="en-US" sz="1400" b="1">
                  <a:solidFill>
                    <a:schemeClr val="bg1"/>
                  </a:solidFill>
                  <a:latin typeface="Calibri"/>
                  <a:ea typeface="Arial" charset="0"/>
                  <a:cs typeface="Arial" charset="0"/>
                </a:rPr>
                <a:t> </a:t>
              </a:r>
              <a:r>
                <a:rPr lang="en-US" altLang="zh-TW" sz="1400" b="1">
                  <a:solidFill>
                    <a:schemeClr val="bg1"/>
                  </a:solidFill>
                  <a:latin typeface="Calibri"/>
                  <a:ea typeface="Arial" charset="0"/>
                  <a:cs typeface="Arial" charset="0"/>
                </a:rPr>
                <a:t>Platform</a:t>
              </a:r>
              <a:endParaRPr lang="en-US" sz="1400" b="1">
                <a:solidFill>
                  <a:schemeClr val="bg1"/>
                </a:solidFill>
                <a:latin typeface="Calibri"/>
                <a:ea typeface="Arial" charset="0"/>
                <a:cs typeface="Arial" charset="0"/>
              </a:endParaRPr>
            </a:p>
          </p:txBody>
        </p:sp>
        <p:sp>
          <p:nvSpPr>
            <p:cNvPr id="153" name="TextBox 155">
              <a:extLst>
                <a:ext uri="{FF2B5EF4-FFF2-40B4-BE49-F238E27FC236}">
                  <a16:creationId xmlns:a16="http://schemas.microsoft.com/office/drawing/2014/main" id="{839713C3-2A81-4798-B7B3-562BF87DEBD0}"/>
                </a:ext>
              </a:extLst>
            </p:cNvPr>
            <p:cNvSpPr txBox="1"/>
            <p:nvPr/>
          </p:nvSpPr>
          <p:spPr>
            <a:xfrm>
              <a:off x="5189293" y="1661422"/>
              <a:ext cx="893644" cy="217962"/>
            </a:xfrm>
            <a:prstGeom prst="rect">
              <a:avLst/>
            </a:prstGeom>
            <a:noFill/>
          </p:spPr>
          <p:txBody>
            <a:bodyPr wrap="none" rtlCol="0">
              <a:spAutoFit/>
            </a:bodyPr>
            <a:lstStyle/>
            <a:p>
              <a:pPr algn="ctr"/>
              <a:r>
                <a:rPr lang="zh-TW" altLang="en-US" sz="1400" b="1">
                  <a:solidFill>
                    <a:schemeClr val="bg1"/>
                  </a:solidFill>
                  <a:latin typeface="Calibri"/>
                  <a:ea typeface="Arial" charset="0"/>
                  <a:cs typeface="Arial" charset="0"/>
                </a:rPr>
                <a:t>未來周邊系統</a:t>
              </a:r>
              <a:endParaRPr lang="en-US" sz="1400" b="1">
                <a:solidFill>
                  <a:schemeClr val="bg1"/>
                </a:solidFill>
                <a:latin typeface="Calibri"/>
                <a:ea typeface="Arial" charset="0"/>
                <a:cs typeface="Arial" charset="0"/>
              </a:endParaRPr>
            </a:p>
          </p:txBody>
        </p:sp>
        <p:pic>
          <p:nvPicPr>
            <p:cNvPr id="154" name="Picture 156" descr="Persona_Eden_BusinessAnalyst_PNG.png">
              <a:extLst>
                <a:ext uri="{FF2B5EF4-FFF2-40B4-BE49-F238E27FC236}">
                  <a16:creationId xmlns:a16="http://schemas.microsoft.com/office/drawing/2014/main" id="{C2ED95C3-1855-4B46-A543-D9BA2DA9C07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434381" y="1293972"/>
              <a:ext cx="335156" cy="327547"/>
            </a:xfrm>
            <a:prstGeom prst="rect">
              <a:avLst/>
            </a:prstGeom>
          </p:spPr>
        </p:pic>
        <p:pic>
          <p:nvPicPr>
            <p:cNvPr id="155" name="Picture 157" descr="Persona_Chris_DataScientist_PNG.png">
              <a:extLst>
                <a:ext uri="{FF2B5EF4-FFF2-40B4-BE49-F238E27FC236}">
                  <a16:creationId xmlns:a16="http://schemas.microsoft.com/office/drawing/2014/main" id="{FC7DC2C4-DB7C-4007-9B6E-5A7338DB1E2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678653" y="1334820"/>
              <a:ext cx="335156" cy="327547"/>
            </a:xfrm>
            <a:prstGeom prst="rect">
              <a:avLst/>
            </a:prstGeom>
          </p:spPr>
        </p:pic>
        <p:pic>
          <p:nvPicPr>
            <p:cNvPr id="156" name="Picture 158" descr="Persona_Harley_DataEngineer_PNG.png">
              <a:extLst>
                <a:ext uri="{FF2B5EF4-FFF2-40B4-BE49-F238E27FC236}">
                  <a16:creationId xmlns:a16="http://schemas.microsoft.com/office/drawing/2014/main" id="{1757A84C-E845-4860-B3F3-6438DCD1F2B5}"/>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272873" y="1334818"/>
              <a:ext cx="335156" cy="327546"/>
            </a:xfrm>
            <a:prstGeom prst="rect">
              <a:avLst/>
            </a:prstGeom>
          </p:spPr>
        </p:pic>
        <p:pic>
          <p:nvPicPr>
            <p:cNvPr id="157" name="Picture 159" descr="Persona_Kai_ApplicationDeveloper_PNG.png">
              <a:extLst>
                <a:ext uri="{FF2B5EF4-FFF2-40B4-BE49-F238E27FC236}">
                  <a16:creationId xmlns:a16="http://schemas.microsoft.com/office/drawing/2014/main" id="{A3201D6B-F394-41FE-860E-CF24072EF3CD}"/>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4028601" y="1301824"/>
              <a:ext cx="335156" cy="327547"/>
            </a:xfrm>
            <a:prstGeom prst="rect">
              <a:avLst/>
            </a:prstGeom>
          </p:spPr>
        </p:pic>
      </p:grpSp>
      <p:grpSp>
        <p:nvGrpSpPr>
          <p:cNvPr id="158" name="Group 4">
            <a:extLst>
              <a:ext uri="{FF2B5EF4-FFF2-40B4-BE49-F238E27FC236}">
                <a16:creationId xmlns:a16="http://schemas.microsoft.com/office/drawing/2014/main" id="{0E321A40-2BAA-4061-A2DC-AB86D9650F15}"/>
              </a:ext>
            </a:extLst>
          </p:cNvPr>
          <p:cNvGrpSpPr/>
          <p:nvPr/>
        </p:nvGrpSpPr>
        <p:grpSpPr>
          <a:xfrm>
            <a:off x="1105321" y="1643848"/>
            <a:ext cx="6789316" cy="348326"/>
            <a:chOff x="1153241" y="1927481"/>
            <a:chExt cx="4808068" cy="246678"/>
          </a:xfrm>
        </p:grpSpPr>
        <p:sp>
          <p:nvSpPr>
            <p:cNvPr id="159" name="Rounded Rectangle 209">
              <a:extLst>
                <a:ext uri="{FF2B5EF4-FFF2-40B4-BE49-F238E27FC236}">
                  <a16:creationId xmlns:a16="http://schemas.microsoft.com/office/drawing/2014/main" id="{401CE936-4A92-4918-A7BB-8E315B0F4BF7}"/>
                </a:ext>
              </a:extLst>
            </p:cNvPr>
            <p:cNvSpPr/>
            <p:nvPr/>
          </p:nvSpPr>
          <p:spPr>
            <a:xfrm>
              <a:off x="1153241" y="1927481"/>
              <a:ext cx="1486782" cy="246678"/>
            </a:xfrm>
            <a:prstGeom prst="roundRect">
              <a:avLst/>
            </a:prstGeom>
            <a:solidFill>
              <a:schemeClr val="bg2"/>
            </a:solidFill>
            <a:ln w="6350" cap="flat" cmpd="sng" algn="ctr">
              <a:noFill/>
              <a:prstDash val="solid"/>
            </a:ln>
            <a:effectLst/>
          </p:spPr>
          <p:txBody>
            <a:bodyPr lIns="68580" tIns="34291" rIns="68580" bIns="34291" rtlCol="0" anchor="ctr"/>
            <a:lstStyle/>
            <a:p>
              <a:pPr algn="ctr" defTabSz="685766" fontAlgn="base">
                <a:spcAft>
                  <a:spcPct val="0"/>
                </a:spcAft>
                <a:defRPr/>
              </a:pPr>
              <a:r>
                <a:rPr lang="zh-TW" altLang="en-US" sz="1400" kern="0">
                  <a:solidFill>
                    <a:srgbClr val="0070C0"/>
                  </a:solidFill>
                  <a:latin typeface="Arial"/>
                  <a:ea typeface="Arial" charset="0"/>
                  <a:cs typeface="Arial" charset="0"/>
                  <a:sym typeface="Arial"/>
                </a:rPr>
                <a:t>查找數據</a:t>
              </a:r>
              <a:endParaRPr lang="en-US" sz="1400" kern="0">
                <a:solidFill>
                  <a:srgbClr val="0070C0"/>
                </a:solidFill>
                <a:latin typeface="Arial"/>
                <a:ea typeface="Arial" charset="0"/>
                <a:cs typeface="Arial" charset="0"/>
                <a:sym typeface="Arial"/>
              </a:endParaRPr>
            </a:p>
          </p:txBody>
        </p:sp>
        <p:sp>
          <p:nvSpPr>
            <p:cNvPr id="160" name="Rounded Rectangle 210">
              <a:extLst>
                <a:ext uri="{FF2B5EF4-FFF2-40B4-BE49-F238E27FC236}">
                  <a16:creationId xmlns:a16="http://schemas.microsoft.com/office/drawing/2014/main" id="{0EEED00D-8615-4E18-BC73-090E33AD98CC}"/>
                </a:ext>
              </a:extLst>
            </p:cNvPr>
            <p:cNvSpPr/>
            <p:nvPr/>
          </p:nvSpPr>
          <p:spPr>
            <a:xfrm>
              <a:off x="2859004" y="1927481"/>
              <a:ext cx="1441662" cy="246678"/>
            </a:xfrm>
            <a:prstGeom prst="roundRect">
              <a:avLst/>
            </a:prstGeom>
            <a:solidFill>
              <a:schemeClr val="bg2"/>
            </a:solidFill>
            <a:ln w="6350" cap="flat" cmpd="sng" algn="ctr">
              <a:noFill/>
              <a:prstDash val="solid"/>
            </a:ln>
            <a:effectLst/>
          </p:spPr>
          <p:txBody>
            <a:bodyPr lIns="68580" tIns="34291" rIns="68580" bIns="34291" rtlCol="0" anchor="ctr"/>
            <a:lstStyle/>
            <a:p>
              <a:pPr algn="ctr" defTabSz="685766" fontAlgn="base">
                <a:spcAft>
                  <a:spcPct val="0"/>
                </a:spcAft>
                <a:defRPr/>
              </a:pPr>
              <a:r>
                <a:rPr lang="zh-TW" altLang="en-US" sz="1400" kern="0">
                  <a:solidFill>
                    <a:srgbClr val="0070C0"/>
                  </a:solidFill>
                  <a:latin typeface="Arial"/>
                  <a:ea typeface="Arial" charset="0"/>
                  <a:cs typeface="Arial" charset="0"/>
                  <a:sym typeface="Arial"/>
                </a:rPr>
                <a:t>共享數據</a:t>
              </a:r>
              <a:endParaRPr lang="en-US" sz="1400" kern="0">
                <a:solidFill>
                  <a:srgbClr val="0070C0"/>
                </a:solidFill>
                <a:latin typeface="Arial"/>
                <a:ea typeface="Arial" charset="0"/>
                <a:cs typeface="Arial" charset="0"/>
                <a:sym typeface="Arial"/>
              </a:endParaRPr>
            </a:p>
          </p:txBody>
        </p:sp>
        <p:sp>
          <p:nvSpPr>
            <p:cNvPr id="161" name="Rounded Rectangle 211">
              <a:extLst>
                <a:ext uri="{FF2B5EF4-FFF2-40B4-BE49-F238E27FC236}">
                  <a16:creationId xmlns:a16="http://schemas.microsoft.com/office/drawing/2014/main" id="{34A81792-477B-415A-9BDF-18611DBD3CC5}"/>
                </a:ext>
              </a:extLst>
            </p:cNvPr>
            <p:cNvSpPr/>
            <p:nvPr/>
          </p:nvSpPr>
          <p:spPr>
            <a:xfrm>
              <a:off x="4519647" y="1927481"/>
              <a:ext cx="1441662" cy="246678"/>
            </a:xfrm>
            <a:prstGeom prst="roundRect">
              <a:avLst/>
            </a:prstGeom>
            <a:solidFill>
              <a:schemeClr val="bg2"/>
            </a:solidFill>
            <a:ln w="6350" cap="flat" cmpd="sng" algn="ctr">
              <a:noFill/>
              <a:prstDash val="solid"/>
            </a:ln>
            <a:effectLst/>
          </p:spPr>
          <p:txBody>
            <a:bodyPr lIns="68580" tIns="34291" rIns="68580" bIns="34291" rtlCol="0" anchor="ctr"/>
            <a:lstStyle/>
            <a:p>
              <a:pPr algn="ctr" defTabSz="685766" fontAlgn="base">
                <a:spcAft>
                  <a:spcPct val="0"/>
                </a:spcAft>
                <a:defRPr/>
              </a:pPr>
              <a:r>
                <a:rPr lang="zh-TW" altLang="en-US" sz="1400" kern="0">
                  <a:solidFill>
                    <a:srgbClr val="0070C0"/>
                  </a:solidFill>
                  <a:latin typeface="Arial"/>
                  <a:ea typeface="Arial" charset="0"/>
                  <a:cs typeface="Arial" charset="0"/>
                  <a:sym typeface="Arial"/>
                </a:rPr>
                <a:t>協同合作</a:t>
              </a:r>
              <a:endParaRPr lang="en-US" sz="1400" kern="0">
                <a:solidFill>
                  <a:srgbClr val="0070C0"/>
                </a:solidFill>
                <a:latin typeface="Arial"/>
                <a:ea typeface="Arial" charset="0"/>
                <a:cs typeface="Arial" charset="0"/>
                <a:sym typeface="Arial"/>
              </a:endParaRPr>
            </a:p>
          </p:txBody>
        </p:sp>
      </p:grpSp>
      <p:grpSp>
        <p:nvGrpSpPr>
          <p:cNvPr id="11" name="群組 10">
            <a:extLst>
              <a:ext uri="{FF2B5EF4-FFF2-40B4-BE49-F238E27FC236}">
                <a16:creationId xmlns:a16="http://schemas.microsoft.com/office/drawing/2014/main" id="{E8E836DE-F26F-43D7-859A-4A594C652F21}"/>
              </a:ext>
            </a:extLst>
          </p:cNvPr>
          <p:cNvGrpSpPr/>
          <p:nvPr/>
        </p:nvGrpSpPr>
        <p:grpSpPr>
          <a:xfrm>
            <a:off x="1233280" y="2125437"/>
            <a:ext cx="4617520" cy="2920775"/>
            <a:chOff x="2251976" y="2103770"/>
            <a:chExt cx="4617520" cy="2920775"/>
          </a:xfrm>
        </p:grpSpPr>
        <p:sp>
          <p:nvSpPr>
            <p:cNvPr id="135" name="Rounded Rectangle 161">
              <a:extLst>
                <a:ext uri="{FF2B5EF4-FFF2-40B4-BE49-F238E27FC236}">
                  <a16:creationId xmlns:a16="http://schemas.microsoft.com/office/drawing/2014/main" id="{D16F9C11-8222-4042-B24E-A43542E8B288}"/>
                </a:ext>
              </a:extLst>
            </p:cNvPr>
            <p:cNvSpPr/>
            <p:nvPr/>
          </p:nvSpPr>
          <p:spPr>
            <a:xfrm>
              <a:off x="2251976" y="2113266"/>
              <a:ext cx="4610087" cy="2898475"/>
            </a:xfrm>
            <a:prstGeom prst="roundRect">
              <a:avLst>
                <a:gd name="adj" fmla="val 6160"/>
              </a:avLst>
            </a:prstGeom>
            <a:solidFill>
              <a:srgbClr val="053375">
                <a:alpha val="52941"/>
              </a:srgbClr>
            </a:solidFill>
            <a:ln w="25400" cap="flat" cmpd="sng" algn="ctr">
              <a:noFill/>
              <a:prstDash val="solid"/>
              <a:miter lim="800000"/>
            </a:ln>
            <a:effectLst/>
          </p:spPr>
          <p:txBody>
            <a:bodyPr lIns="68580" tIns="34291" rIns="68580" bIns="34291" rtlCol="0" anchor="t" anchorCtr="0"/>
            <a:lstStyle/>
            <a:p>
              <a:pPr algn="ctr" defTabSz="685766">
                <a:defRPr/>
              </a:pPr>
              <a:endParaRPr lang="en-US" sz="1651" kern="0">
                <a:solidFill>
                  <a:prstClr val="black"/>
                </a:solidFill>
                <a:latin typeface="Arial" charset="0"/>
                <a:ea typeface="Arial" charset="0"/>
                <a:cs typeface="Arial" charset="0"/>
              </a:endParaRPr>
            </a:p>
          </p:txBody>
        </p:sp>
        <p:sp>
          <p:nvSpPr>
            <p:cNvPr id="136" name="Round Same Side Corner Rectangle 207">
              <a:extLst>
                <a:ext uri="{FF2B5EF4-FFF2-40B4-BE49-F238E27FC236}">
                  <a16:creationId xmlns:a16="http://schemas.microsoft.com/office/drawing/2014/main" id="{7B743FA1-3D90-4D94-A7CC-FC95ACF99EDA}"/>
                </a:ext>
              </a:extLst>
            </p:cNvPr>
            <p:cNvSpPr/>
            <p:nvPr/>
          </p:nvSpPr>
          <p:spPr>
            <a:xfrm>
              <a:off x="2251981" y="4636623"/>
              <a:ext cx="4610081" cy="387922"/>
            </a:xfrm>
            <a:prstGeom prst="round2SameRect">
              <a:avLst>
                <a:gd name="adj1" fmla="val 0"/>
                <a:gd name="adj2" fmla="val 45242"/>
              </a:avLst>
            </a:prstGeom>
            <a:solidFill>
              <a:schemeClr val="bg2"/>
            </a:solidFill>
            <a:ln w="6350" cap="flat" cmpd="sng" algn="ctr">
              <a:noFill/>
              <a:prstDash val="solid"/>
            </a:ln>
            <a:effectLst/>
          </p:spPr>
          <p:txBody>
            <a:bodyPr lIns="68580" tIns="34291" rIns="68580" bIns="34291" rtlCol="0" anchor="ctr"/>
            <a:lstStyle/>
            <a:p>
              <a:pPr algn="ctr" defTabSz="685766" fontAlgn="base">
                <a:spcAft>
                  <a:spcPct val="0"/>
                </a:spcAft>
                <a:defRPr/>
              </a:pPr>
              <a:r>
                <a:rPr lang="zh-TW" altLang="en-US" sz="1400" i="1" kern="0">
                  <a:solidFill>
                    <a:srgbClr val="0070C0"/>
                  </a:solidFill>
                  <a:latin typeface="Arial"/>
                  <a:ea typeface="Arial" charset="0"/>
                  <a:cs typeface="Arial" charset="0"/>
                  <a:sym typeface="Arial"/>
                </a:rPr>
                <a:t>匯流各式資料源</a:t>
              </a:r>
              <a:endParaRPr lang="en-US" sz="1400" i="1" kern="0">
                <a:solidFill>
                  <a:srgbClr val="0070C0"/>
                </a:solidFill>
                <a:latin typeface="Arial"/>
                <a:ea typeface="Arial" charset="0"/>
                <a:cs typeface="Arial" charset="0"/>
                <a:sym typeface="Arial"/>
              </a:endParaRPr>
            </a:p>
          </p:txBody>
        </p:sp>
        <p:grpSp>
          <p:nvGrpSpPr>
            <p:cNvPr id="137" name="Group 22">
              <a:extLst>
                <a:ext uri="{FF2B5EF4-FFF2-40B4-BE49-F238E27FC236}">
                  <a16:creationId xmlns:a16="http://schemas.microsoft.com/office/drawing/2014/main" id="{4CC4CBC0-7600-4982-85E2-32592868EBCC}"/>
                </a:ext>
              </a:extLst>
            </p:cNvPr>
            <p:cNvGrpSpPr/>
            <p:nvPr/>
          </p:nvGrpSpPr>
          <p:grpSpPr>
            <a:xfrm>
              <a:off x="3320476" y="2722900"/>
              <a:ext cx="2545280" cy="1670845"/>
              <a:chOff x="3139384" y="3067084"/>
              <a:chExt cx="816221" cy="385847"/>
            </a:xfrm>
            <a:solidFill>
              <a:schemeClr val="accent1">
                <a:lumMod val="60000"/>
                <a:lumOff val="40000"/>
              </a:schemeClr>
            </a:solidFill>
          </p:grpSpPr>
          <p:sp>
            <p:nvSpPr>
              <p:cNvPr id="138" name="Bent Arrow 170">
                <a:extLst>
                  <a:ext uri="{FF2B5EF4-FFF2-40B4-BE49-F238E27FC236}">
                    <a16:creationId xmlns:a16="http://schemas.microsoft.com/office/drawing/2014/main" id="{5E0A5051-7B86-4BCF-A601-D585817B5396}"/>
                  </a:ext>
                </a:extLst>
              </p:cNvPr>
              <p:cNvSpPr/>
              <p:nvPr/>
            </p:nvSpPr>
            <p:spPr>
              <a:xfrm flipH="1" flipV="1">
                <a:off x="3139384" y="3175132"/>
                <a:ext cx="816221" cy="277799"/>
              </a:xfrm>
              <a:prstGeom prst="bentArrow">
                <a:avLst>
                  <a:gd name="adj1" fmla="val 11299"/>
                  <a:gd name="adj2" fmla="val 13018"/>
                  <a:gd name="adj3" fmla="val 15192"/>
                  <a:gd name="adj4" fmla="val 17976"/>
                </a:avLst>
              </a:prstGeom>
              <a:grpFill/>
            </p:spPr>
            <p:txBody>
              <a:bodyPr wrap="square" lIns="0" tIns="0" rIns="0" bIns="0" rtlCol="0" anchor="ctr">
                <a:noAutofit/>
              </a:bodyPr>
              <a:lstStyle/>
              <a:p>
                <a:pPr algn="ctr"/>
                <a:endParaRPr lang="en-US" sz="1600" err="1">
                  <a:solidFill>
                    <a:srgbClr val="FFFFFF"/>
                  </a:solidFill>
                  <a:latin typeface="Arial"/>
                  <a:cs typeface="Arial"/>
                </a:endParaRPr>
              </a:p>
            </p:txBody>
          </p:sp>
          <p:sp>
            <p:nvSpPr>
              <p:cNvPr id="139" name="Bent Arrow 173">
                <a:extLst>
                  <a:ext uri="{FF2B5EF4-FFF2-40B4-BE49-F238E27FC236}">
                    <a16:creationId xmlns:a16="http://schemas.microsoft.com/office/drawing/2014/main" id="{E78E329F-FD39-4B21-BF95-DFA0CEFED644}"/>
                  </a:ext>
                </a:extLst>
              </p:cNvPr>
              <p:cNvSpPr/>
              <p:nvPr/>
            </p:nvSpPr>
            <p:spPr>
              <a:xfrm>
                <a:off x="3139384" y="3067084"/>
                <a:ext cx="816221" cy="277799"/>
              </a:xfrm>
              <a:prstGeom prst="bentArrow">
                <a:avLst>
                  <a:gd name="adj1" fmla="val 11299"/>
                  <a:gd name="adj2" fmla="val 13018"/>
                  <a:gd name="adj3" fmla="val 15192"/>
                  <a:gd name="adj4" fmla="val 17976"/>
                </a:avLst>
              </a:prstGeom>
              <a:grpFill/>
            </p:spPr>
            <p:txBody>
              <a:bodyPr wrap="square" lIns="0" tIns="0" rIns="0" bIns="0" rtlCol="0" anchor="ctr">
                <a:noAutofit/>
              </a:bodyPr>
              <a:lstStyle/>
              <a:p>
                <a:pPr algn="ctr"/>
                <a:endParaRPr lang="en-US" sz="1600" err="1">
                  <a:solidFill>
                    <a:srgbClr val="FFFFFF"/>
                  </a:solidFill>
                  <a:latin typeface="Arial"/>
                  <a:cs typeface="Arial"/>
                </a:endParaRPr>
              </a:p>
            </p:txBody>
          </p:sp>
        </p:grpSp>
        <p:sp>
          <p:nvSpPr>
            <p:cNvPr id="140" name="Rounded Rectangle 171">
              <a:extLst>
                <a:ext uri="{FF2B5EF4-FFF2-40B4-BE49-F238E27FC236}">
                  <a16:creationId xmlns:a16="http://schemas.microsoft.com/office/drawing/2014/main" id="{452F40E4-463E-46D1-A494-25622D052246}"/>
                </a:ext>
              </a:extLst>
            </p:cNvPr>
            <p:cNvSpPr/>
            <p:nvPr/>
          </p:nvSpPr>
          <p:spPr>
            <a:xfrm>
              <a:off x="4025601" y="3980637"/>
              <a:ext cx="1162073" cy="516477"/>
            </a:xfrm>
            <a:prstGeom prst="roundRect">
              <a:avLst/>
            </a:prstGeom>
            <a:solidFill>
              <a:sysClr val="window" lastClr="FFFFFF"/>
            </a:solidFill>
            <a:ln w="6350" cap="flat" cmpd="sng" algn="ctr">
              <a:noFill/>
              <a:prstDash val="solid"/>
              <a:miter lim="800000"/>
            </a:ln>
            <a:effectLst/>
          </p:spPr>
          <p:txBody>
            <a:bodyPr lIns="68580" tIns="34291" rIns="68580" bIns="34291" rtlCol="0" anchor="ctr"/>
            <a:lstStyle/>
            <a:p>
              <a:pPr algn="ctr" defTabSz="685766">
                <a:defRPr/>
              </a:pPr>
              <a:r>
                <a:rPr lang="zh-TW" altLang="en-US" sz="1400" kern="0">
                  <a:solidFill>
                    <a:srgbClr val="0070C0"/>
                  </a:solidFill>
                  <a:latin typeface="Arial" charset="0"/>
                  <a:ea typeface="Arial" charset="0"/>
                  <a:cs typeface="Arial" charset="0"/>
                </a:rPr>
                <a:t>數據運用</a:t>
              </a:r>
              <a:endParaRPr lang="en-US" sz="1400" kern="0">
                <a:solidFill>
                  <a:srgbClr val="0070C0"/>
                </a:solidFill>
                <a:latin typeface="Arial" charset="0"/>
                <a:ea typeface="Arial" charset="0"/>
                <a:cs typeface="Arial" charset="0"/>
              </a:endParaRPr>
            </a:p>
          </p:txBody>
        </p:sp>
        <p:sp>
          <p:nvSpPr>
            <p:cNvPr id="141" name="Rounded Rectangle 172">
              <a:extLst>
                <a:ext uri="{FF2B5EF4-FFF2-40B4-BE49-F238E27FC236}">
                  <a16:creationId xmlns:a16="http://schemas.microsoft.com/office/drawing/2014/main" id="{62662882-93F8-4568-9001-9301BA7A8E18}"/>
                </a:ext>
              </a:extLst>
            </p:cNvPr>
            <p:cNvSpPr/>
            <p:nvPr/>
          </p:nvSpPr>
          <p:spPr>
            <a:xfrm>
              <a:off x="4034926" y="2692397"/>
              <a:ext cx="1162073" cy="516477"/>
            </a:xfrm>
            <a:prstGeom prst="roundRect">
              <a:avLst/>
            </a:prstGeom>
            <a:solidFill>
              <a:sysClr val="window" lastClr="FFFFFF"/>
            </a:solidFill>
            <a:ln w="6350" cap="flat" cmpd="sng" algn="ctr">
              <a:noFill/>
              <a:prstDash val="solid"/>
              <a:miter lim="800000"/>
            </a:ln>
            <a:effectLst/>
          </p:spPr>
          <p:txBody>
            <a:bodyPr lIns="68580" tIns="34291" rIns="68580" bIns="34291" rtlCol="0" anchor="ctr"/>
            <a:lstStyle/>
            <a:p>
              <a:pPr algn="ctr" defTabSz="685766">
                <a:defRPr/>
              </a:pPr>
              <a:r>
                <a:rPr lang="zh-TW" altLang="en-US" sz="1400" kern="0">
                  <a:solidFill>
                    <a:srgbClr val="0070C0"/>
                  </a:solidFill>
                  <a:latin typeface="Arial" charset="0"/>
                  <a:ea typeface="Arial" charset="0"/>
                  <a:cs typeface="Arial" charset="0"/>
                </a:rPr>
                <a:t>數據精煉</a:t>
              </a:r>
              <a:endParaRPr lang="en-US" sz="1400" kern="0">
                <a:solidFill>
                  <a:srgbClr val="0070C0"/>
                </a:solidFill>
                <a:latin typeface="Arial" charset="0"/>
                <a:ea typeface="Arial" charset="0"/>
                <a:cs typeface="Arial" charset="0"/>
              </a:endParaRPr>
            </a:p>
          </p:txBody>
        </p:sp>
        <p:sp>
          <p:nvSpPr>
            <p:cNvPr id="142" name="Rounded Rectangle 213">
              <a:extLst>
                <a:ext uri="{FF2B5EF4-FFF2-40B4-BE49-F238E27FC236}">
                  <a16:creationId xmlns:a16="http://schemas.microsoft.com/office/drawing/2014/main" id="{3B3FF8FA-E3C5-4564-BD8C-09508CFCC66F}"/>
                </a:ext>
              </a:extLst>
            </p:cNvPr>
            <p:cNvSpPr/>
            <p:nvPr/>
          </p:nvSpPr>
          <p:spPr>
            <a:xfrm>
              <a:off x="2881701" y="3325426"/>
              <a:ext cx="1162073" cy="516477"/>
            </a:xfrm>
            <a:prstGeom prst="roundRect">
              <a:avLst/>
            </a:prstGeom>
            <a:solidFill>
              <a:schemeClr val="bg2"/>
            </a:solidFill>
            <a:ln w="6350" cap="flat" cmpd="sng" algn="ctr">
              <a:noFill/>
              <a:prstDash val="solid"/>
            </a:ln>
            <a:effectLst/>
          </p:spPr>
          <p:txBody>
            <a:bodyPr lIns="68580" tIns="34291" rIns="68580" bIns="34291" rtlCol="0" anchor="ctr"/>
            <a:lstStyle/>
            <a:p>
              <a:pPr algn="ctr" defTabSz="685766" fontAlgn="base">
                <a:spcAft>
                  <a:spcPct val="0"/>
                </a:spcAft>
                <a:defRPr/>
              </a:pPr>
              <a:r>
                <a:rPr lang="zh-TW" altLang="en-US" sz="1400" kern="0">
                  <a:solidFill>
                    <a:srgbClr val="0070C0"/>
                  </a:solidFill>
                  <a:latin typeface="Arial"/>
                  <a:ea typeface="Arial" charset="0"/>
                  <a:cs typeface="Arial" charset="0"/>
                  <a:sym typeface="Arial"/>
                </a:rPr>
                <a:t>數據探索</a:t>
              </a:r>
              <a:endParaRPr lang="en-US" sz="1400" kern="0">
                <a:solidFill>
                  <a:srgbClr val="0070C0"/>
                </a:solidFill>
                <a:latin typeface="Arial"/>
                <a:ea typeface="Arial" charset="0"/>
                <a:cs typeface="Arial" charset="0"/>
                <a:sym typeface="Arial"/>
              </a:endParaRPr>
            </a:p>
          </p:txBody>
        </p:sp>
        <p:sp>
          <p:nvSpPr>
            <p:cNvPr id="143" name="Rounded Rectangle 214">
              <a:extLst>
                <a:ext uri="{FF2B5EF4-FFF2-40B4-BE49-F238E27FC236}">
                  <a16:creationId xmlns:a16="http://schemas.microsoft.com/office/drawing/2014/main" id="{42F9D274-12EB-4063-BAEE-0485D05080AA}"/>
                </a:ext>
              </a:extLst>
            </p:cNvPr>
            <p:cNvSpPr/>
            <p:nvPr/>
          </p:nvSpPr>
          <p:spPr>
            <a:xfrm>
              <a:off x="5189349" y="3318221"/>
              <a:ext cx="1162073" cy="516477"/>
            </a:xfrm>
            <a:prstGeom prst="roundRect">
              <a:avLst/>
            </a:prstGeom>
            <a:solidFill>
              <a:schemeClr val="bg2"/>
            </a:solidFill>
            <a:ln w="6350" cap="flat" cmpd="sng" algn="ctr">
              <a:noFill/>
              <a:prstDash val="solid"/>
            </a:ln>
            <a:effectLst/>
          </p:spPr>
          <p:txBody>
            <a:bodyPr lIns="68580" tIns="34291" rIns="68580" bIns="34291" rtlCol="0" anchor="ctr"/>
            <a:lstStyle/>
            <a:p>
              <a:pPr algn="ctr" defTabSz="685766" fontAlgn="base">
                <a:spcAft>
                  <a:spcPct val="0"/>
                </a:spcAft>
                <a:defRPr/>
              </a:pPr>
              <a:r>
                <a:rPr lang="zh-TW" altLang="en-US" sz="1400" kern="0">
                  <a:solidFill>
                    <a:srgbClr val="0070C0"/>
                  </a:solidFill>
                  <a:latin typeface="Arial"/>
                  <a:ea typeface="Arial" charset="0"/>
                  <a:cs typeface="Arial" charset="0"/>
                  <a:sym typeface="Arial"/>
                </a:rPr>
                <a:t>數據市集</a:t>
              </a:r>
              <a:endParaRPr lang="en-US" sz="1400" kern="0">
                <a:solidFill>
                  <a:srgbClr val="0070C0"/>
                </a:solidFill>
                <a:latin typeface="Arial"/>
                <a:ea typeface="Arial" charset="0"/>
                <a:cs typeface="Arial" charset="0"/>
                <a:sym typeface="Arial"/>
              </a:endParaRPr>
            </a:p>
          </p:txBody>
        </p:sp>
        <p:sp>
          <p:nvSpPr>
            <p:cNvPr id="144" name="Round Same Side Corner Rectangle 231">
              <a:extLst>
                <a:ext uri="{FF2B5EF4-FFF2-40B4-BE49-F238E27FC236}">
                  <a16:creationId xmlns:a16="http://schemas.microsoft.com/office/drawing/2014/main" id="{C0A7DFB4-A7D6-4701-9377-38B9ED4A7B98}"/>
                </a:ext>
              </a:extLst>
            </p:cNvPr>
            <p:cNvSpPr/>
            <p:nvPr/>
          </p:nvSpPr>
          <p:spPr>
            <a:xfrm>
              <a:off x="2259415" y="2103770"/>
              <a:ext cx="4610081" cy="387922"/>
            </a:xfrm>
            <a:prstGeom prst="round2SameRect">
              <a:avLst>
                <a:gd name="adj1" fmla="val 45497"/>
                <a:gd name="adj2" fmla="val 0"/>
              </a:avLst>
            </a:prstGeom>
            <a:solidFill>
              <a:schemeClr val="bg2"/>
            </a:solidFill>
            <a:ln w="6350" cap="flat" cmpd="sng" algn="ctr">
              <a:noFill/>
              <a:prstDash val="solid"/>
            </a:ln>
            <a:effectLst/>
          </p:spPr>
          <p:txBody>
            <a:bodyPr lIns="68580" tIns="34291" rIns="68580" bIns="34291" rtlCol="0" anchor="ctr"/>
            <a:lstStyle/>
            <a:p>
              <a:pPr algn="ctr" defTabSz="685766" fontAlgn="base">
                <a:spcAft>
                  <a:spcPct val="0"/>
                </a:spcAft>
                <a:defRPr/>
              </a:pPr>
              <a:r>
                <a:rPr lang="zh-TW" altLang="en-US" sz="1400" i="1" kern="0">
                  <a:solidFill>
                    <a:srgbClr val="0070C0"/>
                  </a:solidFill>
                  <a:latin typeface="Arial" charset="0"/>
                  <a:ea typeface="Arial" charset="0"/>
                  <a:cs typeface="Arial" charset="0"/>
                </a:rPr>
                <a:t>單一入口數據庫</a:t>
              </a:r>
              <a:r>
                <a:rPr lang="en-US" altLang="zh-TW" sz="1400" i="1" kern="0">
                  <a:solidFill>
                    <a:srgbClr val="0070C0"/>
                  </a:solidFill>
                  <a:latin typeface="Arial" charset="0"/>
                  <a:ea typeface="Arial" charset="0"/>
                  <a:cs typeface="Arial" charset="0"/>
                </a:rPr>
                <a:t>, </a:t>
              </a:r>
              <a:r>
                <a:rPr lang="zh-TW" altLang="en-US" sz="1400" i="1" kern="0">
                  <a:solidFill>
                    <a:srgbClr val="0070C0"/>
                  </a:solidFill>
                  <a:latin typeface="Arial" charset="0"/>
                  <a:ea typeface="Arial" charset="0"/>
                  <a:cs typeface="Arial" charset="0"/>
                </a:rPr>
                <a:t>包含：結構、半結構、非結構之數據</a:t>
              </a:r>
              <a:r>
                <a:rPr lang="en-US" altLang="zh-TW" sz="1400" i="1" kern="0">
                  <a:solidFill>
                    <a:srgbClr val="0070C0"/>
                  </a:solidFill>
                  <a:latin typeface="Arial" charset="0"/>
                  <a:ea typeface="Arial" charset="0"/>
                  <a:cs typeface="Arial" charset="0"/>
                </a:rPr>
                <a:t> </a:t>
              </a:r>
              <a:endParaRPr lang="en-US" sz="1400" i="1" kern="0">
                <a:solidFill>
                  <a:srgbClr val="0070C0"/>
                </a:solidFill>
                <a:latin typeface="Arial" charset="0"/>
                <a:ea typeface="Arial" charset="0"/>
                <a:cs typeface="Arial" charset="0"/>
              </a:endParaRPr>
            </a:p>
          </p:txBody>
        </p:sp>
        <p:grpSp>
          <p:nvGrpSpPr>
            <p:cNvPr id="162" name="Group 103">
              <a:extLst>
                <a:ext uri="{FF2B5EF4-FFF2-40B4-BE49-F238E27FC236}">
                  <a16:creationId xmlns:a16="http://schemas.microsoft.com/office/drawing/2014/main" id="{ADC310C3-03EE-4143-AB7D-0093740FC3B4}"/>
                </a:ext>
              </a:extLst>
            </p:cNvPr>
            <p:cNvGrpSpPr>
              <a:grpSpLocks noChangeAspect="1"/>
            </p:cNvGrpSpPr>
            <p:nvPr/>
          </p:nvGrpSpPr>
          <p:grpSpPr bwMode="auto">
            <a:xfrm>
              <a:off x="4425434" y="3255388"/>
              <a:ext cx="406343" cy="646548"/>
              <a:chOff x="2143" y="1105"/>
              <a:chExt cx="406" cy="646"/>
            </a:xfrm>
            <a:solidFill>
              <a:srgbClr val="0070C0">
                <a:lumMod val="75000"/>
              </a:srgbClr>
            </a:solidFill>
          </p:grpSpPr>
          <p:sp>
            <p:nvSpPr>
              <p:cNvPr id="163" name="Freeform 162">
                <a:extLst>
                  <a:ext uri="{FF2B5EF4-FFF2-40B4-BE49-F238E27FC236}">
                    <a16:creationId xmlns:a16="http://schemas.microsoft.com/office/drawing/2014/main" id="{83A146CA-F7AA-4BFE-9C70-26BB76ABBCA0}"/>
                  </a:ext>
                </a:extLst>
              </p:cNvPr>
              <p:cNvSpPr>
                <a:spLocks/>
              </p:cNvSpPr>
              <p:nvPr/>
            </p:nvSpPr>
            <p:spPr bwMode="auto">
              <a:xfrm>
                <a:off x="2143" y="1105"/>
                <a:ext cx="406" cy="485"/>
              </a:xfrm>
              <a:custGeom>
                <a:avLst/>
                <a:gdLst>
                  <a:gd name="T0" fmla="*/ 123 w 246"/>
                  <a:gd name="T1" fmla="*/ 0 h 295"/>
                  <a:gd name="T2" fmla="*/ 0 w 246"/>
                  <a:gd name="T3" fmla="*/ 124 h 295"/>
                  <a:gd name="T4" fmla="*/ 41 w 246"/>
                  <a:gd name="T5" fmla="*/ 216 h 295"/>
                  <a:gd name="T6" fmla="*/ 76 w 246"/>
                  <a:gd name="T7" fmla="*/ 289 h 295"/>
                  <a:gd name="T8" fmla="*/ 76 w 246"/>
                  <a:gd name="T9" fmla="*/ 295 h 295"/>
                  <a:gd name="T10" fmla="*/ 170 w 246"/>
                  <a:gd name="T11" fmla="*/ 295 h 295"/>
                  <a:gd name="T12" fmla="*/ 170 w 246"/>
                  <a:gd name="T13" fmla="*/ 289 h 295"/>
                  <a:gd name="T14" fmla="*/ 205 w 246"/>
                  <a:gd name="T15" fmla="*/ 216 h 295"/>
                  <a:gd name="T16" fmla="*/ 246 w 246"/>
                  <a:gd name="T17" fmla="*/ 124 h 295"/>
                  <a:gd name="T18" fmla="*/ 123 w 246"/>
                  <a:gd name="T19" fmla="*/ 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 h="295">
                    <a:moveTo>
                      <a:pt x="123" y="0"/>
                    </a:moveTo>
                    <a:cubicBezTo>
                      <a:pt x="55" y="0"/>
                      <a:pt x="0" y="56"/>
                      <a:pt x="0" y="124"/>
                    </a:cubicBezTo>
                    <a:cubicBezTo>
                      <a:pt x="0" y="158"/>
                      <a:pt x="17" y="191"/>
                      <a:pt x="41" y="216"/>
                    </a:cubicBezTo>
                    <a:cubicBezTo>
                      <a:pt x="69" y="245"/>
                      <a:pt x="76" y="265"/>
                      <a:pt x="76" y="289"/>
                    </a:cubicBezTo>
                    <a:cubicBezTo>
                      <a:pt x="76" y="295"/>
                      <a:pt x="76" y="295"/>
                      <a:pt x="76" y="295"/>
                    </a:cubicBezTo>
                    <a:cubicBezTo>
                      <a:pt x="170" y="295"/>
                      <a:pt x="170" y="295"/>
                      <a:pt x="170" y="295"/>
                    </a:cubicBezTo>
                    <a:cubicBezTo>
                      <a:pt x="170" y="289"/>
                      <a:pt x="170" y="289"/>
                      <a:pt x="170" y="289"/>
                    </a:cubicBezTo>
                    <a:cubicBezTo>
                      <a:pt x="170" y="265"/>
                      <a:pt x="177" y="245"/>
                      <a:pt x="205" y="216"/>
                    </a:cubicBezTo>
                    <a:cubicBezTo>
                      <a:pt x="229" y="191"/>
                      <a:pt x="246" y="158"/>
                      <a:pt x="246" y="124"/>
                    </a:cubicBezTo>
                    <a:cubicBezTo>
                      <a:pt x="246" y="56"/>
                      <a:pt x="191" y="0"/>
                      <a:pt x="123" y="0"/>
                    </a:cubicBezTo>
                  </a:path>
                </a:pathLst>
              </a:custGeom>
              <a:noFill/>
              <a:ln w="15875"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defTabSz="1219170" fontAlgn="base">
                  <a:spcBef>
                    <a:spcPct val="0"/>
                  </a:spcBef>
                  <a:spcAft>
                    <a:spcPct val="0"/>
                  </a:spcAft>
                  <a:defRPr/>
                </a:pPr>
                <a:endParaRPr lang="en-US" sz="2400" kern="0">
                  <a:solidFill>
                    <a:srgbClr val="000000"/>
                  </a:solidFill>
                  <a:latin typeface="Arial"/>
                  <a:ea typeface="ＭＳ Ｐゴシック"/>
                  <a:cs typeface="ＭＳ Ｐゴシック" charset="0"/>
                </a:endParaRPr>
              </a:p>
            </p:txBody>
          </p:sp>
          <p:sp>
            <p:nvSpPr>
              <p:cNvPr id="164" name="Line 32">
                <a:extLst>
                  <a:ext uri="{FF2B5EF4-FFF2-40B4-BE49-F238E27FC236}">
                    <a16:creationId xmlns:a16="http://schemas.microsoft.com/office/drawing/2014/main" id="{FD03118D-EA64-41DE-9893-3F7E99190328}"/>
                  </a:ext>
                </a:extLst>
              </p:cNvPr>
              <p:cNvSpPr>
                <a:spLocks noChangeShapeType="1"/>
              </p:cNvSpPr>
              <p:nvPr/>
            </p:nvSpPr>
            <p:spPr bwMode="auto">
              <a:xfrm>
                <a:off x="2268" y="1644"/>
                <a:ext cx="156" cy="0"/>
              </a:xfrm>
              <a:prstGeom prst="line">
                <a:avLst/>
              </a:prstGeom>
              <a:grpFill/>
              <a:ln w="15875" cap="rnd">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pPr defTabSz="1219170" fontAlgn="base">
                  <a:spcBef>
                    <a:spcPct val="0"/>
                  </a:spcBef>
                  <a:spcAft>
                    <a:spcPct val="0"/>
                  </a:spcAft>
                  <a:defRPr/>
                </a:pPr>
                <a:endParaRPr lang="en-US" sz="2400" kern="0">
                  <a:solidFill>
                    <a:srgbClr val="000000"/>
                  </a:solidFill>
                  <a:latin typeface="Arial"/>
                  <a:ea typeface="ＭＳ Ｐゴシック"/>
                  <a:cs typeface="ＭＳ Ｐゴシック" charset="0"/>
                </a:endParaRPr>
              </a:p>
            </p:txBody>
          </p:sp>
          <p:sp>
            <p:nvSpPr>
              <p:cNvPr id="165" name="Line 33">
                <a:extLst>
                  <a:ext uri="{FF2B5EF4-FFF2-40B4-BE49-F238E27FC236}">
                    <a16:creationId xmlns:a16="http://schemas.microsoft.com/office/drawing/2014/main" id="{5F51575F-5B49-40BD-86EF-E623DAB9F19A}"/>
                  </a:ext>
                </a:extLst>
              </p:cNvPr>
              <p:cNvSpPr>
                <a:spLocks noChangeShapeType="1"/>
              </p:cNvSpPr>
              <p:nvPr/>
            </p:nvSpPr>
            <p:spPr bwMode="auto">
              <a:xfrm>
                <a:off x="2268" y="1697"/>
                <a:ext cx="156" cy="0"/>
              </a:xfrm>
              <a:prstGeom prst="line">
                <a:avLst/>
              </a:prstGeom>
              <a:grpFill/>
              <a:ln w="15875" cap="rnd">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pPr defTabSz="1219170" fontAlgn="base">
                  <a:spcBef>
                    <a:spcPct val="0"/>
                  </a:spcBef>
                  <a:spcAft>
                    <a:spcPct val="0"/>
                  </a:spcAft>
                  <a:defRPr/>
                </a:pPr>
                <a:endParaRPr lang="en-US" sz="2400" kern="0">
                  <a:solidFill>
                    <a:srgbClr val="000000"/>
                  </a:solidFill>
                  <a:latin typeface="Arial"/>
                  <a:ea typeface="ＭＳ Ｐゴシック"/>
                  <a:cs typeface="ＭＳ Ｐゴシック" charset="0"/>
                </a:endParaRPr>
              </a:p>
            </p:txBody>
          </p:sp>
          <p:sp>
            <p:nvSpPr>
              <p:cNvPr id="166" name="Line 34">
                <a:extLst>
                  <a:ext uri="{FF2B5EF4-FFF2-40B4-BE49-F238E27FC236}">
                    <a16:creationId xmlns:a16="http://schemas.microsoft.com/office/drawing/2014/main" id="{5A51206C-DCEB-49AD-85F0-F7DF50E8012D}"/>
                  </a:ext>
                </a:extLst>
              </p:cNvPr>
              <p:cNvSpPr>
                <a:spLocks noChangeShapeType="1"/>
              </p:cNvSpPr>
              <p:nvPr/>
            </p:nvSpPr>
            <p:spPr bwMode="auto">
              <a:xfrm>
                <a:off x="2298" y="1751"/>
                <a:ext cx="96" cy="0"/>
              </a:xfrm>
              <a:prstGeom prst="line">
                <a:avLst/>
              </a:prstGeom>
              <a:grpFill/>
              <a:ln w="15875" cap="rnd">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pPr defTabSz="1219170" fontAlgn="base">
                  <a:spcBef>
                    <a:spcPct val="0"/>
                  </a:spcBef>
                  <a:spcAft>
                    <a:spcPct val="0"/>
                  </a:spcAft>
                  <a:defRPr/>
                </a:pPr>
                <a:endParaRPr lang="en-US" sz="2400" kern="0">
                  <a:solidFill>
                    <a:srgbClr val="000000"/>
                  </a:solidFill>
                  <a:latin typeface="Arial"/>
                  <a:ea typeface="ＭＳ Ｐゴシック"/>
                  <a:cs typeface="ＭＳ Ｐゴシック" charset="0"/>
                </a:endParaRPr>
              </a:p>
            </p:txBody>
          </p:sp>
          <p:sp>
            <p:nvSpPr>
              <p:cNvPr id="167" name="Freeform 167">
                <a:extLst>
                  <a:ext uri="{FF2B5EF4-FFF2-40B4-BE49-F238E27FC236}">
                    <a16:creationId xmlns:a16="http://schemas.microsoft.com/office/drawing/2014/main" id="{AFC82442-A023-4CC4-8A9C-0710725755E6}"/>
                  </a:ext>
                </a:extLst>
              </p:cNvPr>
              <p:cNvSpPr>
                <a:spLocks/>
              </p:cNvSpPr>
              <p:nvPr/>
            </p:nvSpPr>
            <p:spPr bwMode="auto">
              <a:xfrm>
                <a:off x="2211" y="1176"/>
                <a:ext cx="270" cy="271"/>
              </a:xfrm>
              <a:custGeom>
                <a:avLst/>
                <a:gdLst>
                  <a:gd name="T0" fmla="*/ 164 w 164"/>
                  <a:gd name="T1" fmla="*/ 73 h 165"/>
                  <a:gd name="T2" fmla="*/ 148 w 164"/>
                  <a:gd name="T3" fmla="*/ 66 h 165"/>
                  <a:gd name="T4" fmla="*/ 138 w 164"/>
                  <a:gd name="T5" fmla="*/ 55 h 165"/>
                  <a:gd name="T6" fmla="*/ 147 w 164"/>
                  <a:gd name="T7" fmla="*/ 41 h 165"/>
                  <a:gd name="T8" fmla="*/ 134 w 164"/>
                  <a:gd name="T9" fmla="*/ 18 h 165"/>
                  <a:gd name="T10" fmla="*/ 117 w 164"/>
                  <a:gd name="T11" fmla="*/ 25 h 165"/>
                  <a:gd name="T12" fmla="*/ 103 w 164"/>
                  <a:gd name="T13" fmla="*/ 23 h 165"/>
                  <a:gd name="T14" fmla="*/ 98 w 164"/>
                  <a:gd name="T15" fmla="*/ 7 h 165"/>
                  <a:gd name="T16" fmla="*/ 73 w 164"/>
                  <a:gd name="T17" fmla="*/ 0 h 165"/>
                  <a:gd name="T18" fmla="*/ 66 w 164"/>
                  <a:gd name="T19" fmla="*/ 17 h 165"/>
                  <a:gd name="T20" fmla="*/ 55 w 164"/>
                  <a:gd name="T21" fmla="*/ 26 h 165"/>
                  <a:gd name="T22" fmla="*/ 40 w 164"/>
                  <a:gd name="T23" fmla="*/ 18 h 165"/>
                  <a:gd name="T24" fmla="*/ 17 w 164"/>
                  <a:gd name="T25" fmla="*/ 31 h 165"/>
                  <a:gd name="T26" fmla="*/ 24 w 164"/>
                  <a:gd name="T27" fmla="*/ 48 h 165"/>
                  <a:gd name="T28" fmla="*/ 23 w 164"/>
                  <a:gd name="T29" fmla="*/ 62 h 165"/>
                  <a:gd name="T30" fmla="*/ 7 w 164"/>
                  <a:gd name="T31" fmla="*/ 66 h 165"/>
                  <a:gd name="T32" fmla="*/ 0 w 164"/>
                  <a:gd name="T33" fmla="*/ 92 h 165"/>
                  <a:gd name="T34" fmla="*/ 17 w 164"/>
                  <a:gd name="T35" fmla="*/ 99 h 165"/>
                  <a:gd name="T36" fmla="*/ 26 w 164"/>
                  <a:gd name="T37" fmla="*/ 110 h 165"/>
                  <a:gd name="T38" fmla="*/ 17 w 164"/>
                  <a:gd name="T39" fmla="*/ 124 h 165"/>
                  <a:gd name="T40" fmla="*/ 31 w 164"/>
                  <a:gd name="T41" fmla="*/ 147 h 165"/>
                  <a:gd name="T42" fmla="*/ 47 w 164"/>
                  <a:gd name="T43" fmla="*/ 140 h 165"/>
                  <a:gd name="T44" fmla="*/ 62 w 164"/>
                  <a:gd name="T45" fmla="*/ 142 h 165"/>
                  <a:gd name="T46" fmla="*/ 66 w 164"/>
                  <a:gd name="T47" fmla="*/ 158 h 165"/>
                  <a:gd name="T48" fmla="*/ 92 w 164"/>
                  <a:gd name="T49" fmla="*/ 165 h 165"/>
                  <a:gd name="T50" fmla="*/ 98 w 164"/>
                  <a:gd name="T51" fmla="*/ 148 h 165"/>
                  <a:gd name="T52" fmla="*/ 110 w 164"/>
                  <a:gd name="T53" fmla="*/ 139 h 165"/>
                  <a:gd name="T54" fmla="*/ 124 w 164"/>
                  <a:gd name="T55" fmla="*/ 147 h 165"/>
                  <a:gd name="T56" fmla="*/ 147 w 164"/>
                  <a:gd name="T57" fmla="*/ 134 h 165"/>
                  <a:gd name="T58" fmla="*/ 140 w 164"/>
                  <a:gd name="T59" fmla="*/ 117 h 165"/>
                  <a:gd name="T60" fmla="*/ 141 w 164"/>
                  <a:gd name="T61" fmla="*/ 103 h 165"/>
                  <a:gd name="T62" fmla="*/ 158 w 164"/>
                  <a:gd name="T63" fmla="*/ 9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4" h="165">
                    <a:moveTo>
                      <a:pt x="164" y="92"/>
                    </a:moveTo>
                    <a:cubicBezTo>
                      <a:pt x="164" y="73"/>
                      <a:pt x="164" y="73"/>
                      <a:pt x="164" y="73"/>
                    </a:cubicBezTo>
                    <a:cubicBezTo>
                      <a:pt x="164" y="69"/>
                      <a:pt x="161" y="66"/>
                      <a:pt x="158" y="66"/>
                    </a:cubicBezTo>
                    <a:cubicBezTo>
                      <a:pt x="148" y="66"/>
                      <a:pt x="148" y="66"/>
                      <a:pt x="148" y="66"/>
                    </a:cubicBezTo>
                    <a:cubicBezTo>
                      <a:pt x="145" y="66"/>
                      <a:pt x="142" y="65"/>
                      <a:pt x="141" y="62"/>
                    </a:cubicBezTo>
                    <a:cubicBezTo>
                      <a:pt x="138" y="55"/>
                      <a:pt x="138" y="55"/>
                      <a:pt x="138" y="55"/>
                    </a:cubicBezTo>
                    <a:cubicBezTo>
                      <a:pt x="137" y="52"/>
                      <a:pt x="138" y="50"/>
                      <a:pt x="140" y="48"/>
                    </a:cubicBezTo>
                    <a:cubicBezTo>
                      <a:pt x="147" y="41"/>
                      <a:pt x="147" y="41"/>
                      <a:pt x="147" y="41"/>
                    </a:cubicBezTo>
                    <a:cubicBezTo>
                      <a:pt x="150" y="38"/>
                      <a:pt x="150" y="34"/>
                      <a:pt x="147" y="31"/>
                    </a:cubicBezTo>
                    <a:cubicBezTo>
                      <a:pt x="134" y="18"/>
                      <a:pt x="134" y="18"/>
                      <a:pt x="134" y="18"/>
                    </a:cubicBezTo>
                    <a:cubicBezTo>
                      <a:pt x="131" y="15"/>
                      <a:pt x="127" y="15"/>
                      <a:pt x="124" y="18"/>
                    </a:cubicBezTo>
                    <a:cubicBezTo>
                      <a:pt x="117" y="25"/>
                      <a:pt x="117" y="25"/>
                      <a:pt x="117" y="25"/>
                    </a:cubicBezTo>
                    <a:cubicBezTo>
                      <a:pt x="115" y="27"/>
                      <a:pt x="112" y="27"/>
                      <a:pt x="110" y="26"/>
                    </a:cubicBezTo>
                    <a:cubicBezTo>
                      <a:pt x="103" y="23"/>
                      <a:pt x="103" y="23"/>
                      <a:pt x="103" y="23"/>
                    </a:cubicBezTo>
                    <a:cubicBezTo>
                      <a:pt x="100" y="22"/>
                      <a:pt x="98" y="20"/>
                      <a:pt x="98" y="17"/>
                    </a:cubicBezTo>
                    <a:cubicBezTo>
                      <a:pt x="98" y="7"/>
                      <a:pt x="98" y="7"/>
                      <a:pt x="98" y="7"/>
                    </a:cubicBezTo>
                    <a:cubicBezTo>
                      <a:pt x="98" y="3"/>
                      <a:pt x="95" y="0"/>
                      <a:pt x="92" y="0"/>
                    </a:cubicBezTo>
                    <a:cubicBezTo>
                      <a:pt x="73" y="0"/>
                      <a:pt x="73" y="0"/>
                      <a:pt x="73" y="0"/>
                    </a:cubicBezTo>
                    <a:cubicBezTo>
                      <a:pt x="69" y="0"/>
                      <a:pt x="66" y="3"/>
                      <a:pt x="66" y="7"/>
                    </a:cubicBezTo>
                    <a:cubicBezTo>
                      <a:pt x="66" y="17"/>
                      <a:pt x="66" y="17"/>
                      <a:pt x="66" y="17"/>
                    </a:cubicBezTo>
                    <a:cubicBezTo>
                      <a:pt x="66" y="20"/>
                      <a:pt x="64" y="22"/>
                      <a:pt x="62" y="23"/>
                    </a:cubicBezTo>
                    <a:cubicBezTo>
                      <a:pt x="55" y="26"/>
                      <a:pt x="55" y="26"/>
                      <a:pt x="55" y="26"/>
                    </a:cubicBezTo>
                    <a:cubicBezTo>
                      <a:pt x="52" y="27"/>
                      <a:pt x="49" y="27"/>
                      <a:pt x="47" y="25"/>
                    </a:cubicBezTo>
                    <a:cubicBezTo>
                      <a:pt x="40" y="18"/>
                      <a:pt x="40" y="18"/>
                      <a:pt x="40" y="18"/>
                    </a:cubicBezTo>
                    <a:cubicBezTo>
                      <a:pt x="38" y="15"/>
                      <a:pt x="33" y="15"/>
                      <a:pt x="31" y="18"/>
                    </a:cubicBezTo>
                    <a:cubicBezTo>
                      <a:pt x="17" y="31"/>
                      <a:pt x="17" y="31"/>
                      <a:pt x="17" y="31"/>
                    </a:cubicBezTo>
                    <a:cubicBezTo>
                      <a:pt x="15" y="34"/>
                      <a:pt x="15" y="38"/>
                      <a:pt x="17" y="41"/>
                    </a:cubicBezTo>
                    <a:cubicBezTo>
                      <a:pt x="24" y="48"/>
                      <a:pt x="24" y="48"/>
                      <a:pt x="24" y="48"/>
                    </a:cubicBezTo>
                    <a:cubicBezTo>
                      <a:pt x="26" y="50"/>
                      <a:pt x="27" y="52"/>
                      <a:pt x="26" y="55"/>
                    </a:cubicBezTo>
                    <a:cubicBezTo>
                      <a:pt x="23" y="62"/>
                      <a:pt x="23" y="62"/>
                      <a:pt x="23" y="62"/>
                    </a:cubicBezTo>
                    <a:cubicBezTo>
                      <a:pt x="22" y="65"/>
                      <a:pt x="19" y="66"/>
                      <a:pt x="17" y="66"/>
                    </a:cubicBezTo>
                    <a:cubicBezTo>
                      <a:pt x="7" y="66"/>
                      <a:pt x="7" y="66"/>
                      <a:pt x="7" y="66"/>
                    </a:cubicBezTo>
                    <a:cubicBezTo>
                      <a:pt x="3" y="66"/>
                      <a:pt x="0" y="69"/>
                      <a:pt x="0" y="73"/>
                    </a:cubicBezTo>
                    <a:cubicBezTo>
                      <a:pt x="0" y="92"/>
                      <a:pt x="0" y="92"/>
                      <a:pt x="0" y="92"/>
                    </a:cubicBezTo>
                    <a:cubicBezTo>
                      <a:pt x="0" y="96"/>
                      <a:pt x="3" y="99"/>
                      <a:pt x="7" y="99"/>
                    </a:cubicBezTo>
                    <a:cubicBezTo>
                      <a:pt x="17" y="99"/>
                      <a:pt x="17" y="99"/>
                      <a:pt x="17" y="99"/>
                    </a:cubicBezTo>
                    <a:cubicBezTo>
                      <a:pt x="20" y="99"/>
                      <a:pt x="22" y="100"/>
                      <a:pt x="23" y="103"/>
                    </a:cubicBezTo>
                    <a:cubicBezTo>
                      <a:pt x="26" y="110"/>
                      <a:pt x="26" y="110"/>
                      <a:pt x="26" y="110"/>
                    </a:cubicBezTo>
                    <a:cubicBezTo>
                      <a:pt x="27" y="112"/>
                      <a:pt x="26" y="115"/>
                      <a:pt x="24" y="117"/>
                    </a:cubicBezTo>
                    <a:cubicBezTo>
                      <a:pt x="17" y="124"/>
                      <a:pt x="17" y="124"/>
                      <a:pt x="17" y="124"/>
                    </a:cubicBezTo>
                    <a:cubicBezTo>
                      <a:pt x="15" y="127"/>
                      <a:pt x="15" y="131"/>
                      <a:pt x="17" y="134"/>
                    </a:cubicBezTo>
                    <a:cubicBezTo>
                      <a:pt x="31" y="147"/>
                      <a:pt x="31" y="147"/>
                      <a:pt x="31" y="147"/>
                    </a:cubicBezTo>
                    <a:cubicBezTo>
                      <a:pt x="33" y="150"/>
                      <a:pt x="38" y="150"/>
                      <a:pt x="40" y="147"/>
                    </a:cubicBezTo>
                    <a:cubicBezTo>
                      <a:pt x="47" y="140"/>
                      <a:pt x="47" y="140"/>
                      <a:pt x="47" y="140"/>
                    </a:cubicBezTo>
                    <a:cubicBezTo>
                      <a:pt x="49" y="138"/>
                      <a:pt x="52" y="138"/>
                      <a:pt x="55" y="139"/>
                    </a:cubicBezTo>
                    <a:cubicBezTo>
                      <a:pt x="62" y="142"/>
                      <a:pt x="62" y="142"/>
                      <a:pt x="62" y="142"/>
                    </a:cubicBezTo>
                    <a:cubicBezTo>
                      <a:pt x="64" y="143"/>
                      <a:pt x="66" y="145"/>
                      <a:pt x="66" y="148"/>
                    </a:cubicBezTo>
                    <a:cubicBezTo>
                      <a:pt x="66" y="158"/>
                      <a:pt x="66" y="158"/>
                      <a:pt x="66" y="158"/>
                    </a:cubicBezTo>
                    <a:cubicBezTo>
                      <a:pt x="66" y="162"/>
                      <a:pt x="69" y="165"/>
                      <a:pt x="73" y="165"/>
                    </a:cubicBezTo>
                    <a:cubicBezTo>
                      <a:pt x="92" y="165"/>
                      <a:pt x="92" y="165"/>
                      <a:pt x="92" y="165"/>
                    </a:cubicBezTo>
                    <a:cubicBezTo>
                      <a:pt x="95" y="165"/>
                      <a:pt x="98" y="162"/>
                      <a:pt x="98" y="158"/>
                    </a:cubicBezTo>
                    <a:cubicBezTo>
                      <a:pt x="98" y="148"/>
                      <a:pt x="98" y="148"/>
                      <a:pt x="98" y="148"/>
                    </a:cubicBezTo>
                    <a:cubicBezTo>
                      <a:pt x="98" y="145"/>
                      <a:pt x="100" y="143"/>
                      <a:pt x="103" y="142"/>
                    </a:cubicBezTo>
                    <a:cubicBezTo>
                      <a:pt x="110" y="139"/>
                      <a:pt x="110" y="139"/>
                      <a:pt x="110" y="139"/>
                    </a:cubicBezTo>
                    <a:cubicBezTo>
                      <a:pt x="112" y="138"/>
                      <a:pt x="115" y="138"/>
                      <a:pt x="117" y="140"/>
                    </a:cubicBezTo>
                    <a:cubicBezTo>
                      <a:pt x="124" y="147"/>
                      <a:pt x="124" y="147"/>
                      <a:pt x="124" y="147"/>
                    </a:cubicBezTo>
                    <a:cubicBezTo>
                      <a:pt x="127" y="150"/>
                      <a:pt x="131" y="150"/>
                      <a:pt x="134" y="147"/>
                    </a:cubicBezTo>
                    <a:cubicBezTo>
                      <a:pt x="147" y="134"/>
                      <a:pt x="147" y="134"/>
                      <a:pt x="147" y="134"/>
                    </a:cubicBezTo>
                    <a:cubicBezTo>
                      <a:pt x="150" y="131"/>
                      <a:pt x="150" y="127"/>
                      <a:pt x="147" y="124"/>
                    </a:cubicBezTo>
                    <a:cubicBezTo>
                      <a:pt x="140" y="117"/>
                      <a:pt x="140" y="117"/>
                      <a:pt x="140" y="117"/>
                    </a:cubicBezTo>
                    <a:cubicBezTo>
                      <a:pt x="138" y="115"/>
                      <a:pt x="137" y="112"/>
                      <a:pt x="138" y="110"/>
                    </a:cubicBezTo>
                    <a:cubicBezTo>
                      <a:pt x="141" y="103"/>
                      <a:pt x="141" y="103"/>
                      <a:pt x="141" y="103"/>
                    </a:cubicBezTo>
                    <a:cubicBezTo>
                      <a:pt x="142" y="100"/>
                      <a:pt x="145" y="99"/>
                      <a:pt x="148" y="99"/>
                    </a:cubicBezTo>
                    <a:cubicBezTo>
                      <a:pt x="158" y="99"/>
                      <a:pt x="158" y="99"/>
                      <a:pt x="158" y="99"/>
                    </a:cubicBezTo>
                    <a:cubicBezTo>
                      <a:pt x="161" y="99"/>
                      <a:pt x="164" y="96"/>
                      <a:pt x="164" y="92"/>
                    </a:cubicBezTo>
                    <a:close/>
                  </a:path>
                </a:pathLst>
              </a:custGeom>
              <a:noFill/>
              <a:ln w="15875"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defTabSz="1219170" fontAlgn="base">
                  <a:spcBef>
                    <a:spcPct val="0"/>
                  </a:spcBef>
                  <a:spcAft>
                    <a:spcPct val="0"/>
                  </a:spcAft>
                  <a:defRPr/>
                </a:pPr>
                <a:endParaRPr lang="en-US" sz="2400" kern="0">
                  <a:solidFill>
                    <a:srgbClr val="000000"/>
                  </a:solidFill>
                  <a:latin typeface="Arial"/>
                  <a:ea typeface="ＭＳ Ｐゴシック"/>
                  <a:cs typeface="ＭＳ Ｐゴシック" charset="0"/>
                </a:endParaRPr>
              </a:p>
            </p:txBody>
          </p:sp>
        </p:grpSp>
      </p:grpSp>
      <p:sp>
        <p:nvSpPr>
          <p:cNvPr id="169" name="Rounded Rectangle 148">
            <a:extLst>
              <a:ext uri="{FF2B5EF4-FFF2-40B4-BE49-F238E27FC236}">
                <a16:creationId xmlns:a16="http://schemas.microsoft.com/office/drawing/2014/main" id="{96D0C816-B05A-473C-97B3-232783ECF965}"/>
              </a:ext>
            </a:extLst>
          </p:cNvPr>
          <p:cNvSpPr/>
          <p:nvPr/>
        </p:nvSpPr>
        <p:spPr>
          <a:xfrm>
            <a:off x="2554799" y="5240437"/>
            <a:ext cx="1860597" cy="727400"/>
          </a:xfrm>
          <a:prstGeom prst="roundRect">
            <a:avLst>
              <a:gd name="adj" fmla="val 8337"/>
            </a:avLst>
          </a:prstGeom>
          <a:solidFill>
            <a:srgbClr val="00B0F0"/>
          </a:solidFill>
          <a:ln w="12700" cap="flat" cmpd="sng" algn="ctr">
            <a:noFill/>
            <a:prstDash val="sysDot"/>
            <a:miter lim="800000"/>
          </a:ln>
          <a:effectLst/>
        </p:spPr>
        <p:txBody>
          <a:bodyPr lIns="68580" tIns="34291" rIns="68580" bIns="34291" rtlCol="0" anchor="b" anchorCtr="0"/>
          <a:lstStyle/>
          <a:p>
            <a:pPr algn="ctr" defTabSz="685766"/>
            <a:endParaRPr lang="en-US" sz="1000" kern="0">
              <a:solidFill>
                <a:prstClr val="black"/>
              </a:solidFill>
              <a:latin typeface="Arial" charset="0"/>
              <a:cs typeface="Arial" charset="0"/>
            </a:endParaRPr>
          </a:p>
        </p:txBody>
      </p:sp>
      <p:sp>
        <p:nvSpPr>
          <p:cNvPr id="170" name="Rounded Rectangle 149">
            <a:extLst>
              <a:ext uri="{FF2B5EF4-FFF2-40B4-BE49-F238E27FC236}">
                <a16:creationId xmlns:a16="http://schemas.microsoft.com/office/drawing/2014/main" id="{39363521-B3EA-4941-BB0D-1706FEE66A49}"/>
              </a:ext>
            </a:extLst>
          </p:cNvPr>
          <p:cNvSpPr/>
          <p:nvPr/>
        </p:nvSpPr>
        <p:spPr>
          <a:xfrm>
            <a:off x="4524546" y="5240434"/>
            <a:ext cx="1860597" cy="727402"/>
          </a:xfrm>
          <a:prstGeom prst="roundRect">
            <a:avLst>
              <a:gd name="adj" fmla="val 8337"/>
            </a:avLst>
          </a:prstGeom>
          <a:solidFill>
            <a:srgbClr val="00B0F0"/>
          </a:solidFill>
          <a:ln w="12700" cap="flat" cmpd="sng" algn="ctr">
            <a:noFill/>
            <a:prstDash val="sysDot"/>
            <a:miter lim="800000"/>
          </a:ln>
          <a:effectLst/>
        </p:spPr>
        <p:txBody>
          <a:bodyPr lIns="68580" tIns="34291" rIns="68580" bIns="34291" rtlCol="0" anchor="b" anchorCtr="0"/>
          <a:lstStyle/>
          <a:p>
            <a:pPr algn="ctr" defTabSz="685766"/>
            <a:endParaRPr lang="en-US" sz="1000" kern="0">
              <a:solidFill>
                <a:prstClr val="black"/>
              </a:solidFill>
              <a:latin typeface="Arial" charset="0"/>
              <a:cs typeface="Arial" charset="0"/>
            </a:endParaRPr>
          </a:p>
        </p:txBody>
      </p:sp>
      <p:sp>
        <p:nvSpPr>
          <p:cNvPr id="171" name="Rounded Rectangle 151">
            <a:extLst>
              <a:ext uri="{FF2B5EF4-FFF2-40B4-BE49-F238E27FC236}">
                <a16:creationId xmlns:a16="http://schemas.microsoft.com/office/drawing/2014/main" id="{2F60497B-F3C8-470E-AAD0-EE41403B19BC}"/>
              </a:ext>
            </a:extLst>
          </p:cNvPr>
          <p:cNvSpPr/>
          <p:nvPr/>
        </p:nvSpPr>
        <p:spPr>
          <a:xfrm>
            <a:off x="569747" y="5249485"/>
            <a:ext cx="1860597" cy="718352"/>
          </a:xfrm>
          <a:prstGeom prst="roundRect">
            <a:avLst>
              <a:gd name="adj" fmla="val 8337"/>
            </a:avLst>
          </a:prstGeom>
          <a:solidFill>
            <a:srgbClr val="00B0F0"/>
          </a:solidFill>
          <a:ln w="12700" cap="flat" cmpd="sng" algn="ctr">
            <a:noFill/>
            <a:prstDash val="sysDot"/>
            <a:miter lim="800000"/>
          </a:ln>
          <a:effectLst/>
        </p:spPr>
        <p:txBody>
          <a:bodyPr lIns="68580" tIns="34291" rIns="68580" bIns="34291" rtlCol="0" anchor="b" anchorCtr="0"/>
          <a:lstStyle/>
          <a:p>
            <a:pPr algn="ctr" defTabSz="685766"/>
            <a:endParaRPr lang="en-US" sz="1000" kern="0">
              <a:solidFill>
                <a:prstClr val="black"/>
              </a:solidFill>
              <a:latin typeface="Arial" charset="0"/>
              <a:cs typeface="Arial" charset="0"/>
            </a:endParaRPr>
          </a:p>
        </p:txBody>
      </p:sp>
      <p:sp>
        <p:nvSpPr>
          <p:cNvPr id="172" name="TextBox 152">
            <a:extLst>
              <a:ext uri="{FF2B5EF4-FFF2-40B4-BE49-F238E27FC236}">
                <a16:creationId xmlns:a16="http://schemas.microsoft.com/office/drawing/2014/main" id="{2B9691DB-5328-4DCB-B12C-A6776095FE5E}"/>
              </a:ext>
            </a:extLst>
          </p:cNvPr>
          <p:cNvSpPr txBox="1"/>
          <p:nvPr/>
        </p:nvSpPr>
        <p:spPr>
          <a:xfrm>
            <a:off x="632359" y="5485018"/>
            <a:ext cx="1735371" cy="307777"/>
          </a:xfrm>
          <a:prstGeom prst="rect">
            <a:avLst/>
          </a:prstGeom>
          <a:noFill/>
        </p:spPr>
        <p:txBody>
          <a:bodyPr wrap="square" rtlCol="0">
            <a:spAutoFit/>
          </a:bodyPr>
          <a:lstStyle/>
          <a:p>
            <a:pPr algn="ctr"/>
            <a:r>
              <a:rPr lang="zh-TW" altLang="en-US" sz="1400" b="1">
                <a:solidFill>
                  <a:schemeClr val="bg1"/>
                </a:solidFill>
                <a:latin typeface="Calibri"/>
                <a:ea typeface="Arial" charset="0"/>
                <a:cs typeface="Arial" charset="0"/>
              </a:rPr>
              <a:t>設備數據</a:t>
            </a:r>
            <a:endParaRPr lang="en-US" sz="1400" b="1">
              <a:solidFill>
                <a:schemeClr val="bg1"/>
              </a:solidFill>
              <a:latin typeface="Calibri"/>
              <a:ea typeface="Arial" charset="0"/>
              <a:cs typeface="Arial" charset="0"/>
            </a:endParaRPr>
          </a:p>
        </p:txBody>
      </p:sp>
      <p:sp>
        <p:nvSpPr>
          <p:cNvPr id="173" name="TextBox 152">
            <a:extLst>
              <a:ext uri="{FF2B5EF4-FFF2-40B4-BE49-F238E27FC236}">
                <a16:creationId xmlns:a16="http://schemas.microsoft.com/office/drawing/2014/main" id="{FCA425D8-30DC-4C8C-8C76-53A5296A8693}"/>
              </a:ext>
            </a:extLst>
          </p:cNvPr>
          <p:cNvSpPr txBox="1"/>
          <p:nvPr/>
        </p:nvSpPr>
        <p:spPr>
          <a:xfrm>
            <a:off x="2651068" y="5474869"/>
            <a:ext cx="1735371" cy="307777"/>
          </a:xfrm>
          <a:prstGeom prst="rect">
            <a:avLst/>
          </a:prstGeom>
          <a:noFill/>
        </p:spPr>
        <p:txBody>
          <a:bodyPr wrap="square" rtlCol="0">
            <a:spAutoFit/>
          </a:bodyPr>
          <a:lstStyle/>
          <a:p>
            <a:pPr algn="ctr"/>
            <a:r>
              <a:rPr lang="zh-TW" altLang="en-US" sz="1400" b="1">
                <a:solidFill>
                  <a:schemeClr val="bg1"/>
                </a:solidFill>
                <a:latin typeface="Calibri"/>
                <a:ea typeface="Arial" charset="0"/>
                <a:cs typeface="Arial" charset="0"/>
              </a:rPr>
              <a:t>產線數據</a:t>
            </a:r>
            <a:endParaRPr lang="en-US" sz="1400" b="1">
              <a:solidFill>
                <a:schemeClr val="bg1"/>
              </a:solidFill>
              <a:latin typeface="Calibri"/>
              <a:ea typeface="Arial" charset="0"/>
              <a:cs typeface="Arial" charset="0"/>
            </a:endParaRPr>
          </a:p>
        </p:txBody>
      </p:sp>
      <p:sp>
        <p:nvSpPr>
          <p:cNvPr id="174" name="TextBox 152">
            <a:extLst>
              <a:ext uri="{FF2B5EF4-FFF2-40B4-BE49-F238E27FC236}">
                <a16:creationId xmlns:a16="http://schemas.microsoft.com/office/drawing/2014/main" id="{486DBDC4-39FB-49DA-93AB-0D46D705F8E5}"/>
              </a:ext>
            </a:extLst>
          </p:cNvPr>
          <p:cNvSpPr txBox="1"/>
          <p:nvPr/>
        </p:nvSpPr>
        <p:spPr>
          <a:xfrm>
            <a:off x="4604724" y="5478320"/>
            <a:ext cx="1735371" cy="307777"/>
          </a:xfrm>
          <a:prstGeom prst="rect">
            <a:avLst/>
          </a:prstGeom>
          <a:noFill/>
        </p:spPr>
        <p:txBody>
          <a:bodyPr wrap="square" rtlCol="0">
            <a:spAutoFit/>
          </a:bodyPr>
          <a:lstStyle/>
          <a:p>
            <a:pPr algn="ctr"/>
            <a:r>
              <a:rPr lang="zh-TW" altLang="en-US" sz="1400" b="1">
                <a:solidFill>
                  <a:schemeClr val="bg1"/>
                </a:solidFill>
                <a:latin typeface="Calibri"/>
                <a:ea typeface="Arial" charset="0"/>
                <a:cs typeface="Arial" charset="0"/>
              </a:rPr>
              <a:t>工廠數據</a:t>
            </a:r>
            <a:endParaRPr lang="en-US" sz="1400" b="1">
              <a:solidFill>
                <a:schemeClr val="bg1"/>
              </a:solidFill>
              <a:latin typeface="Calibri"/>
              <a:ea typeface="Arial" charset="0"/>
              <a:cs typeface="Arial" charset="0"/>
            </a:endParaRPr>
          </a:p>
        </p:txBody>
      </p:sp>
      <p:sp>
        <p:nvSpPr>
          <p:cNvPr id="175" name="Rounded Rectangle 149">
            <a:extLst>
              <a:ext uri="{FF2B5EF4-FFF2-40B4-BE49-F238E27FC236}">
                <a16:creationId xmlns:a16="http://schemas.microsoft.com/office/drawing/2014/main" id="{54BA29DA-A3ED-42DC-943C-EA4F6DBB6AE1}"/>
              </a:ext>
            </a:extLst>
          </p:cNvPr>
          <p:cNvSpPr/>
          <p:nvPr/>
        </p:nvSpPr>
        <p:spPr>
          <a:xfrm>
            <a:off x="6546562" y="5242160"/>
            <a:ext cx="1860597" cy="727402"/>
          </a:xfrm>
          <a:prstGeom prst="roundRect">
            <a:avLst>
              <a:gd name="adj" fmla="val 8337"/>
            </a:avLst>
          </a:prstGeom>
          <a:solidFill>
            <a:srgbClr val="00B0F0"/>
          </a:solidFill>
          <a:ln w="12700" cap="flat" cmpd="sng" algn="ctr">
            <a:noFill/>
            <a:prstDash val="sysDot"/>
            <a:miter lim="800000"/>
          </a:ln>
          <a:effectLst/>
        </p:spPr>
        <p:txBody>
          <a:bodyPr lIns="68580" tIns="34291" rIns="68580" bIns="34291" rtlCol="0" anchor="b" anchorCtr="0"/>
          <a:lstStyle/>
          <a:p>
            <a:pPr algn="ctr" defTabSz="685766"/>
            <a:endParaRPr lang="en-US" sz="1000" kern="0">
              <a:solidFill>
                <a:prstClr val="black"/>
              </a:solidFill>
              <a:latin typeface="Arial" charset="0"/>
              <a:cs typeface="Arial" charset="0"/>
            </a:endParaRPr>
          </a:p>
        </p:txBody>
      </p:sp>
      <p:sp>
        <p:nvSpPr>
          <p:cNvPr id="176" name="TextBox 152">
            <a:extLst>
              <a:ext uri="{FF2B5EF4-FFF2-40B4-BE49-F238E27FC236}">
                <a16:creationId xmlns:a16="http://schemas.microsoft.com/office/drawing/2014/main" id="{460A8A81-8632-42AA-8E0D-8C7AA5EEC322}"/>
              </a:ext>
            </a:extLst>
          </p:cNvPr>
          <p:cNvSpPr txBox="1"/>
          <p:nvPr/>
        </p:nvSpPr>
        <p:spPr>
          <a:xfrm>
            <a:off x="6617626" y="5471063"/>
            <a:ext cx="1735371" cy="307777"/>
          </a:xfrm>
          <a:prstGeom prst="rect">
            <a:avLst/>
          </a:prstGeom>
          <a:noFill/>
        </p:spPr>
        <p:txBody>
          <a:bodyPr wrap="square" rtlCol="0">
            <a:spAutoFit/>
          </a:bodyPr>
          <a:lstStyle/>
          <a:p>
            <a:pPr algn="ctr"/>
            <a:r>
              <a:rPr lang="zh-TW" altLang="en-US" sz="1400" b="1">
                <a:solidFill>
                  <a:schemeClr val="bg1"/>
                </a:solidFill>
                <a:latin typeface="Calibri"/>
                <a:ea typeface="Arial" charset="0"/>
                <a:cs typeface="Arial" charset="0"/>
              </a:rPr>
              <a:t>其他數據源</a:t>
            </a:r>
            <a:endParaRPr lang="en-US" sz="1400" b="1">
              <a:solidFill>
                <a:schemeClr val="bg1"/>
              </a:solidFill>
              <a:latin typeface="Calibri"/>
              <a:ea typeface="Arial" charset="0"/>
              <a:cs typeface="Arial" charset="0"/>
            </a:endParaRPr>
          </a:p>
        </p:txBody>
      </p:sp>
      <p:sp>
        <p:nvSpPr>
          <p:cNvPr id="177" name="Rounded Rectangle 151">
            <a:extLst>
              <a:ext uri="{FF2B5EF4-FFF2-40B4-BE49-F238E27FC236}">
                <a16:creationId xmlns:a16="http://schemas.microsoft.com/office/drawing/2014/main" id="{4868C9E3-A25C-43D1-90D5-5485BFC9199B}"/>
              </a:ext>
            </a:extLst>
          </p:cNvPr>
          <p:cNvSpPr/>
          <p:nvPr/>
        </p:nvSpPr>
        <p:spPr>
          <a:xfrm>
            <a:off x="6267118" y="2135881"/>
            <a:ext cx="1420281" cy="598663"/>
          </a:xfrm>
          <a:prstGeom prst="roundRect">
            <a:avLst>
              <a:gd name="adj" fmla="val 8337"/>
            </a:avLst>
          </a:prstGeom>
          <a:solidFill>
            <a:srgbClr val="053375">
              <a:alpha val="52941"/>
            </a:srgbClr>
          </a:solidFill>
          <a:ln w="6350" cap="flat" cmpd="sng" algn="ctr">
            <a:solidFill>
              <a:schemeClr val="tx2"/>
            </a:solidFill>
            <a:prstDash val="solid"/>
            <a:miter lim="800000"/>
          </a:ln>
          <a:effectLst/>
        </p:spPr>
        <p:txBody>
          <a:bodyPr lIns="68580" tIns="34291" rIns="68580" bIns="34291" rtlCol="0" anchor="ctr" anchorCtr="0"/>
          <a:lstStyle/>
          <a:p>
            <a:pPr algn="ctr" defTabSz="685766"/>
            <a:r>
              <a:rPr lang="zh-TW" altLang="en-US" sz="1651" b="1" kern="0">
                <a:solidFill>
                  <a:schemeClr val="bg1"/>
                </a:solidFill>
                <a:latin typeface="Arial" charset="0"/>
                <a:cs typeface="Arial" charset="0"/>
              </a:rPr>
              <a:t>數據湖泊</a:t>
            </a:r>
            <a:endParaRPr lang="en-US" sz="1651" b="1" kern="0">
              <a:solidFill>
                <a:schemeClr val="bg1"/>
              </a:solidFill>
              <a:latin typeface="Arial" charset="0"/>
              <a:cs typeface="Arial" charset="0"/>
            </a:endParaRPr>
          </a:p>
        </p:txBody>
      </p:sp>
      <p:sp>
        <p:nvSpPr>
          <p:cNvPr id="178" name="Rounded Rectangle 151">
            <a:extLst>
              <a:ext uri="{FF2B5EF4-FFF2-40B4-BE49-F238E27FC236}">
                <a16:creationId xmlns:a16="http://schemas.microsoft.com/office/drawing/2014/main" id="{4F276B7C-2CF4-4464-99B0-F442F381B88A}"/>
              </a:ext>
            </a:extLst>
          </p:cNvPr>
          <p:cNvSpPr/>
          <p:nvPr/>
        </p:nvSpPr>
        <p:spPr>
          <a:xfrm>
            <a:off x="6269438" y="2904034"/>
            <a:ext cx="1420281" cy="598663"/>
          </a:xfrm>
          <a:prstGeom prst="roundRect">
            <a:avLst>
              <a:gd name="adj" fmla="val 8337"/>
            </a:avLst>
          </a:prstGeom>
          <a:solidFill>
            <a:srgbClr val="053375">
              <a:alpha val="52941"/>
            </a:srgbClr>
          </a:solidFill>
          <a:ln w="6350" cap="flat" cmpd="sng" algn="ctr">
            <a:solidFill>
              <a:schemeClr val="tx2"/>
            </a:solidFill>
            <a:prstDash val="solid"/>
            <a:miter lim="800000"/>
          </a:ln>
          <a:effectLst/>
        </p:spPr>
        <p:txBody>
          <a:bodyPr lIns="68580" tIns="34291" rIns="68580" bIns="34291" rtlCol="0" anchor="ctr" anchorCtr="0"/>
          <a:lstStyle/>
          <a:p>
            <a:pPr algn="ctr" defTabSz="685766"/>
            <a:r>
              <a:rPr lang="zh-TW" altLang="en-US" sz="1651" b="1" kern="0">
                <a:solidFill>
                  <a:schemeClr val="bg1"/>
                </a:solidFill>
                <a:latin typeface="Arial" charset="0"/>
                <a:cs typeface="Arial" charset="0"/>
              </a:rPr>
              <a:t>數據治理</a:t>
            </a:r>
            <a:endParaRPr lang="en-US" sz="1651" b="1" kern="0">
              <a:solidFill>
                <a:schemeClr val="bg1"/>
              </a:solidFill>
              <a:latin typeface="Arial" charset="0"/>
              <a:cs typeface="Arial" charset="0"/>
            </a:endParaRPr>
          </a:p>
        </p:txBody>
      </p:sp>
      <p:sp>
        <p:nvSpPr>
          <p:cNvPr id="179" name="Rounded Rectangle 151">
            <a:extLst>
              <a:ext uri="{FF2B5EF4-FFF2-40B4-BE49-F238E27FC236}">
                <a16:creationId xmlns:a16="http://schemas.microsoft.com/office/drawing/2014/main" id="{17923115-E5B2-4D4F-BA59-C106F34D5F56}"/>
              </a:ext>
            </a:extLst>
          </p:cNvPr>
          <p:cNvSpPr/>
          <p:nvPr/>
        </p:nvSpPr>
        <p:spPr>
          <a:xfrm>
            <a:off x="6282142" y="3670011"/>
            <a:ext cx="1420281" cy="598663"/>
          </a:xfrm>
          <a:prstGeom prst="roundRect">
            <a:avLst>
              <a:gd name="adj" fmla="val 8337"/>
            </a:avLst>
          </a:prstGeom>
          <a:solidFill>
            <a:srgbClr val="053375">
              <a:alpha val="52941"/>
            </a:srgbClr>
          </a:solidFill>
          <a:ln w="6350" cap="flat" cmpd="sng" algn="ctr">
            <a:solidFill>
              <a:schemeClr val="tx2"/>
            </a:solidFill>
            <a:prstDash val="solid"/>
            <a:miter lim="800000"/>
          </a:ln>
          <a:effectLst/>
        </p:spPr>
        <p:txBody>
          <a:bodyPr lIns="68580" tIns="34291" rIns="68580" bIns="34291" rtlCol="0" anchor="ctr" anchorCtr="0"/>
          <a:lstStyle/>
          <a:p>
            <a:pPr algn="ctr" defTabSz="685766"/>
            <a:r>
              <a:rPr lang="zh-TW" altLang="en-US" sz="1651" b="1" kern="0">
                <a:solidFill>
                  <a:schemeClr val="bg1"/>
                </a:solidFill>
                <a:latin typeface="Arial" charset="0"/>
                <a:cs typeface="Arial" charset="0"/>
              </a:rPr>
              <a:t>數據安全</a:t>
            </a:r>
            <a:endParaRPr lang="en-US" sz="1651" b="1" kern="0">
              <a:solidFill>
                <a:schemeClr val="bg1"/>
              </a:solidFill>
              <a:latin typeface="Arial" charset="0"/>
              <a:cs typeface="Arial" charset="0"/>
            </a:endParaRPr>
          </a:p>
        </p:txBody>
      </p:sp>
      <p:sp>
        <p:nvSpPr>
          <p:cNvPr id="180" name="Rounded Rectangle 151">
            <a:extLst>
              <a:ext uri="{FF2B5EF4-FFF2-40B4-BE49-F238E27FC236}">
                <a16:creationId xmlns:a16="http://schemas.microsoft.com/office/drawing/2014/main" id="{02E8D5EC-52A5-4064-A7F2-BB41AC295EA7}"/>
              </a:ext>
            </a:extLst>
          </p:cNvPr>
          <p:cNvSpPr/>
          <p:nvPr/>
        </p:nvSpPr>
        <p:spPr>
          <a:xfrm>
            <a:off x="6282142" y="4451334"/>
            <a:ext cx="1420281" cy="598663"/>
          </a:xfrm>
          <a:prstGeom prst="roundRect">
            <a:avLst>
              <a:gd name="adj" fmla="val 8337"/>
            </a:avLst>
          </a:prstGeom>
          <a:solidFill>
            <a:srgbClr val="053375">
              <a:alpha val="52941"/>
            </a:srgbClr>
          </a:solidFill>
          <a:ln w="6350" cap="flat" cmpd="sng" algn="ctr">
            <a:solidFill>
              <a:schemeClr val="tx2"/>
            </a:solidFill>
            <a:prstDash val="solid"/>
            <a:miter lim="800000"/>
          </a:ln>
          <a:effectLst/>
        </p:spPr>
        <p:txBody>
          <a:bodyPr lIns="68580" tIns="34291" rIns="68580" bIns="34291" rtlCol="0" anchor="ctr" anchorCtr="0"/>
          <a:lstStyle/>
          <a:p>
            <a:pPr algn="ctr" defTabSz="685766"/>
            <a:r>
              <a:rPr lang="zh-TW" altLang="en-US" sz="1651" b="1" kern="0">
                <a:solidFill>
                  <a:schemeClr val="bg1"/>
                </a:solidFill>
                <a:latin typeface="Arial" charset="0"/>
                <a:cs typeface="Arial" charset="0"/>
              </a:rPr>
              <a:t>數據接口</a:t>
            </a:r>
            <a:endParaRPr lang="en-US" sz="1651" b="1" kern="0">
              <a:solidFill>
                <a:schemeClr val="bg1"/>
              </a:solidFill>
              <a:latin typeface="Arial" charset="0"/>
              <a:cs typeface="Arial" charset="0"/>
            </a:endParaRPr>
          </a:p>
        </p:txBody>
      </p:sp>
      <p:pic>
        <p:nvPicPr>
          <p:cNvPr id="2" name="圖片 1">
            <a:extLst>
              <a:ext uri="{FF2B5EF4-FFF2-40B4-BE49-F238E27FC236}">
                <a16:creationId xmlns:a16="http://schemas.microsoft.com/office/drawing/2014/main" id="{475A78B4-84BA-449C-B5FE-1AAA2EC6911C}"/>
              </a:ext>
            </a:extLst>
          </p:cNvPr>
          <p:cNvPicPr>
            <a:picLocks noChangeAspect="1"/>
          </p:cNvPicPr>
          <p:nvPr/>
        </p:nvPicPr>
        <p:blipFill rotWithShape="1">
          <a:blip r:embed="rId8">
            <a:clrChange>
              <a:clrFrom>
                <a:srgbClr val="FFFFFF"/>
              </a:clrFrom>
              <a:clrTo>
                <a:srgbClr val="FFFFFF">
                  <a:alpha val="0"/>
                </a:srgbClr>
              </a:clrTo>
            </a:clrChange>
          </a:blip>
          <a:srcRect t="3729" r="13838"/>
          <a:stretch/>
        </p:blipFill>
        <p:spPr>
          <a:xfrm>
            <a:off x="5092704" y="5746549"/>
            <a:ext cx="617029" cy="640181"/>
          </a:xfrm>
          <a:prstGeom prst="rect">
            <a:avLst/>
          </a:prstGeom>
        </p:spPr>
      </p:pic>
      <p:pic>
        <p:nvPicPr>
          <p:cNvPr id="3" name="圖片 2">
            <a:extLst>
              <a:ext uri="{FF2B5EF4-FFF2-40B4-BE49-F238E27FC236}">
                <a16:creationId xmlns:a16="http://schemas.microsoft.com/office/drawing/2014/main" id="{8ADB5D30-74E9-486F-AF30-BED08C6397BE}"/>
              </a:ext>
            </a:extLst>
          </p:cNvPr>
          <p:cNvPicPr>
            <a:picLocks noChangeAspect="1"/>
          </p:cNvPicPr>
          <p:nvPr/>
        </p:nvPicPr>
        <p:blipFill rotWithShape="1">
          <a:blip r:embed="rId9">
            <a:clrChange>
              <a:clrFrom>
                <a:srgbClr val="FFFFFF"/>
              </a:clrFrom>
              <a:clrTo>
                <a:srgbClr val="FFFFFF">
                  <a:alpha val="0"/>
                </a:srgbClr>
              </a:clrTo>
            </a:clrChange>
          </a:blip>
          <a:srcRect b="29580"/>
          <a:stretch/>
        </p:blipFill>
        <p:spPr>
          <a:xfrm>
            <a:off x="3220352" y="5841524"/>
            <a:ext cx="650814" cy="392421"/>
          </a:xfrm>
          <a:prstGeom prst="rect">
            <a:avLst/>
          </a:prstGeom>
        </p:spPr>
      </p:pic>
      <p:pic>
        <p:nvPicPr>
          <p:cNvPr id="4" name="圖片 3">
            <a:extLst>
              <a:ext uri="{FF2B5EF4-FFF2-40B4-BE49-F238E27FC236}">
                <a16:creationId xmlns:a16="http://schemas.microsoft.com/office/drawing/2014/main" id="{BBF5E8EB-8086-4B0A-AFF3-9A055D49C125}"/>
              </a:ext>
            </a:extLst>
          </p:cNvPr>
          <p:cNvPicPr>
            <a:picLocks noChangeAspect="1"/>
          </p:cNvPicPr>
          <p:nvPr/>
        </p:nvPicPr>
        <p:blipFill rotWithShape="1">
          <a:blip r:embed="rId10">
            <a:clrChange>
              <a:clrFrom>
                <a:srgbClr val="FFFFFF"/>
              </a:clrFrom>
              <a:clrTo>
                <a:srgbClr val="FFFFFF">
                  <a:alpha val="0"/>
                </a:srgbClr>
              </a:clrTo>
            </a:clrChange>
          </a:blip>
          <a:srcRect l="16539" t="6725" r="22549" b="9937"/>
          <a:stretch/>
        </p:blipFill>
        <p:spPr>
          <a:xfrm>
            <a:off x="1240719" y="5809300"/>
            <a:ext cx="449580" cy="577430"/>
          </a:xfrm>
          <a:prstGeom prst="rect">
            <a:avLst/>
          </a:prstGeom>
        </p:spPr>
      </p:pic>
      <p:sp>
        <p:nvSpPr>
          <p:cNvPr id="7" name="矩形: 圓角 6">
            <a:extLst>
              <a:ext uri="{FF2B5EF4-FFF2-40B4-BE49-F238E27FC236}">
                <a16:creationId xmlns:a16="http://schemas.microsoft.com/office/drawing/2014/main" id="{5EDB34E0-BCCD-ECEE-658E-EB5D9C8F5918}"/>
              </a:ext>
            </a:extLst>
          </p:cNvPr>
          <p:cNvSpPr/>
          <p:nvPr/>
        </p:nvSpPr>
        <p:spPr>
          <a:xfrm>
            <a:off x="7452700" y="5975125"/>
            <a:ext cx="1016761" cy="376067"/>
          </a:xfrm>
          <a:prstGeom prst="roundRect">
            <a:avLst/>
          </a:prstGeom>
          <a:solidFill>
            <a:srgbClr val="00B0F0"/>
          </a:solidFill>
          <a:ln w="12700" cap="flat" cmpd="sng" algn="ctr">
            <a:solidFill>
              <a:schemeClr val="tx2">
                <a:lumMod val="60000"/>
                <a:lumOff val="40000"/>
              </a:schemeClr>
            </a:solidFill>
            <a:prstDash val="solid"/>
            <a:miter lim="800000"/>
          </a:ln>
          <a:effectLst/>
        </p:spPr>
        <p:txBody>
          <a:bodyPr lIns="68580" tIns="34291" rIns="68580" bIns="34291" rtlCol="0" anchor="b" anchorCtr="0"/>
          <a:lstStyle/>
          <a:p>
            <a:pPr algn="r" defTabSz="685766"/>
            <a:r>
              <a:rPr lang="en-US" altLang="zh-TW" sz="1600" kern="0">
                <a:solidFill>
                  <a:schemeClr val="bg1"/>
                </a:solidFill>
                <a:latin typeface="Arial" charset="0"/>
                <a:cs typeface="Arial" charset="0"/>
              </a:rPr>
              <a:t>…</a:t>
            </a:r>
            <a:endParaRPr lang="zh-TW" altLang="en-US" sz="1600" kern="0">
              <a:solidFill>
                <a:schemeClr val="bg1"/>
              </a:solidFill>
              <a:latin typeface="Arial" charset="0"/>
              <a:cs typeface="Arial" charset="0"/>
            </a:endParaRPr>
          </a:p>
        </p:txBody>
      </p:sp>
      <p:sp>
        <p:nvSpPr>
          <p:cNvPr id="6" name="矩形: 圓角 5">
            <a:extLst>
              <a:ext uri="{FF2B5EF4-FFF2-40B4-BE49-F238E27FC236}">
                <a16:creationId xmlns:a16="http://schemas.microsoft.com/office/drawing/2014/main" id="{F40EF5D0-4BB5-6E1A-CA2C-5190424D32CD}"/>
              </a:ext>
            </a:extLst>
          </p:cNvPr>
          <p:cNvSpPr/>
          <p:nvPr/>
        </p:nvSpPr>
        <p:spPr>
          <a:xfrm>
            <a:off x="6986447" y="5912370"/>
            <a:ext cx="1016761" cy="376067"/>
          </a:xfrm>
          <a:prstGeom prst="roundRect">
            <a:avLst/>
          </a:prstGeom>
          <a:solidFill>
            <a:srgbClr val="00B0F0"/>
          </a:solidFill>
          <a:ln w="12700" cap="flat" cmpd="sng" algn="ctr">
            <a:solidFill>
              <a:schemeClr val="tx2">
                <a:lumMod val="60000"/>
                <a:lumOff val="40000"/>
              </a:schemeClr>
            </a:solidFill>
            <a:prstDash val="solid"/>
            <a:miter lim="800000"/>
          </a:ln>
          <a:effectLst/>
        </p:spPr>
        <p:txBody>
          <a:bodyPr lIns="68580" tIns="34291" rIns="68580" bIns="34291" rtlCol="0" anchor="b" anchorCtr="0"/>
          <a:lstStyle/>
          <a:p>
            <a:pPr algn="r" defTabSz="685766"/>
            <a:r>
              <a:rPr lang="en-US" altLang="zh-TW" sz="1600" kern="0">
                <a:solidFill>
                  <a:schemeClr val="bg1"/>
                </a:solidFill>
                <a:latin typeface="Arial" charset="0"/>
                <a:cs typeface="Arial" charset="0"/>
              </a:rPr>
              <a:t>…</a:t>
            </a:r>
            <a:endParaRPr lang="zh-TW" altLang="en-US" sz="1600" kern="0">
              <a:solidFill>
                <a:schemeClr val="bg1"/>
              </a:solidFill>
              <a:latin typeface="Arial" charset="0"/>
              <a:cs typeface="Arial" charset="0"/>
            </a:endParaRPr>
          </a:p>
        </p:txBody>
      </p:sp>
      <p:sp>
        <p:nvSpPr>
          <p:cNvPr id="5" name="矩形: 圓角 4">
            <a:extLst>
              <a:ext uri="{FF2B5EF4-FFF2-40B4-BE49-F238E27FC236}">
                <a16:creationId xmlns:a16="http://schemas.microsoft.com/office/drawing/2014/main" id="{81DFAB9A-9F3A-66D4-3484-F44365E17717}"/>
              </a:ext>
            </a:extLst>
          </p:cNvPr>
          <p:cNvSpPr/>
          <p:nvPr/>
        </p:nvSpPr>
        <p:spPr>
          <a:xfrm>
            <a:off x="6512917" y="5850850"/>
            <a:ext cx="1016761" cy="376067"/>
          </a:xfrm>
          <a:prstGeom prst="roundRect">
            <a:avLst/>
          </a:prstGeom>
          <a:solidFill>
            <a:srgbClr val="00B0F0"/>
          </a:solidFill>
          <a:ln w="12700" cap="flat" cmpd="sng" algn="ctr">
            <a:solidFill>
              <a:schemeClr val="tx2">
                <a:lumMod val="60000"/>
                <a:lumOff val="40000"/>
              </a:schemeClr>
            </a:solidFill>
            <a:prstDash val="solid"/>
            <a:miter lim="800000"/>
          </a:ln>
          <a:effectLst/>
        </p:spPr>
        <p:txBody>
          <a:bodyPr lIns="68580" tIns="34291" rIns="68580" bIns="34291" rtlCol="0" anchor="b" anchorCtr="0"/>
          <a:lstStyle/>
          <a:p>
            <a:pPr algn="ctr" defTabSz="685766"/>
            <a:r>
              <a:rPr lang="en-US" altLang="zh-TW" sz="1600" kern="0">
                <a:solidFill>
                  <a:schemeClr val="bg1"/>
                </a:solidFill>
                <a:latin typeface="Arial" charset="0"/>
                <a:cs typeface="Arial" charset="0"/>
              </a:rPr>
              <a:t>MES</a:t>
            </a:r>
            <a:endParaRPr lang="zh-TW" altLang="en-US" sz="1600" kern="0">
              <a:solidFill>
                <a:schemeClr val="bg1"/>
              </a:solidFill>
              <a:latin typeface="Arial" charset="0"/>
              <a:cs typeface="Arial" charset="0"/>
            </a:endParaRPr>
          </a:p>
        </p:txBody>
      </p:sp>
      <p:sp>
        <p:nvSpPr>
          <p:cNvPr id="9" name="文字方塊 8">
            <a:extLst>
              <a:ext uri="{FF2B5EF4-FFF2-40B4-BE49-F238E27FC236}">
                <a16:creationId xmlns:a16="http://schemas.microsoft.com/office/drawing/2014/main" id="{B15A5970-5D92-EFBD-083B-B471794D410B}"/>
              </a:ext>
            </a:extLst>
          </p:cNvPr>
          <p:cNvSpPr txBox="1"/>
          <p:nvPr/>
        </p:nvSpPr>
        <p:spPr>
          <a:xfrm>
            <a:off x="351277" y="2557438"/>
            <a:ext cx="738664" cy="1938992"/>
          </a:xfrm>
          <a:prstGeom prst="rect">
            <a:avLst/>
          </a:prstGeom>
          <a:noFill/>
        </p:spPr>
        <p:txBody>
          <a:bodyPr vert="eaVert" wrap="none" rtlCol="0">
            <a:spAutoFit/>
          </a:bodyPr>
          <a:lstStyle/>
          <a:p>
            <a:r>
              <a:rPr lang="zh-TW" altLang="en-US" sz="3600"/>
              <a:t>數據中台</a:t>
            </a:r>
          </a:p>
        </p:txBody>
      </p:sp>
    </p:spTree>
    <p:extLst>
      <p:ext uri="{BB962C8B-B14F-4D97-AF65-F5344CB8AC3E}">
        <p14:creationId xmlns:p14="http://schemas.microsoft.com/office/powerpoint/2010/main" val="2983899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E76097-2F7D-237C-C91A-6813CDEDFB69}"/>
              </a:ext>
            </a:extLst>
          </p:cNvPr>
          <p:cNvSpPr>
            <a:spLocks noGrp="1"/>
          </p:cNvSpPr>
          <p:nvPr>
            <p:ph type="title"/>
          </p:nvPr>
        </p:nvSpPr>
        <p:spPr/>
        <p:txBody>
          <a:bodyPr/>
          <a:lstStyle/>
          <a:p>
            <a:r>
              <a:rPr lang="en-US" altLang="zh-TW"/>
              <a:t>MFG</a:t>
            </a:r>
            <a:r>
              <a:rPr lang="zh-TW" altLang="en-US"/>
              <a:t>數據中台與數據治理全景圖</a:t>
            </a:r>
          </a:p>
        </p:txBody>
      </p:sp>
      <p:sp>
        <p:nvSpPr>
          <p:cNvPr id="3" name="Rectangle 279">
            <a:extLst>
              <a:ext uri="{FF2B5EF4-FFF2-40B4-BE49-F238E27FC236}">
                <a16:creationId xmlns:a16="http://schemas.microsoft.com/office/drawing/2014/main" id="{E7D89799-2239-727B-625C-D7DBEB13CDDC}"/>
              </a:ext>
            </a:extLst>
          </p:cNvPr>
          <p:cNvSpPr>
            <a:spLocks noChangeArrowheads="1"/>
          </p:cNvSpPr>
          <p:nvPr/>
        </p:nvSpPr>
        <p:spPr bwMode="auto">
          <a:xfrm>
            <a:off x="3876587" y="1185338"/>
            <a:ext cx="5802452" cy="4181160"/>
          </a:xfrm>
          <a:prstGeom prst="rect">
            <a:avLst/>
          </a:prstGeom>
          <a:solidFill>
            <a:schemeClr val="accent4">
              <a:lumMod val="60000"/>
              <a:lumOff val="40000"/>
            </a:schemeClr>
          </a:solidFill>
          <a:ln w="9525">
            <a:solidFill>
              <a:schemeClr val="tx1"/>
            </a:solidFill>
            <a:miter lim="800000"/>
            <a:headEnd/>
            <a:tailEnd/>
          </a:ln>
        </p:spPr>
        <p:txBody>
          <a:bodyPr wrap="none" anchor="ct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600">
              <a:solidFill>
                <a:schemeClr val="tx1"/>
              </a:solidFill>
              <a:latin typeface="+mj-ea"/>
              <a:ea typeface="+mj-ea"/>
            </a:endParaRPr>
          </a:p>
        </p:txBody>
      </p:sp>
      <p:sp>
        <p:nvSpPr>
          <p:cNvPr id="4" name="TextBox 63">
            <a:extLst>
              <a:ext uri="{FF2B5EF4-FFF2-40B4-BE49-F238E27FC236}">
                <a16:creationId xmlns:a16="http://schemas.microsoft.com/office/drawing/2014/main" id="{8EE4EFF8-C1E2-5880-35AB-24293DBC0F0C}"/>
              </a:ext>
            </a:extLst>
          </p:cNvPr>
          <p:cNvSpPr txBox="1">
            <a:spLocks noChangeArrowheads="1"/>
          </p:cNvSpPr>
          <p:nvPr/>
        </p:nvSpPr>
        <p:spPr bwMode="auto">
          <a:xfrm>
            <a:off x="3876586" y="742371"/>
            <a:ext cx="5802452" cy="443707"/>
          </a:xfrm>
          <a:prstGeom prst="rect">
            <a:avLst/>
          </a:prstGeom>
          <a:solidFill>
            <a:srgbClr val="D3F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6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TW" altLang="en-US" sz="2400">
                <a:solidFill>
                  <a:schemeClr val="accent1">
                    <a:lumMod val="75000"/>
                  </a:schemeClr>
                </a:solidFill>
                <a:latin typeface="+mj-ea"/>
                <a:ea typeface="+mj-ea"/>
              </a:rPr>
              <a:t>數據中台</a:t>
            </a:r>
            <a:endParaRPr lang="en-US" altLang="en-US" sz="2400">
              <a:solidFill>
                <a:schemeClr val="accent1">
                  <a:lumMod val="75000"/>
                </a:schemeClr>
              </a:solidFill>
              <a:latin typeface="+mj-ea"/>
              <a:ea typeface="+mj-ea"/>
            </a:endParaRPr>
          </a:p>
        </p:txBody>
      </p:sp>
      <p:sp>
        <p:nvSpPr>
          <p:cNvPr id="5" name="Rounded Rectangle 115">
            <a:extLst>
              <a:ext uri="{FF2B5EF4-FFF2-40B4-BE49-F238E27FC236}">
                <a16:creationId xmlns:a16="http://schemas.microsoft.com/office/drawing/2014/main" id="{32A2CAF5-37C6-A3E7-BF5F-69BABC3FFF65}"/>
              </a:ext>
            </a:extLst>
          </p:cNvPr>
          <p:cNvSpPr>
            <a:spLocks noChangeArrowheads="1"/>
          </p:cNvSpPr>
          <p:nvPr/>
        </p:nvSpPr>
        <p:spPr bwMode="auto">
          <a:xfrm>
            <a:off x="6801475" y="3267101"/>
            <a:ext cx="1884066" cy="1630132"/>
          </a:xfrm>
          <a:prstGeom prst="roundRect">
            <a:avLst>
              <a:gd name="adj" fmla="val 4652"/>
            </a:avLst>
          </a:prstGeom>
          <a:solidFill>
            <a:schemeClr val="accent4">
              <a:lumMod val="20000"/>
              <a:lumOff val="80000"/>
            </a:schemeClr>
          </a:solidFill>
          <a:ln>
            <a:noFill/>
          </a:ln>
        </p:spPr>
        <p:txBody>
          <a:bodyPr lIns="0" tIns="36000" rIns="0" anchorCtr="1"/>
          <a:lstStyle/>
          <a:p>
            <a:pPr algn="ctr">
              <a:lnSpc>
                <a:spcPct val="85000"/>
              </a:lnSpc>
              <a:spcBef>
                <a:spcPct val="0"/>
              </a:spcBef>
            </a:pPr>
            <a:r>
              <a:rPr lang="zh-TW" altLang="en-US" sz="1600" b="1">
                <a:solidFill>
                  <a:schemeClr val="accent1">
                    <a:lumMod val="75000"/>
                  </a:schemeClr>
                </a:solidFill>
                <a:latin typeface="+mj-ea"/>
                <a:ea typeface="+mj-ea"/>
              </a:rPr>
              <a:t>數據處理</a:t>
            </a:r>
            <a:endParaRPr lang="en-US" altLang="en-US" sz="1600" b="1">
              <a:solidFill>
                <a:schemeClr val="accent1">
                  <a:lumMod val="75000"/>
                </a:schemeClr>
              </a:solidFill>
              <a:latin typeface="+mj-ea"/>
              <a:ea typeface="+mj-ea"/>
            </a:endParaRPr>
          </a:p>
        </p:txBody>
      </p:sp>
      <p:sp>
        <p:nvSpPr>
          <p:cNvPr id="6" name="Rounded Rectangle 115">
            <a:extLst>
              <a:ext uri="{FF2B5EF4-FFF2-40B4-BE49-F238E27FC236}">
                <a16:creationId xmlns:a16="http://schemas.microsoft.com/office/drawing/2014/main" id="{2C283E71-5B9C-13E7-091C-3153A187F434}"/>
              </a:ext>
            </a:extLst>
          </p:cNvPr>
          <p:cNvSpPr>
            <a:spLocks noChangeArrowheads="1"/>
          </p:cNvSpPr>
          <p:nvPr/>
        </p:nvSpPr>
        <p:spPr bwMode="auto">
          <a:xfrm>
            <a:off x="3946290" y="1257832"/>
            <a:ext cx="868363" cy="3639400"/>
          </a:xfrm>
          <a:prstGeom prst="roundRect">
            <a:avLst>
              <a:gd name="adj" fmla="val 8036"/>
            </a:avLst>
          </a:prstGeom>
          <a:solidFill>
            <a:schemeClr val="accent4">
              <a:lumMod val="20000"/>
              <a:lumOff val="80000"/>
            </a:schemeClr>
          </a:solidFill>
          <a:ln>
            <a:noFill/>
          </a:ln>
        </p:spPr>
        <p:txBody>
          <a:bodyPr lIns="0" tIns="36000" rIns="0" anchorCtr="1"/>
          <a:lstStyle/>
          <a:p>
            <a:pPr algn="ctr" eaLnBrk="0" hangingPunct="0">
              <a:lnSpc>
                <a:spcPct val="85000"/>
              </a:lnSpc>
              <a:spcBef>
                <a:spcPct val="0"/>
              </a:spcBef>
            </a:pPr>
            <a:r>
              <a:rPr lang="zh-TW" altLang="en-US" sz="1600" b="1">
                <a:solidFill>
                  <a:schemeClr val="accent1">
                    <a:lumMod val="75000"/>
                  </a:schemeClr>
                </a:solidFill>
                <a:latin typeface="+mj-ea"/>
                <a:ea typeface="+mj-ea"/>
              </a:rPr>
              <a:t>數據擷取</a:t>
            </a:r>
            <a:endParaRPr lang="en-US" altLang="en-US" sz="1600" b="1">
              <a:solidFill>
                <a:schemeClr val="accent1">
                  <a:lumMod val="75000"/>
                </a:schemeClr>
              </a:solidFill>
              <a:latin typeface="+mj-ea"/>
              <a:ea typeface="+mj-ea"/>
            </a:endParaRPr>
          </a:p>
        </p:txBody>
      </p:sp>
      <p:sp>
        <p:nvSpPr>
          <p:cNvPr id="7" name="Rounded Rectangle 63">
            <a:extLst>
              <a:ext uri="{FF2B5EF4-FFF2-40B4-BE49-F238E27FC236}">
                <a16:creationId xmlns:a16="http://schemas.microsoft.com/office/drawing/2014/main" id="{8D6C7E14-A437-AD96-65C6-A6CECF1D7109}"/>
              </a:ext>
            </a:extLst>
          </p:cNvPr>
          <p:cNvSpPr>
            <a:spLocks noChangeArrowheads="1"/>
          </p:cNvSpPr>
          <p:nvPr/>
        </p:nvSpPr>
        <p:spPr bwMode="auto">
          <a:xfrm>
            <a:off x="3960391" y="4944702"/>
            <a:ext cx="2786435" cy="378824"/>
          </a:xfrm>
          <a:prstGeom prst="roundRect">
            <a:avLst>
              <a:gd name="adj" fmla="val 17561"/>
            </a:avLst>
          </a:prstGeom>
          <a:solidFill>
            <a:srgbClr val="56B4F6"/>
          </a:soli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buNone/>
            </a:pPr>
            <a:endParaRPr lang="en-US" altLang="zh-TW" sz="1600">
              <a:solidFill>
                <a:schemeClr val="bg1"/>
              </a:solidFill>
              <a:latin typeface="+mj-ea"/>
              <a:ea typeface="+mj-ea"/>
            </a:endParaRPr>
          </a:p>
        </p:txBody>
      </p:sp>
      <p:sp>
        <p:nvSpPr>
          <p:cNvPr id="8" name="Rounded Rectangle 115">
            <a:extLst>
              <a:ext uri="{FF2B5EF4-FFF2-40B4-BE49-F238E27FC236}">
                <a16:creationId xmlns:a16="http://schemas.microsoft.com/office/drawing/2014/main" id="{9F1CAC2C-7ECF-8D61-E468-5FCA682B056D}"/>
              </a:ext>
            </a:extLst>
          </p:cNvPr>
          <p:cNvSpPr>
            <a:spLocks noChangeArrowheads="1"/>
          </p:cNvSpPr>
          <p:nvPr/>
        </p:nvSpPr>
        <p:spPr bwMode="auto">
          <a:xfrm>
            <a:off x="4868002" y="1265692"/>
            <a:ext cx="3821742" cy="1959415"/>
          </a:xfrm>
          <a:prstGeom prst="roundRect">
            <a:avLst>
              <a:gd name="adj" fmla="val 2851"/>
            </a:avLst>
          </a:prstGeom>
          <a:solidFill>
            <a:schemeClr val="accent4">
              <a:lumMod val="20000"/>
              <a:lumOff val="80000"/>
            </a:schemeClr>
          </a:solidFill>
          <a:ln>
            <a:noFill/>
          </a:ln>
        </p:spPr>
        <p:txBody>
          <a:bodyPr lIns="0" tIns="3600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1600">
                <a:solidFill>
                  <a:schemeClr val="accent1">
                    <a:lumMod val="75000"/>
                  </a:schemeClr>
                </a:solidFill>
                <a:latin typeface="+mj-ea"/>
                <a:ea typeface="+mj-ea"/>
              </a:rPr>
              <a:t>數據湖泊</a:t>
            </a:r>
            <a:endParaRPr lang="en-US" altLang="en-US" sz="1600">
              <a:solidFill>
                <a:schemeClr val="accent1">
                  <a:lumMod val="75000"/>
                </a:schemeClr>
              </a:solidFill>
              <a:latin typeface="+mj-ea"/>
              <a:ea typeface="+mj-ea"/>
            </a:endParaRPr>
          </a:p>
        </p:txBody>
      </p:sp>
      <p:sp>
        <p:nvSpPr>
          <p:cNvPr id="9" name="Rounded Rectangle 115">
            <a:extLst>
              <a:ext uri="{FF2B5EF4-FFF2-40B4-BE49-F238E27FC236}">
                <a16:creationId xmlns:a16="http://schemas.microsoft.com/office/drawing/2014/main" id="{01FC3D31-9CB3-8B87-FB73-6967FD73155B}"/>
              </a:ext>
            </a:extLst>
          </p:cNvPr>
          <p:cNvSpPr>
            <a:spLocks noChangeArrowheads="1"/>
          </p:cNvSpPr>
          <p:nvPr/>
        </p:nvSpPr>
        <p:spPr bwMode="auto">
          <a:xfrm>
            <a:off x="4868003" y="3271167"/>
            <a:ext cx="1872831" cy="1626066"/>
          </a:xfrm>
          <a:prstGeom prst="roundRect">
            <a:avLst>
              <a:gd name="adj" fmla="val 5177"/>
            </a:avLst>
          </a:prstGeom>
          <a:solidFill>
            <a:schemeClr val="accent4">
              <a:lumMod val="20000"/>
              <a:lumOff val="80000"/>
            </a:schemeClr>
          </a:solidFill>
          <a:ln>
            <a:noFill/>
          </a:ln>
        </p:spPr>
        <p:txBody>
          <a:bodyPr lIns="0" tIns="36000" rIns="0" anchorCtr="1"/>
          <a:lstStyle/>
          <a:p>
            <a:pPr algn="ctr">
              <a:lnSpc>
                <a:spcPct val="85000"/>
              </a:lnSpc>
              <a:spcBef>
                <a:spcPct val="0"/>
              </a:spcBef>
            </a:pPr>
            <a:r>
              <a:rPr lang="zh-TW" altLang="en-US" sz="1600" b="1">
                <a:solidFill>
                  <a:schemeClr val="accent1">
                    <a:lumMod val="75000"/>
                  </a:schemeClr>
                </a:solidFill>
                <a:latin typeface="+mj-ea"/>
                <a:ea typeface="+mj-ea"/>
              </a:rPr>
              <a:t>數據安全</a:t>
            </a:r>
            <a:endParaRPr lang="en-US" altLang="en-US" sz="1600" b="1">
              <a:solidFill>
                <a:schemeClr val="accent1">
                  <a:lumMod val="75000"/>
                </a:schemeClr>
              </a:solidFill>
              <a:latin typeface="+mj-ea"/>
              <a:ea typeface="+mj-ea"/>
            </a:endParaRPr>
          </a:p>
        </p:txBody>
      </p:sp>
      <p:sp>
        <p:nvSpPr>
          <p:cNvPr id="10" name="Rounded Rectangle 115">
            <a:extLst>
              <a:ext uri="{FF2B5EF4-FFF2-40B4-BE49-F238E27FC236}">
                <a16:creationId xmlns:a16="http://schemas.microsoft.com/office/drawing/2014/main" id="{42E58F04-5DD3-E429-0A68-EDE1355534A0}"/>
              </a:ext>
            </a:extLst>
          </p:cNvPr>
          <p:cNvSpPr>
            <a:spLocks noChangeArrowheads="1"/>
          </p:cNvSpPr>
          <p:nvPr/>
        </p:nvSpPr>
        <p:spPr bwMode="auto">
          <a:xfrm>
            <a:off x="8742690" y="1257833"/>
            <a:ext cx="868363" cy="3639400"/>
          </a:xfrm>
          <a:prstGeom prst="roundRect">
            <a:avLst>
              <a:gd name="adj" fmla="val 8036"/>
            </a:avLst>
          </a:prstGeom>
          <a:solidFill>
            <a:schemeClr val="accent4">
              <a:lumMod val="20000"/>
              <a:lumOff val="80000"/>
            </a:schemeClr>
          </a:solidFill>
          <a:ln>
            <a:noFill/>
          </a:ln>
        </p:spPr>
        <p:txBody>
          <a:bodyPr lIns="0" tIns="36000" rIns="0" anchorCtr="1"/>
          <a:lstStyle/>
          <a:p>
            <a:pPr algn="ctr" eaLnBrk="0" hangingPunct="0">
              <a:lnSpc>
                <a:spcPct val="85000"/>
              </a:lnSpc>
              <a:spcBef>
                <a:spcPct val="0"/>
              </a:spcBef>
            </a:pPr>
            <a:r>
              <a:rPr lang="zh-TW" altLang="en-US" sz="1600" b="1">
                <a:solidFill>
                  <a:schemeClr val="accent1">
                    <a:lumMod val="75000"/>
                  </a:schemeClr>
                </a:solidFill>
                <a:latin typeface="+mj-ea"/>
                <a:ea typeface="+mj-ea"/>
              </a:rPr>
              <a:t>數據提供</a:t>
            </a:r>
            <a:endParaRPr lang="en-US" altLang="en-US" sz="1600" b="1">
              <a:solidFill>
                <a:schemeClr val="accent1">
                  <a:lumMod val="75000"/>
                </a:schemeClr>
              </a:solidFill>
              <a:latin typeface="+mj-ea"/>
              <a:ea typeface="+mj-ea"/>
            </a:endParaRPr>
          </a:p>
        </p:txBody>
      </p:sp>
      <p:sp>
        <p:nvSpPr>
          <p:cNvPr id="11" name="AutoShape 7">
            <a:extLst>
              <a:ext uri="{FF2B5EF4-FFF2-40B4-BE49-F238E27FC236}">
                <a16:creationId xmlns:a16="http://schemas.microsoft.com/office/drawing/2014/main" id="{80A0E37E-977F-30E2-7E5C-DF45915E863C}"/>
              </a:ext>
            </a:extLst>
          </p:cNvPr>
          <p:cNvSpPr>
            <a:spLocks noChangeArrowheads="1"/>
          </p:cNvSpPr>
          <p:nvPr/>
        </p:nvSpPr>
        <p:spPr bwMode="auto">
          <a:xfrm>
            <a:off x="4943936" y="2315020"/>
            <a:ext cx="3671261" cy="855149"/>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數據上架</a:t>
            </a:r>
            <a:r>
              <a:rPr lang="en-US" altLang="zh-TW" sz="1600">
                <a:solidFill>
                  <a:schemeClr val="accent1">
                    <a:lumMod val="75000"/>
                  </a:schemeClr>
                </a:solidFill>
                <a:latin typeface="+mj-ea"/>
                <a:ea typeface="+mj-ea"/>
              </a:rPr>
              <a:t>/</a:t>
            </a:r>
            <a:r>
              <a:rPr lang="zh-TW" altLang="en-US" sz="1600">
                <a:solidFill>
                  <a:schemeClr val="accent1">
                    <a:lumMod val="75000"/>
                  </a:schemeClr>
                </a:solidFill>
                <a:latin typeface="+mj-ea"/>
                <a:ea typeface="+mj-ea"/>
              </a:rPr>
              <a:t>市集</a:t>
            </a:r>
            <a:endParaRPr lang="en-GB" altLang="en-US" sz="1600">
              <a:solidFill>
                <a:schemeClr val="accent1">
                  <a:lumMod val="75000"/>
                </a:schemeClr>
              </a:solidFill>
              <a:latin typeface="+mj-ea"/>
              <a:ea typeface="+mj-ea"/>
            </a:endParaRPr>
          </a:p>
        </p:txBody>
      </p:sp>
      <p:sp>
        <p:nvSpPr>
          <p:cNvPr id="12" name="AutoShape 7">
            <a:extLst>
              <a:ext uri="{FF2B5EF4-FFF2-40B4-BE49-F238E27FC236}">
                <a16:creationId xmlns:a16="http://schemas.microsoft.com/office/drawing/2014/main" id="{D27C22B1-D842-335C-D361-F726F947080F}"/>
              </a:ext>
            </a:extLst>
          </p:cNvPr>
          <p:cNvSpPr>
            <a:spLocks noChangeArrowheads="1"/>
          </p:cNvSpPr>
          <p:nvPr/>
        </p:nvSpPr>
        <p:spPr bwMode="auto">
          <a:xfrm>
            <a:off x="4918276" y="1546201"/>
            <a:ext cx="1180834" cy="736484"/>
          </a:xfrm>
          <a:prstGeom prst="roundRect">
            <a:avLst>
              <a:gd name="adj" fmla="val 69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結構化</a:t>
            </a:r>
            <a:endParaRPr lang="en-GB" altLang="en-US" sz="1600">
              <a:solidFill>
                <a:schemeClr val="accent1">
                  <a:lumMod val="75000"/>
                </a:schemeClr>
              </a:solidFill>
              <a:latin typeface="+mj-ea"/>
              <a:ea typeface="+mj-ea"/>
            </a:endParaRPr>
          </a:p>
        </p:txBody>
      </p:sp>
      <p:sp>
        <p:nvSpPr>
          <p:cNvPr id="13" name="AutoShape 7">
            <a:extLst>
              <a:ext uri="{FF2B5EF4-FFF2-40B4-BE49-F238E27FC236}">
                <a16:creationId xmlns:a16="http://schemas.microsoft.com/office/drawing/2014/main" id="{1D9E1DF5-3605-BFE2-3933-766E29FB7951}"/>
              </a:ext>
            </a:extLst>
          </p:cNvPr>
          <p:cNvSpPr>
            <a:spLocks noChangeArrowheads="1"/>
          </p:cNvSpPr>
          <p:nvPr/>
        </p:nvSpPr>
        <p:spPr bwMode="auto">
          <a:xfrm>
            <a:off x="6179366" y="1546202"/>
            <a:ext cx="1180834" cy="736484"/>
          </a:xfrm>
          <a:prstGeom prst="roundRect">
            <a:avLst>
              <a:gd name="adj" fmla="val 4745"/>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半結構化</a:t>
            </a:r>
            <a:endParaRPr lang="en-GB" altLang="en-US" sz="1600">
              <a:solidFill>
                <a:schemeClr val="accent1">
                  <a:lumMod val="75000"/>
                </a:schemeClr>
              </a:solidFill>
              <a:latin typeface="+mj-ea"/>
              <a:ea typeface="+mj-ea"/>
            </a:endParaRPr>
          </a:p>
        </p:txBody>
      </p:sp>
      <p:sp>
        <p:nvSpPr>
          <p:cNvPr id="14" name="AutoShape 7">
            <a:extLst>
              <a:ext uri="{FF2B5EF4-FFF2-40B4-BE49-F238E27FC236}">
                <a16:creationId xmlns:a16="http://schemas.microsoft.com/office/drawing/2014/main" id="{D2F93467-A327-269F-83C1-08CDABB2C061}"/>
              </a:ext>
            </a:extLst>
          </p:cNvPr>
          <p:cNvSpPr>
            <a:spLocks noChangeArrowheads="1"/>
          </p:cNvSpPr>
          <p:nvPr/>
        </p:nvSpPr>
        <p:spPr bwMode="auto">
          <a:xfrm>
            <a:off x="7420092" y="1539498"/>
            <a:ext cx="1195105" cy="743187"/>
          </a:xfrm>
          <a:prstGeom prst="roundRect">
            <a:avLst>
              <a:gd name="adj" fmla="val 375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檔案</a:t>
            </a:r>
            <a:endParaRPr lang="en-GB" altLang="en-US" sz="1600">
              <a:solidFill>
                <a:schemeClr val="accent1">
                  <a:lumMod val="75000"/>
                </a:schemeClr>
              </a:solidFill>
              <a:latin typeface="+mj-ea"/>
              <a:ea typeface="+mj-ea"/>
            </a:endParaRPr>
          </a:p>
        </p:txBody>
      </p:sp>
      <p:sp>
        <p:nvSpPr>
          <p:cNvPr id="15" name="AutoShape 7">
            <a:extLst>
              <a:ext uri="{FF2B5EF4-FFF2-40B4-BE49-F238E27FC236}">
                <a16:creationId xmlns:a16="http://schemas.microsoft.com/office/drawing/2014/main" id="{4394B5F3-BBFE-6BD5-28B7-C86A3759783E}"/>
              </a:ext>
            </a:extLst>
          </p:cNvPr>
          <p:cNvSpPr>
            <a:spLocks noChangeArrowheads="1"/>
          </p:cNvSpPr>
          <p:nvPr/>
        </p:nvSpPr>
        <p:spPr bwMode="auto">
          <a:xfrm>
            <a:off x="5027889" y="3555867"/>
            <a:ext cx="1545316" cy="281256"/>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        身分驗證</a:t>
            </a:r>
            <a:endParaRPr lang="en-GB" altLang="en-US" sz="1600">
              <a:solidFill>
                <a:schemeClr val="accent1">
                  <a:lumMod val="75000"/>
                </a:schemeClr>
              </a:solidFill>
              <a:latin typeface="+mj-ea"/>
              <a:ea typeface="+mj-ea"/>
            </a:endParaRPr>
          </a:p>
        </p:txBody>
      </p:sp>
      <p:pic>
        <p:nvPicPr>
          <p:cNvPr id="17" name="圖片 16">
            <a:extLst>
              <a:ext uri="{FF2B5EF4-FFF2-40B4-BE49-F238E27FC236}">
                <a16:creationId xmlns:a16="http://schemas.microsoft.com/office/drawing/2014/main" id="{83E007CE-8ADF-C193-FF0D-3264E4544EDE}"/>
              </a:ext>
            </a:extLst>
          </p:cNvPr>
          <p:cNvPicPr>
            <a:picLocks noChangeAspect="1"/>
          </p:cNvPicPr>
          <p:nvPr/>
        </p:nvPicPr>
        <p:blipFill>
          <a:blip r:embed="rId2">
            <a:clrChange>
              <a:clrFrom>
                <a:srgbClr val="F4F4F6"/>
              </a:clrFrom>
              <a:clrTo>
                <a:srgbClr val="F4F4F6">
                  <a:alpha val="0"/>
                </a:srgbClr>
              </a:clrTo>
            </a:clrChange>
          </a:blip>
          <a:stretch>
            <a:fillRect/>
          </a:stretch>
        </p:blipFill>
        <p:spPr>
          <a:xfrm>
            <a:off x="5333576" y="1868759"/>
            <a:ext cx="382114" cy="382114"/>
          </a:xfrm>
          <a:prstGeom prst="rect">
            <a:avLst/>
          </a:prstGeom>
        </p:spPr>
      </p:pic>
      <p:sp>
        <p:nvSpPr>
          <p:cNvPr id="18" name="AutoShape 7">
            <a:extLst>
              <a:ext uri="{FF2B5EF4-FFF2-40B4-BE49-F238E27FC236}">
                <a16:creationId xmlns:a16="http://schemas.microsoft.com/office/drawing/2014/main" id="{62EBFE82-E0B1-A332-16FE-C9646F038D42}"/>
              </a:ext>
            </a:extLst>
          </p:cNvPr>
          <p:cNvSpPr>
            <a:spLocks noChangeArrowheads="1"/>
          </p:cNvSpPr>
          <p:nvPr/>
        </p:nvSpPr>
        <p:spPr bwMode="auto">
          <a:xfrm>
            <a:off x="5027889" y="3896586"/>
            <a:ext cx="1545316" cy="281256"/>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        數據權限</a:t>
            </a:r>
            <a:endParaRPr lang="en-GB" altLang="en-US" sz="1600">
              <a:solidFill>
                <a:schemeClr val="accent1">
                  <a:lumMod val="75000"/>
                </a:schemeClr>
              </a:solidFill>
              <a:latin typeface="+mj-ea"/>
              <a:ea typeface="+mj-ea"/>
            </a:endParaRPr>
          </a:p>
        </p:txBody>
      </p:sp>
      <p:sp>
        <p:nvSpPr>
          <p:cNvPr id="19" name="AutoShape 7">
            <a:extLst>
              <a:ext uri="{FF2B5EF4-FFF2-40B4-BE49-F238E27FC236}">
                <a16:creationId xmlns:a16="http://schemas.microsoft.com/office/drawing/2014/main" id="{AA72B4C6-E4C1-2CF8-C6BB-8E8C87A6B491}"/>
              </a:ext>
            </a:extLst>
          </p:cNvPr>
          <p:cNvSpPr>
            <a:spLocks noChangeArrowheads="1"/>
          </p:cNvSpPr>
          <p:nvPr/>
        </p:nvSpPr>
        <p:spPr bwMode="auto">
          <a:xfrm>
            <a:off x="5027889" y="4231135"/>
            <a:ext cx="1545316" cy="281256"/>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        機密遮罩</a:t>
            </a:r>
            <a:endParaRPr lang="en-GB" altLang="en-US" sz="1600">
              <a:solidFill>
                <a:schemeClr val="accent1">
                  <a:lumMod val="75000"/>
                </a:schemeClr>
              </a:solidFill>
              <a:latin typeface="+mj-ea"/>
              <a:ea typeface="+mj-ea"/>
            </a:endParaRPr>
          </a:p>
        </p:txBody>
      </p:sp>
      <p:grpSp>
        <p:nvGrpSpPr>
          <p:cNvPr id="20" name="群組 19">
            <a:extLst>
              <a:ext uri="{FF2B5EF4-FFF2-40B4-BE49-F238E27FC236}">
                <a16:creationId xmlns:a16="http://schemas.microsoft.com/office/drawing/2014/main" id="{038B5CB3-EE8E-82C8-83C3-994F7836D3C4}"/>
              </a:ext>
            </a:extLst>
          </p:cNvPr>
          <p:cNvGrpSpPr/>
          <p:nvPr/>
        </p:nvGrpSpPr>
        <p:grpSpPr>
          <a:xfrm>
            <a:off x="6959592" y="3555867"/>
            <a:ext cx="1545316" cy="281256"/>
            <a:chOff x="6223696" y="3659899"/>
            <a:chExt cx="1545316" cy="281256"/>
          </a:xfrm>
        </p:grpSpPr>
        <p:sp>
          <p:nvSpPr>
            <p:cNvPr id="21" name="AutoShape 7">
              <a:extLst>
                <a:ext uri="{FF2B5EF4-FFF2-40B4-BE49-F238E27FC236}">
                  <a16:creationId xmlns:a16="http://schemas.microsoft.com/office/drawing/2014/main" id="{F0FB88E2-DAA4-4233-3178-D31C01E60968}"/>
                </a:ext>
              </a:extLst>
            </p:cNvPr>
            <p:cNvSpPr>
              <a:spLocks noChangeArrowheads="1"/>
            </p:cNvSpPr>
            <p:nvPr/>
          </p:nvSpPr>
          <p:spPr bwMode="auto">
            <a:xfrm>
              <a:off x="6223696" y="3659899"/>
              <a:ext cx="1545316" cy="281256"/>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        數據清洗</a:t>
              </a:r>
              <a:endParaRPr lang="en-GB" altLang="en-US" sz="1600">
                <a:solidFill>
                  <a:schemeClr val="accent1">
                    <a:lumMod val="75000"/>
                  </a:schemeClr>
                </a:solidFill>
                <a:latin typeface="+mj-ea"/>
                <a:ea typeface="+mj-ea"/>
              </a:endParaRPr>
            </a:p>
          </p:txBody>
        </p:sp>
        <p:pic>
          <p:nvPicPr>
            <p:cNvPr id="22" name="圖片 21">
              <a:extLst>
                <a:ext uri="{FF2B5EF4-FFF2-40B4-BE49-F238E27FC236}">
                  <a16:creationId xmlns:a16="http://schemas.microsoft.com/office/drawing/2014/main" id="{0E876B61-4D4F-2F18-BAB6-CC9244F8210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433888" y="3679588"/>
              <a:ext cx="229418" cy="234320"/>
            </a:xfrm>
            <a:prstGeom prst="rect">
              <a:avLst/>
            </a:prstGeom>
          </p:spPr>
        </p:pic>
      </p:grpSp>
      <p:grpSp>
        <p:nvGrpSpPr>
          <p:cNvPr id="23" name="群組 22">
            <a:extLst>
              <a:ext uri="{FF2B5EF4-FFF2-40B4-BE49-F238E27FC236}">
                <a16:creationId xmlns:a16="http://schemas.microsoft.com/office/drawing/2014/main" id="{6B0A4D32-088D-1D8F-B1B7-DC3DA112F109}"/>
              </a:ext>
            </a:extLst>
          </p:cNvPr>
          <p:cNvGrpSpPr/>
          <p:nvPr/>
        </p:nvGrpSpPr>
        <p:grpSpPr>
          <a:xfrm>
            <a:off x="6954681" y="3898749"/>
            <a:ext cx="1545316" cy="281256"/>
            <a:chOff x="6218785" y="4002781"/>
            <a:chExt cx="1545316" cy="281256"/>
          </a:xfrm>
        </p:grpSpPr>
        <p:sp>
          <p:nvSpPr>
            <p:cNvPr id="24" name="AutoShape 7">
              <a:extLst>
                <a:ext uri="{FF2B5EF4-FFF2-40B4-BE49-F238E27FC236}">
                  <a16:creationId xmlns:a16="http://schemas.microsoft.com/office/drawing/2014/main" id="{7DAFF140-7356-824E-08D6-A76BC1059A9B}"/>
                </a:ext>
              </a:extLst>
            </p:cNvPr>
            <p:cNvSpPr>
              <a:spLocks noChangeArrowheads="1"/>
            </p:cNvSpPr>
            <p:nvPr/>
          </p:nvSpPr>
          <p:spPr bwMode="auto">
            <a:xfrm>
              <a:off x="6218785" y="4002781"/>
              <a:ext cx="1545316" cy="281256"/>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        數據貼標</a:t>
              </a:r>
              <a:endParaRPr lang="en-GB" altLang="en-US" sz="1600">
                <a:solidFill>
                  <a:schemeClr val="accent1">
                    <a:lumMod val="75000"/>
                  </a:schemeClr>
                </a:solidFill>
                <a:latin typeface="+mj-ea"/>
                <a:ea typeface="+mj-ea"/>
              </a:endParaRPr>
            </a:p>
          </p:txBody>
        </p:sp>
        <p:pic>
          <p:nvPicPr>
            <p:cNvPr id="25" name="圖片 24">
              <a:extLst>
                <a:ext uri="{FF2B5EF4-FFF2-40B4-BE49-F238E27FC236}">
                  <a16:creationId xmlns:a16="http://schemas.microsoft.com/office/drawing/2014/main" id="{04938BD9-7C8B-7F51-2A70-8494878CCBC0}"/>
                </a:ext>
              </a:extLst>
            </p:cNvPr>
            <p:cNvPicPr>
              <a:picLocks noChangeAspect="1"/>
            </p:cNvPicPr>
            <p:nvPr/>
          </p:nvPicPr>
          <p:blipFill>
            <a:blip r:embed="rId4">
              <a:clrChange>
                <a:clrFrom>
                  <a:srgbClr val="FFFFFF"/>
                </a:clrFrom>
                <a:clrTo>
                  <a:srgbClr val="FFFFFF">
                    <a:alpha val="0"/>
                  </a:srgbClr>
                </a:clrTo>
              </a:clrChange>
              <a:biLevel thresh="75000"/>
            </a:blip>
            <a:stretch>
              <a:fillRect/>
            </a:stretch>
          </p:blipFill>
          <p:spPr>
            <a:xfrm>
              <a:off x="6433888" y="4009902"/>
              <a:ext cx="294072" cy="266186"/>
            </a:xfrm>
            <a:prstGeom prst="rect">
              <a:avLst/>
            </a:prstGeom>
          </p:spPr>
        </p:pic>
      </p:grpSp>
      <p:grpSp>
        <p:nvGrpSpPr>
          <p:cNvPr id="26" name="群組 25">
            <a:extLst>
              <a:ext uri="{FF2B5EF4-FFF2-40B4-BE49-F238E27FC236}">
                <a16:creationId xmlns:a16="http://schemas.microsoft.com/office/drawing/2014/main" id="{9EA2F185-7229-A77B-FA23-3CFFB14E5082}"/>
              </a:ext>
            </a:extLst>
          </p:cNvPr>
          <p:cNvGrpSpPr/>
          <p:nvPr/>
        </p:nvGrpSpPr>
        <p:grpSpPr>
          <a:xfrm>
            <a:off x="6954681" y="4231135"/>
            <a:ext cx="1545316" cy="281256"/>
            <a:chOff x="6218785" y="4335167"/>
            <a:chExt cx="1545316" cy="281256"/>
          </a:xfrm>
        </p:grpSpPr>
        <p:sp>
          <p:nvSpPr>
            <p:cNvPr id="27" name="AutoShape 7">
              <a:extLst>
                <a:ext uri="{FF2B5EF4-FFF2-40B4-BE49-F238E27FC236}">
                  <a16:creationId xmlns:a16="http://schemas.microsoft.com/office/drawing/2014/main" id="{638BB08D-9AB5-62D4-D824-FAAF515F11E8}"/>
                </a:ext>
              </a:extLst>
            </p:cNvPr>
            <p:cNvSpPr>
              <a:spLocks noChangeArrowheads="1"/>
            </p:cNvSpPr>
            <p:nvPr/>
          </p:nvSpPr>
          <p:spPr bwMode="auto">
            <a:xfrm>
              <a:off x="6218785" y="4335167"/>
              <a:ext cx="1545316" cy="281256"/>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        數據分類</a:t>
              </a:r>
              <a:endParaRPr lang="en-GB" altLang="en-US" sz="1600">
                <a:solidFill>
                  <a:schemeClr val="accent1">
                    <a:lumMod val="75000"/>
                  </a:schemeClr>
                </a:solidFill>
                <a:latin typeface="+mj-ea"/>
                <a:ea typeface="+mj-ea"/>
              </a:endParaRPr>
            </a:p>
          </p:txBody>
        </p:sp>
        <p:pic>
          <p:nvPicPr>
            <p:cNvPr id="28" name="圖片 27">
              <a:extLst>
                <a:ext uri="{FF2B5EF4-FFF2-40B4-BE49-F238E27FC236}">
                  <a16:creationId xmlns:a16="http://schemas.microsoft.com/office/drawing/2014/main" id="{2D03980D-7FF5-E281-A89C-90ABB9AA519D}"/>
                </a:ext>
              </a:extLst>
            </p:cNvPr>
            <p:cNvPicPr>
              <a:picLocks noChangeAspect="1"/>
            </p:cNvPicPr>
            <p:nvPr/>
          </p:nvPicPr>
          <p:blipFill>
            <a:blip r:embed="rId5">
              <a:clrChange>
                <a:clrFrom>
                  <a:srgbClr val="FFFFFF"/>
                </a:clrFrom>
                <a:clrTo>
                  <a:srgbClr val="FFFFFF">
                    <a:alpha val="0"/>
                  </a:srgbClr>
                </a:clrTo>
              </a:clrChange>
              <a:biLevel thresh="75000"/>
            </a:blip>
            <a:stretch>
              <a:fillRect/>
            </a:stretch>
          </p:blipFill>
          <p:spPr>
            <a:xfrm>
              <a:off x="6422734" y="4344515"/>
              <a:ext cx="294813" cy="263983"/>
            </a:xfrm>
            <a:prstGeom prst="rect">
              <a:avLst/>
            </a:prstGeom>
          </p:spPr>
        </p:pic>
      </p:grpSp>
      <p:grpSp>
        <p:nvGrpSpPr>
          <p:cNvPr id="30" name="群組 29">
            <a:extLst>
              <a:ext uri="{FF2B5EF4-FFF2-40B4-BE49-F238E27FC236}">
                <a16:creationId xmlns:a16="http://schemas.microsoft.com/office/drawing/2014/main" id="{D5274707-2055-3D01-E44E-F5B004096A3C}"/>
              </a:ext>
            </a:extLst>
          </p:cNvPr>
          <p:cNvGrpSpPr/>
          <p:nvPr/>
        </p:nvGrpSpPr>
        <p:grpSpPr>
          <a:xfrm>
            <a:off x="6600217" y="1915309"/>
            <a:ext cx="373977" cy="358866"/>
            <a:chOff x="3566283" y="2070905"/>
            <a:chExt cx="628275" cy="628275"/>
          </a:xfrm>
        </p:grpSpPr>
        <p:pic>
          <p:nvPicPr>
            <p:cNvPr id="31" name="圖片 30">
              <a:extLst>
                <a:ext uri="{FF2B5EF4-FFF2-40B4-BE49-F238E27FC236}">
                  <a16:creationId xmlns:a16="http://schemas.microsoft.com/office/drawing/2014/main" id="{C79E215C-48BC-A6F1-2D32-B2388B9B6032}"/>
                </a:ext>
              </a:extLst>
            </p:cNvPr>
            <p:cNvPicPr>
              <a:picLocks noChangeAspect="1"/>
            </p:cNvPicPr>
            <p:nvPr/>
          </p:nvPicPr>
          <p:blipFill>
            <a:blip r:embed="rId2">
              <a:clrChange>
                <a:clrFrom>
                  <a:srgbClr val="F4F4F6"/>
                </a:clrFrom>
                <a:clrTo>
                  <a:srgbClr val="F4F4F6">
                    <a:alpha val="0"/>
                  </a:srgbClr>
                </a:clrTo>
              </a:clrChange>
            </a:blip>
            <a:stretch>
              <a:fillRect/>
            </a:stretch>
          </p:blipFill>
          <p:spPr>
            <a:xfrm>
              <a:off x="3566283" y="2070905"/>
              <a:ext cx="628275" cy="628275"/>
            </a:xfrm>
            <a:prstGeom prst="rect">
              <a:avLst/>
            </a:prstGeom>
          </p:spPr>
        </p:pic>
        <p:pic>
          <p:nvPicPr>
            <p:cNvPr id="32" name="Picture 4" descr="免費矢量| 文件圖示">
              <a:extLst>
                <a:ext uri="{FF2B5EF4-FFF2-40B4-BE49-F238E27FC236}">
                  <a16:creationId xmlns:a16="http://schemas.microsoft.com/office/drawing/2014/main" id="{19A89527-3C55-A665-EE8B-8A351E90E5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0041" y="2365408"/>
              <a:ext cx="239576" cy="314138"/>
            </a:xfrm>
            <a:prstGeom prst="rect">
              <a:avLst/>
            </a:prstGeom>
            <a:noFill/>
            <a:extLst>
              <a:ext uri="{909E8E84-426E-40DD-AFC4-6F175D3DCCD1}">
                <a14:hiddenFill xmlns:a14="http://schemas.microsoft.com/office/drawing/2010/main">
                  <a:solidFill>
                    <a:srgbClr val="FFFFFF"/>
                  </a:solidFill>
                </a14:hiddenFill>
              </a:ext>
            </a:extLst>
          </p:spPr>
        </p:pic>
      </p:grpSp>
      <p:pic>
        <p:nvPicPr>
          <p:cNvPr id="33" name="Picture 8" descr="document in folder icon illustration 素材庫向量圖| Adobe Stock">
            <a:extLst>
              <a:ext uri="{FF2B5EF4-FFF2-40B4-BE49-F238E27FC236}">
                <a16:creationId xmlns:a16="http://schemas.microsoft.com/office/drawing/2014/main" id="{64D0EAF9-233C-92E2-FC1D-F2EDAAD5807B}"/>
              </a:ext>
            </a:extLst>
          </p:cNvPr>
          <p:cNvPicPr>
            <a:picLocks noChangeAspect="1" noChangeArrowheads="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16420" t="20128" r="15333" b="20182"/>
          <a:stretch/>
        </p:blipFill>
        <p:spPr bwMode="auto">
          <a:xfrm>
            <a:off x="7777867" y="1829207"/>
            <a:ext cx="439556" cy="384445"/>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8" descr="100+ Informatica Interview Questions and Answers [Basic, Advanced,  Scenario-Based] - Shiksha Online">
            <a:extLst>
              <a:ext uri="{FF2B5EF4-FFF2-40B4-BE49-F238E27FC236}">
                <a16:creationId xmlns:a16="http://schemas.microsoft.com/office/drawing/2014/main" id="{8E0DC8C8-4A09-EA11-0AED-1225932A56F8}"/>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35805" t="6275" b="16432"/>
          <a:stretch/>
        </p:blipFill>
        <p:spPr bwMode="auto">
          <a:xfrm>
            <a:off x="5161926" y="2620465"/>
            <a:ext cx="759225" cy="457067"/>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群組 34">
            <a:extLst>
              <a:ext uri="{FF2B5EF4-FFF2-40B4-BE49-F238E27FC236}">
                <a16:creationId xmlns:a16="http://schemas.microsoft.com/office/drawing/2014/main" id="{27C92B3A-1F0B-4AF3-BE28-98938A46D31D}"/>
              </a:ext>
            </a:extLst>
          </p:cNvPr>
          <p:cNvGrpSpPr/>
          <p:nvPr/>
        </p:nvGrpSpPr>
        <p:grpSpPr>
          <a:xfrm>
            <a:off x="6182427" y="2620465"/>
            <a:ext cx="563081" cy="522589"/>
            <a:chOff x="3466854" y="3022324"/>
            <a:chExt cx="602534" cy="559205"/>
          </a:xfrm>
        </p:grpSpPr>
        <p:pic>
          <p:nvPicPr>
            <p:cNvPr id="36" name="圖片 35">
              <a:extLst>
                <a:ext uri="{FF2B5EF4-FFF2-40B4-BE49-F238E27FC236}">
                  <a16:creationId xmlns:a16="http://schemas.microsoft.com/office/drawing/2014/main" id="{FE4585AB-01A5-8FA8-A92D-12073D81DF6B}"/>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tretch>
              <a:fillRect/>
            </a:stretch>
          </p:blipFill>
          <p:spPr>
            <a:xfrm>
              <a:off x="3651661" y="3022324"/>
              <a:ext cx="250151" cy="345603"/>
            </a:xfrm>
            <a:prstGeom prst="rect">
              <a:avLst/>
            </a:prstGeom>
          </p:spPr>
        </p:pic>
        <p:pic>
          <p:nvPicPr>
            <p:cNvPr id="37" name="圖片 36">
              <a:extLst>
                <a:ext uri="{FF2B5EF4-FFF2-40B4-BE49-F238E27FC236}">
                  <a16:creationId xmlns:a16="http://schemas.microsoft.com/office/drawing/2014/main" id="{E0782091-AC16-853E-D3E3-C2CBBADCB63C}"/>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tretch>
              <a:fillRect/>
            </a:stretch>
          </p:blipFill>
          <p:spPr>
            <a:xfrm>
              <a:off x="3819237" y="3235926"/>
              <a:ext cx="250151" cy="345603"/>
            </a:xfrm>
            <a:prstGeom prst="rect">
              <a:avLst/>
            </a:prstGeom>
          </p:spPr>
        </p:pic>
        <p:pic>
          <p:nvPicPr>
            <p:cNvPr id="38" name="圖片 37">
              <a:extLst>
                <a:ext uri="{FF2B5EF4-FFF2-40B4-BE49-F238E27FC236}">
                  <a16:creationId xmlns:a16="http://schemas.microsoft.com/office/drawing/2014/main" id="{A2265F22-50B3-19AE-28C5-F088B04AF445}"/>
                </a:ext>
              </a:extLst>
            </p:cNvPr>
            <p:cNvPicPr>
              <a:picLocks noChangeAspect="1"/>
            </p:cNvPicPr>
            <p:nvPr/>
          </p:nvPicPr>
          <p:blipFill>
            <a:blip r:embed="rId9">
              <a:clrChange>
                <a:clrFrom>
                  <a:srgbClr val="FFFFFF"/>
                </a:clrFrom>
                <a:clrTo>
                  <a:srgbClr val="FFFFFF">
                    <a:alpha val="0"/>
                  </a:srgbClr>
                </a:clrTo>
              </a:clrChange>
              <a:duotone>
                <a:schemeClr val="bg2">
                  <a:shade val="45000"/>
                  <a:satMod val="135000"/>
                </a:schemeClr>
                <a:prstClr val="white"/>
              </a:duotone>
            </a:blip>
            <a:stretch>
              <a:fillRect/>
            </a:stretch>
          </p:blipFill>
          <p:spPr>
            <a:xfrm>
              <a:off x="3466854" y="3199698"/>
              <a:ext cx="250151" cy="345603"/>
            </a:xfrm>
            <a:prstGeom prst="rect">
              <a:avLst/>
            </a:prstGeom>
          </p:spPr>
        </p:pic>
      </p:grpSp>
      <p:grpSp>
        <p:nvGrpSpPr>
          <p:cNvPr id="39" name="群組 38">
            <a:extLst>
              <a:ext uri="{FF2B5EF4-FFF2-40B4-BE49-F238E27FC236}">
                <a16:creationId xmlns:a16="http://schemas.microsoft.com/office/drawing/2014/main" id="{AAA17998-52C0-B46D-BD82-5F7F69E3D1C1}"/>
              </a:ext>
            </a:extLst>
          </p:cNvPr>
          <p:cNvGrpSpPr/>
          <p:nvPr/>
        </p:nvGrpSpPr>
        <p:grpSpPr>
          <a:xfrm>
            <a:off x="6982329" y="2645592"/>
            <a:ext cx="600010" cy="437566"/>
            <a:chOff x="3566314" y="3009862"/>
            <a:chExt cx="600010" cy="437566"/>
          </a:xfrm>
        </p:grpSpPr>
        <p:pic>
          <p:nvPicPr>
            <p:cNvPr id="40" name="圖片 39">
              <a:extLst>
                <a:ext uri="{FF2B5EF4-FFF2-40B4-BE49-F238E27FC236}">
                  <a16:creationId xmlns:a16="http://schemas.microsoft.com/office/drawing/2014/main" id="{38AE4D3A-CBCC-407E-A3ED-1DFD92F08409}"/>
                </a:ext>
              </a:extLst>
            </p:cNvPr>
            <p:cNvPicPr>
              <a:picLocks noChangeAspect="1"/>
            </p:cNvPicPr>
            <p:nvPr/>
          </p:nvPicPr>
          <p:blipFill>
            <a:blip r:embed="rId9">
              <a:clrChange>
                <a:clrFrom>
                  <a:srgbClr val="FFFFFF"/>
                </a:clrFrom>
                <a:clrTo>
                  <a:srgbClr val="FFFFFF">
                    <a:alpha val="0"/>
                  </a:srgbClr>
                </a:clrTo>
              </a:clrChange>
              <a:duotone>
                <a:schemeClr val="accent1">
                  <a:shade val="45000"/>
                  <a:satMod val="135000"/>
                </a:schemeClr>
                <a:prstClr val="white"/>
              </a:duotone>
            </a:blip>
            <a:stretch>
              <a:fillRect/>
            </a:stretch>
          </p:blipFill>
          <p:spPr>
            <a:xfrm>
              <a:off x="3916173" y="3009862"/>
              <a:ext cx="250151" cy="345603"/>
            </a:xfrm>
            <a:prstGeom prst="rect">
              <a:avLst/>
            </a:prstGeom>
          </p:spPr>
        </p:pic>
        <p:pic>
          <p:nvPicPr>
            <p:cNvPr id="41" name="圖片 40">
              <a:extLst>
                <a:ext uri="{FF2B5EF4-FFF2-40B4-BE49-F238E27FC236}">
                  <a16:creationId xmlns:a16="http://schemas.microsoft.com/office/drawing/2014/main" id="{FAD4B603-5546-2AE7-AAB9-4EB35A2EA23C}"/>
                </a:ext>
              </a:extLst>
            </p:cNvPr>
            <p:cNvPicPr>
              <a:picLocks noChangeAspect="1"/>
            </p:cNvPicPr>
            <p:nvPr/>
          </p:nvPicPr>
          <p:blipFill>
            <a:blip r:embed="rId9">
              <a:clrChange>
                <a:clrFrom>
                  <a:srgbClr val="FFFFFF"/>
                </a:clrFrom>
                <a:clrTo>
                  <a:srgbClr val="FFFFFF">
                    <a:alpha val="0"/>
                  </a:srgbClr>
                </a:clrTo>
              </a:clrChange>
              <a:duotone>
                <a:schemeClr val="accent1">
                  <a:shade val="45000"/>
                  <a:satMod val="135000"/>
                </a:schemeClr>
                <a:prstClr val="white"/>
              </a:duotone>
            </a:blip>
            <a:stretch>
              <a:fillRect/>
            </a:stretch>
          </p:blipFill>
          <p:spPr>
            <a:xfrm>
              <a:off x="3749240" y="3101825"/>
              <a:ext cx="250151" cy="345603"/>
            </a:xfrm>
            <a:prstGeom prst="rect">
              <a:avLst/>
            </a:prstGeom>
          </p:spPr>
        </p:pic>
        <p:pic>
          <p:nvPicPr>
            <p:cNvPr id="42" name="圖片 41">
              <a:extLst>
                <a:ext uri="{FF2B5EF4-FFF2-40B4-BE49-F238E27FC236}">
                  <a16:creationId xmlns:a16="http://schemas.microsoft.com/office/drawing/2014/main" id="{35F82FDC-29B0-A0F0-8AC7-2CDE3BB488A6}"/>
                </a:ext>
              </a:extLst>
            </p:cNvPr>
            <p:cNvPicPr>
              <a:picLocks noChangeAspect="1"/>
            </p:cNvPicPr>
            <p:nvPr/>
          </p:nvPicPr>
          <p:blipFill>
            <a:blip r:embed="rId9">
              <a:clrChange>
                <a:clrFrom>
                  <a:srgbClr val="FFFFFF"/>
                </a:clrFrom>
                <a:clrTo>
                  <a:srgbClr val="FFFFFF">
                    <a:alpha val="0"/>
                  </a:srgbClr>
                </a:clrTo>
              </a:clrChange>
              <a:duotone>
                <a:schemeClr val="accent1">
                  <a:shade val="45000"/>
                  <a:satMod val="135000"/>
                </a:schemeClr>
                <a:prstClr val="white"/>
              </a:duotone>
            </a:blip>
            <a:stretch>
              <a:fillRect/>
            </a:stretch>
          </p:blipFill>
          <p:spPr>
            <a:xfrm>
              <a:off x="3566314" y="3029416"/>
              <a:ext cx="250151" cy="345603"/>
            </a:xfrm>
            <a:prstGeom prst="rect">
              <a:avLst/>
            </a:prstGeom>
          </p:spPr>
        </p:pic>
      </p:grpSp>
      <p:grpSp>
        <p:nvGrpSpPr>
          <p:cNvPr id="43" name="群組 42">
            <a:extLst>
              <a:ext uri="{FF2B5EF4-FFF2-40B4-BE49-F238E27FC236}">
                <a16:creationId xmlns:a16="http://schemas.microsoft.com/office/drawing/2014/main" id="{2654A12B-C544-C681-73CF-80DE65FC95E2}"/>
              </a:ext>
            </a:extLst>
          </p:cNvPr>
          <p:cNvGrpSpPr/>
          <p:nvPr/>
        </p:nvGrpSpPr>
        <p:grpSpPr>
          <a:xfrm>
            <a:off x="7975094" y="2590925"/>
            <a:ext cx="414042" cy="482011"/>
            <a:chOff x="7219685" y="2369910"/>
            <a:chExt cx="414042" cy="482011"/>
          </a:xfrm>
        </p:grpSpPr>
        <p:pic>
          <p:nvPicPr>
            <p:cNvPr id="44" name="圖片 43">
              <a:extLst>
                <a:ext uri="{FF2B5EF4-FFF2-40B4-BE49-F238E27FC236}">
                  <a16:creationId xmlns:a16="http://schemas.microsoft.com/office/drawing/2014/main" id="{2AB3FF4B-09DA-2FC9-F3C6-1F555D12A8C9}"/>
                </a:ext>
              </a:extLst>
            </p:cNvPr>
            <p:cNvPicPr>
              <a:picLocks noChangeAspect="1"/>
            </p:cNvPicPr>
            <p:nvPr/>
          </p:nvPicPr>
          <p:blipFill>
            <a:blip r:embed="rId9">
              <a:clrChange>
                <a:clrFrom>
                  <a:srgbClr val="FFFFFF"/>
                </a:clrFrom>
                <a:clrTo>
                  <a:srgbClr val="FFFFFF">
                    <a:alpha val="0"/>
                  </a:srgbClr>
                </a:clrTo>
              </a:clrChange>
              <a:duotone>
                <a:schemeClr val="accent3">
                  <a:shade val="45000"/>
                  <a:satMod val="135000"/>
                </a:schemeClr>
                <a:prstClr val="white"/>
              </a:duotone>
            </a:blip>
            <a:stretch>
              <a:fillRect/>
            </a:stretch>
          </p:blipFill>
          <p:spPr>
            <a:xfrm>
              <a:off x="7219685" y="2369910"/>
              <a:ext cx="250151" cy="345603"/>
            </a:xfrm>
            <a:prstGeom prst="rect">
              <a:avLst/>
            </a:prstGeom>
          </p:spPr>
        </p:pic>
        <p:pic>
          <p:nvPicPr>
            <p:cNvPr id="45" name="圖片 44">
              <a:extLst>
                <a:ext uri="{FF2B5EF4-FFF2-40B4-BE49-F238E27FC236}">
                  <a16:creationId xmlns:a16="http://schemas.microsoft.com/office/drawing/2014/main" id="{5DF0EA04-E75E-AD40-A419-A7F35F1894B5}"/>
                </a:ext>
              </a:extLst>
            </p:cNvPr>
            <p:cNvPicPr>
              <a:picLocks noChangeAspect="1"/>
            </p:cNvPicPr>
            <p:nvPr/>
          </p:nvPicPr>
          <p:blipFill>
            <a:blip r:embed="rId9">
              <a:clrChange>
                <a:clrFrom>
                  <a:srgbClr val="FFFFFF"/>
                </a:clrFrom>
                <a:clrTo>
                  <a:srgbClr val="FFFFFF">
                    <a:alpha val="0"/>
                  </a:srgbClr>
                </a:clrTo>
              </a:clrChange>
              <a:duotone>
                <a:schemeClr val="accent3">
                  <a:shade val="45000"/>
                  <a:satMod val="135000"/>
                </a:schemeClr>
                <a:prstClr val="white"/>
              </a:duotone>
            </a:blip>
            <a:stretch>
              <a:fillRect/>
            </a:stretch>
          </p:blipFill>
          <p:spPr>
            <a:xfrm>
              <a:off x="7383576" y="2506318"/>
              <a:ext cx="250151" cy="345603"/>
            </a:xfrm>
            <a:prstGeom prst="rect">
              <a:avLst/>
            </a:prstGeom>
          </p:spPr>
        </p:pic>
      </p:grpSp>
      <p:grpSp>
        <p:nvGrpSpPr>
          <p:cNvPr id="46" name="群組 45">
            <a:extLst>
              <a:ext uri="{FF2B5EF4-FFF2-40B4-BE49-F238E27FC236}">
                <a16:creationId xmlns:a16="http://schemas.microsoft.com/office/drawing/2014/main" id="{AF4360DE-CD58-9268-F540-E140746210DF}"/>
              </a:ext>
            </a:extLst>
          </p:cNvPr>
          <p:cNvGrpSpPr/>
          <p:nvPr/>
        </p:nvGrpSpPr>
        <p:grpSpPr>
          <a:xfrm>
            <a:off x="3997297" y="1823441"/>
            <a:ext cx="779062" cy="878024"/>
            <a:chOff x="1116754" y="2047584"/>
            <a:chExt cx="779062" cy="878024"/>
          </a:xfrm>
        </p:grpSpPr>
        <p:sp>
          <p:nvSpPr>
            <p:cNvPr id="47" name="AutoShape 7">
              <a:extLst>
                <a:ext uri="{FF2B5EF4-FFF2-40B4-BE49-F238E27FC236}">
                  <a16:creationId xmlns:a16="http://schemas.microsoft.com/office/drawing/2014/main" id="{364C370C-1437-77EC-23B7-3B7C281B7D22}"/>
                </a:ext>
              </a:extLst>
            </p:cNvPr>
            <p:cNvSpPr>
              <a:spLocks noChangeArrowheads="1"/>
            </p:cNvSpPr>
            <p:nvPr/>
          </p:nvSpPr>
          <p:spPr bwMode="auto">
            <a:xfrm>
              <a:off x="1116754" y="2047584"/>
              <a:ext cx="779062" cy="878024"/>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t"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400">
                  <a:solidFill>
                    <a:schemeClr val="accent1">
                      <a:lumMod val="75000"/>
                    </a:schemeClr>
                  </a:solidFill>
                  <a:latin typeface="+mj-ea"/>
                  <a:ea typeface="+mj-ea"/>
                </a:rPr>
                <a:t>數據匯流</a:t>
              </a:r>
              <a:endParaRPr lang="en-GB" altLang="en-US" sz="1400">
                <a:solidFill>
                  <a:schemeClr val="accent1">
                    <a:lumMod val="75000"/>
                  </a:schemeClr>
                </a:solidFill>
                <a:latin typeface="+mj-ea"/>
                <a:ea typeface="+mj-ea"/>
              </a:endParaRPr>
            </a:p>
          </p:txBody>
        </p:sp>
        <p:pic>
          <p:nvPicPr>
            <p:cNvPr id="48" name="Picture 24" descr="Data Ingestion Definition, Types And Challenges, 46% OFF">
              <a:extLst>
                <a:ext uri="{FF2B5EF4-FFF2-40B4-BE49-F238E27FC236}">
                  <a16:creationId xmlns:a16="http://schemas.microsoft.com/office/drawing/2014/main" id="{3F374B23-14ED-CBF0-3E8E-A40D4BAA0FAF}"/>
                </a:ext>
              </a:extLst>
            </p:cNvPr>
            <p:cNvPicPr>
              <a:picLocks noChangeAspect="1" noChangeArrowheads="1"/>
            </p:cNvPicPr>
            <p:nvPr/>
          </p:nvPicPr>
          <p:blipFill rotWithShape="1">
            <a:blip r:embed="rId10">
              <a:biLevel thresh="75000"/>
              <a:extLst>
                <a:ext uri="{28A0092B-C50C-407E-A947-70E740481C1C}">
                  <a14:useLocalDpi xmlns:a14="http://schemas.microsoft.com/office/drawing/2010/main" val="0"/>
                </a:ext>
              </a:extLst>
            </a:blip>
            <a:srcRect r="13208"/>
            <a:stretch/>
          </p:blipFill>
          <p:spPr bwMode="auto">
            <a:xfrm>
              <a:off x="1141790" y="2297847"/>
              <a:ext cx="714581" cy="60463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群組 48">
            <a:extLst>
              <a:ext uri="{FF2B5EF4-FFF2-40B4-BE49-F238E27FC236}">
                <a16:creationId xmlns:a16="http://schemas.microsoft.com/office/drawing/2014/main" id="{EA652E61-6A6C-DC39-B40B-F75965DF1674}"/>
              </a:ext>
            </a:extLst>
          </p:cNvPr>
          <p:cNvGrpSpPr/>
          <p:nvPr/>
        </p:nvGrpSpPr>
        <p:grpSpPr>
          <a:xfrm>
            <a:off x="3997297" y="2835376"/>
            <a:ext cx="779062" cy="878024"/>
            <a:chOff x="1116754" y="2969715"/>
            <a:chExt cx="779062" cy="878024"/>
          </a:xfrm>
        </p:grpSpPr>
        <p:sp>
          <p:nvSpPr>
            <p:cNvPr id="50" name="AutoShape 7">
              <a:extLst>
                <a:ext uri="{FF2B5EF4-FFF2-40B4-BE49-F238E27FC236}">
                  <a16:creationId xmlns:a16="http://schemas.microsoft.com/office/drawing/2014/main" id="{F741C317-CCB4-0237-1FAF-2074832C5E30}"/>
                </a:ext>
              </a:extLst>
            </p:cNvPr>
            <p:cNvSpPr>
              <a:spLocks noChangeArrowheads="1"/>
            </p:cNvSpPr>
            <p:nvPr/>
          </p:nvSpPr>
          <p:spPr bwMode="auto">
            <a:xfrm>
              <a:off x="1116754" y="2969715"/>
              <a:ext cx="779062" cy="878024"/>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t"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400">
                  <a:solidFill>
                    <a:schemeClr val="accent1">
                      <a:lumMod val="75000"/>
                    </a:schemeClr>
                  </a:solidFill>
                  <a:latin typeface="+mj-ea"/>
                  <a:ea typeface="+mj-ea"/>
                </a:rPr>
                <a:t>格式轉換</a:t>
              </a:r>
              <a:endParaRPr lang="en-GB" altLang="en-US" sz="1400">
                <a:solidFill>
                  <a:schemeClr val="accent1">
                    <a:lumMod val="75000"/>
                  </a:schemeClr>
                </a:solidFill>
                <a:latin typeface="+mj-ea"/>
                <a:ea typeface="+mj-ea"/>
              </a:endParaRPr>
            </a:p>
          </p:txBody>
        </p:sp>
        <p:pic>
          <p:nvPicPr>
            <p:cNvPr id="51" name="圖片 50">
              <a:extLst>
                <a:ext uri="{FF2B5EF4-FFF2-40B4-BE49-F238E27FC236}">
                  <a16:creationId xmlns:a16="http://schemas.microsoft.com/office/drawing/2014/main" id="{D4408CBA-B332-7D5A-98AB-345952112BB3}"/>
                </a:ext>
              </a:extLst>
            </p:cNvPr>
            <p:cNvPicPr>
              <a:picLocks noChangeAspect="1"/>
            </p:cNvPicPr>
            <p:nvPr/>
          </p:nvPicPr>
          <p:blipFill>
            <a:blip r:embed="rId11">
              <a:clrChange>
                <a:clrFrom>
                  <a:srgbClr val="CBEEEB"/>
                </a:clrFrom>
                <a:clrTo>
                  <a:srgbClr val="CBEEEB">
                    <a:alpha val="0"/>
                  </a:srgbClr>
                </a:clrTo>
              </a:clrChange>
              <a:biLevel thresh="75000"/>
            </a:blip>
            <a:stretch>
              <a:fillRect/>
            </a:stretch>
          </p:blipFill>
          <p:spPr>
            <a:xfrm>
              <a:off x="1129627" y="3236440"/>
              <a:ext cx="758433" cy="573771"/>
            </a:xfrm>
            <a:prstGeom prst="rect">
              <a:avLst/>
            </a:prstGeom>
          </p:spPr>
        </p:pic>
      </p:grpSp>
      <p:sp>
        <p:nvSpPr>
          <p:cNvPr id="52" name="AutoShape 7">
            <a:extLst>
              <a:ext uri="{FF2B5EF4-FFF2-40B4-BE49-F238E27FC236}">
                <a16:creationId xmlns:a16="http://schemas.microsoft.com/office/drawing/2014/main" id="{3E6E4E86-B69B-9BBD-6836-D2F16CE883A8}"/>
              </a:ext>
            </a:extLst>
          </p:cNvPr>
          <p:cNvSpPr>
            <a:spLocks noChangeArrowheads="1"/>
          </p:cNvSpPr>
          <p:nvPr/>
        </p:nvSpPr>
        <p:spPr bwMode="auto">
          <a:xfrm>
            <a:off x="4003860" y="3869671"/>
            <a:ext cx="779062" cy="878024"/>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t"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400">
                <a:solidFill>
                  <a:schemeClr val="accent1">
                    <a:lumMod val="75000"/>
                  </a:schemeClr>
                </a:solidFill>
                <a:latin typeface="+mj-ea"/>
                <a:ea typeface="+mj-ea"/>
              </a:rPr>
              <a:t>數據橋接</a:t>
            </a:r>
            <a:endParaRPr lang="en-GB" altLang="en-US" sz="1400">
              <a:solidFill>
                <a:schemeClr val="accent1">
                  <a:lumMod val="75000"/>
                </a:schemeClr>
              </a:solidFill>
              <a:latin typeface="+mj-ea"/>
              <a:ea typeface="+mj-ea"/>
            </a:endParaRPr>
          </a:p>
        </p:txBody>
      </p:sp>
      <p:pic>
        <p:nvPicPr>
          <p:cNvPr id="53" name="Picture 26" descr="Managing Data is Easier with Data Virtualization - Global Tech Solutions  Blog | Nationwide Support | Global Tech Solutions">
            <a:extLst>
              <a:ext uri="{FF2B5EF4-FFF2-40B4-BE49-F238E27FC236}">
                <a16:creationId xmlns:a16="http://schemas.microsoft.com/office/drawing/2014/main" id="{516E78EF-2337-FBBC-10DE-59835C70D475}"/>
              </a:ext>
            </a:extLst>
          </p:cNvPr>
          <p:cNvPicPr>
            <a:picLocks noChangeAspect="1" noChangeArrowheads="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l="8575" t="8214" r="7921" b="8717"/>
          <a:stretch/>
        </p:blipFill>
        <p:spPr bwMode="auto">
          <a:xfrm>
            <a:off x="4031178" y="4137362"/>
            <a:ext cx="734809" cy="604091"/>
          </a:xfrm>
          <a:prstGeom prst="rect">
            <a:avLst/>
          </a:prstGeom>
          <a:noFill/>
          <a:extLst>
            <a:ext uri="{909E8E84-426E-40DD-AFC4-6F175D3DCCD1}">
              <a14:hiddenFill xmlns:a14="http://schemas.microsoft.com/office/drawing/2010/main">
                <a:solidFill>
                  <a:srgbClr val="FFFFFF"/>
                </a:solidFill>
              </a14:hiddenFill>
            </a:ext>
          </a:extLst>
        </p:spPr>
      </p:pic>
      <p:sp>
        <p:nvSpPr>
          <p:cNvPr id="54" name="AutoShape 7">
            <a:extLst>
              <a:ext uri="{FF2B5EF4-FFF2-40B4-BE49-F238E27FC236}">
                <a16:creationId xmlns:a16="http://schemas.microsoft.com/office/drawing/2014/main" id="{54033FAE-155F-DF8B-354B-F86A105BDE24}"/>
              </a:ext>
            </a:extLst>
          </p:cNvPr>
          <p:cNvSpPr>
            <a:spLocks noChangeArrowheads="1"/>
          </p:cNvSpPr>
          <p:nvPr/>
        </p:nvSpPr>
        <p:spPr bwMode="auto">
          <a:xfrm>
            <a:off x="8787340" y="1787457"/>
            <a:ext cx="779062" cy="1142167"/>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t"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400">
                <a:solidFill>
                  <a:schemeClr val="accent1">
                    <a:lumMod val="75000"/>
                  </a:schemeClr>
                </a:solidFill>
                <a:latin typeface="+mj-ea"/>
                <a:ea typeface="+mj-ea"/>
              </a:rPr>
              <a:t>直接連線</a:t>
            </a:r>
            <a:endParaRPr lang="en-GB" altLang="en-US" sz="1400">
              <a:solidFill>
                <a:schemeClr val="accent1">
                  <a:lumMod val="75000"/>
                </a:schemeClr>
              </a:solidFill>
              <a:latin typeface="+mj-ea"/>
              <a:ea typeface="+mj-ea"/>
            </a:endParaRPr>
          </a:p>
        </p:txBody>
      </p:sp>
      <p:pic>
        <p:nvPicPr>
          <p:cNvPr id="55" name="Picture 2" descr="Database Connector | PubSub+ Integration Hub | Solace">
            <a:extLst>
              <a:ext uri="{FF2B5EF4-FFF2-40B4-BE49-F238E27FC236}">
                <a16:creationId xmlns:a16="http://schemas.microsoft.com/office/drawing/2014/main" id="{E0E6DB34-63D7-D9B2-FCD9-A9ABC272AC9C}"/>
              </a:ext>
            </a:extLst>
          </p:cNvPr>
          <p:cNvPicPr>
            <a:picLocks noChangeAspect="1" noChangeArrowheads="1"/>
          </p:cNvPicPr>
          <p:nvPr/>
        </p:nvPicPr>
        <p:blipFill rotWithShape="1">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t="10599" b="13516"/>
          <a:stretch/>
        </p:blipFill>
        <p:spPr bwMode="auto">
          <a:xfrm>
            <a:off x="8907947" y="2026603"/>
            <a:ext cx="548667" cy="416355"/>
          </a:xfrm>
          <a:prstGeom prst="rect">
            <a:avLst/>
          </a:prstGeom>
          <a:noFill/>
          <a:extLst>
            <a:ext uri="{909E8E84-426E-40DD-AFC4-6F175D3DCCD1}">
              <a14:hiddenFill xmlns:a14="http://schemas.microsoft.com/office/drawing/2010/main">
                <a:solidFill>
                  <a:srgbClr val="FFFFFF"/>
                </a:solidFill>
              </a14:hiddenFill>
            </a:ext>
          </a:extLst>
        </p:spPr>
      </p:pic>
      <p:sp>
        <p:nvSpPr>
          <p:cNvPr id="56" name="AutoShape 7">
            <a:extLst>
              <a:ext uri="{FF2B5EF4-FFF2-40B4-BE49-F238E27FC236}">
                <a16:creationId xmlns:a16="http://schemas.microsoft.com/office/drawing/2014/main" id="{6B895A58-BE05-EBCD-B860-797B919CB3B3}"/>
              </a:ext>
            </a:extLst>
          </p:cNvPr>
          <p:cNvSpPr>
            <a:spLocks noChangeArrowheads="1"/>
          </p:cNvSpPr>
          <p:nvPr/>
        </p:nvSpPr>
        <p:spPr bwMode="auto">
          <a:xfrm>
            <a:off x="8787340" y="2987949"/>
            <a:ext cx="779062" cy="878024"/>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t"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400">
                <a:solidFill>
                  <a:schemeClr val="accent1">
                    <a:lumMod val="75000"/>
                  </a:schemeClr>
                </a:solidFill>
                <a:latin typeface="+mj-ea"/>
                <a:ea typeface="+mj-ea"/>
              </a:rPr>
              <a:t>數據接口</a:t>
            </a:r>
            <a:endParaRPr lang="en-GB" altLang="en-US" sz="1400">
              <a:solidFill>
                <a:schemeClr val="accent1">
                  <a:lumMod val="75000"/>
                </a:schemeClr>
              </a:solidFill>
              <a:latin typeface="+mj-ea"/>
              <a:ea typeface="+mj-ea"/>
            </a:endParaRPr>
          </a:p>
        </p:txBody>
      </p:sp>
      <p:pic>
        <p:nvPicPr>
          <p:cNvPr id="57" name="Picture 28" descr="Cloud API vector icon. software integration illustration sign. application  symbol. 19807159 Vector Art at Vecteezy">
            <a:extLst>
              <a:ext uri="{FF2B5EF4-FFF2-40B4-BE49-F238E27FC236}">
                <a16:creationId xmlns:a16="http://schemas.microsoft.com/office/drawing/2014/main" id="{3BBE39B4-FD15-23C7-196B-E6AD848ED618}"/>
              </a:ext>
            </a:extLst>
          </p:cNvPr>
          <p:cNvPicPr>
            <a:picLocks noChangeAspect="1" noChangeArrowheads="1"/>
          </p:cNvPicPr>
          <p:nvPr/>
        </p:nvPicPr>
        <p:blipFill rotWithShape="1">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l="20685" t="22014" r="20511" b="21609"/>
          <a:stretch/>
        </p:blipFill>
        <p:spPr bwMode="auto">
          <a:xfrm>
            <a:off x="8837233" y="3225107"/>
            <a:ext cx="679276" cy="621134"/>
          </a:xfrm>
          <a:prstGeom prst="rect">
            <a:avLst/>
          </a:prstGeom>
          <a:noFill/>
          <a:extLst>
            <a:ext uri="{909E8E84-426E-40DD-AFC4-6F175D3DCCD1}">
              <a14:hiddenFill xmlns:a14="http://schemas.microsoft.com/office/drawing/2010/main">
                <a:solidFill>
                  <a:srgbClr val="FFFFFF"/>
                </a:solidFill>
              </a14:hiddenFill>
            </a:ext>
          </a:extLst>
        </p:spPr>
      </p:pic>
      <p:sp>
        <p:nvSpPr>
          <p:cNvPr id="58" name="AutoShape 7">
            <a:extLst>
              <a:ext uri="{FF2B5EF4-FFF2-40B4-BE49-F238E27FC236}">
                <a16:creationId xmlns:a16="http://schemas.microsoft.com/office/drawing/2014/main" id="{1BA3EC19-E799-88EC-FA6D-3369C14BD211}"/>
              </a:ext>
            </a:extLst>
          </p:cNvPr>
          <p:cNvSpPr>
            <a:spLocks noChangeArrowheads="1"/>
          </p:cNvSpPr>
          <p:nvPr/>
        </p:nvSpPr>
        <p:spPr bwMode="auto">
          <a:xfrm>
            <a:off x="8787340" y="3923554"/>
            <a:ext cx="779062" cy="878024"/>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0" bIns="0" anchor="t"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400">
                <a:solidFill>
                  <a:schemeClr val="accent1">
                    <a:lumMod val="75000"/>
                  </a:schemeClr>
                </a:solidFill>
                <a:latin typeface="+mj-ea"/>
                <a:ea typeface="+mj-ea"/>
              </a:rPr>
              <a:t>佇列傳輸</a:t>
            </a:r>
            <a:endParaRPr lang="en-GB" altLang="en-US" sz="1400">
              <a:solidFill>
                <a:schemeClr val="accent1">
                  <a:lumMod val="75000"/>
                </a:schemeClr>
              </a:solidFill>
              <a:latin typeface="+mj-ea"/>
              <a:ea typeface="+mj-ea"/>
            </a:endParaRPr>
          </a:p>
        </p:txBody>
      </p:sp>
      <p:pic>
        <p:nvPicPr>
          <p:cNvPr id="59" name="Picture 34" descr="https://encrypted-tbn1.gstatic.com/images?q=tbn:ANd9GcTJbFS5btdiJVzAhFGX0ClHRfc_udgz-LnEbveBq5OrYg744a5J">
            <a:extLst>
              <a:ext uri="{FF2B5EF4-FFF2-40B4-BE49-F238E27FC236}">
                <a16:creationId xmlns:a16="http://schemas.microsoft.com/office/drawing/2014/main" id="{E51895C4-BD18-EA02-8450-8FF042B8D654}"/>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42493" y="2444095"/>
            <a:ext cx="497794" cy="497794"/>
          </a:xfrm>
          <a:prstGeom prst="rect">
            <a:avLst/>
          </a:prstGeom>
          <a:noFill/>
          <a:extLst>
            <a:ext uri="{909E8E84-426E-40DD-AFC4-6F175D3DCCD1}">
              <a14:hiddenFill xmlns:a14="http://schemas.microsoft.com/office/drawing/2010/main">
                <a:solidFill>
                  <a:srgbClr val="FFFFFF"/>
                </a:solidFill>
              </a14:hiddenFill>
            </a:ext>
          </a:extLst>
        </p:spPr>
      </p:pic>
      <p:pic>
        <p:nvPicPr>
          <p:cNvPr id="60" name="圖片 59">
            <a:extLst>
              <a:ext uri="{FF2B5EF4-FFF2-40B4-BE49-F238E27FC236}">
                <a16:creationId xmlns:a16="http://schemas.microsoft.com/office/drawing/2014/main" id="{9D70F1CA-860C-296A-A73F-3633303BFE89}"/>
              </a:ext>
            </a:extLst>
          </p:cNvPr>
          <p:cNvPicPr>
            <a:picLocks noChangeAspect="1"/>
          </p:cNvPicPr>
          <p:nvPr/>
        </p:nvPicPr>
        <p:blipFill rotWithShape="1">
          <a:blip r:embed="rId16">
            <a:clrChange>
              <a:clrFrom>
                <a:srgbClr val="FFFFFF"/>
              </a:clrFrom>
              <a:clrTo>
                <a:srgbClr val="FFFFFF">
                  <a:alpha val="0"/>
                </a:srgbClr>
              </a:clrTo>
            </a:clrChange>
            <a:biLevel thresh="75000"/>
          </a:blip>
          <a:srcRect b="957"/>
          <a:stretch/>
        </p:blipFill>
        <p:spPr>
          <a:xfrm>
            <a:off x="8821579" y="4194270"/>
            <a:ext cx="699898" cy="529995"/>
          </a:xfrm>
          <a:prstGeom prst="rect">
            <a:avLst/>
          </a:prstGeom>
        </p:spPr>
      </p:pic>
      <p:pic>
        <p:nvPicPr>
          <p:cNvPr id="61" name="Picture 42" descr="Microservice - Free shapes icons">
            <a:extLst>
              <a:ext uri="{FF2B5EF4-FFF2-40B4-BE49-F238E27FC236}">
                <a16:creationId xmlns:a16="http://schemas.microsoft.com/office/drawing/2014/main" id="{C21FA4BC-F43A-07A4-2C2C-193253FF208C}"/>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23520" t="60930" r="23230"/>
          <a:stretch/>
        </p:blipFill>
        <p:spPr bwMode="auto">
          <a:xfrm>
            <a:off x="5868138" y="5033061"/>
            <a:ext cx="317220" cy="23275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52" descr="decentralized icon">
            <a:extLst>
              <a:ext uri="{FF2B5EF4-FFF2-40B4-BE49-F238E27FC236}">
                <a16:creationId xmlns:a16="http://schemas.microsoft.com/office/drawing/2014/main" id="{8F015C5F-5582-C5BB-240E-CFBC45E0041D}"/>
              </a:ext>
            </a:extLst>
          </p:cNvPr>
          <p:cNvPicPr>
            <a:picLocks noChangeAspect="1" noChangeArrowheads="1"/>
          </p:cNvPicPr>
          <p:nvPr/>
        </p:nvPicPr>
        <p:blipFill>
          <a:blip r:embed="rId18">
            <a:biLevel thresh="75000"/>
            <a:extLst>
              <a:ext uri="{28A0092B-C50C-407E-A947-70E740481C1C}">
                <a14:useLocalDpi xmlns:a14="http://schemas.microsoft.com/office/drawing/2010/main" val="0"/>
              </a:ext>
            </a:extLst>
          </a:blip>
          <a:srcRect/>
          <a:stretch>
            <a:fillRect/>
          </a:stretch>
        </p:blipFill>
        <p:spPr bwMode="auto">
          <a:xfrm flipH="1">
            <a:off x="6261182" y="4971818"/>
            <a:ext cx="341672" cy="341672"/>
          </a:xfrm>
          <a:prstGeom prst="rect">
            <a:avLst/>
          </a:prstGeom>
          <a:noFill/>
          <a:extLst>
            <a:ext uri="{909E8E84-426E-40DD-AFC4-6F175D3DCCD1}">
              <a14:hiddenFill xmlns:a14="http://schemas.microsoft.com/office/drawing/2010/main">
                <a:solidFill>
                  <a:srgbClr val="FFFFFF"/>
                </a:solidFill>
              </a14:hiddenFill>
            </a:ext>
          </a:extLst>
        </p:spPr>
      </p:pic>
      <p:sp>
        <p:nvSpPr>
          <p:cNvPr id="73" name="文字方塊 72">
            <a:extLst>
              <a:ext uri="{FF2B5EF4-FFF2-40B4-BE49-F238E27FC236}">
                <a16:creationId xmlns:a16="http://schemas.microsoft.com/office/drawing/2014/main" id="{F6C6486E-2AD1-1A49-EC95-F916C74D8F7A}"/>
              </a:ext>
            </a:extLst>
          </p:cNvPr>
          <p:cNvSpPr txBox="1"/>
          <p:nvPr/>
        </p:nvSpPr>
        <p:spPr>
          <a:xfrm>
            <a:off x="4160601" y="4974936"/>
            <a:ext cx="1620957" cy="338554"/>
          </a:xfrm>
          <a:prstGeom prst="rect">
            <a:avLst/>
          </a:prstGeom>
          <a:noFill/>
        </p:spPr>
        <p:txBody>
          <a:bodyPr wrap="none" rtlCol="0">
            <a:spAutoFit/>
          </a:bodyPr>
          <a:lstStyle/>
          <a:p>
            <a:r>
              <a:rPr lang="zh-TW" altLang="en-US" sz="1600" b="1">
                <a:solidFill>
                  <a:schemeClr val="bg1"/>
                </a:solidFill>
                <a:latin typeface="+mj-ea"/>
                <a:ea typeface="+mj-ea"/>
              </a:rPr>
              <a:t>高擴展性的架構</a:t>
            </a:r>
          </a:p>
        </p:txBody>
      </p:sp>
      <p:sp>
        <p:nvSpPr>
          <p:cNvPr id="74" name="Rounded Rectangle 63">
            <a:extLst>
              <a:ext uri="{FF2B5EF4-FFF2-40B4-BE49-F238E27FC236}">
                <a16:creationId xmlns:a16="http://schemas.microsoft.com/office/drawing/2014/main" id="{649995E9-F69D-C602-C2E0-E59E0B3CE16B}"/>
              </a:ext>
            </a:extLst>
          </p:cNvPr>
          <p:cNvSpPr>
            <a:spLocks noChangeArrowheads="1"/>
          </p:cNvSpPr>
          <p:nvPr/>
        </p:nvSpPr>
        <p:spPr bwMode="auto">
          <a:xfrm>
            <a:off x="6807467" y="4938808"/>
            <a:ext cx="2792541" cy="378825"/>
          </a:xfrm>
          <a:prstGeom prst="roundRect">
            <a:avLst>
              <a:gd name="adj" fmla="val 12685"/>
            </a:avLst>
          </a:prstGeom>
          <a:solidFill>
            <a:srgbClr val="56B4F6"/>
          </a:soli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buNone/>
            </a:pPr>
            <a:endParaRPr lang="en-US" altLang="zh-TW" sz="1600">
              <a:solidFill>
                <a:schemeClr val="bg1"/>
              </a:solidFill>
              <a:latin typeface="+mj-ea"/>
              <a:ea typeface="+mj-ea"/>
            </a:endParaRPr>
          </a:p>
        </p:txBody>
      </p:sp>
      <p:sp>
        <p:nvSpPr>
          <p:cNvPr id="75" name="文字方塊 74">
            <a:extLst>
              <a:ext uri="{FF2B5EF4-FFF2-40B4-BE49-F238E27FC236}">
                <a16:creationId xmlns:a16="http://schemas.microsoft.com/office/drawing/2014/main" id="{C8EF9104-8B8C-8C7A-2EDD-5FBD6913A717}"/>
              </a:ext>
            </a:extLst>
          </p:cNvPr>
          <p:cNvSpPr txBox="1"/>
          <p:nvPr/>
        </p:nvSpPr>
        <p:spPr>
          <a:xfrm>
            <a:off x="6947299" y="4974936"/>
            <a:ext cx="1826141" cy="338554"/>
          </a:xfrm>
          <a:prstGeom prst="rect">
            <a:avLst/>
          </a:prstGeom>
          <a:noFill/>
        </p:spPr>
        <p:txBody>
          <a:bodyPr wrap="none" rtlCol="0">
            <a:spAutoFit/>
          </a:bodyPr>
          <a:lstStyle/>
          <a:p>
            <a:r>
              <a:rPr lang="zh-TW" altLang="en-US" sz="1600" b="1">
                <a:solidFill>
                  <a:schemeClr val="bg1"/>
                </a:solidFill>
                <a:latin typeface="+mj-ea"/>
                <a:ea typeface="+mj-ea"/>
              </a:rPr>
              <a:t>不間斷的系統運行</a:t>
            </a:r>
          </a:p>
        </p:txBody>
      </p:sp>
      <p:pic>
        <p:nvPicPr>
          <p:cNvPr id="76" name="圖片 75">
            <a:extLst>
              <a:ext uri="{FF2B5EF4-FFF2-40B4-BE49-F238E27FC236}">
                <a16:creationId xmlns:a16="http://schemas.microsoft.com/office/drawing/2014/main" id="{E115FCBF-DB9B-43B5-35EC-968FCD403A7F}"/>
              </a:ext>
            </a:extLst>
          </p:cNvPr>
          <p:cNvPicPr>
            <a:picLocks noChangeAspect="1"/>
          </p:cNvPicPr>
          <p:nvPr/>
        </p:nvPicPr>
        <p:blipFill>
          <a:blip r:embed="rId19">
            <a:clrChange>
              <a:clrFrom>
                <a:srgbClr val="FFFFFF"/>
              </a:clrFrom>
              <a:clrTo>
                <a:srgbClr val="FFFFFF">
                  <a:alpha val="0"/>
                </a:srgbClr>
              </a:clrTo>
            </a:clrChange>
          </a:blip>
          <a:stretch>
            <a:fillRect/>
          </a:stretch>
        </p:blipFill>
        <p:spPr>
          <a:xfrm>
            <a:off x="8753579" y="4970471"/>
            <a:ext cx="357683" cy="327285"/>
          </a:xfrm>
          <a:prstGeom prst="rect">
            <a:avLst/>
          </a:prstGeom>
        </p:spPr>
      </p:pic>
      <p:pic>
        <p:nvPicPr>
          <p:cNvPr id="77" name="圖片 76">
            <a:extLst>
              <a:ext uri="{FF2B5EF4-FFF2-40B4-BE49-F238E27FC236}">
                <a16:creationId xmlns:a16="http://schemas.microsoft.com/office/drawing/2014/main" id="{0DEA8B8E-193B-6360-DF58-A21A1F4D80D2}"/>
              </a:ext>
            </a:extLst>
          </p:cNvPr>
          <p:cNvPicPr>
            <a:picLocks noChangeAspect="1"/>
          </p:cNvPicPr>
          <p:nvPr/>
        </p:nvPicPr>
        <p:blipFill>
          <a:blip r:embed="rId20">
            <a:clrChange>
              <a:clrFrom>
                <a:srgbClr val="F7F7F7"/>
              </a:clrFrom>
              <a:clrTo>
                <a:srgbClr val="F7F7F7">
                  <a:alpha val="0"/>
                </a:srgbClr>
              </a:clrTo>
            </a:clrChange>
          </a:blip>
          <a:stretch>
            <a:fillRect/>
          </a:stretch>
        </p:blipFill>
        <p:spPr>
          <a:xfrm>
            <a:off x="9115308" y="4978445"/>
            <a:ext cx="341856" cy="322994"/>
          </a:xfrm>
          <a:prstGeom prst="rect">
            <a:avLst/>
          </a:prstGeom>
        </p:spPr>
      </p:pic>
      <p:sp>
        <p:nvSpPr>
          <p:cNvPr id="79" name="AutoShape 7">
            <a:extLst>
              <a:ext uri="{FF2B5EF4-FFF2-40B4-BE49-F238E27FC236}">
                <a16:creationId xmlns:a16="http://schemas.microsoft.com/office/drawing/2014/main" id="{55BCDE4C-707A-766C-7A93-074C689A8321}"/>
              </a:ext>
            </a:extLst>
          </p:cNvPr>
          <p:cNvSpPr>
            <a:spLocks noChangeArrowheads="1"/>
          </p:cNvSpPr>
          <p:nvPr/>
        </p:nvSpPr>
        <p:spPr bwMode="auto">
          <a:xfrm>
            <a:off x="6951778" y="4567337"/>
            <a:ext cx="1545316" cy="281256"/>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        數據運算</a:t>
            </a:r>
            <a:endParaRPr lang="en-GB" altLang="en-US" sz="1600">
              <a:solidFill>
                <a:schemeClr val="accent1">
                  <a:lumMod val="75000"/>
                </a:schemeClr>
              </a:solidFill>
              <a:latin typeface="+mj-ea"/>
              <a:ea typeface="+mj-ea"/>
            </a:endParaRPr>
          </a:p>
        </p:txBody>
      </p:sp>
      <p:pic>
        <p:nvPicPr>
          <p:cNvPr id="80" name="圖形 79" descr="單一齒輪 外框">
            <a:extLst>
              <a:ext uri="{FF2B5EF4-FFF2-40B4-BE49-F238E27FC236}">
                <a16:creationId xmlns:a16="http://schemas.microsoft.com/office/drawing/2014/main" id="{F2290453-B4F7-BB65-676F-C21E8D48F6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110478" y="4530589"/>
            <a:ext cx="347506" cy="347506"/>
          </a:xfrm>
          <a:prstGeom prst="rect">
            <a:avLst/>
          </a:prstGeom>
        </p:spPr>
      </p:pic>
      <p:sp>
        <p:nvSpPr>
          <p:cNvPr id="82" name="AutoShape 7">
            <a:extLst>
              <a:ext uri="{FF2B5EF4-FFF2-40B4-BE49-F238E27FC236}">
                <a16:creationId xmlns:a16="http://schemas.microsoft.com/office/drawing/2014/main" id="{98F087A1-C029-8A97-C1F3-0FEAD4009E3B}"/>
              </a:ext>
            </a:extLst>
          </p:cNvPr>
          <p:cNvSpPr>
            <a:spLocks noChangeArrowheads="1"/>
          </p:cNvSpPr>
          <p:nvPr/>
        </p:nvSpPr>
        <p:spPr bwMode="auto">
          <a:xfrm>
            <a:off x="5019561" y="4567337"/>
            <a:ext cx="1545316" cy="281256"/>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accent1">
                    <a:lumMod val="75000"/>
                  </a:schemeClr>
                </a:solidFill>
                <a:latin typeface="+mj-ea"/>
                <a:ea typeface="+mj-ea"/>
              </a:rPr>
              <a:t>        數據備份</a:t>
            </a:r>
            <a:endParaRPr lang="en-GB" altLang="en-US" sz="1600">
              <a:solidFill>
                <a:schemeClr val="accent1">
                  <a:lumMod val="75000"/>
                </a:schemeClr>
              </a:solidFill>
              <a:latin typeface="+mj-ea"/>
              <a:ea typeface="+mj-ea"/>
            </a:endParaRPr>
          </a:p>
        </p:txBody>
      </p:sp>
      <p:sp>
        <p:nvSpPr>
          <p:cNvPr id="85" name="流程圖: 文件 84">
            <a:extLst>
              <a:ext uri="{FF2B5EF4-FFF2-40B4-BE49-F238E27FC236}">
                <a16:creationId xmlns:a16="http://schemas.microsoft.com/office/drawing/2014/main" id="{E9830573-46C6-192E-BA21-1A77E508E475}"/>
              </a:ext>
            </a:extLst>
          </p:cNvPr>
          <p:cNvSpPr/>
          <p:nvPr/>
        </p:nvSpPr>
        <p:spPr>
          <a:xfrm>
            <a:off x="531618" y="1428500"/>
            <a:ext cx="2151061" cy="903174"/>
          </a:xfrm>
          <a:prstGeom prst="flowChartDocument">
            <a:avLst/>
          </a:prstGeom>
          <a:solidFill>
            <a:srgbClr val="8BD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000">
                <a:solidFill>
                  <a:schemeClr val="accent1">
                    <a:lumMod val="75000"/>
                  </a:schemeClr>
                </a:solidFill>
                <a:latin typeface="+mj-ea"/>
                <a:ea typeface="+mj-ea"/>
              </a:rPr>
              <a:t>數據匯流規範</a:t>
            </a:r>
          </a:p>
        </p:txBody>
      </p:sp>
      <p:sp>
        <p:nvSpPr>
          <p:cNvPr id="86" name="流程圖: 文件 85">
            <a:extLst>
              <a:ext uri="{FF2B5EF4-FFF2-40B4-BE49-F238E27FC236}">
                <a16:creationId xmlns:a16="http://schemas.microsoft.com/office/drawing/2014/main" id="{C926B32A-D956-EE9E-342F-B7008D7023BA}"/>
              </a:ext>
            </a:extLst>
          </p:cNvPr>
          <p:cNvSpPr/>
          <p:nvPr/>
        </p:nvSpPr>
        <p:spPr>
          <a:xfrm>
            <a:off x="582334" y="2099853"/>
            <a:ext cx="2151061" cy="903174"/>
          </a:xfrm>
          <a:prstGeom prst="flowChartDocument">
            <a:avLst/>
          </a:prstGeom>
          <a:solidFill>
            <a:srgbClr val="8BD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000">
                <a:solidFill>
                  <a:schemeClr val="accent1">
                    <a:lumMod val="75000"/>
                  </a:schemeClr>
                </a:solidFill>
                <a:latin typeface="+mj-ea"/>
                <a:ea typeface="+mj-ea"/>
              </a:rPr>
              <a:t>數據目錄規範</a:t>
            </a:r>
          </a:p>
        </p:txBody>
      </p:sp>
      <p:sp>
        <p:nvSpPr>
          <p:cNvPr id="87" name="流程圖: 文件 86">
            <a:extLst>
              <a:ext uri="{FF2B5EF4-FFF2-40B4-BE49-F238E27FC236}">
                <a16:creationId xmlns:a16="http://schemas.microsoft.com/office/drawing/2014/main" id="{8D9F63E6-3987-D1E2-01BF-35CE2698FD8D}"/>
              </a:ext>
            </a:extLst>
          </p:cNvPr>
          <p:cNvSpPr/>
          <p:nvPr/>
        </p:nvSpPr>
        <p:spPr>
          <a:xfrm>
            <a:off x="628346" y="2770369"/>
            <a:ext cx="2151061" cy="903174"/>
          </a:xfrm>
          <a:prstGeom prst="flowChartDocument">
            <a:avLst/>
          </a:prstGeom>
          <a:solidFill>
            <a:srgbClr val="8BD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000">
                <a:solidFill>
                  <a:schemeClr val="accent1">
                    <a:lumMod val="75000"/>
                  </a:schemeClr>
                </a:solidFill>
                <a:latin typeface="+mj-ea"/>
                <a:ea typeface="+mj-ea"/>
              </a:rPr>
              <a:t>數據標準規範</a:t>
            </a:r>
          </a:p>
        </p:txBody>
      </p:sp>
      <p:sp>
        <p:nvSpPr>
          <p:cNvPr id="88" name="流程圖: 文件 87">
            <a:extLst>
              <a:ext uri="{FF2B5EF4-FFF2-40B4-BE49-F238E27FC236}">
                <a16:creationId xmlns:a16="http://schemas.microsoft.com/office/drawing/2014/main" id="{E04C93F5-6FD7-E894-E3EF-6EE5D5FD96C1}"/>
              </a:ext>
            </a:extLst>
          </p:cNvPr>
          <p:cNvSpPr/>
          <p:nvPr/>
        </p:nvSpPr>
        <p:spPr>
          <a:xfrm>
            <a:off x="671432" y="3439830"/>
            <a:ext cx="2151061" cy="903174"/>
          </a:xfrm>
          <a:prstGeom prst="flowChartDocument">
            <a:avLst/>
          </a:prstGeom>
          <a:solidFill>
            <a:srgbClr val="8BD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000">
                <a:solidFill>
                  <a:schemeClr val="accent1">
                    <a:lumMod val="75000"/>
                  </a:schemeClr>
                </a:solidFill>
                <a:latin typeface="+mj-ea"/>
                <a:ea typeface="+mj-ea"/>
              </a:rPr>
              <a:t>數據權限規範</a:t>
            </a:r>
          </a:p>
        </p:txBody>
      </p:sp>
      <p:sp>
        <p:nvSpPr>
          <p:cNvPr id="89" name="流程圖: 文件 88">
            <a:extLst>
              <a:ext uri="{FF2B5EF4-FFF2-40B4-BE49-F238E27FC236}">
                <a16:creationId xmlns:a16="http://schemas.microsoft.com/office/drawing/2014/main" id="{43866A2C-DC87-2412-C6AC-CEBFD390D467}"/>
              </a:ext>
            </a:extLst>
          </p:cNvPr>
          <p:cNvSpPr/>
          <p:nvPr/>
        </p:nvSpPr>
        <p:spPr>
          <a:xfrm>
            <a:off x="714518" y="4067726"/>
            <a:ext cx="2151061" cy="903174"/>
          </a:xfrm>
          <a:prstGeom prst="flowChartDocument">
            <a:avLst/>
          </a:prstGeom>
          <a:solidFill>
            <a:srgbClr val="8BD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000">
                <a:solidFill>
                  <a:schemeClr val="accent1">
                    <a:lumMod val="75000"/>
                  </a:schemeClr>
                </a:solidFill>
                <a:latin typeface="+mj-ea"/>
                <a:ea typeface="+mj-ea"/>
              </a:rPr>
              <a:t>…..</a:t>
            </a:r>
            <a:endParaRPr lang="zh-TW" altLang="en-US" sz="2000">
              <a:solidFill>
                <a:schemeClr val="accent1">
                  <a:lumMod val="75000"/>
                </a:schemeClr>
              </a:solidFill>
              <a:latin typeface="+mj-ea"/>
              <a:ea typeface="+mj-ea"/>
            </a:endParaRPr>
          </a:p>
        </p:txBody>
      </p:sp>
      <p:sp>
        <p:nvSpPr>
          <p:cNvPr id="90" name="流程圖: 文件 89">
            <a:extLst>
              <a:ext uri="{FF2B5EF4-FFF2-40B4-BE49-F238E27FC236}">
                <a16:creationId xmlns:a16="http://schemas.microsoft.com/office/drawing/2014/main" id="{34C3B5FC-09DC-248E-00EC-9E1C12C830D6}"/>
              </a:ext>
            </a:extLst>
          </p:cNvPr>
          <p:cNvSpPr/>
          <p:nvPr/>
        </p:nvSpPr>
        <p:spPr>
          <a:xfrm>
            <a:off x="756897" y="4722119"/>
            <a:ext cx="2151061" cy="903174"/>
          </a:xfrm>
          <a:prstGeom prst="flowChartDocument">
            <a:avLst/>
          </a:prstGeom>
          <a:solidFill>
            <a:srgbClr val="8BD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000">
                <a:solidFill>
                  <a:schemeClr val="accent1">
                    <a:lumMod val="75000"/>
                  </a:schemeClr>
                </a:solidFill>
                <a:latin typeface="+mj-ea"/>
                <a:ea typeface="+mj-ea"/>
              </a:rPr>
              <a:t>…..</a:t>
            </a:r>
            <a:endParaRPr lang="zh-TW" altLang="en-US" sz="2000">
              <a:solidFill>
                <a:schemeClr val="accent1">
                  <a:lumMod val="75000"/>
                </a:schemeClr>
              </a:solidFill>
              <a:latin typeface="+mj-ea"/>
              <a:ea typeface="+mj-ea"/>
            </a:endParaRPr>
          </a:p>
        </p:txBody>
      </p:sp>
      <p:sp>
        <p:nvSpPr>
          <p:cNvPr id="91" name="箭號: 向右 90">
            <a:extLst>
              <a:ext uri="{FF2B5EF4-FFF2-40B4-BE49-F238E27FC236}">
                <a16:creationId xmlns:a16="http://schemas.microsoft.com/office/drawing/2014/main" id="{896E5AD8-577F-96CD-3B3E-8283A4DFC6D7}"/>
              </a:ext>
            </a:extLst>
          </p:cNvPr>
          <p:cNvSpPr/>
          <p:nvPr/>
        </p:nvSpPr>
        <p:spPr>
          <a:xfrm rot="10800000" flipH="1">
            <a:off x="3045901" y="3253432"/>
            <a:ext cx="729375" cy="381250"/>
          </a:xfrm>
          <a:prstGeom prst="rightArrow">
            <a:avLst/>
          </a:prstGeom>
          <a:solidFill>
            <a:srgbClr val="8BD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mj-ea"/>
              <a:ea typeface="+mj-ea"/>
            </a:endParaRPr>
          </a:p>
        </p:txBody>
      </p:sp>
      <p:sp>
        <p:nvSpPr>
          <p:cNvPr id="92" name="文字方塊 91">
            <a:extLst>
              <a:ext uri="{FF2B5EF4-FFF2-40B4-BE49-F238E27FC236}">
                <a16:creationId xmlns:a16="http://schemas.microsoft.com/office/drawing/2014/main" id="{5B395838-260A-193A-1653-A179CA267086}"/>
              </a:ext>
            </a:extLst>
          </p:cNvPr>
          <p:cNvSpPr txBox="1"/>
          <p:nvPr/>
        </p:nvSpPr>
        <p:spPr>
          <a:xfrm>
            <a:off x="2970216" y="2845946"/>
            <a:ext cx="800219" cy="461665"/>
          </a:xfrm>
          <a:prstGeom prst="rect">
            <a:avLst/>
          </a:prstGeom>
          <a:noFill/>
        </p:spPr>
        <p:txBody>
          <a:bodyPr wrap="none" rtlCol="0">
            <a:spAutoFit/>
          </a:bodyPr>
          <a:lstStyle/>
          <a:p>
            <a:r>
              <a:rPr lang="zh-TW" altLang="en-US">
                <a:solidFill>
                  <a:schemeClr val="accent1">
                    <a:lumMod val="75000"/>
                  </a:schemeClr>
                </a:solidFill>
                <a:latin typeface="+mj-ea"/>
                <a:ea typeface="+mj-ea"/>
              </a:rPr>
              <a:t>落實</a:t>
            </a:r>
          </a:p>
        </p:txBody>
      </p:sp>
      <p:sp>
        <p:nvSpPr>
          <p:cNvPr id="93" name="文字方塊 92">
            <a:extLst>
              <a:ext uri="{FF2B5EF4-FFF2-40B4-BE49-F238E27FC236}">
                <a16:creationId xmlns:a16="http://schemas.microsoft.com/office/drawing/2014/main" id="{319709A3-F5E2-B41D-C65B-D60F63A061DB}"/>
              </a:ext>
            </a:extLst>
          </p:cNvPr>
          <p:cNvSpPr txBox="1"/>
          <p:nvPr/>
        </p:nvSpPr>
        <p:spPr>
          <a:xfrm>
            <a:off x="557172" y="633886"/>
            <a:ext cx="2031325" cy="830997"/>
          </a:xfrm>
          <a:prstGeom prst="rect">
            <a:avLst/>
          </a:prstGeom>
          <a:noFill/>
        </p:spPr>
        <p:txBody>
          <a:bodyPr wrap="none" rtlCol="0">
            <a:spAutoFit/>
          </a:bodyPr>
          <a:lstStyle/>
          <a:p>
            <a:pPr algn="ctr"/>
            <a:r>
              <a:rPr lang="en-US" altLang="zh-TW">
                <a:solidFill>
                  <a:schemeClr val="accent1">
                    <a:lumMod val="75000"/>
                  </a:schemeClr>
                </a:solidFill>
                <a:latin typeface="+mj-ea"/>
                <a:ea typeface="+mj-ea"/>
              </a:rPr>
              <a:t>Delta</a:t>
            </a:r>
          </a:p>
          <a:p>
            <a:pPr algn="ctr"/>
            <a:r>
              <a:rPr lang="zh-TW" altLang="en-US" b="1">
                <a:solidFill>
                  <a:schemeClr val="accent1">
                    <a:lumMod val="75000"/>
                  </a:schemeClr>
                </a:solidFill>
                <a:latin typeface="+mj-ea"/>
                <a:ea typeface="+mj-ea"/>
              </a:rPr>
              <a:t>數據治理</a:t>
            </a:r>
            <a:r>
              <a:rPr lang="zh-TW" altLang="en-US">
                <a:solidFill>
                  <a:schemeClr val="accent1">
                    <a:lumMod val="75000"/>
                  </a:schemeClr>
                </a:solidFill>
                <a:latin typeface="+mj-ea"/>
                <a:ea typeface="+mj-ea"/>
              </a:rPr>
              <a:t>規範</a:t>
            </a:r>
          </a:p>
        </p:txBody>
      </p:sp>
      <p:grpSp>
        <p:nvGrpSpPr>
          <p:cNvPr id="101" name="群組 100">
            <a:extLst>
              <a:ext uri="{FF2B5EF4-FFF2-40B4-BE49-F238E27FC236}">
                <a16:creationId xmlns:a16="http://schemas.microsoft.com/office/drawing/2014/main" id="{F6591E08-190C-5A2F-18B0-934BD745D005}"/>
              </a:ext>
            </a:extLst>
          </p:cNvPr>
          <p:cNvGrpSpPr/>
          <p:nvPr/>
        </p:nvGrpSpPr>
        <p:grpSpPr>
          <a:xfrm>
            <a:off x="9912290" y="4400060"/>
            <a:ext cx="1546468" cy="474338"/>
            <a:chOff x="2612788" y="3354761"/>
            <a:chExt cx="1546468" cy="474338"/>
          </a:xfrm>
        </p:grpSpPr>
        <p:pic>
          <p:nvPicPr>
            <p:cNvPr id="102" name="圖片 101">
              <a:extLst>
                <a:ext uri="{FF2B5EF4-FFF2-40B4-BE49-F238E27FC236}">
                  <a16:creationId xmlns:a16="http://schemas.microsoft.com/office/drawing/2014/main" id="{F2F4B974-2C04-EEC2-6CD1-9D5857061DD4}"/>
                </a:ext>
              </a:extLst>
            </p:cNvPr>
            <p:cNvPicPr>
              <a:picLocks noChangeAspect="1"/>
            </p:cNvPicPr>
            <p:nvPr/>
          </p:nvPicPr>
          <p:blipFill>
            <a:blip r:embed="rId22"/>
            <a:stretch>
              <a:fillRect/>
            </a:stretch>
          </p:blipFill>
          <p:spPr>
            <a:xfrm>
              <a:off x="2612788" y="3354761"/>
              <a:ext cx="438471" cy="451963"/>
            </a:xfrm>
            <a:prstGeom prst="rect">
              <a:avLst/>
            </a:prstGeom>
          </p:spPr>
        </p:pic>
        <p:sp>
          <p:nvSpPr>
            <p:cNvPr id="103" name="文字方塊 102">
              <a:extLst>
                <a:ext uri="{FF2B5EF4-FFF2-40B4-BE49-F238E27FC236}">
                  <a16:creationId xmlns:a16="http://schemas.microsoft.com/office/drawing/2014/main" id="{199ADA91-7EF1-C69A-D60F-0AB2D740E8D3}"/>
                </a:ext>
              </a:extLst>
            </p:cNvPr>
            <p:cNvSpPr txBox="1"/>
            <p:nvPr/>
          </p:nvSpPr>
          <p:spPr>
            <a:xfrm>
              <a:off x="3051260" y="3367434"/>
              <a:ext cx="1107996" cy="461665"/>
            </a:xfrm>
            <a:prstGeom prst="rect">
              <a:avLst/>
            </a:prstGeom>
            <a:noFill/>
          </p:spPr>
          <p:txBody>
            <a:bodyPr wrap="none" rtlCol="0">
              <a:spAutoFit/>
            </a:bodyPr>
            <a:lstStyle/>
            <a:p>
              <a:r>
                <a:rPr lang="zh-TW" altLang="en-US">
                  <a:solidFill>
                    <a:srgbClr val="6465FF"/>
                  </a:solidFill>
                  <a:latin typeface="+mj-ea"/>
                  <a:ea typeface="+mj-ea"/>
                </a:rPr>
                <a:t>取數據</a:t>
              </a:r>
            </a:p>
          </p:txBody>
        </p:sp>
      </p:grpSp>
      <p:grpSp>
        <p:nvGrpSpPr>
          <p:cNvPr id="104" name="群組 103">
            <a:extLst>
              <a:ext uri="{FF2B5EF4-FFF2-40B4-BE49-F238E27FC236}">
                <a16:creationId xmlns:a16="http://schemas.microsoft.com/office/drawing/2014/main" id="{BAA8C153-15CA-C365-F530-10F526A83805}"/>
              </a:ext>
            </a:extLst>
          </p:cNvPr>
          <p:cNvGrpSpPr/>
          <p:nvPr/>
        </p:nvGrpSpPr>
        <p:grpSpPr>
          <a:xfrm>
            <a:off x="9966265" y="699128"/>
            <a:ext cx="1384608" cy="461665"/>
            <a:chOff x="2039395" y="3617633"/>
            <a:chExt cx="1384608" cy="461665"/>
          </a:xfrm>
        </p:grpSpPr>
        <p:pic>
          <p:nvPicPr>
            <p:cNvPr id="105" name="圖片 104">
              <a:extLst>
                <a:ext uri="{FF2B5EF4-FFF2-40B4-BE49-F238E27FC236}">
                  <a16:creationId xmlns:a16="http://schemas.microsoft.com/office/drawing/2014/main" id="{80D8A80E-8F34-C6FB-0493-3598EF925479}"/>
                </a:ext>
              </a:extLst>
            </p:cNvPr>
            <p:cNvPicPr>
              <a:picLocks noChangeAspect="1"/>
            </p:cNvPicPr>
            <p:nvPr/>
          </p:nvPicPr>
          <p:blipFill>
            <a:blip r:embed="rId23"/>
            <a:stretch>
              <a:fillRect/>
            </a:stretch>
          </p:blipFill>
          <p:spPr>
            <a:xfrm>
              <a:off x="2039395" y="3652651"/>
              <a:ext cx="344987" cy="372660"/>
            </a:xfrm>
            <a:prstGeom prst="rect">
              <a:avLst/>
            </a:prstGeom>
          </p:spPr>
        </p:pic>
        <p:sp>
          <p:nvSpPr>
            <p:cNvPr id="106" name="文字方塊 105">
              <a:extLst>
                <a:ext uri="{FF2B5EF4-FFF2-40B4-BE49-F238E27FC236}">
                  <a16:creationId xmlns:a16="http://schemas.microsoft.com/office/drawing/2014/main" id="{540B3A0F-955C-0C7C-7F3D-6F6BE244651F}"/>
                </a:ext>
              </a:extLst>
            </p:cNvPr>
            <p:cNvSpPr txBox="1"/>
            <p:nvPr/>
          </p:nvSpPr>
          <p:spPr>
            <a:xfrm>
              <a:off x="2316007" y="3617633"/>
              <a:ext cx="1107996" cy="461665"/>
            </a:xfrm>
            <a:prstGeom prst="rect">
              <a:avLst/>
            </a:prstGeom>
            <a:noFill/>
          </p:spPr>
          <p:txBody>
            <a:bodyPr wrap="none" rtlCol="0">
              <a:spAutoFit/>
            </a:bodyPr>
            <a:lstStyle/>
            <a:p>
              <a:r>
                <a:rPr lang="zh-TW" altLang="en-US" b="1">
                  <a:solidFill>
                    <a:srgbClr val="549427"/>
                  </a:solidFill>
                  <a:latin typeface="+mj-ea"/>
                  <a:ea typeface="+mj-ea"/>
                </a:rPr>
                <a:t>查數據</a:t>
              </a:r>
            </a:p>
          </p:txBody>
        </p:sp>
      </p:grpSp>
      <p:pic>
        <p:nvPicPr>
          <p:cNvPr id="107" name="圖片 106">
            <a:extLst>
              <a:ext uri="{FF2B5EF4-FFF2-40B4-BE49-F238E27FC236}">
                <a16:creationId xmlns:a16="http://schemas.microsoft.com/office/drawing/2014/main" id="{B46DAC0D-9AD8-22DD-E40E-CECED36F27D8}"/>
              </a:ext>
            </a:extLst>
          </p:cNvPr>
          <p:cNvPicPr>
            <a:picLocks noChangeAspect="1"/>
          </p:cNvPicPr>
          <p:nvPr/>
        </p:nvPicPr>
        <p:blipFill>
          <a:blip r:embed="rId24"/>
          <a:stretch>
            <a:fillRect/>
          </a:stretch>
        </p:blipFill>
        <p:spPr>
          <a:xfrm>
            <a:off x="10167657" y="1154521"/>
            <a:ext cx="1075327" cy="815594"/>
          </a:xfrm>
          <a:prstGeom prst="rect">
            <a:avLst/>
          </a:prstGeom>
          <a:ln w="12700">
            <a:solidFill>
              <a:srgbClr val="549427"/>
            </a:solidFill>
          </a:ln>
        </p:spPr>
      </p:pic>
      <p:pic>
        <p:nvPicPr>
          <p:cNvPr id="108" name="圖片 107">
            <a:extLst>
              <a:ext uri="{FF2B5EF4-FFF2-40B4-BE49-F238E27FC236}">
                <a16:creationId xmlns:a16="http://schemas.microsoft.com/office/drawing/2014/main" id="{19C805AD-B171-0C5C-EDD2-27F0039A9BDB}"/>
              </a:ext>
            </a:extLst>
          </p:cNvPr>
          <p:cNvPicPr>
            <a:picLocks noChangeAspect="1"/>
          </p:cNvPicPr>
          <p:nvPr/>
        </p:nvPicPr>
        <p:blipFill>
          <a:blip r:embed="rId25"/>
          <a:stretch>
            <a:fillRect/>
          </a:stretch>
        </p:blipFill>
        <p:spPr>
          <a:xfrm>
            <a:off x="9955456" y="2622424"/>
            <a:ext cx="380152" cy="378270"/>
          </a:xfrm>
          <a:prstGeom prst="rect">
            <a:avLst/>
          </a:prstGeom>
        </p:spPr>
      </p:pic>
      <p:sp>
        <p:nvSpPr>
          <p:cNvPr id="109" name="文字方塊 108">
            <a:extLst>
              <a:ext uri="{FF2B5EF4-FFF2-40B4-BE49-F238E27FC236}">
                <a16:creationId xmlns:a16="http://schemas.microsoft.com/office/drawing/2014/main" id="{52462BB6-DD42-6D34-428A-E19E2E869D24}"/>
              </a:ext>
            </a:extLst>
          </p:cNvPr>
          <p:cNvSpPr txBox="1"/>
          <p:nvPr/>
        </p:nvSpPr>
        <p:spPr>
          <a:xfrm>
            <a:off x="10331843" y="2572260"/>
            <a:ext cx="1107996" cy="461665"/>
          </a:xfrm>
          <a:prstGeom prst="rect">
            <a:avLst/>
          </a:prstGeom>
          <a:noFill/>
        </p:spPr>
        <p:txBody>
          <a:bodyPr wrap="square" rtlCol="0">
            <a:spAutoFit/>
          </a:bodyPr>
          <a:lstStyle/>
          <a:p>
            <a:r>
              <a:rPr lang="zh-TW" altLang="en-US" b="1">
                <a:solidFill>
                  <a:srgbClr val="23605A"/>
                </a:solidFill>
                <a:latin typeface="+mj-ea"/>
                <a:ea typeface="+mj-ea"/>
              </a:rPr>
              <a:t>看數據</a:t>
            </a:r>
          </a:p>
        </p:txBody>
      </p:sp>
      <p:pic>
        <p:nvPicPr>
          <p:cNvPr id="110" name="Picture 2" descr="Find, prepare, and understand data with Watson Knowledge Catalog - IBM  Developer">
            <a:extLst>
              <a:ext uri="{FF2B5EF4-FFF2-40B4-BE49-F238E27FC236}">
                <a16:creationId xmlns:a16="http://schemas.microsoft.com/office/drawing/2014/main" id="{7820FC91-58F8-6C39-A036-78F0749D381C}"/>
              </a:ext>
            </a:extLst>
          </p:cNvPr>
          <p:cNvPicPr>
            <a:picLocks noChangeAspect="1" noChangeArrowheads="1"/>
          </p:cNvPicPr>
          <p:nvPr/>
        </p:nvPicPr>
        <p:blipFill rotWithShape="1">
          <a:blip r:embed="rId26">
            <a:extLst>
              <a:ext uri="{28A0092B-C50C-407E-A947-70E740481C1C}">
                <a14:useLocalDpi xmlns:a14="http://schemas.microsoft.com/office/drawing/2010/main" val="0"/>
              </a:ext>
            </a:extLst>
          </a:blip>
          <a:srcRect l="439" t="11442" r="43041" b="4533"/>
          <a:stretch/>
        </p:blipFill>
        <p:spPr bwMode="auto">
          <a:xfrm>
            <a:off x="10192013" y="3031608"/>
            <a:ext cx="1082836" cy="805062"/>
          </a:xfrm>
          <a:prstGeom prst="rect">
            <a:avLst/>
          </a:prstGeom>
          <a:noFill/>
          <a:ln w="12700">
            <a:solidFill>
              <a:srgbClr val="165751"/>
            </a:solidFill>
          </a:ln>
          <a:extLst>
            <a:ext uri="{909E8E84-426E-40DD-AFC4-6F175D3DCCD1}">
              <a14:hiddenFill xmlns:a14="http://schemas.microsoft.com/office/drawing/2010/main">
                <a:solidFill>
                  <a:srgbClr val="FFFFFF"/>
                </a:solidFill>
              </a14:hiddenFill>
            </a:ext>
          </a:extLst>
        </p:spPr>
      </p:pic>
      <p:pic>
        <p:nvPicPr>
          <p:cNvPr id="111" name="Picture 16" descr="Get Your Master Data Quality Insight from SAP Anal... - SAP Community">
            <a:extLst>
              <a:ext uri="{FF2B5EF4-FFF2-40B4-BE49-F238E27FC236}">
                <a16:creationId xmlns:a16="http://schemas.microsoft.com/office/drawing/2014/main" id="{0D8A5EBD-35FD-6737-75D8-746254DE3342}"/>
              </a:ext>
            </a:extLst>
          </p:cNvPr>
          <p:cNvPicPr>
            <a:picLocks noChangeAspect="1" noChangeArrowheads="1"/>
          </p:cNvPicPr>
          <p:nvPr/>
        </p:nvPicPr>
        <p:blipFill>
          <a:blip r:embed="rId2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82808" y="3064839"/>
            <a:ext cx="448655" cy="249915"/>
          </a:xfrm>
          <a:prstGeom prst="rect">
            <a:avLst/>
          </a:prstGeom>
          <a:noFill/>
          <a:ln>
            <a:solidFill>
              <a:srgbClr val="175852"/>
            </a:solidFill>
          </a:ln>
          <a:extLst>
            <a:ext uri="{909E8E84-426E-40DD-AFC4-6F175D3DCCD1}">
              <a14:hiddenFill xmlns:a14="http://schemas.microsoft.com/office/drawing/2010/main">
                <a:solidFill>
                  <a:srgbClr val="FFFFFF"/>
                </a:solidFill>
              </a14:hiddenFill>
            </a:ext>
          </a:extLst>
        </p:spPr>
      </p:pic>
      <p:pic>
        <p:nvPicPr>
          <p:cNvPr id="112" name="圖片 111">
            <a:extLst>
              <a:ext uri="{FF2B5EF4-FFF2-40B4-BE49-F238E27FC236}">
                <a16:creationId xmlns:a16="http://schemas.microsoft.com/office/drawing/2014/main" id="{C7B78103-9994-AD03-CA61-462F3C33D6FA}"/>
              </a:ext>
            </a:extLst>
          </p:cNvPr>
          <p:cNvPicPr>
            <a:picLocks noChangeAspect="1"/>
          </p:cNvPicPr>
          <p:nvPr/>
        </p:nvPicPr>
        <p:blipFill>
          <a:blip r:embed="rId28"/>
          <a:stretch>
            <a:fillRect/>
          </a:stretch>
        </p:blipFill>
        <p:spPr>
          <a:xfrm>
            <a:off x="10671163" y="3482500"/>
            <a:ext cx="599915" cy="332168"/>
          </a:xfrm>
          <a:prstGeom prst="rect">
            <a:avLst/>
          </a:prstGeom>
          <a:ln>
            <a:solidFill>
              <a:srgbClr val="175852"/>
            </a:solidFill>
          </a:ln>
        </p:spPr>
      </p:pic>
      <p:pic>
        <p:nvPicPr>
          <p:cNvPr id="113" name="Picture 6" descr="在「捷徑」中分析來自API 要求的JSON - Apple 支援(台灣)">
            <a:extLst>
              <a:ext uri="{FF2B5EF4-FFF2-40B4-BE49-F238E27FC236}">
                <a16:creationId xmlns:a16="http://schemas.microsoft.com/office/drawing/2014/main" id="{85AF98F6-A880-5A55-8087-21E44193D784}"/>
              </a:ext>
            </a:extLst>
          </p:cNvPr>
          <p:cNvPicPr>
            <a:picLocks noChangeAspect="1" noChangeArrowheads="1"/>
          </p:cNvPicPr>
          <p:nvPr/>
        </p:nvPicPr>
        <p:blipFill rotWithShape="1">
          <a:blip r:embed="rId29">
            <a:extLst>
              <a:ext uri="{28A0092B-C50C-407E-A947-70E740481C1C}">
                <a14:useLocalDpi xmlns:a14="http://schemas.microsoft.com/office/drawing/2010/main" val="0"/>
              </a:ext>
            </a:extLst>
          </a:blip>
          <a:srcRect l="501" t="11075" r="45231"/>
          <a:stretch/>
        </p:blipFill>
        <p:spPr bwMode="auto">
          <a:xfrm>
            <a:off x="10173861" y="4926494"/>
            <a:ext cx="726909" cy="782162"/>
          </a:xfrm>
          <a:prstGeom prst="rect">
            <a:avLst/>
          </a:prstGeom>
          <a:noFill/>
          <a:ln w="12700">
            <a:solidFill>
              <a:srgbClr val="6465FF"/>
            </a:solidFill>
          </a:ln>
          <a:extLst>
            <a:ext uri="{909E8E84-426E-40DD-AFC4-6F175D3DCCD1}">
              <a14:hiddenFill xmlns:a14="http://schemas.microsoft.com/office/drawing/2010/main">
                <a:solidFill>
                  <a:srgbClr val="FFFFFF"/>
                </a:solidFill>
              </a14:hiddenFill>
            </a:ext>
          </a:extLst>
        </p:spPr>
      </p:pic>
      <p:pic>
        <p:nvPicPr>
          <p:cNvPr id="114" name="Picture 4" descr="Opinio Documentation">
            <a:extLst>
              <a:ext uri="{FF2B5EF4-FFF2-40B4-BE49-F238E27FC236}">
                <a16:creationId xmlns:a16="http://schemas.microsoft.com/office/drawing/2014/main" id="{3CB1E25B-40B2-72F6-33F2-2781430C3E2B}"/>
              </a:ext>
            </a:extLst>
          </p:cNvPr>
          <p:cNvPicPr>
            <a:picLocks noChangeAspect="1" noChangeArrowheads="1"/>
          </p:cNvPicPr>
          <p:nvPr/>
        </p:nvPicPr>
        <p:blipFill rotWithShape="1">
          <a:blip r:embed="rId30">
            <a:extLst>
              <a:ext uri="{28A0092B-C50C-407E-A947-70E740481C1C}">
                <a14:useLocalDpi xmlns:a14="http://schemas.microsoft.com/office/drawing/2010/main" val="0"/>
              </a:ext>
            </a:extLst>
          </a:blip>
          <a:srcRect r="27726"/>
          <a:stretch/>
        </p:blipFill>
        <p:spPr bwMode="auto">
          <a:xfrm>
            <a:off x="10415817" y="5105713"/>
            <a:ext cx="898019" cy="607711"/>
          </a:xfrm>
          <a:prstGeom prst="rect">
            <a:avLst/>
          </a:prstGeom>
          <a:noFill/>
          <a:ln w="12700">
            <a:solidFill>
              <a:srgbClr val="6465FF"/>
            </a:solidFill>
          </a:ln>
          <a:extLst>
            <a:ext uri="{909E8E84-426E-40DD-AFC4-6F175D3DCCD1}">
              <a14:hiddenFill xmlns:a14="http://schemas.microsoft.com/office/drawing/2010/main">
                <a:solidFill>
                  <a:srgbClr val="FFFFFF"/>
                </a:solidFill>
              </a14:hiddenFill>
            </a:ext>
          </a:extLst>
        </p:spPr>
      </p:pic>
      <p:sp>
        <p:nvSpPr>
          <p:cNvPr id="94" name="文字方塊 93">
            <a:extLst>
              <a:ext uri="{FF2B5EF4-FFF2-40B4-BE49-F238E27FC236}">
                <a16:creationId xmlns:a16="http://schemas.microsoft.com/office/drawing/2014/main" id="{7761755A-F142-2E2F-7749-8D3E3AD21067}"/>
              </a:ext>
            </a:extLst>
          </p:cNvPr>
          <p:cNvSpPr txBox="1"/>
          <p:nvPr/>
        </p:nvSpPr>
        <p:spPr>
          <a:xfrm>
            <a:off x="650303" y="5581220"/>
            <a:ext cx="3075420" cy="954107"/>
          </a:xfrm>
          <a:prstGeom prst="rect">
            <a:avLst/>
          </a:prstGeom>
          <a:noFill/>
        </p:spPr>
        <p:txBody>
          <a:bodyPr wrap="square" rtlCol="0">
            <a:spAutoFit/>
          </a:bodyPr>
          <a:lstStyle/>
          <a:p>
            <a:r>
              <a:rPr lang="zh-TW" altLang="en-US" sz="1400">
                <a:solidFill>
                  <a:schemeClr val="accent1">
                    <a:lumMod val="75000"/>
                  </a:schemeClr>
                </a:solidFill>
                <a:latin typeface="+mj-ea"/>
                <a:ea typeface="+mj-ea"/>
              </a:rPr>
              <a:t>* 依照</a:t>
            </a:r>
            <a:r>
              <a:rPr lang="en-US" altLang="zh-TW" sz="1400">
                <a:solidFill>
                  <a:schemeClr val="accent1">
                    <a:lumMod val="75000"/>
                  </a:schemeClr>
                </a:solidFill>
                <a:latin typeface="+mj-ea"/>
                <a:ea typeface="+mj-ea"/>
              </a:rPr>
              <a:t>Corp</a:t>
            </a:r>
            <a:r>
              <a:rPr lang="zh-TW" altLang="en-US" sz="1400">
                <a:solidFill>
                  <a:schemeClr val="accent1">
                    <a:lumMod val="75000"/>
                  </a:schemeClr>
                </a:solidFill>
                <a:latin typeface="+mj-ea"/>
                <a:ea typeface="+mj-ea"/>
              </a:rPr>
              <a:t> </a:t>
            </a:r>
            <a:r>
              <a:rPr lang="en-US" altLang="zh-TW" sz="1400">
                <a:solidFill>
                  <a:schemeClr val="accent1">
                    <a:lumMod val="75000"/>
                  </a:schemeClr>
                </a:solidFill>
                <a:latin typeface="+mj-ea"/>
                <a:ea typeface="+mj-ea"/>
              </a:rPr>
              <a:t>Data Governance Committee</a:t>
            </a:r>
            <a:r>
              <a:rPr lang="zh-TW" altLang="en-US" sz="1400">
                <a:solidFill>
                  <a:schemeClr val="accent1">
                    <a:lumMod val="75000"/>
                  </a:schemeClr>
                </a:solidFill>
                <a:latin typeface="+mj-ea"/>
                <a:ea typeface="+mj-ea"/>
              </a:rPr>
              <a:t> 訂定之數據治理規範與系統平台</a:t>
            </a:r>
            <a:r>
              <a:rPr lang="en-US" altLang="zh-TW" sz="1400">
                <a:solidFill>
                  <a:schemeClr val="accent1">
                    <a:lumMod val="75000"/>
                  </a:schemeClr>
                </a:solidFill>
                <a:latin typeface="+mj-ea"/>
                <a:ea typeface="+mj-ea"/>
              </a:rPr>
              <a:t>, </a:t>
            </a:r>
            <a:r>
              <a:rPr lang="zh-TW" altLang="en-US" sz="1400">
                <a:solidFill>
                  <a:schemeClr val="accent1">
                    <a:lumMod val="75000"/>
                  </a:schemeClr>
                </a:solidFill>
                <a:latin typeface="+mj-ea"/>
                <a:ea typeface="+mj-ea"/>
              </a:rPr>
              <a:t>遵循與</a:t>
            </a:r>
            <a:r>
              <a:rPr lang="en-US" altLang="zh-TW" sz="1400">
                <a:solidFill>
                  <a:schemeClr val="accent1">
                    <a:lumMod val="75000"/>
                  </a:schemeClr>
                </a:solidFill>
                <a:latin typeface="+mj-ea"/>
                <a:ea typeface="+mj-ea"/>
              </a:rPr>
              <a:t>Corp</a:t>
            </a:r>
            <a:r>
              <a:rPr lang="zh-TW" altLang="en-US" sz="1400">
                <a:solidFill>
                  <a:schemeClr val="accent1">
                    <a:lumMod val="75000"/>
                  </a:schemeClr>
                </a:solidFill>
                <a:latin typeface="+mj-ea"/>
                <a:ea typeface="+mj-ea"/>
              </a:rPr>
              <a:t>一致之目標規劃</a:t>
            </a:r>
            <a:r>
              <a:rPr lang="en-US" altLang="zh-TW" sz="1400">
                <a:solidFill>
                  <a:schemeClr val="accent1">
                    <a:lumMod val="75000"/>
                  </a:schemeClr>
                </a:solidFill>
                <a:latin typeface="+mj-ea"/>
                <a:ea typeface="+mj-ea"/>
              </a:rPr>
              <a:t>, </a:t>
            </a:r>
            <a:r>
              <a:rPr lang="zh-TW" altLang="en-US" sz="1400">
                <a:solidFill>
                  <a:schemeClr val="accent1">
                    <a:lumMod val="75000"/>
                  </a:schemeClr>
                </a:solidFill>
                <a:latin typeface="+mj-ea"/>
                <a:ea typeface="+mj-ea"/>
              </a:rPr>
              <a:t>實現</a:t>
            </a:r>
            <a:r>
              <a:rPr lang="en-US" altLang="zh-TW" sz="1400">
                <a:solidFill>
                  <a:schemeClr val="accent1">
                    <a:lumMod val="75000"/>
                  </a:schemeClr>
                </a:solidFill>
                <a:latin typeface="+mj-ea"/>
                <a:ea typeface="+mj-ea"/>
              </a:rPr>
              <a:t>MFG</a:t>
            </a:r>
            <a:r>
              <a:rPr lang="zh-TW" altLang="en-US" sz="1400">
                <a:solidFill>
                  <a:schemeClr val="accent1">
                    <a:lumMod val="75000"/>
                  </a:schemeClr>
                </a:solidFill>
                <a:latin typeface="+mj-ea"/>
                <a:ea typeface="+mj-ea"/>
              </a:rPr>
              <a:t>數據治理</a:t>
            </a:r>
          </a:p>
        </p:txBody>
      </p:sp>
      <p:pic>
        <p:nvPicPr>
          <p:cNvPr id="95" name="Picture 6" descr="身份驗證圖示簡單的元素插圖認證概念符號設計可用於網路和行動裝置向量圖形及更多互聯網圖片- 互聯網, 人, 使用電話- iStock">
            <a:extLst>
              <a:ext uri="{FF2B5EF4-FFF2-40B4-BE49-F238E27FC236}">
                <a16:creationId xmlns:a16="http://schemas.microsoft.com/office/drawing/2014/main" id="{62F32CBE-DE1D-712F-6F72-E90307094552}"/>
              </a:ext>
            </a:extLst>
          </p:cNvPr>
          <p:cNvPicPr>
            <a:picLocks noChangeAspect="1" noChangeArrowheads="1"/>
          </p:cNvPicPr>
          <p:nvPr/>
        </p:nvPicPr>
        <p:blipFill rotWithShape="1">
          <a:blip r:embed="rId31">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25794" t="27344" r="25595" b="30484"/>
          <a:stretch/>
        </p:blipFill>
        <p:spPr bwMode="auto">
          <a:xfrm>
            <a:off x="5161926" y="3542990"/>
            <a:ext cx="359643" cy="31202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Data security icon black sign Royalty Free Vector Image">
            <a:extLst>
              <a:ext uri="{FF2B5EF4-FFF2-40B4-BE49-F238E27FC236}">
                <a16:creationId xmlns:a16="http://schemas.microsoft.com/office/drawing/2014/main" id="{00F00B61-AE22-9AB9-16F4-D38E8AA30452}"/>
              </a:ext>
            </a:extLst>
          </p:cNvPr>
          <p:cNvPicPr>
            <a:picLocks noChangeAspect="1" noChangeArrowheads="1"/>
          </p:cNvPicPr>
          <p:nvPr/>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l="15895" t="8762" r="14044" b="25535"/>
          <a:stretch/>
        </p:blipFill>
        <p:spPr bwMode="auto">
          <a:xfrm>
            <a:off x="5205905" y="3898749"/>
            <a:ext cx="277221" cy="280434"/>
          </a:xfrm>
          <a:prstGeom prst="rect">
            <a:avLst/>
          </a:prstGeom>
          <a:noFill/>
          <a:extLst>
            <a:ext uri="{909E8E84-426E-40DD-AFC4-6F175D3DCCD1}">
              <a14:hiddenFill xmlns:a14="http://schemas.microsoft.com/office/drawing/2010/main">
                <a:solidFill>
                  <a:srgbClr val="FFFFFF"/>
                </a:solidFill>
              </a14:hiddenFill>
            </a:ext>
          </a:extLst>
        </p:spPr>
      </p:pic>
      <p:pic>
        <p:nvPicPr>
          <p:cNvPr id="97" name="圖片 96">
            <a:extLst>
              <a:ext uri="{FF2B5EF4-FFF2-40B4-BE49-F238E27FC236}">
                <a16:creationId xmlns:a16="http://schemas.microsoft.com/office/drawing/2014/main" id="{F53AC649-3CCF-5695-5458-EECBC01143EE}"/>
              </a:ext>
            </a:extLst>
          </p:cNvPr>
          <p:cNvPicPr>
            <a:picLocks noChangeAspect="1"/>
          </p:cNvPicPr>
          <p:nvPr/>
        </p:nvPicPr>
        <p:blipFill>
          <a:blip r:embed="rId33">
            <a:clrChange>
              <a:clrFrom>
                <a:srgbClr val="FFFFFF"/>
              </a:clrFrom>
              <a:clrTo>
                <a:srgbClr val="FFFFFF">
                  <a:alpha val="0"/>
                </a:srgbClr>
              </a:clrTo>
            </a:clrChange>
            <a:biLevel thresh="75000"/>
          </a:blip>
          <a:stretch>
            <a:fillRect/>
          </a:stretch>
        </p:blipFill>
        <p:spPr>
          <a:xfrm>
            <a:off x="5185898" y="4233851"/>
            <a:ext cx="317826" cy="280434"/>
          </a:xfrm>
          <a:prstGeom prst="rect">
            <a:avLst/>
          </a:prstGeom>
        </p:spPr>
      </p:pic>
      <p:pic>
        <p:nvPicPr>
          <p:cNvPr id="98" name="Picture 16" descr="Database Icon, Data Base Icon">
            <a:extLst>
              <a:ext uri="{FF2B5EF4-FFF2-40B4-BE49-F238E27FC236}">
                <a16:creationId xmlns:a16="http://schemas.microsoft.com/office/drawing/2014/main" id="{C3FBB3F8-4862-EB31-2BF0-1543C3626317}"/>
              </a:ext>
            </a:extLst>
          </p:cNvPr>
          <p:cNvPicPr>
            <a:picLocks noChangeAspect="1" noChangeArrowheads="1"/>
          </p:cNvPicPr>
          <p:nvPr/>
        </p:nvPicPr>
        <p:blipFill rotWithShape="1">
          <a:blip r:embed="rId34">
            <a:clrChange>
              <a:clrFrom>
                <a:srgbClr val="FDFDFD"/>
              </a:clrFrom>
              <a:clrTo>
                <a:srgbClr val="FDFDFD">
                  <a:alpha val="0"/>
                </a:srgbClr>
              </a:clrTo>
            </a:clrChange>
            <a:extLst>
              <a:ext uri="{28A0092B-C50C-407E-A947-70E740481C1C}">
                <a14:useLocalDpi xmlns:a14="http://schemas.microsoft.com/office/drawing/2010/main" val="0"/>
              </a:ext>
            </a:extLst>
          </a:blip>
          <a:srcRect l="17720" t="20351" r="18304" b="20489"/>
          <a:stretch/>
        </p:blipFill>
        <p:spPr bwMode="auto">
          <a:xfrm>
            <a:off x="5166105" y="4577845"/>
            <a:ext cx="373050" cy="268400"/>
          </a:xfrm>
          <a:prstGeom prst="rect">
            <a:avLst/>
          </a:prstGeom>
          <a:noFill/>
          <a:extLst>
            <a:ext uri="{909E8E84-426E-40DD-AFC4-6F175D3DCCD1}">
              <a14:hiddenFill xmlns:a14="http://schemas.microsoft.com/office/drawing/2010/main">
                <a:solidFill>
                  <a:srgbClr val="FFFFFF"/>
                </a:solidFill>
              </a14:hiddenFill>
            </a:ext>
          </a:extLst>
        </p:spPr>
      </p:pic>
      <p:sp>
        <p:nvSpPr>
          <p:cNvPr id="99" name="TextBox 63">
            <a:extLst>
              <a:ext uri="{FF2B5EF4-FFF2-40B4-BE49-F238E27FC236}">
                <a16:creationId xmlns:a16="http://schemas.microsoft.com/office/drawing/2014/main" id="{2164A67F-F55E-31DA-C486-CF0E353EA798}"/>
              </a:ext>
            </a:extLst>
          </p:cNvPr>
          <p:cNvSpPr txBox="1">
            <a:spLocks noChangeArrowheads="1"/>
          </p:cNvSpPr>
          <p:nvPr/>
        </p:nvSpPr>
        <p:spPr bwMode="auto">
          <a:xfrm>
            <a:off x="3876586" y="5376812"/>
            <a:ext cx="5802880" cy="782162"/>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algn="ctr" defTabSz="380985">
              <a:defRPr b="1">
                <a:solidFill>
                  <a:schemeClr val="tx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TW" altLang="en-US">
                <a:solidFill>
                  <a:schemeClr val="accent1">
                    <a:lumMod val="75000"/>
                  </a:schemeClr>
                </a:solidFill>
                <a:effectLst/>
              </a:rPr>
              <a:t>數據治理</a:t>
            </a:r>
            <a:endParaRPr lang="en-US" altLang="en-US">
              <a:solidFill>
                <a:schemeClr val="accent1">
                  <a:lumMod val="75000"/>
                </a:schemeClr>
              </a:solidFill>
              <a:effectLst/>
            </a:endParaRPr>
          </a:p>
        </p:txBody>
      </p:sp>
      <p:sp>
        <p:nvSpPr>
          <p:cNvPr id="63" name="AutoShape 7">
            <a:extLst>
              <a:ext uri="{FF2B5EF4-FFF2-40B4-BE49-F238E27FC236}">
                <a16:creationId xmlns:a16="http://schemas.microsoft.com/office/drawing/2014/main" id="{3FA75F55-EBBF-8C3E-9B70-4FF83C11F7FA}"/>
              </a:ext>
            </a:extLst>
          </p:cNvPr>
          <p:cNvSpPr>
            <a:spLocks noChangeArrowheads="1"/>
          </p:cNvSpPr>
          <p:nvPr/>
        </p:nvSpPr>
        <p:spPr bwMode="auto">
          <a:xfrm>
            <a:off x="4022333" y="5782008"/>
            <a:ext cx="1270278" cy="319380"/>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72000" bIns="0" anchor="ctr" anchorCtr="0"/>
          <a:lstStyle/>
          <a:p>
            <a:pPr algn="r">
              <a:lnSpc>
                <a:spcPct val="85000"/>
              </a:lnSpc>
              <a:spcBef>
                <a:spcPct val="0"/>
              </a:spcBef>
            </a:pPr>
            <a:r>
              <a:rPr lang="zh-TW" altLang="en-US" sz="1600" b="1">
                <a:solidFill>
                  <a:schemeClr val="accent1">
                    <a:lumMod val="75000"/>
                  </a:schemeClr>
                </a:solidFill>
                <a:latin typeface="+mj-ea"/>
                <a:ea typeface="+mj-ea"/>
              </a:rPr>
              <a:t>數據目錄</a:t>
            </a:r>
            <a:endParaRPr lang="en-GB" altLang="en-US" sz="1600" b="1">
              <a:solidFill>
                <a:schemeClr val="accent1">
                  <a:lumMod val="75000"/>
                </a:schemeClr>
              </a:solidFill>
              <a:latin typeface="+mj-ea"/>
              <a:ea typeface="+mj-ea"/>
            </a:endParaRPr>
          </a:p>
        </p:txBody>
      </p:sp>
      <p:pic>
        <p:nvPicPr>
          <p:cNvPr id="64" name="圖片 63">
            <a:extLst>
              <a:ext uri="{FF2B5EF4-FFF2-40B4-BE49-F238E27FC236}">
                <a16:creationId xmlns:a16="http://schemas.microsoft.com/office/drawing/2014/main" id="{9B7285EC-7B88-AB49-D735-B5E3414D398C}"/>
              </a:ext>
            </a:extLst>
          </p:cNvPr>
          <p:cNvPicPr>
            <a:picLocks noChangeAspect="1"/>
          </p:cNvPicPr>
          <p:nvPr/>
        </p:nvPicPr>
        <p:blipFill>
          <a:blip r:embed="rId35">
            <a:clrChange>
              <a:clrFrom>
                <a:srgbClr val="FFFFFF"/>
              </a:clrFrom>
              <a:clrTo>
                <a:srgbClr val="FFFFFF">
                  <a:alpha val="0"/>
                </a:srgbClr>
              </a:clrTo>
            </a:clrChange>
          </a:blip>
          <a:stretch>
            <a:fillRect/>
          </a:stretch>
        </p:blipFill>
        <p:spPr>
          <a:xfrm>
            <a:off x="4059828" y="5791744"/>
            <a:ext cx="295308" cy="280725"/>
          </a:xfrm>
          <a:prstGeom prst="rect">
            <a:avLst/>
          </a:prstGeom>
        </p:spPr>
      </p:pic>
      <p:sp>
        <p:nvSpPr>
          <p:cNvPr id="65" name="AutoShape 7">
            <a:extLst>
              <a:ext uri="{FF2B5EF4-FFF2-40B4-BE49-F238E27FC236}">
                <a16:creationId xmlns:a16="http://schemas.microsoft.com/office/drawing/2014/main" id="{52FD3D7D-3FDB-D64A-036B-13272752252F}"/>
              </a:ext>
            </a:extLst>
          </p:cNvPr>
          <p:cNvSpPr>
            <a:spLocks noChangeArrowheads="1"/>
          </p:cNvSpPr>
          <p:nvPr/>
        </p:nvSpPr>
        <p:spPr bwMode="auto">
          <a:xfrm>
            <a:off x="5440834" y="5790497"/>
            <a:ext cx="1288638" cy="306215"/>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72000" bIns="0" anchor="ctr" anchorCtr="0"/>
          <a:lstStyle/>
          <a:p>
            <a:pPr algn="r">
              <a:lnSpc>
                <a:spcPct val="85000"/>
              </a:lnSpc>
              <a:spcBef>
                <a:spcPct val="0"/>
              </a:spcBef>
            </a:pPr>
            <a:r>
              <a:rPr lang="zh-TW" altLang="en-US" sz="1600" b="1">
                <a:solidFill>
                  <a:schemeClr val="accent1">
                    <a:lumMod val="75000"/>
                  </a:schemeClr>
                </a:solidFill>
                <a:latin typeface="+mj-ea"/>
                <a:ea typeface="+mj-ea"/>
              </a:rPr>
              <a:t>數據血緣</a:t>
            </a:r>
            <a:endParaRPr lang="en-GB" altLang="en-US" sz="1600" b="1">
              <a:solidFill>
                <a:schemeClr val="accent1">
                  <a:lumMod val="75000"/>
                </a:schemeClr>
              </a:solidFill>
              <a:latin typeface="+mj-ea"/>
              <a:ea typeface="+mj-ea"/>
            </a:endParaRPr>
          </a:p>
        </p:txBody>
      </p:sp>
      <p:pic>
        <p:nvPicPr>
          <p:cNvPr id="66" name="圖片 65" descr="一張含有 黑色, 黑暗 的圖片&#10;&#10;自動產生的描述">
            <a:extLst>
              <a:ext uri="{FF2B5EF4-FFF2-40B4-BE49-F238E27FC236}">
                <a16:creationId xmlns:a16="http://schemas.microsoft.com/office/drawing/2014/main" id="{E4671CC0-C6E3-3888-2F4C-4C201D05B9C7}"/>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5503724" y="5786871"/>
            <a:ext cx="326852" cy="326852"/>
          </a:xfrm>
          <a:prstGeom prst="rect">
            <a:avLst/>
          </a:prstGeom>
        </p:spPr>
      </p:pic>
      <p:sp>
        <p:nvSpPr>
          <p:cNvPr id="67" name="AutoShape 7">
            <a:extLst>
              <a:ext uri="{FF2B5EF4-FFF2-40B4-BE49-F238E27FC236}">
                <a16:creationId xmlns:a16="http://schemas.microsoft.com/office/drawing/2014/main" id="{0522E542-D7D5-DEC2-9219-1330D620FAC2}"/>
              </a:ext>
            </a:extLst>
          </p:cNvPr>
          <p:cNvSpPr>
            <a:spLocks noChangeArrowheads="1"/>
          </p:cNvSpPr>
          <p:nvPr/>
        </p:nvSpPr>
        <p:spPr bwMode="auto">
          <a:xfrm>
            <a:off x="6876140" y="5786519"/>
            <a:ext cx="1270278" cy="319380"/>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72000" bIns="0" anchor="ctr" anchorCtr="0"/>
          <a:lstStyle/>
          <a:p>
            <a:pPr algn="r">
              <a:lnSpc>
                <a:spcPct val="85000"/>
              </a:lnSpc>
              <a:spcBef>
                <a:spcPct val="0"/>
              </a:spcBef>
            </a:pPr>
            <a:r>
              <a:rPr lang="zh-TW" altLang="en-US" sz="1600" b="1">
                <a:solidFill>
                  <a:schemeClr val="accent1">
                    <a:lumMod val="75000"/>
                  </a:schemeClr>
                </a:solidFill>
                <a:latin typeface="+mj-ea"/>
                <a:ea typeface="+mj-ea"/>
              </a:rPr>
              <a:t>數據品質</a:t>
            </a:r>
            <a:endParaRPr lang="en-GB" altLang="en-US" sz="1600" b="1">
              <a:solidFill>
                <a:schemeClr val="accent1">
                  <a:lumMod val="75000"/>
                </a:schemeClr>
              </a:solidFill>
              <a:latin typeface="+mj-ea"/>
              <a:ea typeface="+mj-ea"/>
            </a:endParaRPr>
          </a:p>
        </p:txBody>
      </p:sp>
      <p:pic>
        <p:nvPicPr>
          <p:cNvPr id="68" name="Picture 2" descr="Google Quality Score: What Is It and How Do You Improve It? │ PPC agency |  equation digital">
            <a:extLst>
              <a:ext uri="{FF2B5EF4-FFF2-40B4-BE49-F238E27FC236}">
                <a16:creationId xmlns:a16="http://schemas.microsoft.com/office/drawing/2014/main" id="{C2DDCDAC-BEF3-49FE-2520-F89B0878EDBC}"/>
              </a:ext>
            </a:extLst>
          </p:cNvPr>
          <p:cNvPicPr>
            <a:picLocks noChangeAspect="1" noChangeArrowheads="1"/>
          </p:cNvPicPr>
          <p:nvPr/>
        </p:nvPicPr>
        <p:blipFill rotWithShape="1">
          <a:blip r:embed="rId37">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7187" t="16228" r="7399" b="11685"/>
          <a:stretch/>
        </p:blipFill>
        <p:spPr bwMode="auto">
          <a:xfrm>
            <a:off x="6898558" y="5835528"/>
            <a:ext cx="346064" cy="221361"/>
          </a:xfrm>
          <a:prstGeom prst="rect">
            <a:avLst/>
          </a:prstGeom>
          <a:noFill/>
          <a:extLst>
            <a:ext uri="{909E8E84-426E-40DD-AFC4-6F175D3DCCD1}">
              <a14:hiddenFill xmlns:a14="http://schemas.microsoft.com/office/drawing/2010/main">
                <a:solidFill>
                  <a:srgbClr val="FFFFFF"/>
                </a:solidFill>
              </a14:hiddenFill>
            </a:ext>
          </a:extLst>
        </p:spPr>
      </p:pic>
      <p:sp>
        <p:nvSpPr>
          <p:cNvPr id="69" name="AutoShape 7">
            <a:extLst>
              <a:ext uri="{FF2B5EF4-FFF2-40B4-BE49-F238E27FC236}">
                <a16:creationId xmlns:a16="http://schemas.microsoft.com/office/drawing/2014/main" id="{AC9C7CEF-3057-228A-3AE2-163F2C9D20AE}"/>
              </a:ext>
            </a:extLst>
          </p:cNvPr>
          <p:cNvSpPr>
            <a:spLocks noChangeArrowheads="1"/>
          </p:cNvSpPr>
          <p:nvPr/>
        </p:nvSpPr>
        <p:spPr bwMode="auto">
          <a:xfrm>
            <a:off x="8297281" y="5786871"/>
            <a:ext cx="1270278" cy="319380"/>
          </a:xfrm>
          <a:prstGeom prst="roundRect">
            <a:avLst>
              <a:gd name="adj" fmla="val 10671"/>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36000" rIns="72000" bIns="0" anchor="ctr" anchorCtr="0"/>
          <a:lstStyle/>
          <a:p>
            <a:pPr algn="r">
              <a:lnSpc>
                <a:spcPct val="85000"/>
              </a:lnSpc>
              <a:spcBef>
                <a:spcPct val="0"/>
              </a:spcBef>
            </a:pPr>
            <a:r>
              <a:rPr lang="zh-TW" altLang="en-US" sz="1600" b="1">
                <a:solidFill>
                  <a:schemeClr val="accent1">
                    <a:lumMod val="75000"/>
                  </a:schemeClr>
                </a:solidFill>
                <a:latin typeface="+mj-ea"/>
                <a:ea typeface="+mj-ea"/>
              </a:rPr>
              <a:t>數據探索</a:t>
            </a:r>
            <a:endParaRPr lang="en-GB" altLang="en-US" sz="1600" b="1">
              <a:solidFill>
                <a:schemeClr val="accent1">
                  <a:lumMod val="75000"/>
                </a:schemeClr>
              </a:solidFill>
              <a:latin typeface="+mj-ea"/>
              <a:ea typeface="+mj-ea"/>
            </a:endParaRPr>
          </a:p>
        </p:txBody>
      </p:sp>
      <p:pic>
        <p:nvPicPr>
          <p:cNvPr id="70" name="Picture 2" descr="眼睛监视眼睛检查眼睛搜索图标图标免费下载-图标0mPaUUUgW-新图网">
            <a:extLst>
              <a:ext uri="{FF2B5EF4-FFF2-40B4-BE49-F238E27FC236}">
                <a16:creationId xmlns:a16="http://schemas.microsoft.com/office/drawing/2014/main" id="{4C49E10D-8AAE-4BE9-2226-A66EF0D03ED5}"/>
              </a:ext>
            </a:extLst>
          </p:cNvPr>
          <p:cNvPicPr>
            <a:picLocks noChangeAspect="1" noChangeArrowheads="1"/>
          </p:cNvPicPr>
          <p:nvPr/>
        </p:nvPicPr>
        <p:blipFill>
          <a:blip r:embed="rId38">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8353277" y="5808600"/>
            <a:ext cx="287633" cy="281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529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15" name="直線接點 1114">
            <a:extLst>
              <a:ext uri="{FF2B5EF4-FFF2-40B4-BE49-F238E27FC236}">
                <a16:creationId xmlns:a16="http://schemas.microsoft.com/office/drawing/2014/main" id="{FBC7E8B4-E2F8-E1C9-7E56-3ADC0D3257EE}"/>
              </a:ext>
            </a:extLst>
          </p:cNvPr>
          <p:cNvCxnSpPr>
            <a:cxnSpLocks/>
          </p:cNvCxnSpPr>
          <p:nvPr/>
        </p:nvCxnSpPr>
        <p:spPr>
          <a:xfrm>
            <a:off x="142240" y="2011680"/>
            <a:ext cx="1194816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 name="矩形: 圓角 1048">
            <a:extLst>
              <a:ext uri="{FF2B5EF4-FFF2-40B4-BE49-F238E27FC236}">
                <a16:creationId xmlns:a16="http://schemas.microsoft.com/office/drawing/2014/main" id="{FAE53CAD-9F73-5061-5F1A-5E33EFDAECA7}"/>
              </a:ext>
            </a:extLst>
          </p:cNvPr>
          <p:cNvSpPr/>
          <p:nvPr/>
        </p:nvSpPr>
        <p:spPr>
          <a:xfrm>
            <a:off x="3642062" y="6108321"/>
            <a:ext cx="61404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sp>
        <p:nvSpPr>
          <p:cNvPr id="1047" name="矩形: 圓角 1046">
            <a:extLst>
              <a:ext uri="{FF2B5EF4-FFF2-40B4-BE49-F238E27FC236}">
                <a16:creationId xmlns:a16="http://schemas.microsoft.com/office/drawing/2014/main" id="{3DD070A0-7686-31C2-B677-68776C3F717F}"/>
              </a:ext>
            </a:extLst>
          </p:cNvPr>
          <p:cNvSpPr/>
          <p:nvPr/>
        </p:nvSpPr>
        <p:spPr>
          <a:xfrm>
            <a:off x="3627430" y="6094384"/>
            <a:ext cx="61404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sp>
        <p:nvSpPr>
          <p:cNvPr id="1045" name="矩形: 圓角 1044">
            <a:extLst>
              <a:ext uri="{FF2B5EF4-FFF2-40B4-BE49-F238E27FC236}">
                <a16:creationId xmlns:a16="http://schemas.microsoft.com/office/drawing/2014/main" id="{CAB2ACFD-D2CE-A37E-C000-BF43E13B2188}"/>
              </a:ext>
            </a:extLst>
          </p:cNvPr>
          <p:cNvSpPr/>
          <p:nvPr/>
        </p:nvSpPr>
        <p:spPr>
          <a:xfrm>
            <a:off x="3618085" y="6079528"/>
            <a:ext cx="61404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sp>
        <p:nvSpPr>
          <p:cNvPr id="1043" name="矩形: 圓角 1042">
            <a:extLst>
              <a:ext uri="{FF2B5EF4-FFF2-40B4-BE49-F238E27FC236}">
                <a16:creationId xmlns:a16="http://schemas.microsoft.com/office/drawing/2014/main" id="{B9E378EF-9C28-9364-4000-72CF59BDB5BD}"/>
              </a:ext>
            </a:extLst>
          </p:cNvPr>
          <p:cNvSpPr/>
          <p:nvPr/>
        </p:nvSpPr>
        <p:spPr>
          <a:xfrm>
            <a:off x="3605618" y="6065593"/>
            <a:ext cx="61404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sp>
        <p:nvSpPr>
          <p:cNvPr id="1183" name="矩形: 圓角 1182">
            <a:extLst>
              <a:ext uri="{FF2B5EF4-FFF2-40B4-BE49-F238E27FC236}">
                <a16:creationId xmlns:a16="http://schemas.microsoft.com/office/drawing/2014/main" id="{2F919945-9B2B-B55B-4877-05E9C1A0449E}"/>
              </a:ext>
            </a:extLst>
          </p:cNvPr>
          <p:cNvSpPr/>
          <p:nvPr/>
        </p:nvSpPr>
        <p:spPr>
          <a:xfrm>
            <a:off x="1807508" y="2255215"/>
            <a:ext cx="9733701" cy="1229716"/>
          </a:xfrm>
          <a:prstGeom prst="roundRect">
            <a:avLst>
              <a:gd name="adj" fmla="val 6833"/>
            </a:avLst>
          </a:prstGeom>
          <a:solidFill>
            <a:srgbClr val="0099FF"/>
          </a:solidFill>
          <a:ln>
            <a:solidFill>
              <a:srgbClr val="0066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MFG</a:t>
            </a:r>
            <a:r>
              <a:rPr lang="zh-TW" altLang="en-US" sz="1600">
                <a:latin typeface="微軟正黑體" panose="020B0604030504040204" pitchFamily="34" charset="-120"/>
                <a:ea typeface="微軟正黑體" panose="020B0604030504040204" pitchFamily="34" charset="-120"/>
              </a:rPr>
              <a:t>數據中台</a:t>
            </a:r>
          </a:p>
        </p:txBody>
      </p:sp>
      <p:sp>
        <p:nvSpPr>
          <p:cNvPr id="1182" name="矩形: 圓角 1181">
            <a:extLst>
              <a:ext uri="{FF2B5EF4-FFF2-40B4-BE49-F238E27FC236}">
                <a16:creationId xmlns:a16="http://schemas.microsoft.com/office/drawing/2014/main" id="{6F9E6E31-A2F1-EDA1-7008-9154740BE868}"/>
              </a:ext>
            </a:extLst>
          </p:cNvPr>
          <p:cNvSpPr/>
          <p:nvPr/>
        </p:nvSpPr>
        <p:spPr>
          <a:xfrm>
            <a:off x="1781974" y="2220318"/>
            <a:ext cx="9733701" cy="1229716"/>
          </a:xfrm>
          <a:prstGeom prst="roundRect">
            <a:avLst>
              <a:gd name="adj" fmla="val 6833"/>
            </a:avLst>
          </a:prstGeom>
          <a:solidFill>
            <a:srgbClr val="0099FF"/>
          </a:solidFill>
          <a:ln>
            <a:solidFill>
              <a:srgbClr val="0066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MFG</a:t>
            </a:r>
            <a:r>
              <a:rPr lang="zh-TW" altLang="en-US" sz="1600">
                <a:latin typeface="微軟正黑體" panose="020B0604030504040204" pitchFamily="34" charset="-120"/>
                <a:ea typeface="微軟正黑體" panose="020B0604030504040204" pitchFamily="34" charset="-120"/>
              </a:rPr>
              <a:t>數據中台</a:t>
            </a:r>
          </a:p>
        </p:txBody>
      </p:sp>
      <p:sp>
        <p:nvSpPr>
          <p:cNvPr id="1181" name="矩形: 圓角 1180">
            <a:extLst>
              <a:ext uri="{FF2B5EF4-FFF2-40B4-BE49-F238E27FC236}">
                <a16:creationId xmlns:a16="http://schemas.microsoft.com/office/drawing/2014/main" id="{91976A8E-CCDA-AAC1-DD77-4D73097F29A6}"/>
              </a:ext>
            </a:extLst>
          </p:cNvPr>
          <p:cNvSpPr/>
          <p:nvPr/>
        </p:nvSpPr>
        <p:spPr>
          <a:xfrm>
            <a:off x="2002675" y="5151903"/>
            <a:ext cx="1519824" cy="705727"/>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Factory EAP</a:t>
            </a:r>
            <a:endParaRPr lang="zh-TW" altLang="en-US" sz="1600">
              <a:latin typeface="微軟正黑體" panose="020B0604030504040204" pitchFamily="34" charset="-120"/>
              <a:ea typeface="微軟正黑體" panose="020B0604030504040204" pitchFamily="34" charset="-120"/>
            </a:endParaRPr>
          </a:p>
        </p:txBody>
      </p:sp>
      <p:sp>
        <p:nvSpPr>
          <p:cNvPr id="1180" name="矩形: 圓角 1179">
            <a:extLst>
              <a:ext uri="{FF2B5EF4-FFF2-40B4-BE49-F238E27FC236}">
                <a16:creationId xmlns:a16="http://schemas.microsoft.com/office/drawing/2014/main" id="{6EC90F3A-F566-433E-F2F5-DC22D558D68F}"/>
              </a:ext>
            </a:extLst>
          </p:cNvPr>
          <p:cNvSpPr/>
          <p:nvPr/>
        </p:nvSpPr>
        <p:spPr>
          <a:xfrm>
            <a:off x="1983639" y="5120675"/>
            <a:ext cx="1519824" cy="705727"/>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Factory EAP</a:t>
            </a:r>
            <a:endParaRPr lang="zh-TW" altLang="en-US" sz="1600">
              <a:latin typeface="微軟正黑體" panose="020B0604030504040204" pitchFamily="34" charset="-120"/>
              <a:ea typeface="微軟正黑體" panose="020B0604030504040204" pitchFamily="34" charset="-120"/>
            </a:endParaRPr>
          </a:p>
        </p:txBody>
      </p:sp>
      <p:sp>
        <p:nvSpPr>
          <p:cNvPr id="1174" name="矩形: 圓角 1173">
            <a:extLst>
              <a:ext uri="{FF2B5EF4-FFF2-40B4-BE49-F238E27FC236}">
                <a16:creationId xmlns:a16="http://schemas.microsoft.com/office/drawing/2014/main" id="{BB72D192-82BF-65E7-7A38-2FF0D02DC6DE}"/>
              </a:ext>
            </a:extLst>
          </p:cNvPr>
          <p:cNvSpPr/>
          <p:nvPr/>
        </p:nvSpPr>
        <p:spPr>
          <a:xfrm>
            <a:off x="3666006" y="5134176"/>
            <a:ext cx="1925036" cy="705729"/>
          </a:xfrm>
          <a:prstGeom prst="roundRect">
            <a:avLst/>
          </a:prstGeom>
          <a:solidFill>
            <a:schemeClr val="accent2">
              <a:lumMod val="75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MES</a:t>
            </a:r>
            <a:endParaRPr lang="zh-TW" altLang="en-US" sz="1600">
              <a:latin typeface="微軟正黑體" panose="020B0604030504040204" pitchFamily="34" charset="-120"/>
              <a:ea typeface="微軟正黑體" panose="020B0604030504040204" pitchFamily="34" charset="-120"/>
            </a:endParaRPr>
          </a:p>
        </p:txBody>
      </p:sp>
      <p:sp>
        <p:nvSpPr>
          <p:cNvPr id="1173" name="矩形: 圓角 1172">
            <a:extLst>
              <a:ext uri="{FF2B5EF4-FFF2-40B4-BE49-F238E27FC236}">
                <a16:creationId xmlns:a16="http://schemas.microsoft.com/office/drawing/2014/main" id="{F98E0E4A-C534-6296-44DF-B700351953E5}"/>
              </a:ext>
            </a:extLst>
          </p:cNvPr>
          <p:cNvSpPr/>
          <p:nvPr/>
        </p:nvSpPr>
        <p:spPr>
          <a:xfrm>
            <a:off x="3647573" y="5106396"/>
            <a:ext cx="1925036" cy="705729"/>
          </a:xfrm>
          <a:prstGeom prst="roundRect">
            <a:avLst/>
          </a:prstGeom>
          <a:solidFill>
            <a:schemeClr val="accent2">
              <a:lumMod val="75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MES</a:t>
            </a:r>
            <a:endParaRPr lang="zh-TW" altLang="en-US" sz="1600">
              <a:latin typeface="微軟正黑體" panose="020B0604030504040204" pitchFamily="34" charset="-120"/>
              <a:ea typeface="微軟正黑體" panose="020B0604030504040204" pitchFamily="34" charset="-120"/>
            </a:endParaRPr>
          </a:p>
        </p:txBody>
      </p:sp>
      <p:sp>
        <p:nvSpPr>
          <p:cNvPr id="1172" name="矩形: 圓角 1171">
            <a:extLst>
              <a:ext uri="{FF2B5EF4-FFF2-40B4-BE49-F238E27FC236}">
                <a16:creationId xmlns:a16="http://schemas.microsoft.com/office/drawing/2014/main" id="{3015C5B7-1245-EE58-EA5D-DF30F2E37272}"/>
              </a:ext>
            </a:extLst>
          </p:cNvPr>
          <p:cNvSpPr/>
          <p:nvPr/>
        </p:nvSpPr>
        <p:spPr>
          <a:xfrm>
            <a:off x="1968389" y="5087715"/>
            <a:ext cx="1519824" cy="705727"/>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Factory EAP</a:t>
            </a:r>
            <a:endParaRPr lang="zh-TW" altLang="en-US" sz="1600">
              <a:latin typeface="微軟正黑體" panose="020B0604030504040204" pitchFamily="34" charset="-120"/>
              <a:ea typeface="微軟正黑體" panose="020B0604030504040204" pitchFamily="34" charset="-120"/>
            </a:endParaRPr>
          </a:p>
        </p:txBody>
      </p:sp>
      <p:sp>
        <p:nvSpPr>
          <p:cNvPr id="1171" name="矩形: 圓角 1170">
            <a:extLst>
              <a:ext uri="{FF2B5EF4-FFF2-40B4-BE49-F238E27FC236}">
                <a16:creationId xmlns:a16="http://schemas.microsoft.com/office/drawing/2014/main" id="{3C8CB876-40FB-E003-097C-374494EF1282}"/>
              </a:ext>
            </a:extLst>
          </p:cNvPr>
          <p:cNvSpPr/>
          <p:nvPr/>
        </p:nvSpPr>
        <p:spPr>
          <a:xfrm>
            <a:off x="1952131" y="5056002"/>
            <a:ext cx="1519824" cy="705727"/>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Factory EAP</a:t>
            </a:r>
            <a:endParaRPr lang="zh-TW" altLang="en-US" sz="1600">
              <a:latin typeface="微軟正黑體" panose="020B0604030504040204" pitchFamily="34" charset="-120"/>
              <a:ea typeface="微軟正黑體" panose="020B0604030504040204" pitchFamily="34" charset="-120"/>
            </a:endParaRPr>
          </a:p>
        </p:txBody>
      </p:sp>
      <p:sp>
        <p:nvSpPr>
          <p:cNvPr id="1170" name="矩形: 圓角 1169">
            <a:extLst>
              <a:ext uri="{FF2B5EF4-FFF2-40B4-BE49-F238E27FC236}">
                <a16:creationId xmlns:a16="http://schemas.microsoft.com/office/drawing/2014/main" id="{440E35BC-D66D-7B14-5170-7355F282989B}"/>
              </a:ext>
            </a:extLst>
          </p:cNvPr>
          <p:cNvSpPr/>
          <p:nvPr/>
        </p:nvSpPr>
        <p:spPr>
          <a:xfrm>
            <a:off x="3631023" y="5080396"/>
            <a:ext cx="1925036" cy="705729"/>
          </a:xfrm>
          <a:prstGeom prst="roundRect">
            <a:avLst/>
          </a:prstGeom>
          <a:solidFill>
            <a:schemeClr val="accent2">
              <a:lumMod val="75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MES</a:t>
            </a:r>
            <a:endParaRPr lang="zh-TW" altLang="en-US" sz="1600">
              <a:latin typeface="微軟正黑體" panose="020B0604030504040204" pitchFamily="34" charset="-120"/>
              <a:ea typeface="微軟正黑體" panose="020B0604030504040204" pitchFamily="34" charset="-120"/>
            </a:endParaRPr>
          </a:p>
        </p:txBody>
      </p:sp>
      <p:sp>
        <p:nvSpPr>
          <p:cNvPr id="1169" name="矩形: 圓角 1168">
            <a:extLst>
              <a:ext uri="{FF2B5EF4-FFF2-40B4-BE49-F238E27FC236}">
                <a16:creationId xmlns:a16="http://schemas.microsoft.com/office/drawing/2014/main" id="{EB47D00E-FE13-C0A3-06E3-280D5EAFEB01}"/>
              </a:ext>
            </a:extLst>
          </p:cNvPr>
          <p:cNvSpPr/>
          <p:nvPr/>
        </p:nvSpPr>
        <p:spPr>
          <a:xfrm>
            <a:off x="3614613" y="5052625"/>
            <a:ext cx="1925036" cy="705729"/>
          </a:xfrm>
          <a:prstGeom prst="roundRect">
            <a:avLst/>
          </a:prstGeom>
          <a:solidFill>
            <a:schemeClr val="accent2">
              <a:lumMod val="75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MES</a:t>
            </a:r>
            <a:endParaRPr lang="zh-TW" altLang="en-US" sz="1600">
              <a:latin typeface="微軟正黑體" panose="020B0604030504040204" pitchFamily="34" charset="-120"/>
              <a:ea typeface="微軟正黑體" panose="020B0604030504040204" pitchFamily="34" charset="-120"/>
            </a:endParaRPr>
          </a:p>
        </p:txBody>
      </p:sp>
      <p:sp>
        <p:nvSpPr>
          <p:cNvPr id="3" name="矩形: 圓角 2">
            <a:extLst>
              <a:ext uri="{FF2B5EF4-FFF2-40B4-BE49-F238E27FC236}">
                <a16:creationId xmlns:a16="http://schemas.microsoft.com/office/drawing/2014/main" id="{C8A6F27E-ACF4-9AE2-6A4C-4BA4732B3A44}"/>
              </a:ext>
            </a:extLst>
          </p:cNvPr>
          <p:cNvSpPr/>
          <p:nvPr/>
        </p:nvSpPr>
        <p:spPr>
          <a:xfrm>
            <a:off x="3598203" y="3841320"/>
            <a:ext cx="1925036" cy="828673"/>
          </a:xfrm>
          <a:prstGeom prst="roundRect">
            <a:avLst>
              <a:gd name="adj" fmla="val 7789"/>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b="1">
                <a:latin typeface="微軟正黑體" panose="020B0604030504040204" pitchFamily="34" charset="-120"/>
                <a:ea typeface="微軟正黑體" panose="020B0604030504040204" pitchFamily="34" charset="-120"/>
              </a:rPr>
              <a:t>MES</a:t>
            </a:r>
            <a:r>
              <a:rPr lang="zh-TW" altLang="en-US" sz="1600" b="1">
                <a:latin typeface="微軟正黑體" panose="020B0604030504040204" pitchFamily="34" charset="-120"/>
                <a:ea typeface="微軟正黑體" panose="020B0604030504040204" pitchFamily="34" charset="-120"/>
              </a:rPr>
              <a:t>數據中台</a:t>
            </a:r>
          </a:p>
        </p:txBody>
      </p:sp>
      <p:sp>
        <p:nvSpPr>
          <p:cNvPr id="4" name="矩形: 圓角 3">
            <a:extLst>
              <a:ext uri="{FF2B5EF4-FFF2-40B4-BE49-F238E27FC236}">
                <a16:creationId xmlns:a16="http://schemas.microsoft.com/office/drawing/2014/main" id="{59828CB7-8B30-88BD-4BEF-40B908FA5231}"/>
              </a:ext>
            </a:extLst>
          </p:cNvPr>
          <p:cNvSpPr/>
          <p:nvPr/>
        </p:nvSpPr>
        <p:spPr>
          <a:xfrm>
            <a:off x="6716626" y="3850445"/>
            <a:ext cx="2942333" cy="817500"/>
          </a:xfrm>
          <a:prstGeom prst="roundRect">
            <a:avLst>
              <a:gd name="adj" fmla="val 6444"/>
            </a:avLst>
          </a:prstGeom>
          <a:solidFill>
            <a:schemeClr val="accent2">
              <a:lumMod val="75000"/>
            </a:schemeClr>
          </a:solidFill>
          <a:ln w="12700">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b="1">
                <a:latin typeface="微軟正黑體" panose="020B0604030504040204" pitchFamily="34" charset="-120"/>
                <a:ea typeface="微軟正黑體" panose="020B0604030504040204" pitchFamily="34" charset="-120"/>
              </a:rPr>
              <a:t>Corp</a:t>
            </a:r>
            <a:r>
              <a:rPr lang="zh-TW" altLang="en-US" sz="1600" b="1">
                <a:latin typeface="微軟正黑體" panose="020B0604030504040204" pitchFamily="34" charset="-120"/>
                <a:ea typeface="微軟正黑體" panose="020B0604030504040204" pitchFamily="34" charset="-120"/>
              </a:rPr>
              <a:t>數據中台</a:t>
            </a:r>
          </a:p>
        </p:txBody>
      </p:sp>
      <p:sp>
        <p:nvSpPr>
          <p:cNvPr id="5" name="矩形: 圓角 4">
            <a:extLst>
              <a:ext uri="{FF2B5EF4-FFF2-40B4-BE49-F238E27FC236}">
                <a16:creationId xmlns:a16="http://schemas.microsoft.com/office/drawing/2014/main" id="{B5045DD7-2B15-2D16-C1AA-8CDC261ED3AC}"/>
              </a:ext>
            </a:extLst>
          </p:cNvPr>
          <p:cNvSpPr/>
          <p:nvPr/>
        </p:nvSpPr>
        <p:spPr>
          <a:xfrm>
            <a:off x="1757470" y="2189838"/>
            <a:ext cx="9733701" cy="1229716"/>
          </a:xfrm>
          <a:prstGeom prst="roundRect">
            <a:avLst>
              <a:gd name="adj" fmla="val 6833"/>
            </a:avLst>
          </a:prstGeom>
          <a:solidFill>
            <a:srgbClr val="0099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b="1">
                <a:latin typeface="微軟正黑體" panose="020B0604030504040204" pitchFamily="34" charset="-120"/>
                <a:ea typeface="微軟正黑體" panose="020B0604030504040204" pitchFamily="34" charset="-120"/>
              </a:rPr>
              <a:t>MFG</a:t>
            </a:r>
            <a:r>
              <a:rPr lang="zh-TW" altLang="en-US" sz="1600" b="1">
                <a:latin typeface="微軟正黑體" panose="020B0604030504040204" pitchFamily="34" charset="-120"/>
                <a:ea typeface="微軟正黑體" panose="020B0604030504040204" pitchFamily="34" charset="-120"/>
              </a:rPr>
              <a:t>數據中台</a:t>
            </a:r>
          </a:p>
        </p:txBody>
      </p:sp>
      <p:sp>
        <p:nvSpPr>
          <p:cNvPr id="7" name="矩形: 圓角 6">
            <a:extLst>
              <a:ext uri="{FF2B5EF4-FFF2-40B4-BE49-F238E27FC236}">
                <a16:creationId xmlns:a16="http://schemas.microsoft.com/office/drawing/2014/main" id="{5A64F678-7D08-2E92-F131-03561D374F33}"/>
              </a:ext>
            </a:extLst>
          </p:cNvPr>
          <p:cNvSpPr/>
          <p:nvPr/>
        </p:nvSpPr>
        <p:spPr>
          <a:xfrm>
            <a:off x="3647281" y="3951161"/>
            <a:ext cx="825720" cy="310408"/>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333">
                <a:solidFill>
                  <a:schemeClr val="tx1">
                    <a:lumMod val="75000"/>
                    <a:lumOff val="25000"/>
                  </a:schemeClr>
                </a:solidFill>
              </a:rPr>
              <a:t>∑</a:t>
            </a:r>
            <a:r>
              <a:rPr lang="en-US" altLang="zh-TW" sz="1333">
                <a:solidFill>
                  <a:schemeClr val="tx1">
                    <a:lumMod val="75000"/>
                    <a:lumOff val="25000"/>
                  </a:schemeClr>
                </a:solidFill>
              </a:rPr>
              <a:t>MES</a:t>
            </a:r>
            <a:endParaRPr lang="zh-TW" altLang="en-US" sz="1333">
              <a:solidFill>
                <a:schemeClr val="tx1">
                  <a:lumMod val="75000"/>
                  <a:lumOff val="25000"/>
                </a:schemeClr>
              </a:solidFill>
            </a:endParaRPr>
          </a:p>
        </p:txBody>
      </p:sp>
      <p:sp>
        <p:nvSpPr>
          <p:cNvPr id="9" name="矩形: 圓角 8">
            <a:extLst>
              <a:ext uri="{FF2B5EF4-FFF2-40B4-BE49-F238E27FC236}">
                <a16:creationId xmlns:a16="http://schemas.microsoft.com/office/drawing/2014/main" id="{D1E6BE48-63C8-B69B-AE81-68EECC6EA1D9}"/>
              </a:ext>
            </a:extLst>
          </p:cNvPr>
          <p:cNvSpPr/>
          <p:nvPr/>
        </p:nvSpPr>
        <p:spPr>
          <a:xfrm>
            <a:off x="4613201" y="3951163"/>
            <a:ext cx="825720" cy="310408"/>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333">
                <a:solidFill>
                  <a:schemeClr val="tx1">
                    <a:lumMod val="75000"/>
                    <a:lumOff val="25000"/>
                  </a:schemeClr>
                </a:solidFill>
              </a:rPr>
              <a:t>∑</a:t>
            </a:r>
            <a:r>
              <a:rPr lang="en-US" altLang="zh-TW" sz="1333">
                <a:solidFill>
                  <a:schemeClr val="tx1">
                    <a:lumMod val="75000"/>
                    <a:lumOff val="25000"/>
                  </a:schemeClr>
                </a:solidFill>
              </a:rPr>
              <a:t>PQM</a:t>
            </a:r>
            <a:endParaRPr lang="zh-TW" altLang="en-US" sz="1333">
              <a:solidFill>
                <a:schemeClr val="tx1">
                  <a:lumMod val="75000"/>
                  <a:lumOff val="25000"/>
                </a:schemeClr>
              </a:solidFill>
            </a:endParaRPr>
          </a:p>
        </p:txBody>
      </p:sp>
      <p:sp>
        <p:nvSpPr>
          <p:cNvPr id="10" name="矩形: 圓角 9">
            <a:extLst>
              <a:ext uri="{FF2B5EF4-FFF2-40B4-BE49-F238E27FC236}">
                <a16:creationId xmlns:a16="http://schemas.microsoft.com/office/drawing/2014/main" id="{7448AD24-239F-E994-7741-B3A639E17422}"/>
              </a:ext>
            </a:extLst>
          </p:cNvPr>
          <p:cNvSpPr/>
          <p:nvPr/>
        </p:nvSpPr>
        <p:spPr>
          <a:xfrm>
            <a:off x="3598202" y="5026268"/>
            <a:ext cx="1925036" cy="705729"/>
          </a:xfrm>
          <a:prstGeom prst="roundRect">
            <a:avLst/>
          </a:prstGeom>
          <a:solidFill>
            <a:schemeClr val="accent2">
              <a:lumMod val="75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a:latin typeface="微軟正黑體" panose="020B0604030504040204" pitchFamily="34" charset="-120"/>
                <a:ea typeface="微軟正黑體" panose="020B0604030504040204" pitchFamily="34" charset="-120"/>
              </a:rPr>
              <a:t>MES</a:t>
            </a:r>
            <a:endParaRPr lang="zh-TW" altLang="en-US" sz="1600">
              <a:latin typeface="微軟正黑體" panose="020B0604030504040204" pitchFamily="34" charset="-120"/>
              <a:ea typeface="微軟正黑體" panose="020B0604030504040204" pitchFamily="34" charset="-120"/>
            </a:endParaRPr>
          </a:p>
        </p:txBody>
      </p:sp>
      <p:sp>
        <p:nvSpPr>
          <p:cNvPr id="12" name="矩形: 圓角 11">
            <a:extLst>
              <a:ext uri="{FF2B5EF4-FFF2-40B4-BE49-F238E27FC236}">
                <a16:creationId xmlns:a16="http://schemas.microsoft.com/office/drawing/2014/main" id="{A5EAEA49-D316-1539-6C87-C37E549D93E5}"/>
              </a:ext>
            </a:extLst>
          </p:cNvPr>
          <p:cNvSpPr/>
          <p:nvPr/>
        </p:nvSpPr>
        <p:spPr>
          <a:xfrm>
            <a:off x="7708614" y="5047546"/>
            <a:ext cx="963441" cy="684452"/>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SAP</a:t>
            </a:r>
            <a:endParaRPr lang="zh-TW" altLang="en-US" sz="1600">
              <a:latin typeface="微軟正黑體" panose="020B0604030504040204" pitchFamily="34" charset="-120"/>
              <a:ea typeface="微軟正黑體" panose="020B0604030504040204" pitchFamily="34" charset="-120"/>
            </a:endParaRPr>
          </a:p>
        </p:txBody>
      </p:sp>
      <p:sp>
        <p:nvSpPr>
          <p:cNvPr id="13" name="矩形: 圓角 12">
            <a:extLst>
              <a:ext uri="{FF2B5EF4-FFF2-40B4-BE49-F238E27FC236}">
                <a16:creationId xmlns:a16="http://schemas.microsoft.com/office/drawing/2014/main" id="{5825E353-B4F0-5D48-3E17-C02238E7E8B7}"/>
              </a:ext>
            </a:extLst>
          </p:cNvPr>
          <p:cNvSpPr/>
          <p:nvPr/>
        </p:nvSpPr>
        <p:spPr>
          <a:xfrm>
            <a:off x="8732133" y="5052624"/>
            <a:ext cx="985364" cy="679369"/>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a:t>
            </a:r>
            <a:endParaRPr lang="zh-TW" altLang="en-US" sz="1600">
              <a:latin typeface="微軟正黑體" panose="020B0604030504040204" pitchFamily="34" charset="-120"/>
              <a:ea typeface="微軟正黑體" panose="020B0604030504040204" pitchFamily="34" charset="-120"/>
            </a:endParaRPr>
          </a:p>
        </p:txBody>
      </p:sp>
      <p:sp>
        <p:nvSpPr>
          <p:cNvPr id="14" name="矩形: 圓角 13">
            <a:extLst>
              <a:ext uri="{FF2B5EF4-FFF2-40B4-BE49-F238E27FC236}">
                <a16:creationId xmlns:a16="http://schemas.microsoft.com/office/drawing/2014/main" id="{CE24B637-36EB-AE80-BED2-2DB55BC5A0FA}"/>
              </a:ext>
            </a:extLst>
          </p:cNvPr>
          <p:cNvSpPr/>
          <p:nvPr/>
        </p:nvSpPr>
        <p:spPr>
          <a:xfrm>
            <a:off x="6733895" y="5052626"/>
            <a:ext cx="923877" cy="690261"/>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HRS</a:t>
            </a:r>
            <a:endParaRPr lang="zh-TW" altLang="en-US" sz="1600">
              <a:latin typeface="微軟正黑體" panose="020B0604030504040204" pitchFamily="34" charset="-120"/>
              <a:ea typeface="微軟正黑體" panose="020B0604030504040204" pitchFamily="34" charset="-120"/>
            </a:endParaRPr>
          </a:p>
        </p:txBody>
      </p:sp>
      <p:sp>
        <p:nvSpPr>
          <p:cNvPr id="15" name="矩形: 圓角 14">
            <a:extLst>
              <a:ext uri="{FF2B5EF4-FFF2-40B4-BE49-F238E27FC236}">
                <a16:creationId xmlns:a16="http://schemas.microsoft.com/office/drawing/2014/main" id="{517269AB-3ECF-C256-AFE1-8E86EEDD8C6E}"/>
              </a:ext>
            </a:extLst>
          </p:cNvPr>
          <p:cNvSpPr/>
          <p:nvPr/>
        </p:nvSpPr>
        <p:spPr>
          <a:xfrm>
            <a:off x="5752404" y="5052625"/>
            <a:ext cx="923877" cy="690263"/>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PLM</a:t>
            </a:r>
            <a:endParaRPr lang="zh-TW" altLang="en-US" sz="1600">
              <a:latin typeface="微軟正黑體" panose="020B0604030504040204" pitchFamily="34" charset="-120"/>
              <a:ea typeface="微軟正黑體" panose="020B0604030504040204" pitchFamily="34" charset="-120"/>
            </a:endParaRPr>
          </a:p>
        </p:txBody>
      </p:sp>
      <p:sp>
        <p:nvSpPr>
          <p:cNvPr id="18" name="矩形: 圓角 17">
            <a:extLst>
              <a:ext uri="{FF2B5EF4-FFF2-40B4-BE49-F238E27FC236}">
                <a16:creationId xmlns:a16="http://schemas.microsoft.com/office/drawing/2014/main" id="{08773E51-DD47-CD0E-1AED-15FEC4F22077}"/>
              </a:ext>
            </a:extLst>
          </p:cNvPr>
          <p:cNvSpPr/>
          <p:nvPr/>
        </p:nvSpPr>
        <p:spPr>
          <a:xfrm>
            <a:off x="1937993" y="5026267"/>
            <a:ext cx="1519824" cy="705727"/>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b="1">
                <a:latin typeface="微軟正黑體" panose="020B0604030504040204" pitchFamily="34" charset="-120"/>
                <a:ea typeface="微軟正黑體" panose="020B0604030504040204" pitchFamily="34" charset="-120"/>
              </a:rPr>
              <a:t>Factory EAP</a:t>
            </a:r>
            <a:endParaRPr lang="zh-TW" altLang="en-US" sz="1600" b="1">
              <a:latin typeface="微軟正黑體" panose="020B0604030504040204" pitchFamily="34" charset="-120"/>
              <a:ea typeface="微軟正黑體" panose="020B0604030504040204" pitchFamily="34" charset="-120"/>
            </a:endParaRPr>
          </a:p>
        </p:txBody>
      </p:sp>
      <p:sp>
        <p:nvSpPr>
          <p:cNvPr id="22" name="矩形: 圓角 21">
            <a:extLst>
              <a:ext uri="{FF2B5EF4-FFF2-40B4-BE49-F238E27FC236}">
                <a16:creationId xmlns:a16="http://schemas.microsoft.com/office/drawing/2014/main" id="{9AF6D030-3BAE-2975-B2FF-A0870DD7FC82}"/>
              </a:ext>
            </a:extLst>
          </p:cNvPr>
          <p:cNvSpPr/>
          <p:nvPr/>
        </p:nvSpPr>
        <p:spPr>
          <a:xfrm>
            <a:off x="1780396" y="1063367"/>
            <a:ext cx="1419561" cy="514727"/>
          </a:xfrm>
          <a:prstGeom prst="roundRect">
            <a:avLst>
              <a:gd name="adj" fmla="val 6444"/>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DFOC</a:t>
            </a:r>
            <a:endParaRPr lang="zh-TW" altLang="en-US" sz="1600">
              <a:latin typeface="微軟正黑體" panose="020B0604030504040204" pitchFamily="34" charset="-120"/>
              <a:ea typeface="微軟正黑體" panose="020B0604030504040204" pitchFamily="34" charset="-120"/>
            </a:endParaRPr>
          </a:p>
        </p:txBody>
      </p:sp>
      <p:sp>
        <p:nvSpPr>
          <p:cNvPr id="35" name="矩形: 圓角 34">
            <a:extLst>
              <a:ext uri="{FF2B5EF4-FFF2-40B4-BE49-F238E27FC236}">
                <a16:creationId xmlns:a16="http://schemas.microsoft.com/office/drawing/2014/main" id="{E69C27B1-7DF7-C9DE-0F84-C8181E238633}"/>
              </a:ext>
            </a:extLst>
          </p:cNvPr>
          <p:cNvSpPr/>
          <p:nvPr/>
        </p:nvSpPr>
        <p:spPr>
          <a:xfrm>
            <a:off x="1884767" y="2268908"/>
            <a:ext cx="1205651" cy="763941"/>
          </a:xfrm>
          <a:prstGeom prst="roundRect">
            <a:avLst/>
          </a:prstGeom>
          <a:solidFill>
            <a:srgbClr val="0099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tIns="24000" bIns="24000" rtlCol="0" anchor="b" anchorCtr="0"/>
          <a:lstStyle/>
          <a:p>
            <a:pPr algn="ctr"/>
            <a:r>
              <a:rPr lang="en-US" altLang="zh-TW" sz="1333"/>
              <a:t>Data</a:t>
            </a:r>
            <a:r>
              <a:rPr lang="zh-TW" altLang="en-US" sz="1333"/>
              <a:t> </a:t>
            </a:r>
            <a:r>
              <a:rPr lang="en-US" altLang="zh-TW" sz="1333"/>
              <a:t>lake</a:t>
            </a:r>
            <a:endParaRPr lang="zh-TW" altLang="en-US" sz="1333"/>
          </a:p>
        </p:txBody>
      </p:sp>
      <p:sp>
        <p:nvSpPr>
          <p:cNvPr id="39" name="矩形: 圓角 38">
            <a:extLst>
              <a:ext uri="{FF2B5EF4-FFF2-40B4-BE49-F238E27FC236}">
                <a16:creationId xmlns:a16="http://schemas.microsoft.com/office/drawing/2014/main" id="{BD25893C-A567-734E-6BB3-67CA58E0FE64}"/>
              </a:ext>
            </a:extLst>
          </p:cNvPr>
          <p:cNvSpPr/>
          <p:nvPr/>
        </p:nvSpPr>
        <p:spPr>
          <a:xfrm>
            <a:off x="3143348" y="2268908"/>
            <a:ext cx="2632147" cy="763941"/>
          </a:xfrm>
          <a:prstGeom prst="roundRect">
            <a:avLst/>
          </a:prstGeom>
          <a:solidFill>
            <a:srgbClr val="0099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tIns="24000" bIns="24000" rtlCol="0" anchor="b" anchorCtr="0"/>
          <a:lstStyle/>
          <a:p>
            <a:pPr algn="ctr"/>
            <a:r>
              <a:rPr lang="en-US" altLang="zh-TW" sz="1333"/>
              <a:t>Data Mart</a:t>
            </a:r>
            <a:endParaRPr lang="zh-TW" altLang="en-US" sz="1333"/>
          </a:p>
        </p:txBody>
      </p:sp>
      <p:sp>
        <p:nvSpPr>
          <p:cNvPr id="40" name="矩形: 圓角 39">
            <a:extLst>
              <a:ext uri="{FF2B5EF4-FFF2-40B4-BE49-F238E27FC236}">
                <a16:creationId xmlns:a16="http://schemas.microsoft.com/office/drawing/2014/main" id="{82600A3B-BFA6-F9EE-2F43-5C91488A06C6}"/>
              </a:ext>
            </a:extLst>
          </p:cNvPr>
          <p:cNvSpPr/>
          <p:nvPr/>
        </p:nvSpPr>
        <p:spPr>
          <a:xfrm>
            <a:off x="5850002" y="2268908"/>
            <a:ext cx="2386551" cy="763941"/>
          </a:xfrm>
          <a:prstGeom prst="roundRect">
            <a:avLst/>
          </a:prstGeom>
          <a:solidFill>
            <a:srgbClr val="0099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tIns="24000" bIns="24000" rtlCol="0" anchor="b" anchorCtr="0"/>
          <a:lstStyle/>
          <a:p>
            <a:pPr algn="ctr"/>
            <a:r>
              <a:rPr lang="en-US" altLang="zh-TW" sz="1333"/>
              <a:t>Metric Store</a:t>
            </a:r>
            <a:endParaRPr lang="zh-TW" altLang="en-US" sz="1333"/>
          </a:p>
        </p:txBody>
      </p:sp>
      <p:sp>
        <p:nvSpPr>
          <p:cNvPr id="59" name="矩形: 圓角 58">
            <a:extLst>
              <a:ext uri="{FF2B5EF4-FFF2-40B4-BE49-F238E27FC236}">
                <a16:creationId xmlns:a16="http://schemas.microsoft.com/office/drawing/2014/main" id="{3FDE25DD-5930-B023-5A45-FB445B47FC78}"/>
              </a:ext>
            </a:extLst>
          </p:cNvPr>
          <p:cNvSpPr/>
          <p:nvPr/>
        </p:nvSpPr>
        <p:spPr>
          <a:xfrm>
            <a:off x="3402790" y="1058538"/>
            <a:ext cx="1419561" cy="526148"/>
          </a:xfrm>
          <a:prstGeom prst="roundRect">
            <a:avLst/>
          </a:prstGeom>
          <a:solidFill>
            <a:schemeClr val="accent2">
              <a:lumMod val="75000"/>
            </a:schemeClr>
          </a:solidFill>
          <a:ln>
            <a:solidFill>
              <a:schemeClr val="accent2">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Holmes</a:t>
            </a:r>
          </a:p>
        </p:txBody>
      </p:sp>
      <p:sp>
        <p:nvSpPr>
          <p:cNvPr id="60" name="矩形: 圓角 59">
            <a:extLst>
              <a:ext uri="{FF2B5EF4-FFF2-40B4-BE49-F238E27FC236}">
                <a16:creationId xmlns:a16="http://schemas.microsoft.com/office/drawing/2014/main" id="{4F7BF4F5-2005-4CC1-48C2-7687DE9B6D0E}"/>
              </a:ext>
            </a:extLst>
          </p:cNvPr>
          <p:cNvSpPr/>
          <p:nvPr/>
        </p:nvSpPr>
        <p:spPr>
          <a:xfrm>
            <a:off x="5100050" y="1058538"/>
            <a:ext cx="1419561" cy="526148"/>
          </a:xfrm>
          <a:prstGeom prst="roundRect">
            <a:avLst/>
          </a:prstGeom>
          <a:solidFill>
            <a:schemeClr val="accent2">
              <a:lumMod val="75000"/>
            </a:schemeClr>
          </a:solidFill>
          <a:ln>
            <a:solidFill>
              <a:schemeClr val="accent2">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BI</a:t>
            </a:r>
          </a:p>
          <a:p>
            <a:pPr algn="ctr"/>
            <a:r>
              <a:rPr lang="en-US" altLang="zh-TW" sz="1600">
                <a:latin typeface="微軟正黑體" panose="020B0604030504040204" pitchFamily="34" charset="-120"/>
                <a:ea typeface="微軟正黑體" panose="020B0604030504040204" pitchFamily="34" charset="-120"/>
              </a:rPr>
              <a:t>Dashboard</a:t>
            </a:r>
          </a:p>
        </p:txBody>
      </p:sp>
      <p:sp>
        <p:nvSpPr>
          <p:cNvPr id="61" name="矩形: 圓角 60">
            <a:extLst>
              <a:ext uri="{FF2B5EF4-FFF2-40B4-BE49-F238E27FC236}">
                <a16:creationId xmlns:a16="http://schemas.microsoft.com/office/drawing/2014/main" id="{877FA808-2537-B1C3-6184-F3EEECC408E4}"/>
              </a:ext>
            </a:extLst>
          </p:cNvPr>
          <p:cNvSpPr/>
          <p:nvPr/>
        </p:nvSpPr>
        <p:spPr>
          <a:xfrm>
            <a:off x="6731154" y="1058538"/>
            <a:ext cx="1419561" cy="526148"/>
          </a:xfrm>
          <a:prstGeom prst="roundRect">
            <a:avLst/>
          </a:prstGeom>
          <a:solidFill>
            <a:schemeClr val="accent2">
              <a:lumMod val="75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其他</a:t>
            </a:r>
            <a:r>
              <a:rPr lang="en-US" altLang="zh-TW" sz="1600">
                <a:latin typeface="微軟正黑體" panose="020B0604030504040204" pitchFamily="34" charset="-120"/>
                <a:ea typeface="微軟正黑體" panose="020B0604030504040204" pitchFamily="34" charset="-120"/>
              </a:rPr>
              <a:t>AI</a:t>
            </a:r>
            <a:r>
              <a:rPr lang="zh-TW" altLang="en-US" sz="1600">
                <a:latin typeface="微軟正黑體" panose="020B0604030504040204" pitchFamily="34" charset="-120"/>
                <a:ea typeface="微軟正黑體" panose="020B0604030504040204" pitchFamily="34" charset="-120"/>
              </a:rPr>
              <a:t>大數據</a:t>
            </a:r>
          </a:p>
        </p:txBody>
      </p:sp>
      <p:sp>
        <p:nvSpPr>
          <p:cNvPr id="62" name="矩形: 圓角 61">
            <a:extLst>
              <a:ext uri="{FF2B5EF4-FFF2-40B4-BE49-F238E27FC236}">
                <a16:creationId xmlns:a16="http://schemas.microsoft.com/office/drawing/2014/main" id="{2191C33B-CDDE-8C1E-B9D0-8117B900CB5A}"/>
              </a:ext>
            </a:extLst>
          </p:cNvPr>
          <p:cNvSpPr/>
          <p:nvPr/>
        </p:nvSpPr>
        <p:spPr>
          <a:xfrm>
            <a:off x="8362260" y="1058538"/>
            <a:ext cx="1419561" cy="526148"/>
          </a:xfrm>
          <a:prstGeom prst="roundRect">
            <a:avLst/>
          </a:prstGeom>
          <a:solidFill>
            <a:schemeClr val="accent2">
              <a:lumMod val="75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產能供需分析</a:t>
            </a:r>
            <a:endParaRPr lang="en-US" altLang="zh-TW" sz="1600">
              <a:latin typeface="微軟正黑體" panose="020B0604030504040204" pitchFamily="34" charset="-120"/>
              <a:ea typeface="微軟正黑體" panose="020B0604030504040204" pitchFamily="34" charset="-120"/>
            </a:endParaRPr>
          </a:p>
          <a:p>
            <a:pPr algn="ctr"/>
            <a:r>
              <a:rPr lang="zh-TW" altLang="en-US" sz="1600">
                <a:latin typeface="微軟正黑體" panose="020B0604030504040204" pitchFamily="34" charset="-120"/>
                <a:ea typeface="微軟正黑體" panose="020B0604030504040204" pitchFamily="34" charset="-120"/>
              </a:rPr>
              <a:t>系統</a:t>
            </a:r>
          </a:p>
        </p:txBody>
      </p:sp>
      <p:sp>
        <p:nvSpPr>
          <p:cNvPr id="63" name="矩形: 圓角 62">
            <a:extLst>
              <a:ext uri="{FF2B5EF4-FFF2-40B4-BE49-F238E27FC236}">
                <a16:creationId xmlns:a16="http://schemas.microsoft.com/office/drawing/2014/main" id="{9D2180D9-7AE7-0B76-7194-CD3B578E2D05}"/>
              </a:ext>
            </a:extLst>
          </p:cNvPr>
          <p:cNvSpPr/>
          <p:nvPr/>
        </p:nvSpPr>
        <p:spPr>
          <a:xfrm>
            <a:off x="9985710" y="1051944"/>
            <a:ext cx="1419561" cy="535619"/>
          </a:xfrm>
          <a:prstGeom prst="roundRect">
            <a:avLst/>
          </a:prstGeom>
          <a:solidFill>
            <a:schemeClr val="accent2">
              <a:lumMod val="75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其他分析應用</a:t>
            </a:r>
            <a:endParaRPr lang="en-US" altLang="zh-TW" sz="1600">
              <a:latin typeface="微軟正黑體" panose="020B0604030504040204" pitchFamily="34" charset="-120"/>
              <a:ea typeface="微軟正黑體" panose="020B0604030504040204" pitchFamily="34" charset="-120"/>
            </a:endParaRPr>
          </a:p>
          <a:p>
            <a:pPr algn="ctr"/>
            <a:r>
              <a:rPr lang="zh-TW" altLang="en-US" sz="1600">
                <a:latin typeface="微軟正黑體" panose="020B0604030504040204" pitchFamily="34" charset="-120"/>
                <a:ea typeface="微軟正黑體" panose="020B0604030504040204" pitchFamily="34" charset="-120"/>
              </a:rPr>
              <a:t>系統</a:t>
            </a:r>
          </a:p>
        </p:txBody>
      </p:sp>
      <p:sp>
        <p:nvSpPr>
          <p:cNvPr id="1032" name="矩形: 圓角 1031">
            <a:extLst>
              <a:ext uri="{FF2B5EF4-FFF2-40B4-BE49-F238E27FC236}">
                <a16:creationId xmlns:a16="http://schemas.microsoft.com/office/drawing/2014/main" id="{881DA4AC-D523-E2CB-531D-FB39362E2562}"/>
              </a:ext>
            </a:extLst>
          </p:cNvPr>
          <p:cNvSpPr/>
          <p:nvPr/>
        </p:nvSpPr>
        <p:spPr>
          <a:xfrm>
            <a:off x="9861011" y="3850445"/>
            <a:ext cx="1630159" cy="817499"/>
          </a:xfrm>
          <a:prstGeom prst="roundRect">
            <a:avLst>
              <a:gd name="adj" fmla="val 9115"/>
            </a:avLst>
          </a:prstGeom>
          <a:solidFill>
            <a:schemeClr val="accent2">
              <a:lumMod val="75000"/>
            </a:schemeClr>
          </a:solidFill>
          <a:ln w="12700">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b" anchorCtr="0"/>
          <a:lstStyle/>
          <a:p>
            <a:pPr algn="ctr"/>
            <a:r>
              <a:rPr lang="en-US" altLang="zh-TW" sz="1600" b="1">
                <a:latin typeface="微軟正黑體" panose="020B0604030504040204" pitchFamily="34" charset="-120"/>
                <a:ea typeface="微軟正黑體" panose="020B0604030504040204" pitchFamily="34" charset="-120"/>
              </a:rPr>
              <a:t>MDM Solution</a:t>
            </a:r>
            <a:endParaRPr lang="zh-TW" altLang="en-US" sz="1600" b="1">
              <a:latin typeface="微軟正黑體" panose="020B0604030504040204" pitchFamily="34" charset="-120"/>
              <a:ea typeface="微軟正黑體" panose="020B0604030504040204" pitchFamily="34" charset="-120"/>
            </a:endParaRPr>
          </a:p>
        </p:txBody>
      </p:sp>
      <p:sp>
        <p:nvSpPr>
          <p:cNvPr id="1033" name="矩形: 圓角 1032">
            <a:extLst>
              <a:ext uri="{FF2B5EF4-FFF2-40B4-BE49-F238E27FC236}">
                <a16:creationId xmlns:a16="http://schemas.microsoft.com/office/drawing/2014/main" id="{921AF911-591E-DCAC-5E6B-9763384D9E53}"/>
              </a:ext>
            </a:extLst>
          </p:cNvPr>
          <p:cNvSpPr/>
          <p:nvPr/>
        </p:nvSpPr>
        <p:spPr>
          <a:xfrm>
            <a:off x="8362259" y="2253845"/>
            <a:ext cx="3043012" cy="779004"/>
          </a:xfrm>
          <a:prstGeom prst="roundRect">
            <a:avLst/>
          </a:prstGeom>
          <a:solidFill>
            <a:srgbClr val="0099FF"/>
          </a:solidFill>
          <a:ln>
            <a:solidFill>
              <a:srgbClr val="0066FF"/>
            </a:solidFill>
            <a:prstDash val="dash"/>
          </a:ln>
        </p:spPr>
        <p:style>
          <a:lnRef idx="2">
            <a:schemeClr val="accent1">
              <a:shade val="15000"/>
            </a:schemeClr>
          </a:lnRef>
          <a:fillRef idx="1">
            <a:schemeClr val="accent1"/>
          </a:fillRef>
          <a:effectRef idx="0">
            <a:schemeClr val="accent1"/>
          </a:effectRef>
          <a:fontRef idx="minor">
            <a:schemeClr val="lt1"/>
          </a:fontRef>
        </p:style>
        <p:txBody>
          <a:bodyPr tIns="24000" bIns="24000" rtlCol="0" anchor="b" anchorCtr="0"/>
          <a:lstStyle/>
          <a:p>
            <a:pPr algn="ctr"/>
            <a:r>
              <a:rPr lang="en-US" altLang="zh-TW" sz="1333"/>
              <a:t>Ref. Master Data</a:t>
            </a:r>
            <a:endParaRPr lang="zh-TW" altLang="en-US" sz="1333"/>
          </a:p>
        </p:txBody>
      </p:sp>
      <p:cxnSp>
        <p:nvCxnSpPr>
          <p:cNvPr id="1044" name="接點: 肘形 1043">
            <a:extLst>
              <a:ext uri="{FF2B5EF4-FFF2-40B4-BE49-F238E27FC236}">
                <a16:creationId xmlns:a16="http://schemas.microsoft.com/office/drawing/2014/main" id="{71C1AE6E-12F6-6CF0-31F4-734C013AAE94}"/>
              </a:ext>
            </a:extLst>
          </p:cNvPr>
          <p:cNvCxnSpPr>
            <a:cxnSpLocks/>
            <a:stCxn id="10" idx="2"/>
            <a:endCxn id="1032" idx="2"/>
          </p:cNvCxnSpPr>
          <p:nvPr/>
        </p:nvCxnSpPr>
        <p:spPr>
          <a:xfrm rot="5400000" flipH="1" flipV="1">
            <a:off x="7086379" y="2142285"/>
            <a:ext cx="1064052" cy="6115371"/>
          </a:xfrm>
          <a:prstGeom prst="bentConnector3">
            <a:avLst>
              <a:gd name="adj1" fmla="val -30088"/>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6" name="接點: 肘形 1045">
            <a:extLst>
              <a:ext uri="{FF2B5EF4-FFF2-40B4-BE49-F238E27FC236}">
                <a16:creationId xmlns:a16="http://schemas.microsoft.com/office/drawing/2014/main" id="{582004DF-4F14-F73F-E664-969729582E75}"/>
              </a:ext>
            </a:extLst>
          </p:cNvPr>
          <p:cNvCxnSpPr>
            <a:cxnSpLocks/>
            <a:stCxn id="15" idx="2"/>
            <a:endCxn id="1032" idx="2"/>
          </p:cNvCxnSpPr>
          <p:nvPr/>
        </p:nvCxnSpPr>
        <p:spPr>
          <a:xfrm rot="5400000" flipH="1" flipV="1">
            <a:off x="7907745" y="2974542"/>
            <a:ext cx="1074943" cy="4461748"/>
          </a:xfrm>
          <a:prstGeom prst="bentConnector3">
            <a:avLst>
              <a:gd name="adj1" fmla="val -28355"/>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8" name="接點: 肘形 1047">
            <a:extLst>
              <a:ext uri="{FF2B5EF4-FFF2-40B4-BE49-F238E27FC236}">
                <a16:creationId xmlns:a16="http://schemas.microsoft.com/office/drawing/2014/main" id="{B400A78C-BE32-C4CB-A871-7077A1857E11}"/>
              </a:ext>
            </a:extLst>
          </p:cNvPr>
          <p:cNvCxnSpPr>
            <a:cxnSpLocks/>
            <a:stCxn id="14" idx="2"/>
            <a:endCxn id="1032" idx="2"/>
          </p:cNvCxnSpPr>
          <p:nvPr/>
        </p:nvCxnSpPr>
        <p:spPr>
          <a:xfrm rot="5400000" flipH="1" flipV="1">
            <a:off x="8398490" y="3465288"/>
            <a:ext cx="1074943" cy="3480257"/>
          </a:xfrm>
          <a:prstGeom prst="bentConnector3">
            <a:avLst>
              <a:gd name="adj1" fmla="val -28355"/>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0" name="接點: 肘形 1049">
            <a:extLst>
              <a:ext uri="{FF2B5EF4-FFF2-40B4-BE49-F238E27FC236}">
                <a16:creationId xmlns:a16="http://schemas.microsoft.com/office/drawing/2014/main" id="{F4A3E2AA-2835-2B0E-9A7C-F8E264DD6586}"/>
              </a:ext>
            </a:extLst>
          </p:cNvPr>
          <p:cNvCxnSpPr>
            <a:cxnSpLocks/>
            <a:stCxn id="12" idx="2"/>
            <a:endCxn id="1032" idx="2"/>
          </p:cNvCxnSpPr>
          <p:nvPr/>
        </p:nvCxnSpPr>
        <p:spPr>
          <a:xfrm rot="5400000" flipH="1" flipV="1">
            <a:off x="8901186" y="3957093"/>
            <a:ext cx="1064053" cy="2485756"/>
          </a:xfrm>
          <a:prstGeom prst="bentConnector3">
            <a:avLst>
              <a:gd name="adj1" fmla="val -28645"/>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2" name="接點: 肘形 1051">
            <a:extLst>
              <a:ext uri="{FF2B5EF4-FFF2-40B4-BE49-F238E27FC236}">
                <a16:creationId xmlns:a16="http://schemas.microsoft.com/office/drawing/2014/main" id="{7F66AFC6-130F-0758-DDB6-D5C2AA0BBD22}"/>
              </a:ext>
            </a:extLst>
          </p:cNvPr>
          <p:cNvCxnSpPr>
            <a:cxnSpLocks/>
            <a:stCxn id="13" idx="2"/>
            <a:endCxn id="1032" idx="2"/>
          </p:cNvCxnSpPr>
          <p:nvPr/>
        </p:nvCxnSpPr>
        <p:spPr>
          <a:xfrm rot="5400000" flipH="1" flipV="1">
            <a:off x="9418428" y="4474330"/>
            <a:ext cx="1064048" cy="1451276"/>
          </a:xfrm>
          <a:prstGeom prst="bentConnector3">
            <a:avLst>
              <a:gd name="adj1" fmla="val -28645"/>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6" name="直線單箭頭接點 1055">
            <a:extLst>
              <a:ext uri="{FF2B5EF4-FFF2-40B4-BE49-F238E27FC236}">
                <a16:creationId xmlns:a16="http://schemas.microsoft.com/office/drawing/2014/main" id="{93A07099-21D4-8248-B192-03997CBE7FFF}"/>
              </a:ext>
            </a:extLst>
          </p:cNvPr>
          <p:cNvCxnSpPr>
            <a:cxnSpLocks/>
            <a:stCxn id="15" idx="0"/>
          </p:cNvCxnSpPr>
          <p:nvPr/>
        </p:nvCxnSpPr>
        <p:spPr>
          <a:xfrm flipH="1" flipV="1">
            <a:off x="6214342" y="3470354"/>
            <a:ext cx="1" cy="1582271"/>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8" name="直線單箭頭接點 1057">
            <a:extLst>
              <a:ext uri="{FF2B5EF4-FFF2-40B4-BE49-F238E27FC236}">
                <a16:creationId xmlns:a16="http://schemas.microsoft.com/office/drawing/2014/main" id="{4991F68D-B9C3-188E-C0CA-E28AC22C567B}"/>
              </a:ext>
            </a:extLst>
          </p:cNvPr>
          <p:cNvCxnSpPr>
            <a:cxnSpLocks/>
          </p:cNvCxnSpPr>
          <p:nvPr/>
        </p:nvCxnSpPr>
        <p:spPr>
          <a:xfrm flipH="1" flipV="1">
            <a:off x="7206917" y="4677968"/>
            <a:ext cx="1" cy="368653"/>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3" name="直線單箭頭接點 1062">
            <a:extLst>
              <a:ext uri="{FF2B5EF4-FFF2-40B4-BE49-F238E27FC236}">
                <a16:creationId xmlns:a16="http://schemas.microsoft.com/office/drawing/2014/main" id="{B3C08B7B-C7DB-B1FF-618E-0E7CABBAE6F1}"/>
              </a:ext>
            </a:extLst>
          </p:cNvPr>
          <p:cNvCxnSpPr>
            <a:cxnSpLocks/>
            <a:stCxn id="12" idx="0"/>
            <a:endCxn id="4" idx="2"/>
          </p:cNvCxnSpPr>
          <p:nvPr/>
        </p:nvCxnSpPr>
        <p:spPr>
          <a:xfrm flipH="1" flipV="1">
            <a:off x="8187793" y="4667945"/>
            <a:ext cx="2543" cy="379601"/>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7" name="直線單箭頭接點 1076">
            <a:extLst>
              <a:ext uri="{FF2B5EF4-FFF2-40B4-BE49-F238E27FC236}">
                <a16:creationId xmlns:a16="http://schemas.microsoft.com/office/drawing/2014/main" id="{9C35A9CD-6DA4-7D63-C2B5-A6F47388EB6C}"/>
              </a:ext>
            </a:extLst>
          </p:cNvPr>
          <p:cNvCxnSpPr>
            <a:cxnSpLocks/>
            <a:stCxn id="10" idx="0"/>
            <a:endCxn id="3" idx="2"/>
          </p:cNvCxnSpPr>
          <p:nvPr/>
        </p:nvCxnSpPr>
        <p:spPr>
          <a:xfrm flipV="1">
            <a:off x="4560721" y="4669992"/>
            <a:ext cx="1" cy="356275"/>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18" name="矩形: 圓角 1117">
            <a:extLst>
              <a:ext uri="{FF2B5EF4-FFF2-40B4-BE49-F238E27FC236}">
                <a16:creationId xmlns:a16="http://schemas.microsoft.com/office/drawing/2014/main" id="{0A576F4B-78CB-4989-6515-C2F16AB5400B}"/>
              </a:ext>
            </a:extLst>
          </p:cNvPr>
          <p:cNvSpPr/>
          <p:nvPr/>
        </p:nvSpPr>
        <p:spPr>
          <a:xfrm>
            <a:off x="1998584" y="5128508"/>
            <a:ext cx="681419" cy="287141"/>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333">
                <a:solidFill>
                  <a:schemeClr val="tx1">
                    <a:lumMod val="75000"/>
                    <a:lumOff val="25000"/>
                  </a:schemeClr>
                </a:solidFill>
              </a:rPr>
              <a:t>機聯</a:t>
            </a:r>
          </a:p>
        </p:txBody>
      </p:sp>
      <p:sp>
        <p:nvSpPr>
          <p:cNvPr id="1119" name="矩形: 圓角 1118">
            <a:extLst>
              <a:ext uri="{FF2B5EF4-FFF2-40B4-BE49-F238E27FC236}">
                <a16:creationId xmlns:a16="http://schemas.microsoft.com/office/drawing/2014/main" id="{2E3A97D4-F719-D341-302F-D1C5B1BB35B7}"/>
              </a:ext>
            </a:extLst>
          </p:cNvPr>
          <p:cNvSpPr/>
          <p:nvPr/>
        </p:nvSpPr>
        <p:spPr>
          <a:xfrm>
            <a:off x="2725789" y="5128508"/>
            <a:ext cx="674320" cy="294573"/>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333">
                <a:solidFill>
                  <a:schemeClr val="tx1">
                    <a:lumMod val="75000"/>
                    <a:lumOff val="25000"/>
                  </a:schemeClr>
                </a:solidFill>
              </a:rPr>
              <a:t>物流</a:t>
            </a:r>
          </a:p>
        </p:txBody>
      </p:sp>
      <p:sp>
        <p:nvSpPr>
          <p:cNvPr id="1122" name="矩形: 圓角 1121">
            <a:extLst>
              <a:ext uri="{FF2B5EF4-FFF2-40B4-BE49-F238E27FC236}">
                <a16:creationId xmlns:a16="http://schemas.microsoft.com/office/drawing/2014/main" id="{0906075E-F43D-50E0-2F1F-54FDD7109957}"/>
              </a:ext>
            </a:extLst>
          </p:cNvPr>
          <p:cNvSpPr/>
          <p:nvPr/>
        </p:nvSpPr>
        <p:spPr>
          <a:xfrm>
            <a:off x="3671576" y="5112194"/>
            <a:ext cx="825720" cy="309292"/>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333">
                <a:solidFill>
                  <a:schemeClr val="tx1">
                    <a:lumMod val="75000"/>
                    <a:lumOff val="25000"/>
                  </a:schemeClr>
                </a:solidFill>
              </a:rPr>
              <a:t>MES</a:t>
            </a:r>
            <a:endParaRPr lang="zh-TW" altLang="en-US" sz="1333">
              <a:solidFill>
                <a:schemeClr val="tx1">
                  <a:lumMod val="75000"/>
                  <a:lumOff val="25000"/>
                </a:schemeClr>
              </a:solidFill>
            </a:endParaRPr>
          </a:p>
        </p:txBody>
      </p:sp>
      <p:sp>
        <p:nvSpPr>
          <p:cNvPr id="1123" name="矩形: 圓角 1122">
            <a:extLst>
              <a:ext uri="{FF2B5EF4-FFF2-40B4-BE49-F238E27FC236}">
                <a16:creationId xmlns:a16="http://schemas.microsoft.com/office/drawing/2014/main" id="{0CBBB534-EAA5-77B3-9B43-2440204BBF04}"/>
              </a:ext>
            </a:extLst>
          </p:cNvPr>
          <p:cNvSpPr/>
          <p:nvPr/>
        </p:nvSpPr>
        <p:spPr>
          <a:xfrm>
            <a:off x="4637496" y="5112193"/>
            <a:ext cx="825720" cy="309292"/>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333">
                <a:solidFill>
                  <a:schemeClr val="tx1">
                    <a:lumMod val="75000"/>
                    <a:lumOff val="25000"/>
                  </a:schemeClr>
                </a:solidFill>
              </a:rPr>
              <a:t>PQM</a:t>
            </a:r>
            <a:endParaRPr lang="zh-TW" altLang="en-US" sz="1333">
              <a:solidFill>
                <a:schemeClr val="tx1">
                  <a:lumMod val="75000"/>
                  <a:lumOff val="25000"/>
                </a:schemeClr>
              </a:solidFill>
            </a:endParaRPr>
          </a:p>
        </p:txBody>
      </p:sp>
      <p:cxnSp>
        <p:nvCxnSpPr>
          <p:cNvPr id="1134" name="直線單箭頭接點 1133">
            <a:extLst>
              <a:ext uri="{FF2B5EF4-FFF2-40B4-BE49-F238E27FC236}">
                <a16:creationId xmlns:a16="http://schemas.microsoft.com/office/drawing/2014/main" id="{AA1B17BB-BD97-75F3-7E06-4E28D6D3EDFE}"/>
              </a:ext>
            </a:extLst>
          </p:cNvPr>
          <p:cNvCxnSpPr>
            <a:cxnSpLocks/>
            <a:stCxn id="18" idx="0"/>
          </p:cNvCxnSpPr>
          <p:nvPr/>
        </p:nvCxnSpPr>
        <p:spPr>
          <a:xfrm flipV="1">
            <a:off x="2697905" y="3470354"/>
            <a:ext cx="0" cy="15559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48" name="直線單箭頭接點 1147">
            <a:extLst>
              <a:ext uri="{FF2B5EF4-FFF2-40B4-BE49-F238E27FC236}">
                <a16:creationId xmlns:a16="http://schemas.microsoft.com/office/drawing/2014/main" id="{3F6440C3-9E02-97E8-0372-CF0B99A6C7F1}"/>
              </a:ext>
            </a:extLst>
          </p:cNvPr>
          <p:cNvCxnSpPr>
            <a:cxnSpLocks/>
          </p:cNvCxnSpPr>
          <p:nvPr/>
        </p:nvCxnSpPr>
        <p:spPr>
          <a:xfrm flipV="1">
            <a:off x="4532189" y="3471172"/>
            <a:ext cx="1" cy="356275"/>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9" name="直線單箭頭接點 1148">
            <a:extLst>
              <a:ext uri="{FF2B5EF4-FFF2-40B4-BE49-F238E27FC236}">
                <a16:creationId xmlns:a16="http://schemas.microsoft.com/office/drawing/2014/main" id="{2EC47D6E-6E88-92A6-F96F-500837F3A142}"/>
              </a:ext>
            </a:extLst>
          </p:cNvPr>
          <p:cNvCxnSpPr/>
          <p:nvPr/>
        </p:nvCxnSpPr>
        <p:spPr>
          <a:xfrm flipH="1" flipV="1">
            <a:off x="8187792" y="3486945"/>
            <a:ext cx="1" cy="353187"/>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0" name="直線單箭頭接點 1149">
            <a:extLst>
              <a:ext uri="{FF2B5EF4-FFF2-40B4-BE49-F238E27FC236}">
                <a16:creationId xmlns:a16="http://schemas.microsoft.com/office/drawing/2014/main" id="{7E611277-9E0D-9E4E-1B3E-26DA635583BC}"/>
              </a:ext>
            </a:extLst>
          </p:cNvPr>
          <p:cNvCxnSpPr/>
          <p:nvPr/>
        </p:nvCxnSpPr>
        <p:spPr>
          <a:xfrm flipH="1" flipV="1">
            <a:off x="10676090" y="3491564"/>
            <a:ext cx="1" cy="353187"/>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87" name="接點: 肘形 1186">
            <a:extLst>
              <a:ext uri="{FF2B5EF4-FFF2-40B4-BE49-F238E27FC236}">
                <a16:creationId xmlns:a16="http://schemas.microsoft.com/office/drawing/2014/main" id="{35EB134B-52E2-8938-1671-53AFC9903942}"/>
              </a:ext>
            </a:extLst>
          </p:cNvPr>
          <p:cNvCxnSpPr>
            <a:cxnSpLocks/>
            <a:stCxn id="5" idx="0"/>
            <a:endCxn id="59" idx="2"/>
          </p:cNvCxnSpPr>
          <p:nvPr/>
        </p:nvCxnSpPr>
        <p:spPr>
          <a:xfrm rot="16200000" flipV="1">
            <a:off x="5065869" y="631387"/>
            <a:ext cx="605152" cy="2511749"/>
          </a:xfrm>
          <a:prstGeom prst="bentConnector3">
            <a:avLst>
              <a:gd name="adj1" fmla="val 50000"/>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0" name="接點: 肘形 1189">
            <a:extLst>
              <a:ext uri="{FF2B5EF4-FFF2-40B4-BE49-F238E27FC236}">
                <a16:creationId xmlns:a16="http://schemas.microsoft.com/office/drawing/2014/main" id="{0D918ACD-1D6C-D5CA-6DA1-5DE76BEBE145}"/>
              </a:ext>
            </a:extLst>
          </p:cNvPr>
          <p:cNvCxnSpPr>
            <a:cxnSpLocks/>
            <a:stCxn id="5" idx="0"/>
            <a:endCxn id="60" idx="2"/>
          </p:cNvCxnSpPr>
          <p:nvPr/>
        </p:nvCxnSpPr>
        <p:spPr>
          <a:xfrm rot="16200000" flipV="1">
            <a:off x="5914500" y="1480017"/>
            <a:ext cx="605152" cy="814489"/>
          </a:xfrm>
          <a:prstGeom prst="bentConnector3">
            <a:avLst>
              <a:gd name="adj1" fmla="val 50000"/>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3" name="接點: 肘形 1192">
            <a:extLst>
              <a:ext uri="{FF2B5EF4-FFF2-40B4-BE49-F238E27FC236}">
                <a16:creationId xmlns:a16="http://schemas.microsoft.com/office/drawing/2014/main" id="{DECD894C-A6A4-D359-16A5-389ABAB29A0E}"/>
              </a:ext>
            </a:extLst>
          </p:cNvPr>
          <p:cNvCxnSpPr>
            <a:cxnSpLocks/>
            <a:stCxn id="5" idx="0"/>
            <a:endCxn id="61" idx="2"/>
          </p:cNvCxnSpPr>
          <p:nvPr/>
        </p:nvCxnSpPr>
        <p:spPr>
          <a:xfrm rot="5400000" flipH="1" flipV="1">
            <a:off x="6730051" y="1478955"/>
            <a:ext cx="605152" cy="816615"/>
          </a:xfrm>
          <a:prstGeom prst="bentConnector3">
            <a:avLst>
              <a:gd name="adj1" fmla="val 50000"/>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6" name="接點: 肘形 1195">
            <a:extLst>
              <a:ext uri="{FF2B5EF4-FFF2-40B4-BE49-F238E27FC236}">
                <a16:creationId xmlns:a16="http://schemas.microsoft.com/office/drawing/2014/main" id="{9A886130-BF0F-BAC7-865C-A7CBBB1C6C86}"/>
              </a:ext>
            </a:extLst>
          </p:cNvPr>
          <p:cNvCxnSpPr>
            <a:cxnSpLocks/>
            <a:stCxn id="5" idx="0"/>
            <a:endCxn id="62" idx="2"/>
          </p:cNvCxnSpPr>
          <p:nvPr/>
        </p:nvCxnSpPr>
        <p:spPr>
          <a:xfrm rot="5400000" flipH="1" flipV="1">
            <a:off x="7545604" y="663401"/>
            <a:ext cx="605152" cy="2447720"/>
          </a:xfrm>
          <a:prstGeom prst="bentConnector3">
            <a:avLst>
              <a:gd name="adj1" fmla="val 50000"/>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9" name="接點: 肘形 1198">
            <a:extLst>
              <a:ext uri="{FF2B5EF4-FFF2-40B4-BE49-F238E27FC236}">
                <a16:creationId xmlns:a16="http://schemas.microsoft.com/office/drawing/2014/main" id="{590D2F31-8A19-31F4-58E4-4E82C5EDEA1E}"/>
              </a:ext>
            </a:extLst>
          </p:cNvPr>
          <p:cNvCxnSpPr>
            <a:cxnSpLocks/>
            <a:stCxn id="5" idx="0"/>
            <a:endCxn id="63" idx="2"/>
          </p:cNvCxnSpPr>
          <p:nvPr/>
        </p:nvCxnSpPr>
        <p:spPr>
          <a:xfrm rot="5400000" flipH="1" flipV="1">
            <a:off x="8358768" y="-146886"/>
            <a:ext cx="602275" cy="4071171"/>
          </a:xfrm>
          <a:prstGeom prst="bentConnector3">
            <a:avLst>
              <a:gd name="adj1" fmla="val 50000"/>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04" name="矩形: 圓角 1203">
            <a:extLst>
              <a:ext uri="{FF2B5EF4-FFF2-40B4-BE49-F238E27FC236}">
                <a16:creationId xmlns:a16="http://schemas.microsoft.com/office/drawing/2014/main" id="{F200BDC6-8EEC-1F0A-ADF9-21962CE9A435}"/>
              </a:ext>
            </a:extLst>
          </p:cNvPr>
          <p:cNvSpPr/>
          <p:nvPr/>
        </p:nvSpPr>
        <p:spPr>
          <a:xfrm>
            <a:off x="3191143" y="2386111"/>
            <a:ext cx="551220" cy="336836"/>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製造</a:t>
            </a:r>
          </a:p>
        </p:txBody>
      </p:sp>
      <p:sp>
        <p:nvSpPr>
          <p:cNvPr id="1205" name="矩形: 圓角 1204">
            <a:extLst>
              <a:ext uri="{FF2B5EF4-FFF2-40B4-BE49-F238E27FC236}">
                <a16:creationId xmlns:a16="http://schemas.microsoft.com/office/drawing/2014/main" id="{A4EDC85E-CAFE-E926-367E-60BCC05D480A}"/>
              </a:ext>
            </a:extLst>
          </p:cNvPr>
          <p:cNvSpPr/>
          <p:nvPr/>
        </p:nvSpPr>
        <p:spPr>
          <a:xfrm>
            <a:off x="3823966" y="2379376"/>
            <a:ext cx="591661" cy="353669"/>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物流</a:t>
            </a:r>
          </a:p>
        </p:txBody>
      </p:sp>
      <p:sp>
        <p:nvSpPr>
          <p:cNvPr id="1207" name="矩形: 圓角 1206">
            <a:extLst>
              <a:ext uri="{FF2B5EF4-FFF2-40B4-BE49-F238E27FC236}">
                <a16:creationId xmlns:a16="http://schemas.microsoft.com/office/drawing/2014/main" id="{96CD9C23-99C3-ECA4-27B3-EDF23775CD47}"/>
              </a:ext>
            </a:extLst>
          </p:cNvPr>
          <p:cNvSpPr/>
          <p:nvPr/>
        </p:nvSpPr>
        <p:spPr>
          <a:xfrm>
            <a:off x="5918071" y="2322207"/>
            <a:ext cx="466373" cy="398028"/>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en-US" altLang="zh-TW" sz="1067">
                <a:solidFill>
                  <a:schemeClr val="tx1">
                    <a:lumMod val="75000"/>
                    <a:lumOff val="25000"/>
                  </a:schemeClr>
                </a:solidFill>
              </a:rPr>
              <a:t>FPY</a:t>
            </a:r>
            <a:endParaRPr lang="zh-TW" altLang="en-US" sz="1067">
              <a:solidFill>
                <a:schemeClr val="tx1">
                  <a:lumMod val="75000"/>
                  <a:lumOff val="25000"/>
                </a:schemeClr>
              </a:solidFill>
            </a:endParaRPr>
          </a:p>
        </p:txBody>
      </p:sp>
      <p:sp>
        <p:nvSpPr>
          <p:cNvPr id="1208" name="矩形: 圓角 1207">
            <a:extLst>
              <a:ext uri="{FF2B5EF4-FFF2-40B4-BE49-F238E27FC236}">
                <a16:creationId xmlns:a16="http://schemas.microsoft.com/office/drawing/2014/main" id="{218A26F3-FAEE-0309-072E-AD72625AEBA4}"/>
              </a:ext>
            </a:extLst>
          </p:cNvPr>
          <p:cNvSpPr/>
          <p:nvPr/>
        </p:nvSpPr>
        <p:spPr>
          <a:xfrm>
            <a:off x="6437233" y="2336230"/>
            <a:ext cx="465284" cy="384005"/>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en-US" altLang="zh-TW" sz="1067">
                <a:solidFill>
                  <a:schemeClr val="tx1">
                    <a:lumMod val="75000"/>
                    <a:lumOff val="25000"/>
                  </a:schemeClr>
                </a:solidFill>
              </a:rPr>
              <a:t>ATT</a:t>
            </a:r>
            <a:endParaRPr lang="zh-TW" altLang="en-US" sz="1067">
              <a:solidFill>
                <a:schemeClr val="tx1">
                  <a:lumMod val="75000"/>
                  <a:lumOff val="25000"/>
                </a:schemeClr>
              </a:solidFill>
            </a:endParaRPr>
          </a:p>
        </p:txBody>
      </p:sp>
      <p:sp>
        <p:nvSpPr>
          <p:cNvPr id="1209" name="矩形: 圓角 1208">
            <a:extLst>
              <a:ext uri="{FF2B5EF4-FFF2-40B4-BE49-F238E27FC236}">
                <a16:creationId xmlns:a16="http://schemas.microsoft.com/office/drawing/2014/main" id="{D3EF61F8-F5FC-5B13-4A5A-CB9114066F6E}"/>
              </a:ext>
            </a:extLst>
          </p:cNvPr>
          <p:cNvSpPr/>
          <p:nvPr/>
        </p:nvSpPr>
        <p:spPr>
          <a:xfrm>
            <a:off x="6952547" y="2336230"/>
            <a:ext cx="465284" cy="384005"/>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en-US" altLang="zh-TW" sz="1067">
                <a:solidFill>
                  <a:schemeClr val="tx1">
                    <a:lumMod val="75000"/>
                    <a:lumOff val="25000"/>
                  </a:schemeClr>
                </a:solidFill>
              </a:rPr>
              <a:t>ATT</a:t>
            </a:r>
            <a:endParaRPr lang="zh-TW" altLang="en-US" sz="1067">
              <a:solidFill>
                <a:schemeClr val="tx1">
                  <a:lumMod val="75000"/>
                  <a:lumOff val="25000"/>
                </a:schemeClr>
              </a:solidFill>
            </a:endParaRPr>
          </a:p>
        </p:txBody>
      </p:sp>
      <p:sp>
        <p:nvSpPr>
          <p:cNvPr id="1210" name="矩形: 圓角 1209">
            <a:extLst>
              <a:ext uri="{FF2B5EF4-FFF2-40B4-BE49-F238E27FC236}">
                <a16:creationId xmlns:a16="http://schemas.microsoft.com/office/drawing/2014/main" id="{9B18359E-67BC-9A75-01F8-20415ACA1861}"/>
              </a:ext>
            </a:extLst>
          </p:cNvPr>
          <p:cNvSpPr/>
          <p:nvPr/>
        </p:nvSpPr>
        <p:spPr>
          <a:xfrm>
            <a:off x="7466575" y="2336230"/>
            <a:ext cx="465284" cy="384005"/>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en-US" altLang="zh-TW" sz="1067">
                <a:solidFill>
                  <a:schemeClr val="tx1">
                    <a:lumMod val="75000"/>
                    <a:lumOff val="25000"/>
                  </a:schemeClr>
                </a:solidFill>
              </a:rPr>
              <a:t>…</a:t>
            </a:r>
            <a:endParaRPr lang="zh-TW" altLang="en-US" sz="1067">
              <a:solidFill>
                <a:schemeClr val="tx1">
                  <a:lumMod val="75000"/>
                  <a:lumOff val="25000"/>
                </a:schemeClr>
              </a:solidFill>
            </a:endParaRPr>
          </a:p>
        </p:txBody>
      </p:sp>
      <p:sp>
        <p:nvSpPr>
          <p:cNvPr id="1214" name="矩形: 圓角 1213">
            <a:extLst>
              <a:ext uri="{FF2B5EF4-FFF2-40B4-BE49-F238E27FC236}">
                <a16:creationId xmlns:a16="http://schemas.microsoft.com/office/drawing/2014/main" id="{00F834AE-D352-5302-F725-80463B07746E}"/>
              </a:ext>
            </a:extLst>
          </p:cNvPr>
          <p:cNvSpPr/>
          <p:nvPr/>
        </p:nvSpPr>
        <p:spPr>
          <a:xfrm>
            <a:off x="8453884" y="2322207"/>
            <a:ext cx="557041" cy="384007"/>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廠區</a:t>
            </a:r>
          </a:p>
        </p:txBody>
      </p:sp>
      <p:sp>
        <p:nvSpPr>
          <p:cNvPr id="1215" name="矩形: 圓角 1214">
            <a:extLst>
              <a:ext uri="{FF2B5EF4-FFF2-40B4-BE49-F238E27FC236}">
                <a16:creationId xmlns:a16="http://schemas.microsoft.com/office/drawing/2014/main" id="{E859402B-169D-199E-9E2B-668B810E2C99}"/>
              </a:ext>
            </a:extLst>
          </p:cNvPr>
          <p:cNvSpPr/>
          <p:nvPr/>
        </p:nvSpPr>
        <p:spPr>
          <a:xfrm>
            <a:off x="9053023" y="2322206"/>
            <a:ext cx="541568" cy="369529"/>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線別</a:t>
            </a:r>
          </a:p>
        </p:txBody>
      </p:sp>
      <p:sp>
        <p:nvSpPr>
          <p:cNvPr id="1216" name="矩形: 圓角 1215">
            <a:extLst>
              <a:ext uri="{FF2B5EF4-FFF2-40B4-BE49-F238E27FC236}">
                <a16:creationId xmlns:a16="http://schemas.microsoft.com/office/drawing/2014/main" id="{80A3B582-6FB5-9AA6-2055-CF420A4E3555}"/>
              </a:ext>
            </a:extLst>
          </p:cNvPr>
          <p:cNvSpPr/>
          <p:nvPr/>
        </p:nvSpPr>
        <p:spPr>
          <a:xfrm>
            <a:off x="10216362" y="2315780"/>
            <a:ext cx="541567" cy="369529"/>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產品</a:t>
            </a:r>
          </a:p>
        </p:txBody>
      </p:sp>
      <p:sp>
        <p:nvSpPr>
          <p:cNvPr id="1217" name="矩形: 圓角 1216">
            <a:extLst>
              <a:ext uri="{FF2B5EF4-FFF2-40B4-BE49-F238E27FC236}">
                <a16:creationId xmlns:a16="http://schemas.microsoft.com/office/drawing/2014/main" id="{1C100644-63DC-3185-5358-C39F46A87D28}"/>
              </a:ext>
            </a:extLst>
          </p:cNvPr>
          <p:cNvSpPr/>
          <p:nvPr/>
        </p:nvSpPr>
        <p:spPr>
          <a:xfrm>
            <a:off x="10811097" y="2315780"/>
            <a:ext cx="506860" cy="369529"/>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en-US" altLang="zh-TW" sz="1067">
                <a:solidFill>
                  <a:schemeClr val="tx1">
                    <a:lumMod val="75000"/>
                    <a:lumOff val="25000"/>
                  </a:schemeClr>
                </a:solidFill>
              </a:rPr>
              <a:t>…</a:t>
            </a:r>
            <a:endParaRPr lang="zh-TW" altLang="en-US" sz="1067">
              <a:solidFill>
                <a:schemeClr val="tx1">
                  <a:lumMod val="75000"/>
                  <a:lumOff val="25000"/>
                </a:schemeClr>
              </a:solidFill>
            </a:endParaRPr>
          </a:p>
        </p:txBody>
      </p:sp>
      <p:sp>
        <p:nvSpPr>
          <p:cNvPr id="11" name="標題 3">
            <a:extLst>
              <a:ext uri="{FF2B5EF4-FFF2-40B4-BE49-F238E27FC236}">
                <a16:creationId xmlns:a16="http://schemas.microsoft.com/office/drawing/2014/main" id="{DEB3333C-23AC-7B5C-407E-65FA2346E4DE}"/>
              </a:ext>
            </a:extLst>
          </p:cNvPr>
          <p:cNvSpPr>
            <a:spLocks noGrp="1"/>
          </p:cNvSpPr>
          <p:nvPr>
            <p:ph type="title"/>
          </p:nvPr>
        </p:nvSpPr>
        <p:spPr>
          <a:xfrm>
            <a:off x="406400" y="146687"/>
            <a:ext cx="11379200" cy="679396"/>
          </a:xfrm>
        </p:spPr>
        <p:txBody>
          <a:bodyPr>
            <a:normAutofit/>
          </a:bodyPr>
          <a:lstStyle/>
          <a:p>
            <a:r>
              <a:rPr lang="en-US" altLang="zh-TW"/>
              <a:t>MFG</a:t>
            </a:r>
            <a:r>
              <a:rPr lang="zh-CN" altLang="en-US"/>
              <a:t>數據架構</a:t>
            </a:r>
            <a:r>
              <a:rPr lang="zh-TW" altLang="en-US"/>
              <a:t>規劃</a:t>
            </a:r>
          </a:p>
        </p:txBody>
      </p:sp>
      <p:sp>
        <p:nvSpPr>
          <p:cNvPr id="45" name="矩形: 圓角 44">
            <a:extLst>
              <a:ext uri="{FF2B5EF4-FFF2-40B4-BE49-F238E27FC236}">
                <a16:creationId xmlns:a16="http://schemas.microsoft.com/office/drawing/2014/main" id="{B2758D6E-C86A-19AF-51A7-9CDD4DFC6652}"/>
              </a:ext>
            </a:extLst>
          </p:cNvPr>
          <p:cNvSpPr/>
          <p:nvPr/>
        </p:nvSpPr>
        <p:spPr>
          <a:xfrm>
            <a:off x="1961734" y="2380643"/>
            <a:ext cx="466373" cy="353672"/>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結構</a:t>
            </a:r>
          </a:p>
        </p:txBody>
      </p:sp>
      <p:sp>
        <p:nvSpPr>
          <p:cNvPr id="46" name="矩形: 圓角 45">
            <a:extLst>
              <a:ext uri="{FF2B5EF4-FFF2-40B4-BE49-F238E27FC236}">
                <a16:creationId xmlns:a16="http://schemas.microsoft.com/office/drawing/2014/main" id="{69777AF5-B629-5501-E25F-E17C7FC38853}"/>
              </a:ext>
            </a:extLst>
          </p:cNvPr>
          <p:cNvSpPr/>
          <p:nvPr/>
        </p:nvSpPr>
        <p:spPr>
          <a:xfrm>
            <a:off x="2484122" y="2380643"/>
            <a:ext cx="531972" cy="353672"/>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非結構</a:t>
            </a:r>
          </a:p>
        </p:txBody>
      </p:sp>
      <p:sp>
        <p:nvSpPr>
          <p:cNvPr id="51" name="矩形: 圓角 50">
            <a:extLst>
              <a:ext uri="{FF2B5EF4-FFF2-40B4-BE49-F238E27FC236}">
                <a16:creationId xmlns:a16="http://schemas.microsoft.com/office/drawing/2014/main" id="{4611990C-ADDF-3CFF-6EEC-70D459DE700E}"/>
              </a:ext>
            </a:extLst>
          </p:cNvPr>
          <p:cNvSpPr/>
          <p:nvPr/>
        </p:nvSpPr>
        <p:spPr>
          <a:xfrm>
            <a:off x="4503539" y="2379377"/>
            <a:ext cx="551220" cy="353671"/>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財務</a:t>
            </a:r>
          </a:p>
        </p:txBody>
      </p:sp>
      <p:sp>
        <p:nvSpPr>
          <p:cNvPr id="52" name="矩形: 圓角 51">
            <a:extLst>
              <a:ext uri="{FF2B5EF4-FFF2-40B4-BE49-F238E27FC236}">
                <a16:creationId xmlns:a16="http://schemas.microsoft.com/office/drawing/2014/main" id="{5933AC54-462F-6125-D0E3-9F1833769372}"/>
              </a:ext>
            </a:extLst>
          </p:cNvPr>
          <p:cNvSpPr/>
          <p:nvPr/>
        </p:nvSpPr>
        <p:spPr>
          <a:xfrm>
            <a:off x="5137398" y="2379373"/>
            <a:ext cx="551220" cy="353672"/>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en-US" altLang="zh-TW" sz="1067">
                <a:solidFill>
                  <a:schemeClr val="tx1">
                    <a:lumMod val="75000"/>
                    <a:lumOff val="25000"/>
                  </a:schemeClr>
                </a:solidFill>
              </a:rPr>
              <a:t>…</a:t>
            </a:r>
            <a:endParaRPr lang="zh-TW" altLang="en-US" sz="1067">
              <a:solidFill>
                <a:schemeClr val="tx1">
                  <a:lumMod val="75000"/>
                  <a:lumOff val="25000"/>
                </a:schemeClr>
              </a:solidFill>
            </a:endParaRPr>
          </a:p>
        </p:txBody>
      </p:sp>
      <p:sp>
        <p:nvSpPr>
          <p:cNvPr id="53" name="矩形: 圓角 52">
            <a:extLst>
              <a:ext uri="{FF2B5EF4-FFF2-40B4-BE49-F238E27FC236}">
                <a16:creationId xmlns:a16="http://schemas.microsoft.com/office/drawing/2014/main" id="{25695EBC-0D9A-0D3E-2F96-B385B975CD05}"/>
              </a:ext>
            </a:extLst>
          </p:cNvPr>
          <p:cNvSpPr/>
          <p:nvPr/>
        </p:nvSpPr>
        <p:spPr>
          <a:xfrm>
            <a:off x="3593150" y="6052410"/>
            <a:ext cx="61404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cxnSp>
        <p:nvCxnSpPr>
          <p:cNvPr id="1027" name="接點: 肘形 1026">
            <a:extLst>
              <a:ext uri="{FF2B5EF4-FFF2-40B4-BE49-F238E27FC236}">
                <a16:creationId xmlns:a16="http://schemas.microsoft.com/office/drawing/2014/main" id="{F7B68173-86AB-29A2-631F-122B0D894AF7}"/>
              </a:ext>
            </a:extLst>
          </p:cNvPr>
          <p:cNvCxnSpPr>
            <a:cxnSpLocks/>
            <a:stCxn id="53" idx="3"/>
          </p:cNvCxnSpPr>
          <p:nvPr/>
        </p:nvCxnSpPr>
        <p:spPr>
          <a:xfrm flipV="1">
            <a:off x="4207199" y="5812124"/>
            <a:ext cx="199892" cy="438451"/>
          </a:xfrm>
          <a:prstGeom prst="bentConnector2">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2" name="接點: 肘形 1151">
            <a:extLst>
              <a:ext uri="{FF2B5EF4-FFF2-40B4-BE49-F238E27FC236}">
                <a16:creationId xmlns:a16="http://schemas.microsoft.com/office/drawing/2014/main" id="{80E2DDCF-2DDE-77E1-25CA-769C016ECBA1}"/>
              </a:ext>
            </a:extLst>
          </p:cNvPr>
          <p:cNvCxnSpPr>
            <a:cxnSpLocks/>
            <a:stCxn id="18" idx="1"/>
            <a:endCxn id="22" idx="1"/>
          </p:cNvCxnSpPr>
          <p:nvPr/>
        </p:nvCxnSpPr>
        <p:spPr>
          <a:xfrm rot="10800000">
            <a:off x="1780397" y="1320731"/>
            <a:ext cx="157599" cy="4058400"/>
          </a:xfrm>
          <a:prstGeom prst="bentConnector3">
            <a:avLst>
              <a:gd name="adj1" fmla="val 29340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91" name="矩形: 圓角 1090">
            <a:extLst>
              <a:ext uri="{FF2B5EF4-FFF2-40B4-BE49-F238E27FC236}">
                <a16:creationId xmlns:a16="http://schemas.microsoft.com/office/drawing/2014/main" id="{085E7957-14EF-A0CD-3872-8452060407A2}"/>
              </a:ext>
            </a:extLst>
          </p:cNvPr>
          <p:cNvSpPr/>
          <p:nvPr/>
        </p:nvSpPr>
        <p:spPr>
          <a:xfrm>
            <a:off x="369979" y="3238866"/>
            <a:ext cx="960268" cy="262204"/>
          </a:xfrm>
          <a:prstGeom prst="roundRect">
            <a:avLst>
              <a:gd name="adj" fmla="val 6833"/>
            </a:avLst>
          </a:prstGeom>
          <a:solidFill>
            <a:srgbClr val="0099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b="1">
                <a:latin typeface="微軟正黑體" panose="020B0604030504040204" pitchFamily="34" charset="-120"/>
                <a:ea typeface="微軟正黑體" panose="020B0604030504040204" pitchFamily="34" charset="-120"/>
              </a:rPr>
              <a:t>T2</a:t>
            </a:r>
            <a:endParaRPr lang="zh-TW" altLang="en-US" sz="1600" b="1">
              <a:latin typeface="微軟正黑體" panose="020B0604030504040204" pitchFamily="34" charset="-120"/>
              <a:ea typeface="微軟正黑體" panose="020B0604030504040204" pitchFamily="34" charset="-120"/>
            </a:endParaRPr>
          </a:p>
        </p:txBody>
      </p:sp>
      <p:sp>
        <p:nvSpPr>
          <p:cNvPr id="1092" name="矩形: 圓角 1091">
            <a:extLst>
              <a:ext uri="{FF2B5EF4-FFF2-40B4-BE49-F238E27FC236}">
                <a16:creationId xmlns:a16="http://schemas.microsoft.com/office/drawing/2014/main" id="{BB859342-B8FE-107C-7536-AA21059E83CA}"/>
              </a:ext>
            </a:extLst>
          </p:cNvPr>
          <p:cNvSpPr/>
          <p:nvPr/>
        </p:nvSpPr>
        <p:spPr>
          <a:xfrm>
            <a:off x="369979" y="3543854"/>
            <a:ext cx="960268" cy="262204"/>
          </a:xfrm>
          <a:prstGeom prst="roundRect">
            <a:avLst>
              <a:gd name="adj" fmla="val 4892"/>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Non T2</a:t>
            </a:r>
            <a:endParaRPr lang="zh-TW" altLang="en-US" sz="1600">
              <a:latin typeface="微軟正黑體" panose="020B0604030504040204" pitchFamily="34" charset="-120"/>
              <a:ea typeface="微軟正黑體" panose="020B0604030504040204" pitchFamily="34" charset="-120"/>
            </a:endParaRPr>
          </a:p>
        </p:txBody>
      </p:sp>
      <p:sp>
        <p:nvSpPr>
          <p:cNvPr id="1096" name="矩形: 圓角 1095">
            <a:extLst>
              <a:ext uri="{FF2B5EF4-FFF2-40B4-BE49-F238E27FC236}">
                <a16:creationId xmlns:a16="http://schemas.microsoft.com/office/drawing/2014/main" id="{7E259EAC-C2B2-7ABA-FA1C-E622BEEFBEE9}"/>
              </a:ext>
            </a:extLst>
          </p:cNvPr>
          <p:cNvSpPr/>
          <p:nvPr/>
        </p:nvSpPr>
        <p:spPr>
          <a:xfrm>
            <a:off x="369978" y="3850445"/>
            <a:ext cx="960268" cy="262204"/>
          </a:xfrm>
          <a:prstGeom prst="roundRect">
            <a:avLst>
              <a:gd name="adj" fmla="val 8056"/>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en-US" altLang="zh-TW" sz="1867">
                <a:solidFill>
                  <a:schemeClr val="tx1">
                    <a:lumMod val="75000"/>
                    <a:lumOff val="25000"/>
                  </a:schemeClr>
                </a:solidFill>
                <a:latin typeface="微軟正黑體" panose="020B0604030504040204" pitchFamily="34" charset="-120"/>
                <a:ea typeface="微軟正黑體" panose="020B0604030504040204" pitchFamily="34" charset="-120"/>
              </a:rPr>
              <a:t>Data</a:t>
            </a:r>
            <a:endParaRPr lang="zh-TW" altLang="en-US" sz="1867">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99" name="矩形: 圓角 1098">
            <a:extLst>
              <a:ext uri="{FF2B5EF4-FFF2-40B4-BE49-F238E27FC236}">
                <a16:creationId xmlns:a16="http://schemas.microsoft.com/office/drawing/2014/main" id="{4BC128E4-49F8-644F-2FC7-43DB8AD1B80C}"/>
              </a:ext>
            </a:extLst>
          </p:cNvPr>
          <p:cNvSpPr/>
          <p:nvPr/>
        </p:nvSpPr>
        <p:spPr>
          <a:xfrm>
            <a:off x="2264507" y="6093246"/>
            <a:ext cx="94977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sp>
        <p:nvSpPr>
          <p:cNvPr id="1100" name="矩形: 圓角 1099">
            <a:extLst>
              <a:ext uri="{FF2B5EF4-FFF2-40B4-BE49-F238E27FC236}">
                <a16:creationId xmlns:a16="http://schemas.microsoft.com/office/drawing/2014/main" id="{04326127-B841-A7C1-D699-F1D4B1129EB4}"/>
              </a:ext>
            </a:extLst>
          </p:cNvPr>
          <p:cNvSpPr/>
          <p:nvPr/>
        </p:nvSpPr>
        <p:spPr>
          <a:xfrm>
            <a:off x="2249875" y="6079309"/>
            <a:ext cx="94977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sp>
        <p:nvSpPr>
          <p:cNvPr id="1101" name="矩形: 圓角 1100">
            <a:extLst>
              <a:ext uri="{FF2B5EF4-FFF2-40B4-BE49-F238E27FC236}">
                <a16:creationId xmlns:a16="http://schemas.microsoft.com/office/drawing/2014/main" id="{95B7D6D4-3A5E-D57B-8785-4D970232E1C7}"/>
              </a:ext>
            </a:extLst>
          </p:cNvPr>
          <p:cNvSpPr/>
          <p:nvPr/>
        </p:nvSpPr>
        <p:spPr>
          <a:xfrm>
            <a:off x="2240529" y="6064453"/>
            <a:ext cx="94977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sp>
        <p:nvSpPr>
          <p:cNvPr id="1102" name="矩形: 圓角 1101">
            <a:extLst>
              <a:ext uri="{FF2B5EF4-FFF2-40B4-BE49-F238E27FC236}">
                <a16:creationId xmlns:a16="http://schemas.microsoft.com/office/drawing/2014/main" id="{90613954-7BEC-C949-9DD0-F042959C0CB2}"/>
              </a:ext>
            </a:extLst>
          </p:cNvPr>
          <p:cNvSpPr/>
          <p:nvPr/>
        </p:nvSpPr>
        <p:spPr>
          <a:xfrm>
            <a:off x="2228063" y="6050518"/>
            <a:ext cx="94977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zh-TW" altLang="en-US" sz="1600">
                <a:latin typeface="微軟正黑體" panose="020B0604030504040204" pitchFamily="34" charset="-120"/>
                <a:ea typeface="微軟正黑體" panose="020B0604030504040204" pitchFamily="34" charset="-120"/>
              </a:rPr>
              <a:t>機台</a:t>
            </a:r>
          </a:p>
        </p:txBody>
      </p:sp>
      <p:sp>
        <p:nvSpPr>
          <p:cNvPr id="1103" name="矩形: 圓角 1102">
            <a:extLst>
              <a:ext uri="{FF2B5EF4-FFF2-40B4-BE49-F238E27FC236}">
                <a16:creationId xmlns:a16="http://schemas.microsoft.com/office/drawing/2014/main" id="{0AFD9F0F-CA98-F5E4-B352-64AC7D857EA4}"/>
              </a:ext>
            </a:extLst>
          </p:cNvPr>
          <p:cNvSpPr/>
          <p:nvPr/>
        </p:nvSpPr>
        <p:spPr>
          <a:xfrm>
            <a:off x="2215595" y="6037336"/>
            <a:ext cx="949779" cy="396329"/>
          </a:xfrm>
          <a:prstGeom prst="roundRect">
            <a:avLst>
              <a:gd name="adj" fmla="val 16987"/>
            </a:avLst>
          </a:prstGeom>
          <a:solidFill>
            <a:srgbClr val="0099FF"/>
          </a:solidFill>
          <a:ln w="6350">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tIns="24000" rIns="24000" bIns="24000" rtlCol="0" anchor="ctr" anchorCtr="0"/>
          <a:lstStyle/>
          <a:p>
            <a:pPr algn="ctr"/>
            <a:r>
              <a:rPr lang="en-US" altLang="zh-TW" sz="1600">
                <a:latin typeface="微軟正黑體" panose="020B0604030504040204" pitchFamily="34" charset="-120"/>
                <a:ea typeface="微軟正黑體" panose="020B0604030504040204" pitchFamily="34" charset="-120"/>
              </a:rPr>
              <a:t>Line Mgr</a:t>
            </a:r>
            <a:endParaRPr lang="zh-TW" altLang="en-US" sz="1600">
              <a:latin typeface="微軟正黑體" panose="020B0604030504040204" pitchFamily="34" charset="-120"/>
              <a:ea typeface="微軟正黑體" panose="020B0604030504040204" pitchFamily="34" charset="-120"/>
            </a:endParaRPr>
          </a:p>
        </p:txBody>
      </p:sp>
      <p:cxnSp>
        <p:nvCxnSpPr>
          <p:cNvPr id="1104" name="直線單箭頭接點 1103">
            <a:extLst>
              <a:ext uri="{FF2B5EF4-FFF2-40B4-BE49-F238E27FC236}">
                <a16:creationId xmlns:a16="http://schemas.microsoft.com/office/drawing/2014/main" id="{97F08430-2A6F-6E23-87DD-1521B1397162}"/>
              </a:ext>
            </a:extLst>
          </p:cNvPr>
          <p:cNvCxnSpPr>
            <a:cxnSpLocks/>
            <a:stCxn id="53" idx="1"/>
            <a:endCxn id="1102" idx="3"/>
          </p:cNvCxnSpPr>
          <p:nvPr/>
        </p:nvCxnSpPr>
        <p:spPr>
          <a:xfrm flipH="1" flipV="1">
            <a:off x="3177842" y="6248683"/>
            <a:ext cx="415308" cy="18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07" name="直線單箭頭接點 1106">
            <a:extLst>
              <a:ext uri="{FF2B5EF4-FFF2-40B4-BE49-F238E27FC236}">
                <a16:creationId xmlns:a16="http://schemas.microsoft.com/office/drawing/2014/main" id="{024C0686-03BF-D0E9-461F-8032B0015E37}"/>
              </a:ext>
            </a:extLst>
          </p:cNvPr>
          <p:cNvCxnSpPr>
            <a:cxnSpLocks/>
            <a:stCxn id="1103" idx="0"/>
          </p:cNvCxnSpPr>
          <p:nvPr/>
        </p:nvCxnSpPr>
        <p:spPr>
          <a:xfrm flipV="1">
            <a:off x="2690484" y="5839905"/>
            <a:ext cx="0" cy="1974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84" name="接點: 肘形 1183">
            <a:extLst>
              <a:ext uri="{FF2B5EF4-FFF2-40B4-BE49-F238E27FC236}">
                <a16:creationId xmlns:a16="http://schemas.microsoft.com/office/drawing/2014/main" id="{9404399A-0CFA-5966-91A4-EEFB6720B32A}"/>
              </a:ext>
            </a:extLst>
          </p:cNvPr>
          <p:cNvCxnSpPr>
            <a:cxnSpLocks/>
            <a:stCxn id="5" idx="0"/>
            <a:endCxn id="22" idx="2"/>
          </p:cNvCxnSpPr>
          <p:nvPr/>
        </p:nvCxnSpPr>
        <p:spPr>
          <a:xfrm rot="16200000" flipV="1">
            <a:off x="4251376" y="-183107"/>
            <a:ext cx="611744" cy="4134144"/>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16" name="文字方塊 1115">
            <a:extLst>
              <a:ext uri="{FF2B5EF4-FFF2-40B4-BE49-F238E27FC236}">
                <a16:creationId xmlns:a16="http://schemas.microsoft.com/office/drawing/2014/main" id="{742753E9-061C-8BF5-82E5-F305FD94DCA7}"/>
              </a:ext>
            </a:extLst>
          </p:cNvPr>
          <p:cNvSpPr txBox="1"/>
          <p:nvPr/>
        </p:nvSpPr>
        <p:spPr>
          <a:xfrm>
            <a:off x="230211" y="1646650"/>
            <a:ext cx="1210588" cy="338554"/>
          </a:xfrm>
          <a:prstGeom prst="rect">
            <a:avLst/>
          </a:prstGeom>
          <a:noFill/>
        </p:spPr>
        <p:txBody>
          <a:bodyPr wrap="none" rtlCol="0">
            <a:spAutoFit/>
          </a:bodyPr>
          <a:lstStyle/>
          <a:p>
            <a:r>
              <a:rPr lang="zh-TW" altLang="en-US" sz="1600"/>
              <a:t>應用分析層</a:t>
            </a:r>
          </a:p>
        </p:txBody>
      </p:sp>
      <p:sp>
        <p:nvSpPr>
          <p:cNvPr id="1126" name="文字方塊 1125">
            <a:extLst>
              <a:ext uri="{FF2B5EF4-FFF2-40B4-BE49-F238E27FC236}">
                <a16:creationId xmlns:a16="http://schemas.microsoft.com/office/drawing/2014/main" id="{AE639FB8-D20F-E6DF-02EE-31695A6E74F9}"/>
              </a:ext>
            </a:extLst>
          </p:cNvPr>
          <p:cNvSpPr txBox="1"/>
          <p:nvPr/>
        </p:nvSpPr>
        <p:spPr>
          <a:xfrm>
            <a:off x="230672" y="2011680"/>
            <a:ext cx="1210588" cy="338554"/>
          </a:xfrm>
          <a:prstGeom prst="rect">
            <a:avLst/>
          </a:prstGeom>
          <a:noFill/>
        </p:spPr>
        <p:txBody>
          <a:bodyPr wrap="none" rtlCol="0">
            <a:spAutoFit/>
          </a:bodyPr>
          <a:lstStyle/>
          <a:p>
            <a:r>
              <a:rPr lang="zh-TW" altLang="en-US" sz="1600"/>
              <a:t>數據彙整層</a:t>
            </a:r>
          </a:p>
        </p:txBody>
      </p:sp>
      <p:cxnSp>
        <p:nvCxnSpPr>
          <p:cNvPr id="1128" name="直線單箭頭接點 1127">
            <a:extLst>
              <a:ext uri="{FF2B5EF4-FFF2-40B4-BE49-F238E27FC236}">
                <a16:creationId xmlns:a16="http://schemas.microsoft.com/office/drawing/2014/main" id="{CA5584F0-4ABF-2300-CC7D-B89EAC47231C}"/>
              </a:ext>
            </a:extLst>
          </p:cNvPr>
          <p:cNvCxnSpPr>
            <a:cxnSpLocks/>
          </p:cNvCxnSpPr>
          <p:nvPr/>
        </p:nvCxnSpPr>
        <p:spPr>
          <a:xfrm flipH="1" flipV="1">
            <a:off x="9222270" y="4667944"/>
            <a:ext cx="2543" cy="379601"/>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矩形: 圓角 1">
            <a:extLst>
              <a:ext uri="{FF2B5EF4-FFF2-40B4-BE49-F238E27FC236}">
                <a16:creationId xmlns:a16="http://schemas.microsoft.com/office/drawing/2014/main" id="{0D10EB8C-8714-2BC3-9592-05E014831039}"/>
              </a:ext>
            </a:extLst>
          </p:cNvPr>
          <p:cNvSpPr/>
          <p:nvPr/>
        </p:nvSpPr>
        <p:spPr>
          <a:xfrm>
            <a:off x="9637093" y="2322206"/>
            <a:ext cx="541568" cy="369529"/>
          </a:xfrm>
          <a:prstGeom prst="roundRect">
            <a:avLst/>
          </a:prstGeom>
          <a:solidFill>
            <a:srgbClr val="66CCFF"/>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lIns="24000" rIns="24000" rtlCol="0" anchor="ctr"/>
          <a:lstStyle/>
          <a:p>
            <a:pPr algn="ctr"/>
            <a:r>
              <a:rPr lang="zh-TW" altLang="en-US" sz="1067">
                <a:solidFill>
                  <a:schemeClr val="tx1">
                    <a:lumMod val="75000"/>
                    <a:lumOff val="25000"/>
                  </a:schemeClr>
                </a:solidFill>
              </a:rPr>
              <a:t>設備</a:t>
            </a:r>
          </a:p>
        </p:txBody>
      </p:sp>
    </p:spTree>
    <p:extLst>
      <p:ext uri="{BB962C8B-B14F-4D97-AF65-F5344CB8AC3E}">
        <p14:creationId xmlns:p14="http://schemas.microsoft.com/office/powerpoint/2010/main" val="631431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標題 18">
            <a:extLst>
              <a:ext uri="{FF2B5EF4-FFF2-40B4-BE49-F238E27FC236}">
                <a16:creationId xmlns:a16="http://schemas.microsoft.com/office/drawing/2014/main" id="{4D8ADF28-E09F-5F89-5CB7-185F146D6B33}"/>
              </a:ext>
            </a:extLst>
          </p:cNvPr>
          <p:cNvSpPr>
            <a:spLocks noGrp="1"/>
          </p:cNvSpPr>
          <p:nvPr>
            <p:ph type="title"/>
          </p:nvPr>
        </p:nvSpPr>
        <p:spPr/>
        <p:txBody>
          <a:bodyPr/>
          <a:lstStyle/>
          <a:p>
            <a:r>
              <a:rPr lang="en-US" altLang="zh-TW" dirty="0"/>
              <a:t>MFG </a:t>
            </a:r>
            <a:r>
              <a:rPr lang="zh-TW" altLang="en-US" dirty="0"/>
              <a:t>數據中台 解決方案架構圖</a:t>
            </a:r>
          </a:p>
        </p:txBody>
      </p:sp>
      <p:grpSp>
        <p:nvGrpSpPr>
          <p:cNvPr id="28" name="群組 27">
            <a:extLst>
              <a:ext uri="{FF2B5EF4-FFF2-40B4-BE49-F238E27FC236}">
                <a16:creationId xmlns:a16="http://schemas.microsoft.com/office/drawing/2014/main" id="{8F910F93-6627-C953-1CDB-63CC577781E7}"/>
              </a:ext>
            </a:extLst>
          </p:cNvPr>
          <p:cNvGrpSpPr/>
          <p:nvPr/>
        </p:nvGrpSpPr>
        <p:grpSpPr>
          <a:xfrm>
            <a:off x="91440" y="762910"/>
            <a:ext cx="8474926" cy="5486785"/>
            <a:chOff x="406400" y="762910"/>
            <a:chExt cx="8474926" cy="5486785"/>
          </a:xfrm>
        </p:grpSpPr>
        <p:sp>
          <p:nvSpPr>
            <p:cNvPr id="1095" name="Rounded Rectangle 115">
              <a:extLst>
                <a:ext uri="{FF2B5EF4-FFF2-40B4-BE49-F238E27FC236}">
                  <a16:creationId xmlns:a16="http://schemas.microsoft.com/office/drawing/2014/main" id="{D064DD1A-B06D-2777-535B-7C38515C206C}"/>
                </a:ext>
              </a:extLst>
            </p:cNvPr>
            <p:cNvSpPr>
              <a:spLocks noChangeArrowheads="1"/>
            </p:cNvSpPr>
            <p:nvPr/>
          </p:nvSpPr>
          <p:spPr bwMode="auto">
            <a:xfrm>
              <a:off x="406400" y="764075"/>
              <a:ext cx="1208957" cy="4846637"/>
            </a:xfrm>
            <a:prstGeom prst="roundRect">
              <a:avLst>
                <a:gd name="adj" fmla="val 3905"/>
              </a:avLst>
            </a:prstGeom>
            <a:solidFill>
              <a:srgbClr val="00B0F0"/>
            </a:solidFill>
            <a:ln>
              <a:noFill/>
            </a:ln>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zh-TW" altLang="en-US" sz="1600" b="0">
                  <a:solidFill>
                    <a:schemeClr val="tx1"/>
                  </a:solidFill>
                  <a:latin typeface="微軟正黑體" panose="020B0604030504040204" pitchFamily="34" charset="-120"/>
                  <a:ea typeface="微軟正黑體" panose="020B0604030504040204" pitchFamily="34" charset="-120"/>
                </a:rPr>
                <a:t>數據源</a:t>
              </a:r>
              <a:endParaRPr lang="en-US" altLang="en-US" sz="1600" b="0">
                <a:solidFill>
                  <a:schemeClr val="tx1"/>
                </a:solidFill>
                <a:latin typeface="微軟正黑體" panose="020B0604030504040204" pitchFamily="34" charset="-120"/>
                <a:ea typeface="微軟正黑體" panose="020B0604030504040204" pitchFamily="34" charset="-120"/>
              </a:endParaRPr>
            </a:p>
          </p:txBody>
        </p:sp>
        <p:sp>
          <p:nvSpPr>
            <p:cNvPr id="1037" name="Rounded Rectangle 115">
              <a:extLst>
                <a:ext uri="{FF2B5EF4-FFF2-40B4-BE49-F238E27FC236}">
                  <a16:creationId xmlns:a16="http://schemas.microsoft.com/office/drawing/2014/main" id="{59EF2299-100B-86C9-0739-EE4C944796C1}"/>
                </a:ext>
              </a:extLst>
            </p:cNvPr>
            <p:cNvSpPr>
              <a:spLocks noChangeArrowheads="1"/>
            </p:cNvSpPr>
            <p:nvPr/>
          </p:nvSpPr>
          <p:spPr bwMode="auto">
            <a:xfrm>
              <a:off x="1707661" y="762910"/>
              <a:ext cx="5226423" cy="5486785"/>
            </a:xfrm>
            <a:prstGeom prst="roundRect">
              <a:avLst>
                <a:gd name="adj" fmla="val 1698"/>
              </a:avLst>
            </a:prstGeom>
            <a:solidFill>
              <a:srgbClr val="00B0F0"/>
            </a:solidFill>
            <a:ln>
              <a:noFill/>
            </a:ln>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zh-TW" altLang="en-US">
                  <a:solidFill>
                    <a:schemeClr val="tx1"/>
                  </a:solidFill>
                  <a:latin typeface="微軟正黑體" panose="020B0604030504040204" pitchFamily="34" charset="-120"/>
                  <a:ea typeface="微軟正黑體" panose="020B0604030504040204" pitchFamily="34" charset="-120"/>
                </a:rPr>
                <a:t>數據中台</a:t>
              </a:r>
              <a:endParaRPr lang="en-US" altLang="en-US">
                <a:solidFill>
                  <a:schemeClr val="tx1"/>
                </a:solidFill>
                <a:latin typeface="微軟正黑體" panose="020B0604030504040204" pitchFamily="34" charset="-120"/>
                <a:ea typeface="微軟正黑體" panose="020B0604030504040204" pitchFamily="34" charset="-120"/>
              </a:endParaRPr>
            </a:p>
          </p:txBody>
        </p:sp>
        <p:sp>
          <p:nvSpPr>
            <p:cNvPr id="7" name="Rounded Rectangle 115">
              <a:extLst>
                <a:ext uri="{FF2B5EF4-FFF2-40B4-BE49-F238E27FC236}">
                  <a16:creationId xmlns:a16="http://schemas.microsoft.com/office/drawing/2014/main" id="{6D679546-FCE7-2CB3-0EB0-11CEE30F1846}"/>
                </a:ext>
              </a:extLst>
            </p:cNvPr>
            <p:cNvSpPr>
              <a:spLocks noChangeArrowheads="1"/>
            </p:cNvSpPr>
            <p:nvPr/>
          </p:nvSpPr>
          <p:spPr bwMode="auto">
            <a:xfrm>
              <a:off x="1816202" y="1124172"/>
              <a:ext cx="2538330" cy="1398038"/>
            </a:xfrm>
            <a:prstGeom prst="roundRect">
              <a:avLst>
                <a:gd name="adj" fmla="val 8036"/>
              </a:avLst>
            </a:prstGeom>
            <a:solidFill>
              <a:schemeClr val="bg1"/>
            </a:solidFill>
            <a:ln>
              <a:solidFill>
                <a:schemeClr val="tx1"/>
              </a:solidFill>
            </a:ln>
          </p:spPr>
          <p:txBody>
            <a:bodyPr lIns="0" tIns="36000" rIns="0" anchorCtr="1"/>
            <a:lstStyle/>
            <a:p>
              <a:pPr algn="ctr">
                <a:lnSpc>
                  <a:spcPct val="85000"/>
                </a:lnSpc>
                <a:spcBef>
                  <a:spcPct val="0"/>
                </a:spcBef>
              </a:pPr>
              <a:r>
                <a:rPr lang="zh-TW" altLang="en-US" sz="1600" b="1">
                  <a:latin typeface="+mj-ea"/>
                  <a:ea typeface="+mj-ea"/>
                </a:rPr>
                <a:t>數據擷取</a:t>
              </a:r>
              <a:r>
                <a:rPr lang="en-US" altLang="zh-TW" sz="1600" b="1">
                  <a:latin typeface="+mj-ea"/>
                  <a:ea typeface="+mj-ea"/>
                </a:rPr>
                <a:t>/</a:t>
              </a:r>
              <a:r>
                <a:rPr lang="zh-TW" altLang="en-US" sz="1600" b="1">
                  <a:latin typeface="+mj-ea"/>
                  <a:ea typeface="+mj-ea"/>
                </a:rPr>
                <a:t>數據處裡</a:t>
              </a:r>
              <a:endParaRPr lang="en-US" altLang="en-US" sz="1600" b="1">
                <a:latin typeface="+mj-ea"/>
                <a:ea typeface="+mj-ea"/>
              </a:endParaRPr>
            </a:p>
          </p:txBody>
        </p:sp>
        <p:sp>
          <p:nvSpPr>
            <p:cNvPr id="9" name="Rounded Rectangle 115">
              <a:extLst>
                <a:ext uri="{FF2B5EF4-FFF2-40B4-BE49-F238E27FC236}">
                  <a16:creationId xmlns:a16="http://schemas.microsoft.com/office/drawing/2014/main" id="{02385423-37B3-EF29-7B1C-D801B3C79FAF}"/>
                </a:ext>
              </a:extLst>
            </p:cNvPr>
            <p:cNvSpPr>
              <a:spLocks noChangeArrowheads="1"/>
            </p:cNvSpPr>
            <p:nvPr/>
          </p:nvSpPr>
          <p:spPr bwMode="auto">
            <a:xfrm>
              <a:off x="1816202" y="2898226"/>
              <a:ext cx="4099941" cy="1400715"/>
            </a:xfrm>
            <a:prstGeom prst="roundRect">
              <a:avLst>
                <a:gd name="adj" fmla="val 4596"/>
              </a:avLst>
            </a:prstGeom>
            <a:solidFill>
              <a:schemeClr val="bg1"/>
            </a:solidFill>
            <a:ln>
              <a:solidFill>
                <a:schemeClr val="tx1"/>
              </a:solidFill>
            </a:ln>
          </p:spPr>
          <p:txBody>
            <a:bodyPr lIns="0" tIns="36000" rIns="0" anchorCtr="1"/>
            <a:lstStyle/>
            <a:p>
              <a:pPr algn="ctr">
                <a:lnSpc>
                  <a:spcPct val="85000"/>
                </a:lnSpc>
                <a:spcBef>
                  <a:spcPct val="0"/>
                </a:spcBef>
              </a:pPr>
              <a:r>
                <a:rPr lang="zh-TW" altLang="en-US" sz="1600" b="1">
                  <a:latin typeface="+mj-ea"/>
                  <a:ea typeface="+mj-ea"/>
                </a:rPr>
                <a:t>數據湖泊</a:t>
              </a:r>
              <a:endParaRPr lang="en-US" altLang="en-US" sz="1600" b="1">
                <a:latin typeface="+mj-ea"/>
                <a:ea typeface="+mj-ea"/>
              </a:endParaRPr>
            </a:p>
          </p:txBody>
        </p:sp>
        <p:sp>
          <p:nvSpPr>
            <p:cNvPr id="11" name="Rounded Rectangle 115">
              <a:extLst>
                <a:ext uri="{FF2B5EF4-FFF2-40B4-BE49-F238E27FC236}">
                  <a16:creationId xmlns:a16="http://schemas.microsoft.com/office/drawing/2014/main" id="{4FBCE2B8-D128-E6D1-681D-FA8CBEEC13D4}"/>
                </a:ext>
              </a:extLst>
            </p:cNvPr>
            <p:cNvSpPr>
              <a:spLocks noChangeArrowheads="1"/>
            </p:cNvSpPr>
            <p:nvPr/>
          </p:nvSpPr>
          <p:spPr bwMode="auto">
            <a:xfrm>
              <a:off x="5951680" y="2900135"/>
              <a:ext cx="868363" cy="1408016"/>
            </a:xfrm>
            <a:prstGeom prst="roundRect">
              <a:avLst>
                <a:gd name="adj" fmla="val 10669"/>
              </a:avLst>
            </a:prstGeom>
            <a:solidFill>
              <a:schemeClr val="bg1"/>
            </a:solidFill>
            <a:ln>
              <a:solidFill>
                <a:schemeClr val="tx1"/>
              </a:solidFill>
            </a:ln>
          </p:spPr>
          <p:txBody>
            <a:bodyPr lIns="0" tIns="3600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a:solidFill>
                    <a:schemeClr val="tx1"/>
                  </a:solidFill>
                  <a:latin typeface="+mj-ea"/>
                  <a:ea typeface="+mj-ea"/>
                </a:rPr>
                <a:t>數據提供</a:t>
              </a:r>
              <a:endParaRPr lang="en-US" altLang="en-US" sz="1600">
                <a:solidFill>
                  <a:schemeClr val="tx1"/>
                </a:solidFill>
                <a:latin typeface="+mj-ea"/>
                <a:ea typeface="+mj-ea"/>
              </a:endParaRPr>
            </a:p>
          </p:txBody>
        </p:sp>
        <p:sp>
          <p:nvSpPr>
            <p:cNvPr id="13" name="AutoShape 7">
              <a:extLst>
                <a:ext uri="{FF2B5EF4-FFF2-40B4-BE49-F238E27FC236}">
                  <a16:creationId xmlns:a16="http://schemas.microsoft.com/office/drawing/2014/main" id="{8D6B993E-5880-92E2-F80B-0C4EC03F7848}"/>
                </a:ext>
              </a:extLst>
            </p:cNvPr>
            <p:cNvSpPr>
              <a:spLocks noChangeArrowheads="1"/>
            </p:cNvSpPr>
            <p:nvPr/>
          </p:nvSpPr>
          <p:spPr bwMode="auto">
            <a:xfrm>
              <a:off x="2995091" y="3279897"/>
              <a:ext cx="1653732" cy="271263"/>
            </a:xfrm>
            <a:prstGeom prst="roundRect">
              <a:avLst>
                <a:gd name="adj" fmla="val 6967"/>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結構化</a:t>
              </a:r>
              <a:endParaRPr lang="en-GB" altLang="en-US" sz="800">
                <a:solidFill>
                  <a:schemeClr val="tx1"/>
                </a:solidFill>
                <a:latin typeface="+mj-ea"/>
                <a:ea typeface="+mj-ea"/>
              </a:endParaRPr>
            </a:p>
          </p:txBody>
        </p:sp>
        <p:sp>
          <p:nvSpPr>
            <p:cNvPr id="14" name="AutoShape 7">
              <a:extLst>
                <a:ext uri="{FF2B5EF4-FFF2-40B4-BE49-F238E27FC236}">
                  <a16:creationId xmlns:a16="http://schemas.microsoft.com/office/drawing/2014/main" id="{FE6C72D7-6C7D-8BDD-5AB8-17B0637C4FD6}"/>
                </a:ext>
              </a:extLst>
            </p:cNvPr>
            <p:cNvSpPr>
              <a:spLocks noChangeArrowheads="1"/>
            </p:cNvSpPr>
            <p:nvPr/>
          </p:nvSpPr>
          <p:spPr bwMode="auto">
            <a:xfrm>
              <a:off x="2299140" y="3282986"/>
              <a:ext cx="660414" cy="271262"/>
            </a:xfrm>
            <a:prstGeom prst="roundRect">
              <a:avLst>
                <a:gd name="adj" fmla="val 10350"/>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半結構化</a:t>
              </a:r>
              <a:endParaRPr lang="en-GB" altLang="en-US" sz="800">
                <a:solidFill>
                  <a:schemeClr val="tx1"/>
                </a:solidFill>
                <a:latin typeface="+mj-ea"/>
                <a:ea typeface="+mj-ea"/>
              </a:endParaRPr>
            </a:p>
          </p:txBody>
        </p:sp>
        <p:sp>
          <p:nvSpPr>
            <p:cNvPr id="15" name="AutoShape 7">
              <a:extLst>
                <a:ext uri="{FF2B5EF4-FFF2-40B4-BE49-F238E27FC236}">
                  <a16:creationId xmlns:a16="http://schemas.microsoft.com/office/drawing/2014/main" id="{5A74F5BD-7FAE-CD0B-8F3A-23BB4259260C}"/>
                </a:ext>
              </a:extLst>
            </p:cNvPr>
            <p:cNvSpPr>
              <a:spLocks noChangeArrowheads="1"/>
            </p:cNvSpPr>
            <p:nvPr/>
          </p:nvSpPr>
          <p:spPr bwMode="auto">
            <a:xfrm>
              <a:off x="1884811" y="3278266"/>
              <a:ext cx="383269" cy="277430"/>
            </a:xfrm>
            <a:prstGeom prst="roundRect">
              <a:avLst>
                <a:gd name="adj" fmla="val 14744"/>
              </a:avLst>
            </a:prstGeom>
            <a:solidFill>
              <a:schemeClr val="bg1"/>
            </a:solidFill>
            <a:ln w="9525">
              <a:solidFill>
                <a:srgbClr val="000000"/>
              </a:solidFill>
              <a:round/>
              <a:headEnd/>
              <a:tailEnd/>
            </a:ln>
          </p:spPr>
          <p:txBody>
            <a:bodyPr lIns="0" tIns="36000" rIns="0" bIns="0" anchor="ctr" anchorCtr="0"/>
            <a:lstStyle/>
            <a:p>
              <a:pPr algn="ctr">
                <a:lnSpc>
                  <a:spcPct val="85000"/>
                </a:lnSpc>
                <a:spcBef>
                  <a:spcPct val="0"/>
                </a:spcBef>
              </a:pPr>
              <a:r>
                <a:rPr lang="zh-TW" altLang="en-US" sz="800" b="1">
                  <a:latin typeface="+mj-ea"/>
                  <a:ea typeface="+mj-ea"/>
                </a:rPr>
                <a:t>檔案</a:t>
              </a:r>
              <a:endParaRPr lang="en-GB" altLang="en-US" sz="800" b="1">
                <a:latin typeface="+mj-ea"/>
                <a:ea typeface="+mj-ea"/>
              </a:endParaRPr>
            </a:p>
          </p:txBody>
        </p:sp>
        <p:sp>
          <p:nvSpPr>
            <p:cNvPr id="68" name="AutoShape 7">
              <a:extLst>
                <a:ext uri="{FF2B5EF4-FFF2-40B4-BE49-F238E27FC236}">
                  <a16:creationId xmlns:a16="http://schemas.microsoft.com/office/drawing/2014/main" id="{256BDED9-531E-60A5-4CB2-1BC365168A29}"/>
                </a:ext>
              </a:extLst>
            </p:cNvPr>
            <p:cNvSpPr>
              <a:spLocks noChangeArrowheads="1"/>
            </p:cNvSpPr>
            <p:nvPr/>
          </p:nvSpPr>
          <p:spPr bwMode="auto">
            <a:xfrm>
              <a:off x="1843656" y="1414209"/>
              <a:ext cx="858362" cy="19309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數據匯流</a:t>
              </a:r>
              <a:endParaRPr lang="en-GB" altLang="en-US" sz="800">
                <a:solidFill>
                  <a:schemeClr val="tx1"/>
                </a:solidFill>
                <a:latin typeface="+mj-ea"/>
                <a:ea typeface="+mj-ea"/>
              </a:endParaRPr>
            </a:p>
          </p:txBody>
        </p:sp>
        <p:sp>
          <p:nvSpPr>
            <p:cNvPr id="66" name="AutoShape 7">
              <a:extLst>
                <a:ext uri="{FF2B5EF4-FFF2-40B4-BE49-F238E27FC236}">
                  <a16:creationId xmlns:a16="http://schemas.microsoft.com/office/drawing/2014/main" id="{DD92F43B-AA76-3E53-3936-E6E4F6759BC3}"/>
                </a:ext>
              </a:extLst>
            </p:cNvPr>
            <p:cNvSpPr>
              <a:spLocks noChangeArrowheads="1"/>
            </p:cNvSpPr>
            <p:nvPr/>
          </p:nvSpPr>
          <p:spPr bwMode="auto">
            <a:xfrm>
              <a:off x="1843656" y="1631965"/>
              <a:ext cx="858362" cy="20321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格式轉換</a:t>
              </a:r>
              <a:endParaRPr lang="en-GB" altLang="en-US" sz="800">
                <a:solidFill>
                  <a:schemeClr val="tx1"/>
                </a:solidFill>
                <a:latin typeface="+mj-ea"/>
                <a:ea typeface="+mj-ea"/>
              </a:endParaRPr>
            </a:p>
          </p:txBody>
        </p:sp>
        <p:sp>
          <p:nvSpPr>
            <p:cNvPr id="35" name="AutoShape 7">
              <a:extLst>
                <a:ext uri="{FF2B5EF4-FFF2-40B4-BE49-F238E27FC236}">
                  <a16:creationId xmlns:a16="http://schemas.microsoft.com/office/drawing/2014/main" id="{F9642782-33E4-E58F-FA44-5858DF2911F5}"/>
                </a:ext>
              </a:extLst>
            </p:cNvPr>
            <p:cNvSpPr>
              <a:spLocks noChangeArrowheads="1"/>
            </p:cNvSpPr>
            <p:nvPr/>
          </p:nvSpPr>
          <p:spPr bwMode="auto">
            <a:xfrm>
              <a:off x="5996330" y="3234567"/>
              <a:ext cx="779062" cy="188430"/>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000">
                  <a:solidFill>
                    <a:schemeClr val="tx1"/>
                  </a:solidFill>
                  <a:latin typeface="+mj-ea"/>
                  <a:ea typeface="+mj-ea"/>
                </a:rPr>
                <a:t>直接連線</a:t>
              </a:r>
              <a:endParaRPr lang="en-GB" altLang="en-US" sz="1000">
                <a:solidFill>
                  <a:schemeClr val="tx1"/>
                </a:solidFill>
                <a:latin typeface="+mj-ea"/>
                <a:ea typeface="+mj-ea"/>
              </a:endParaRPr>
            </a:p>
          </p:txBody>
        </p:sp>
        <p:sp>
          <p:nvSpPr>
            <p:cNvPr id="37" name="AutoShape 7">
              <a:extLst>
                <a:ext uri="{FF2B5EF4-FFF2-40B4-BE49-F238E27FC236}">
                  <a16:creationId xmlns:a16="http://schemas.microsoft.com/office/drawing/2014/main" id="{DD2AB904-C4B1-0758-5C58-F5B66F740D0A}"/>
                </a:ext>
              </a:extLst>
            </p:cNvPr>
            <p:cNvSpPr>
              <a:spLocks noChangeArrowheads="1"/>
            </p:cNvSpPr>
            <p:nvPr/>
          </p:nvSpPr>
          <p:spPr bwMode="auto">
            <a:xfrm>
              <a:off x="5996330" y="3448255"/>
              <a:ext cx="779062" cy="199243"/>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1000">
                  <a:solidFill>
                    <a:schemeClr val="tx1"/>
                  </a:solidFill>
                  <a:latin typeface="+mj-ea"/>
                  <a:ea typeface="+mj-ea"/>
                </a:rPr>
                <a:t>API</a:t>
              </a:r>
              <a:endParaRPr lang="en-GB" altLang="en-US" sz="1000">
                <a:solidFill>
                  <a:schemeClr val="tx1"/>
                </a:solidFill>
                <a:latin typeface="+mj-ea"/>
                <a:ea typeface="+mj-ea"/>
              </a:endParaRPr>
            </a:p>
          </p:txBody>
        </p:sp>
        <p:sp>
          <p:nvSpPr>
            <p:cNvPr id="88" name="AutoShape 7">
              <a:extLst>
                <a:ext uri="{FF2B5EF4-FFF2-40B4-BE49-F238E27FC236}">
                  <a16:creationId xmlns:a16="http://schemas.microsoft.com/office/drawing/2014/main" id="{B83A2327-9844-0E34-E27C-1CE5399C161D}"/>
                </a:ext>
              </a:extLst>
            </p:cNvPr>
            <p:cNvSpPr>
              <a:spLocks noChangeArrowheads="1"/>
            </p:cNvSpPr>
            <p:nvPr/>
          </p:nvSpPr>
          <p:spPr bwMode="auto">
            <a:xfrm>
              <a:off x="1886634" y="3590824"/>
              <a:ext cx="668395" cy="274092"/>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ODS</a:t>
              </a:r>
              <a:endParaRPr lang="en-GB" altLang="en-US" sz="800">
                <a:solidFill>
                  <a:schemeClr val="tx1"/>
                </a:solidFill>
                <a:latin typeface="+mj-ea"/>
                <a:ea typeface="+mj-ea"/>
              </a:endParaRPr>
            </a:p>
          </p:txBody>
        </p:sp>
        <p:sp>
          <p:nvSpPr>
            <p:cNvPr id="90" name="AutoShape 7">
              <a:extLst>
                <a:ext uri="{FF2B5EF4-FFF2-40B4-BE49-F238E27FC236}">
                  <a16:creationId xmlns:a16="http://schemas.microsoft.com/office/drawing/2014/main" id="{AAEE6CDA-483F-5106-A54F-448626125FDC}"/>
                </a:ext>
              </a:extLst>
            </p:cNvPr>
            <p:cNvSpPr>
              <a:spLocks noChangeArrowheads="1"/>
            </p:cNvSpPr>
            <p:nvPr/>
          </p:nvSpPr>
          <p:spPr bwMode="auto">
            <a:xfrm>
              <a:off x="2590566" y="3590822"/>
              <a:ext cx="660414" cy="274093"/>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DWD</a:t>
              </a:r>
              <a:endParaRPr lang="en-GB" altLang="en-US" sz="800">
                <a:solidFill>
                  <a:schemeClr val="tx1"/>
                </a:solidFill>
                <a:latin typeface="+mj-ea"/>
                <a:ea typeface="+mj-ea"/>
              </a:endParaRPr>
            </a:p>
          </p:txBody>
        </p:sp>
        <p:sp>
          <p:nvSpPr>
            <p:cNvPr id="91" name="AutoShape 7">
              <a:extLst>
                <a:ext uri="{FF2B5EF4-FFF2-40B4-BE49-F238E27FC236}">
                  <a16:creationId xmlns:a16="http://schemas.microsoft.com/office/drawing/2014/main" id="{82BC8A36-9A3A-7D29-4E8A-AF913C0975E5}"/>
                </a:ext>
              </a:extLst>
            </p:cNvPr>
            <p:cNvSpPr>
              <a:spLocks noChangeArrowheads="1"/>
            </p:cNvSpPr>
            <p:nvPr/>
          </p:nvSpPr>
          <p:spPr bwMode="auto">
            <a:xfrm>
              <a:off x="3279308" y="3587484"/>
              <a:ext cx="550553" cy="277432"/>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DWS</a:t>
              </a:r>
              <a:endParaRPr lang="en-GB" altLang="en-US" sz="800">
                <a:solidFill>
                  <a:schemeClr val="tx1"/>
                </a:solidFill>
                <a:latin typeface="+mj-ea"/>
                <a:ea typeface="+mj-ea"/>
              </a:endParaRPr>
            </a:p>
          </p:txBody>
        </p:sp>
        <p:sp>
          <p:nvSpPr>
            <p:cNvPr id="94" name="AutoShape 7">
              <a:extLst>
                <a:ext uri="{FF2B5EF4-FFF2-40B4-BE49-F238E27FC236}">
                  <a16:creationId xmlns:a16="http://schemas.microsoft.com/office/drawing/2014/main" id="{DA7F0B56-B1D1-7F27-7057-9165CE5A1082}"/>
                </a:ext>
              </a:extLst>
            </p:cNvPr>
            <p:cNvSpPr>
              <a:spLocks noChangeArrowheads="1"/>
            </p:cNvSpPr>
            <p:nvPr/>
          </p:nvSpPr>
          <p:spPr bwMode="auto">
            <a:xfrm>
              <a:off x="2723963" y="1414209"/>
              <a:ext cx="766577" cy="193095"/>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Batch</a:t>
              </a:r>
              <a:endParaRPr lang="en-GB" altLang="en-US" sz="800">
                <a:solidFill>
                  <a:schemeClr val="tx1"/>
                </a:solidFill>
                <a:latin typeface="+mj-ea"/>
                <a:ea typeface="+mj-ea"/>
              </a:endParaRPr>
            </a:p>
          </p:txBody>
        </p:sp>
        <p:sp>
          <p:nvSpPr>
            <p:cNvPr id="95" name="AutoShape 7">
              <a:extLst>
                <a:ext uri="{FF2B5EF4-FFF2-40B4-BE49-F238E27FC236}">
                  <a16:creationId xmlns:a16="http://schemas.microsoft.com/office/drawing/2014/main" id="{D3899FE1-4FBB-DF51-A9D9-548E6CB3AB3B}"/>
                </a:ext>
              </a:extLst>
            </p:cNvPr>
            <p:cNvSpPr>
              <a:spLocks noChangeArrowheads="1"/>
            </p:cNvSpPr>
            <p:nvPr/>
          </p:nvSpPr>
          <p:spPr bwMode="auto">
            <a:xfrm>
              <a:off x="2721079" y="1631964"/>
              <a:ext cx="773295" cy="20321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bg1">
                      <a:lumMod val="65000"/>
                    </a:schemeClr>
                  </a:solidFill>
                  <a:latin typeface="+mj-ea"/>
                  <a:ea typeface="+mj-ea"/>
                </a:rPr>
                <a:t>Stream</a:t>
              </a:r>
              <a:endParaRPr lang="en-GB" altLang="en-US" sz="800">
                <a:solidFill>
                  <a:schemeClr val="bg1">
                    <a:lumMod val="65000"/>
                  </a:schemeClr>
                </a:solidFill>
                <a:latin typeface="+mj-ea"/>
                <a:ea typeface="+mj-ea"/>
              </a:endParaRPr>
            </a:p>
          </p:txBody>
        </p:sp>
        <p:pic>
          <p:nvPicPr>
            <p:cNvPr id="1026" name="Picture 2" descr="Apache Flink - 維基百科，自由的百科全書">
              <a:extLst>
                <a:ext uri="{FF2B5EF4-FFF2-40B4-BE49-F238E27FC236}">
                  <a16:creationId xmlns:a16="http://schemas.microsoft.com/office/drawing/2014/main" id="{83397D22-213B-107C-ED65-AD9157FA73D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30193" y="2177612"/>
              <a:ext cx="612815" cy="2997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pache SeaTunnel – Medium">
              <a:extLst>
                <a:ext uri="{FF2B5EF4-FFF2-40B4-BE49-F238E27FC236}">
                  <a16:creationId xmlns:a16="http://schemas.microsoft.com/office/drawing/2014/main" id="{45D7E0BA-3A41-A395-1C20-E2B4928298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763" t="6445" r="15327" b="21201"/>
            <a:stretch/>
          </p:blipFill>
          <p:spPr bwMode="auto">
            <a:xfrm>
              <a:off x="6004679" y="3866832"/>
              <a:ext cx="289616" cy="40911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pache DolphinScheduler (@dolphinschedule) / X">
              <a:extLst>
                <a:ext uri="{FF2B5EF4-FFF2-40B4-BE49-F238E27FC236}">
                  <a16:creationId xmlns:a16="http://schemas.microsoft.com/office/drawing/2014/main" id="{954B3D49-767A-9005-7AAD-1AD8E67944A0}"/>
                </a:ext>
              </a:extLst>
            </p:cNvPr>
            <p:cNvPicPr>
              <a:picLocks noChangeAspect="1" noChangeArrowheads="1"/>
            </p:cNvPicPr>
            <p:nvPr/>
          </p:nvPicPr>
          <p:blipFill>
            <a:blip r:embed="rId4">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3576058" y="1844196"/>
              <a:ext cx="660414" cy="66041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如何在Ubuntu 20.04 LTS上安装Apache Nifi-云东方">
              <a:extLst>
                <a:ext uri="{FF2B5EF4-FFF2-40B4-BE49-F238E27FC236}">
                  <a16:creationId xmlns:a16="http://schemas.microsoft.com/office/drawing/2014/main" id="{7437845A-8242-F2AE-0FD2-95EC1C38BC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0972" y="1885056"/>
              <a:ext cx="509255" cy="214923"/>
            </a:xfrm>
            <a:prstGeom prst="rect">
              <a:avLst/>
            </a:prstGeom>
            <a:noFill/>
            <a:extLst>
              <a:ext uri="{909E8E84-426E-40DD-AFC4-6F175D3DCCD1}">
                <a14:hiddenFill xmlns:a14="http://schemas.microsoft.com/office/drawing/2010/main">
                  <a:solidFill>
                    <a:srgbClr val="FFFFFF"/>
                  </a:solidFill>
                </a14:hiddenFill>
              </a:ext>
            </a:extLst>
          </p:spPr>
        </p:pic>
        <p:sp>
          <p:nvSpPr>
            <p:cNvPr id="97" name="AutoShape 7">
              <a:extLst>
                <a:ext uri="{FF2B5EF4-FFF2-40B4-BE49-F238E27FC236}">
                  <a16:creationId xmlns:a16="http://schemas.microsoft.com/office/drawing/2014/main" id="{6A451262-F6B0-F79C-93E5-558BEF6E3179}"/>
                </a:ext>
              </a:extLst>
            </p:cNvPr>
            <p:cNvSpPr>
              <a:spLocks noChangeArrowheads="1"/>
            </p:cNvSpPr>
            <p:nvPr/>
          </p:nvSpPr>
          <p:spPr bwMode="auto">
            <a:xfrm>
              <a:off x="3513435" y="1631964"/>
              <a:ext cx="766577" cy="20321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排程控制</a:t>
              </a:r>
              <a:endParaRPr lang="en-GB" altLang="en-US" sz="800">
                <a:solidFill>
                  <a:schemeClr val="tx1"/>
                </a:solidFill>
                <a:latin typeface="+mj-ea"/>
                <a:ea typeface="+mj-ea"/>
              </a:endParaRPr>
            </a:p>
          </p:txBody>
        </p:sp>
        <p:sp>
          <p:nvSpPr>
            <p:cNvPr id="100" name="AutoShape 7">
              <a:extLst>
                <a:ext uri="{FF2B5EF4-FFF2-40B4-BE49-F238E27FC236}">
                  <a16:creationId xmlns:a16="http://schemas.microsoft.com/office/drawing/2014/main" id="{177B23F0-E3F6-5298-875E-941DAFE7CCD6}"/>
                </a:ext>
              </a:extLst>
            </p:cNvPr>
            <p:cNvSpPr>
              <a:spLocks noChangeArrowheads="1"/>
            </p:cNvSpPr>
            <p:nvPr/>
          </p:nvSpPr>
          <p:spPr bwMode="auto">
            <a:xfrm>
              <a:off x="3858391" y="3587484"/>
              <a:ext cx="790432" cy="278059"/>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DataMart</a:t>
              </a:r>
              <a:endParaRPr lang="en-GB" altLang="en-US" sz="800">
                <a:solidFill>
                  <a:schemeClr val="tx1"/>
                </a:solidFill>
                <a:latin typeface="+mj-ea"/>
                <a:ea typeface="+mj-ea"/>
              </a:endParaRPr>
            </a:p>
          </p:txBody>
        </p:sp>
        <p:sp>
          <p:nvSpPr>
            <p:cNvPr id="102" name="AutoShape 7">
              <a:extLst>
                <a:ext uri="{FF2B5EF4-FFF2-40B4-BE49-F238E27FC236}">
                  <a16:creationId xmlns:a16="http://schemas.microsoft.com/office/drawing/2014/main" id="{8691F593-A074-28AB-1AD1-9E52ACD338F6}"/>
                </a:ext>
              </a:extLst>
            </p:cNvPr>
            <p:cNvSpPr>
              <a:spLocks noChangeArrowheads="1"/>
            </p:cNvSpPr>
            <p:nvPr/>
          </p:nvSpPr>
          <p:spPr bwMode="auto">
            <a:xfrm>
              <a:off x="3519203" y="1417759"/>
              <a:ext cx="760809" cy="189545"/>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800">
                  <a:solidFill>
                    <a:schemeClr val="tx1"/>
                  </a:solidFill>
                  <a:latin typeface="+mj-ea"/>
                  <a:ea typeface="+mj-ea"/>
                </a:rPr>
                <a:t>Pipeline</a:t>
              </a:r>
              <a:endParaRPr lang="en-GB" altLang="en-US" sz="800">
                <a:solidFill>
                  <a:schemeClr val="tx1"/>
                </a:solidFill>
                <a:latin typeface="+mj-ea"/>
                <a:ea typeface="+mj-ea"/>
              </a:endParaRPr>
            </a:p>
          </p:txBody>
        </p:sp>
        <p:pic>
          <p:nvPicPr>
            <p:cNvPr id="1040" name="Picture 16" descr="Minio and Nextcloud – Stuff I'm Up To">
              <a:extLst>
                <a:ext uri="{FF2B5EF4-FFF2-40B4-BE49-F238E27FC236}">
                  <a16:creationId xmlns:a16="http://schemas.microsoft.com/office/drawing/2014/main" id="{EC6A21C5-9424-AAB1-2790-83A2ED1F31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2852" y="3882845"/>
              <a:ext cx="1000383" cy="20558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pache Druid vs. ClickHouse - Imply">
              <a:extLst>
                <a:ext uri="{FF2B5EF4-FFF2-40B4-BE49-F238E27FC236}">
                  <a16:creationId xmlns:a16="http://schemas.microsoft.com/office/drawing/2014/main" id="{06FF66A4-0D4B-E982-8472-9F3FA783FE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72075" y="3920999"/>
              <a:ext cx="465564" cy="294570"/>
            </a:xfrm>
            <a:prstGeom prst="rect">
              <a:avLst/>
            </a:prstGeom>
            <a:noFill/>
            <a:extLst>
              <a:ext uri="{909E8E84-426E-40DD-AFC4-6F175D3DCCD1}">
                <a14:hiddenFill xmlns:a14="http://schemas.microsoft.com/office/drawing/2010/main">
                  <a:solidFill>
                    <a:srgbClr val="FFFFFF"/>
                  </a:solidFill>
                </a14:hiddenFill>
              </a:ext>
            </a:extLst>
          </p:spPr>
        </p:pic>
        <p:sp>
          <p:nvSpPr>
            <p:cNvPr id="108" name="Rounded Rectangle 115">
              <a:extLst>
                <a:ext uri="{FF2B5EF4-FFF2-40B4-BE49-F238E27FC236}">
                  <a16:creationId xmlns:a16="http://schemas.microsoft.com/office/drawing/2014/main" id="{56D4BB57-8FEA-F7B2-F6A7-4236725DC1E9}"/>
                </a:ext>
              </a:extLst>
            </p:cNvPr>
            <p:cNvSpPr>
              <a:spLocks noChangeArrowheads="1"/>
            </p:cNvSpPr>
            <p:nvPr/>
          </p:nvSpPr>
          <p:spPr bwMode="auto">
            <a:xfrm>
              <a:off x="4614477" y="1114195"/>
              <a:ext cx="2205566" cy="1408015"/>
            </a:xfrm>
            <a:prstGeom prst="roundRect">
              <a:avLst>
                <a:gd name="adj" fmla="val 7651"/>
              </a:avLst>
            </a:prstGeom>
            <a:solidFill>
              <a:schemeClr val="bg1"/>
            </a:solidFill>
            <a:ln>
              <a:solidFill>
                <a:schemeClr val="tx1"/>
              </a:solidFill>
            </a:ln>
          </p:spPr>
          <p:txBody>
            <a:bodyPr lIns="0" tIns="36000" rIns="0" anchorCtr="1"/>
            <a:lstStyle/>
            <a:p>
              <a:pPr algn="ctr">
                <a:lnSpc>
                  <a:spcPct val="85000"/>
                </a:lnSpc>
                <a:spcBef>
                  <a:spcPct val="0"/>
                </a:spcBef>
              </a:pPr>
              <a:r>
                <a:rPr lang="zh-TW" altLang="en-US" sz="1600" b="1">
                  <a:latin typeface="+mj-ea"/>
                  <a:ea typeface="+mj-ea"/>
                </a:rPr>
                <a:t>數據探索</a:t>
              </a:r>
              <a:endParaRPr lang="en-US" altLang="en-US" sz="1600" b="1">
                <a:latin typeface="+mj-ea"/>
                <a:ea typeface="+mj-ea"/>
              </a:endParaRPr>
            </a:p>
          </p:txBody>
        </p:sp>
        <p:sp>
          <p:nvSpPr>
            <p:cNvPr id="110" name="Rounded Rectangle 115">
              <a:extLst>
                <a:ext uri="{FF2B5EF4-FFF2-40B4-BE49-F238E27FC236}">
                  <a16:creationId xmlns:a16="http://schemas.microsoft.com/office/drawing/2014/main" id="{B092EEA3-5F79-9872-8EF8-45C02BCBB5FA}"/>
                </a:ext>
              </a:extLst>
            </p:cNvPr>
            <p:cNvSpPr>
              <a:spLocks noChangeArrowheads="1"/>
            </p:cNvSpPr>
            <p:nvPr/>
          </p:nvSpPr>
          <p:spPr bwMode="auto">
            <a:xfrm>
              <a:off x="1787389" y="5460982"/>
              <a:ext cx="5020182" cy="723888"/>
            </a:xfrm>
            <a:prstGeom prst="roundRect">
              <a:avLst>
                <a:gd name="adj" fmla="val 7651"/>
              </a:avLst>
            </a:prstGeom>
            <a:solidFill>
              <a:schemeClr val="bg1"/>
            </a:solidFill>
            <a:ln>
              <a:solidFill>
                <a:schemeClr val="tx1"/>
              </a:solidFill>
            </a:ln>
          </p:spPr>
          <p:txBody>
            <a:bodyPr vert="eaVert" lIns="0" tIns="36000" rIns="0" anchor="t" anchorCtr="0"/>
            <a:lstStyle/>
            <a:p>
              <a:pPr algn="ctr">
                <a:lnSpc>
                  <a:spcPct val="85000"/>
                </a:lnSpc>
                <a:spcBef>
                  <a:spcPct val="0"/>
                </a:spcBef>
              </a:pPr>
              <a:r>
                <a:rPr lang="zh-TW" altLang="en-US" sz="1600" b="1">
                  <a:latin typeface="+mj-ea"/>
                  <a:ea typeface="+mj-ea"/>
                </a:rPr>
                <a:t>維運</a:t>
              </a:r>
              <a:endParaRPr lang="en-US" altLang="en-US" sz="1600" b="1">
                <a:latin typeface="+mj-ea"/>
                <a:ea typeface="+mj-ea"/>
              </a:endParaRPr>
            </a:p>
          </p:txBody>
        </p:sp>
        <p:sp>
          <p:nvSpPr>
            <p:cNvPr id="111" name="AutoShape 7">
              <a:extLst>
                <a:ext uri="{FF2B5EF4-FFF2-40B4-BE49-F238E27FC236}">
                  <a16:creationId xmlns:a16="http://schemas.microsoft.com/office/drawing/2014/main" id="{6A888DC0-460F-9B12-9C3F-89B6332B5B12}"/>
                </a:ext>
              </a:extLst>
            </p:cNvPr>
            <p:cNvSpPr>
              <a:spLocks noChangeArrowheads="1"/>
            </p:cNvSpPr>
            <p:nvPr/>
          </p:nvSpPr>
          <p:spPr bwMode="auto">
            <a:xfrm>
              <a:off x="4028917" y="5517815"/>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a:latin typeface="+mj-ea"/>
                  <a:ea typeface="+mj-ea"/>
                </a:rPr>
                <a:t>監控設定</a:t>
              </a:r>
              <a:endParaRPr lang="en-GB" altLang="en-US" sz="800">
                <a:latin typeface="+mj-ea"/>
                <a:ea typeface="+mj-ea"/>
              </a:endParaRPr>
            </a:p>
          </p:txBody>
        </p:sp>
        <p:sp>
          <p:nvSpPr>
            <p:cNvPr id="112" name="AutoShape 7">
              <a:extLst>
                <a:ext uri="{FF2B5EF4-FFF2-40B4-BE49-F238E27FC236}">
                  <a16:creationId xmlns:a16="http://schemas.microsoft.com/office/drawing/2014/main" id="{17C92A15-31A5-22A8-0F50-C89C5DFAAF57}"/>
                </a:ext>
              </a:extLst>
            </p:cNvPr>
            <p:cNvSpPr>
              <a:spLocks noChangeArrowheads="1"/>
            </p:cNvSpPr>
            <p:nvPr/>
          </p:nvSpPr>
          <p:spPr bwMode="auto">
            <a:xfrm>
              <a:off x="4605739" y="5517814"/>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a:latin typeface="+mj-ea"/>
                  <a:ea typeface="+mj-ea"/>
                </a:rPr>
                <a:t>報警通知</a:t>
              </a:r>
              <a:endParaRPr lang="en-GB" altLang="en-US" sz="800">
                <a:latin typeface="+mj-ea"/>
                <a:ea typeface="+mj-ea"/>
              </a:endParaRPr>
            </a:p>
          </p:txBody>
        </p:sp>
        <p:sp>
          <p:nvSpPr>
            <p:cNvPr id="114" name="AutoShape 7">
              <a:extLst>
                <a:ext uri="{FF2B5EF4-FFF2-40B4-BE49-F238E27FC236}">
                  <a16:creationId xmlns:a16="http://schemas.microsoft.com/office/drawing/2014/main" id="{6BEABD67-7999-2917-6811-5AC1B2437D93}"/>
                </a:ext>
              </a:extLst>
            </p:cNvPr>
            <p:cNvSpPr>
              <a:spLocks noChangeArrowheads="1"/>
            </p:cNvSpPr>
            <p:nvPr/>
          </p:nvSpPr>
          <p:spPr bwMode="auto">
            <a:xfrm>
              <a:off x="1814833" y="5511367"/>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en-US" altLang="en-US" sz="800">
                  <a:latin typeface="+mj-ea"/>
                  <a:ea typeface="+mj-ea"/>
                </a:rPr>
                <a:t>HA</a:t>
              </a:r>
              <a:r>
                <a:rPr lang="zh-TW" altLang="en-US" sz="800">
                  <a:latin typeface="+mj-ea"/>
                  <a:ea typeface="+mj-ea"/>
                </a:rPr>
                <a:t>運行</a:t>
              </a:r>
              <a:endParaRPr lang="en-GB" altLang="en-US"/>
            </a:p>
          </p:txBody>
        </p:sp>
        <p:sp>
          <p:nvSpPr>
            <p:cNvPr id="115" name="AutoShape 7">
              <a:extLst>
                <a:ext uri="{FF2B5EF4-FFF2-40B4-BE49-F238E27FC236}">
                  <a16:creationId xmlns:a16="http://schemas.microsoft.com/office/drawing/2014/main" id="{CC5104BC-09B3-45B6-AC48-B1D2F8A58A93}"/>
                </a:ext>
              </a:extLst>
            </p:cNvPr>
            <p:cNvSpPr>
              <a:spLocks noChangeArrowheads="1"/>
            </p:cNvSpPr>
            <p:nvPr/>
          </p:nvSpPr>
          <p:spPr bwMode="auto">
            <a:xfrm>
              <a:off x="5166035" y="5512588"/>
              <a:ext cx="651649" cy="26820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a:latin typeface="+mj-ea"/>
                  <a:ea typeface="+mj-ea"/>
                </a:rPr>
                <a:t>備份還原</a:t>
              </a:r>
              <a:endParaRPr lang="en-GB" altLang="en-US" sz="800">
                <a:latin typeface="+mj-ea"/>
                <a:ea typeface="+mj-ea"/>
              </a:endParaRPr>
            </a:p>
          </p:txBody>
        </p:sp>
        <p:sp>
          <p:nvSpPr>
            <p:cNvPr id="119" name="AutoShape 7">
              <a:extLst>
                <a:ext uri="{FF2B5EF4-FFF2-40B4-BE49-F238E27FC236}">
                  <a16:creationId xmlns:a16="http://schemas.microsoft.com/office/drawing/2014/main" id="{124884FB-1F83-9E40-BD0E-11BF8DD8AF55}"/>
                </a:ext>
              </a:extLst>
            </p:cNvPr>
            <p:cNvSpPr>
              <a:spLocks noChangeArrowheads="1"/>
            </p:cNvSpPr>
            <p:nvPr/>
          </p:nvSpPr>
          <p:spPr bwMode="auto">
            <a:xfrm>
              <a:off x="4693473" y="3586856"/>
              <a:ext cx="562761" cy="278059"/>
            </a:xfrm>
            <a:prstGeom prst="roundRect">
              <a:avLst>
                <a:gd name="adj" fmla="val 10671"/>
              </a:avLst>
            </a:prstGeom>
            <a:solidFill>
              <a:schemeClr val="bg1"/>
            </a:solidFill>
            <a:ln w="9525">
              <a:solidFill>
                <a:srgbClr val="000000"/>
              </a:solidFill>
              <a:round/>
              <a:headEnd/>
              <a:tailEnd/>
            </a:ln>
          </p:spPr>
          <p:txBody>
            <a:bodyPr lIns="18000" tIns="0" rIns="1800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Sematic Layer</a:t>
              </a:r>
              <a:endParaRPr lang="en-GB" altLang="en-US" sz="800">
                <a:solidFill>
                  <a:schemeClr val="tx1"/>
                </a:solidFill>
                <a:latin typeface="+mj-ea"/>
                <a:ea typeface="+mj-ea"/>
              </a:endParaRPr>
            </a:p>
          </p:txBody>
        </p:sp>
        <p:pic>
          <p:nvPicPr>
            <p:cNvPr id="1044" name="Picture 20" descr="Cube — The Universal Semantic Layer">
              <a:extLst>
                <a:ext uri="{FF2B5EF4-FFF2-40B4-BE49-F238E27FC236}">
                  <a16:creationId xmlns:a16="http://schemas.microsoft.com/office/drawing/2014/main" id="{6E366120-AC8B-26FC-13DC-0D61158BC1E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93473" y="3970465"/>
              <a:ext cx="615494" cy="177321"/>
            </a:xfrm>
            <a:prstGeom prst="rect">
              <a:avLst/>
            </a:prstGeom>
            <a:noFill/>
            <a:extLst>
              <a:ext uri="{909E8E84-426E-40DD-AFC4-6F175D3DCCD1}">
                <a14:hiddenFill xmlns:a14="http://schemas.microsoft.com/office/drawing/2010/main">
                  <a:solidFill>
                    <a:srgbClr val="FFFFFF"/>
                  </a:solidFill>
                </a14:hiddenFill>
              </a:ext>
            </a:extLst>
          </p:spPr>
        </p:pic>
        <p:sp>
          <p:nvSpPr>
            <p:cNvPr id="120" name="矩形 119">
              <a:extLst>
                <a:ext uri="{FF2B5EF4-FFF2-40B4-BE49-F238E27FC236}">
                  <a16:creationId xmlns:a16="http://schemas.microsoft.com/office/drawing/2014/main" id="{75DCE556-19FE-1906-316E-2CABB4424098}"/>
                </a:ext>
              </a:extLst>
            </p:cNvPr>
            <p:cNvSpPr/>
            <p:nvPr/>
          </p:nvSpPr>
          <p:spPr>
            <a:xfrm>
              <a:off x="2689598" y="1859130"/>
              <a:ext cx="827635" cy="645479"/>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46" name="Picture 22" descr="Use Prometheus to Monitor End Devices | by Ken Chen | Medium">
              <a:extLst>
                <a:ext uri="{FF2B5EF4-FFF2-40B4-BE49-F238E27FC236}">
                  <a16:creationId xmlns:a16="http://schemas.microsoft.com/office/drawing/2014/main" id="{41699F49-AC0F-AD7C-3065-180C772715B5}"/>
                </a:ext>
              </a:extLst>
            </p:cNvPr>
            <p:cNvPicPr>
              <a:picLocks noChangeAspect="1" noChangeArrowheads="1"/>
            </p:cNvPicPr>
            <p:nvPr/>
          </p:nvPicPr>
          <p:blipFill rotWithShape="1">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l="12200" t="33705" r="14000" b="33840"/>
            <a:stretch/>
          </p:blipFill>
          <p:spPr bwMode="auto">
            <a:xfrm>
              <a:off x="4098274" y="5841384"/>
              <a:ext cx="978975" cy="254011"/>
            </a:xfrm>
            <a:prstGeom prst="rect">
              <a:avLst/>
            </a:prstGeom>
            <a:noFill/>
            <a:extLst>
              <a:ext uri="{909E8E84-426E-40DD-AFC4-6F175D3DCCD1}">
                <a14:hiddenFill xmlns:a14="http://schemas.microsoft.com/office/drawing/2010/main">
                  <a:solidFill>
                    <a:srgbClr val="FFFFFF"/>
                  </a:solidFill>
                </a14:hiddenFill>
              </a:ext>
            </a:extLst>
          </p:spPr>
        </p:pic>
        <p:pic>
          <p:nvPicPr>
            <p:cNvPr id="126" name="圖片 125">
              <a:extLst>
                <a:ext uri="{FF2B5EF4-FFF2-40B4-BE49-F238E27FC236}">
                  <a16:creationId xmlns:a16="http://schemas.microsoft.com/office/drawing/2014/main" id="{82316465-CBFC-D67E-ADD0-7678947EFA8B}"/>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3104685" y="3910735"/>
              <a:ext cx="972984" cy="173313"/>
            </a:xfrm>
            <a:prstGeom prst="rect">
              <a:avLst/>
            </a:prstGeom>
          </p:spPr>
        </p:pic>
        <p:sp>
          <p:nvSpPr>
            <p:cNvPr id="127" name="AutoShape 7">
              <a:extLst>
                <a:ext uri="{FF2B5EF4-FFF2-40B4-BE49-F238E27FC236}">
                  <a16:creationId xmlns:a16="http://schemas.microsoft.com/office/drawing/2014/main" id="{7FFCD8C0-C5B1-AACD-A7ED-251872681824}"/>
                </a:ext>
              </a:extLst>
            </p:cNvPr>
            <p:cNvSpPr>
              <a:spLocks noChangeArrowheads="1"/>
            </p:cNvSpPr>
            <p:nvPr/>
          </p:nvSpPr>
          <p:spPr bwMode="auto">
            <a:xfrm>
              <a:off x="5300884" y="3586856"/>
              <a:ext cx="562761" cy="278059"/>
            </a:xfrm>
            <a:prstGeom prst="roundRect">
              <a:avLst>
                <a:gd name="adj" fmla="val 10671"/>
              </a:avLst>
            </a:prstGeom>
            <a:solidFill>
              <a:schemeClr val="bg1"/>
            </a:solidFill>
            <a:ln w="9525">
              <a:solidFill>
                <a:srgbClr val="000000"/>
              </a:solidFill>
              <a:round/>
              <a:headEnd/>
              <a:tailEnd/>
            </a:ln>
          </p:spPr>
          <p:txBody>
            <a:bodyPr lIns="18000" tIns="0" rIns="1800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GB" altLang="en-US" sz="800">
                  <a:solidFill>
                    <a:schemeClr val="tx1"/>
                  </a:solidFill>
                  <a:latin typeface="+mj-ea"/>
                  <a:ea typeface="+mj-ea"/>
                </a:rPr>
                <a:t>Data</a:t>
              </a:r>
            </a:p>
            <a:p>
              <a:pPr algn="ctr" eaLnBrk="1" hangingPunct="1">
                <a:lnSpc>
                  <a:spcPct val="85000"/>
                </a:lnSpc>
                <a:spcBef>
                  <a:spcPct val="0"/>
                </a:spcBef>
                <a:buFontTx/>
                <a:buNone/>
              </a:pPr>
              <a:r>
                <a:rPr lang="en-GB" altLang="en-US" sz="800">
                  <a:solidFill>
                    <a:schemeClr val="tx1"/>
                  </a:solidFill>
                  <a:latin typeface="+mj-ea"/>
                  <a:ea typeface="+mj-ea"/>
                </a:rPr>
                <a:t>Cache</a:t>
              </a:r>
            </a:p>
          </p:txBody>
        </p:sp>
        <p:sp>
          <p:nvSpPr>
            <p:cNvPr id="99" name="AutoShape 7">
              <a:extLst>
                <a:ext uri="{FF2B5EF4-FFF2-40B4-BE49-F238E27FC236}">
                  <a16:creationId xmlns:a16="http://schemas.microsoft.com/office/drawing/2014/main" id="{B3C0192D-B86F-24AD-1E52-C783AECFBBEB}"/>
                </a:ext>
              </a:extLst>
            </p:cNvPr>
            <p:cNvSpPr>
              <a:spLocks noChangeArrowheads="1"/>
            </p:cNvSpPr>
            <p:nvPr/>
          </p:nvSpPr>
          <p:spPr bwMode="auto">
            <a:xfrm>
              <a:off x="5854371" y="5507597"/>
              <a:ext cx="555684" cy="26820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bg1">
                      <a:lumMod val="65000"/>
                    </a:schemeClr>
                  </a:solidFill>
                  <a:latin typeface="+mj-ea"/>
                  <a:ea typeface="+mj-ea"/>
                </a:rPr>
                <a:t>更版部屬</a:t>
              </a:r>
              <a:endParaRPr lang="en-GB" altLang="en-US" sz="800">
                <a:solidFill>
                  <a:schemeClr val="bg1">
                    <a:lumMod val="65000"/>
                  </a:schemeClr>
                </a:solidFill>
                <a:latin typeface="+mj-ea"/>
                <a:ea typeface="+mj-ea"/>
              </a:endParaRPr>
            </a:p>
          </p:txBody>
        </p:sp>
        <p:sp>
          <p:nvSpPr>
            <p:cNvPr id="1024" name="AutoShape 7">
              <a:extLst>
                <a:ext uri="{FF2B5EF4-FFF2-40B4-BE49-F238E27FC236}">
                  <a16:creationId xmlns:a16="http://schemas.microsoft.com/office/drawing/2014/main" id="{C5AF2474-F173-E66B-A46D-CA4E179398D7}"/>
                </a:ext>
              </a:extLst>
            </p:cNvPr>
            <p:cNvSpPr>
              <a:spLocks noChangeArrowheads="1"/>
            </p:cNvSpPr>
            <p:nvPr/>
          </p:nvSpPr>
          <p:spPr bwMode="auto">
            <a:xfrm>
              <a:off x="4694381" y="3278371"/>
              <a:ext cx="1169264" cy="271263"/>
            </a:xfrm>
            <a:prstGeom prst="roundRect">
              <a:avLst>
                <a:gd name="adj" fmla="val 6967"/>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Metric Store</a:t>
              </a:r>
              <a:endParaRPr lang="en-GB" altLang="en-US" sz="800">
                <a:solidFill>
                  <a:schemeClr val="tx1"/>
                </a:solidFill>
                <a:latin typeface="+mj-ea"/>
                <a:ea typeface="+mj-ea"/>
              </a:endParaRPr>
            </a:p>
          </p:txBody>
        </p:sp>
        <p:sp>
          <p:nvSpPr>
            <p:cNvPr id="1025" name="AutoShape 7">
              <a:extLst>
                <a:ext uri="{FF2B5EF4-FFF2-40B4-BE49-F238E27FC236}">
                  <a16:creationId xmlns:a16="http://schemas.microsoft.com/office/drawing/2014/main" id="{6FF98D14-1FF9-FC0A-B52D-4A4A8B3BA000}"/>
                </a:ext>
              </a:extLst>
            </p:cNvPr>
            <p:cNvSpPr>
              <a:spLocks noChangeArrowheads="1"/>
            </p:cNvSpPr>
            <p:nvPr/>
          </p:nvSpPr>
          <p:spPr bwMode="auto">
            <a:xfrm>
              <a:off x="5996330" y="3677173"/>
              <a:ext cx="779062" cy="199243"/>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1000">
                  <a:solidFill>
                    <a:schemeClr val="bg1">
                      <a:lumMod val="65000"/>
                    </a:schemeClr>
                  </a:solidFill>
                  <a:latin typeface="+mj-ea"/>
                  <a:ea typeface="+mj-ea"/>
                </a:rPr>
                <a:t>Pipeline</a:t>
              </a:r>
              <a:endParaRPr lang="en-GB" altLang="en-US" sz="1000">
                <a:solidFill>
                  <a:schemeClr val="bg1">
                    <a:lumMod val="65000"/>
                  </a:schemeClr>
                </a:solidFill>
                <a:latin typeface="+mj-ea"/>
                <a:ea typeface="+mj-ea"/>
              </a:endParaRPr>
            </a:p>
          </p:txBody>
        </p:sp>
        <p:sp>
          <p:nvSpPr>
            <p:cNvPr id="1039" name="Rounded Rectangle 115">
              <a:extLst>
                <a:ext uri="{FF2B5EF4-FFF2-40B4-BE49-F238E27FC236}">
                  <a16:creationId xmlns:a16="http://schemas.microsoft.com/office/drawing/2014/main" id="{967EB3B3-C1FD-FB57-7886-4081AC7FAF17}"/>
                </a:ext>
              </a:extLst>
            </p:cNvPr>
            <p:cNvSpPr>
              <a:spLocks noChangeArrowheads="1"/>
            </p:cNvSpPr>
            <p:nvPr/>
          </p:nvSpPr>
          <p:spPr bwMode="auto">
            <a:xfrm>
              <a:off x="538001" y="1103412"/>
              <a:ext cx="960437" cy="2132320"/>
            </a:xfrm>
            <a:prstGeom prst="roundRect">
              <a:avLst>
                <a:gd name="adj" fmla="val 16667"/>
              </a:avLst>
            </a:prstGeom>
            <a:solidFill>
              <a:srgbClr val="C5E9FF"/>
            </a:solidFill>
            <a:ln>
              <a:noFill/>
            </a:ln>
          </p:spPr>
          <p:txBody>
            <a:bodyPr lIns="0" tIns="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1100">
                  <a:solidFill>
                    <a:schemeClr val="tx1"/>
                  </a:solidFill>
                  <a:latin typeface="Calibri" panose="020F0502020204030204" pitchFamily="34" charset="0"/>
                </a:rPr>
                <a:t>Data Type</a:t>
              </a:r>
              <a:endParaRPr lang="en-US" altLang="en-US" sz="1100">
                <a:solidFill>
                  <a:schemeClr val="tx1"/>
                </a:solidFill>
                <a:latin typeface="Calibri" panose="020F0502020204030204" pitchFamily="34" charset="0"/>
              </a:endParaRPr>
            </a:p>
          </p:txBody>
        </p:sp>
        <p:grpSp>
          <p:nvGrpSpPr>
            <p:cNvPr id="1041" name="Group 138">
              <a:extLst>
                <a:ext uri="{FF2B5EF4-FFF2-40B4-BE49-F238E27FC236}">
                  <a16:creationId xmlns:a16="http://schemas.microsoft.com/office/drawing/2014/main" id="{63F49BFF-3853-AC59-5343-902D6755021D}"/>
                </a:ext>
              </a:extLst>
            </p:cNvPr>
            <p:cNvGrpSpPr>
              <a:grpSpLocks/>
            </p:cNvGrpSpPr>
            <p:nvPr/>
          </p:nvGrpSpPr>
          <p:grpSpPr bwMode="auto">
            <a:xfrm>
              <a:off x="572925" y="1481237"/>
              <a:ext cx="849312" cy="304800"/>
              <a:chOff x="165" y="1083"/>
              <a:chExt cx="535" cy="240"/>
            </a:xfrm>
          </p:grpSpPr>
          <p:sp>
            <p:nvSpPr>
              <p:cNvPr id="1043" name="Rounded Rectangle 143">
                <a:extLst>
                  <a:ext uri="{FF2B5EF4-FFF2-40B4-BE49-F238E27FC236}">
                    <a16:creationId xmlns:a16="http://schemas.microsoft.com/office/drawing/2014/main" id="{0C12A3D9-4E05-37C8-3022-EB19C723B5D5}"/>
                  </a:ext>
                </a:extLst>
              </p:cNvPr>
              <p:cNvSpPr>
                <a:spLocks noChangeArrowheads="1"/>
              </p:cNvSpPr>
              <p:nvPr/>
            </p:nvSpPr>
            <p:spPr bwMode="auto">
              <a:xfrm>
                <a:off x="165" y="1083"/>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r" eaLnBrk="1" hangingPunct="1">
                  <a:lnSpc>
                    <a:spcPct val="97000"/>
                  </a:lnSpc>
                  <a:spcBef>
                    <a:spcPct val="0"/>
                  </a:spcBef>
                  <a:buClr>
                    <a:srgbClr val="000600"/>
                  </a:buClr>
                  <a:buFont typeface="Arial" panose="020B0604020202020204" pitchFamily="34" charset="0"/>
                  <a:buNone/>
                </a:pPr>
                <a:r>
                  <a:rPr lang="en-US" altLang="en-US" sz="800" b="0"/>
                  <a:t>        Machine &amp;</a:t>
                </a:r>
              </a:p>
              <a:p>
                <a:pPr algn="r" eaLnBrk="1" hangingPunct="1">
                  <a:lnSpc>
                    <a:spcPct val="97000"/>
                  </a:lnSpc>
                  <a:spcBef>
                    <a:spcPct val="0"/>
                  </a:spcBef>
                  <a:buClr>
                    <a:srgbClr val="000600"/>
                  </a:buClr>
                  <a:buFont typeface="Arial" panose="020B0604020202020204" pitchFamily="34" charset="0"/>
                  <a:buNone/>
                </a:pPr>
                <a:r>
                  <a:rPr lang="en-US" altLang="en-US" sz="800" b="0"/>
                  <a:t> Sensor Data </a:t>
                </a:r>
              </a:p>
            </p:txBody>
          </p:sp>
          <p:pic>
            <p:nvPicPr>
              <p:cNvPr id="1045" name="Picture 117" descr="18b.png">
                <a:extLst>
                  <a:ext uri="{FF2B5EF4-FFF2-40B4-BE49-F238E27FC236}">
                    <a16:creationId xmlns:a16="http://schemas.microsoft.com/office/drawing/2014/main" id="{1ED32A73-8EA1-B338-4B3E-ACC9C21E3400}"/>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170" y="1131"/>
                <a:ext cx="118"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47" name="Group 141">
              <a:extLst>
                <a:ext uri="{FF2B5EF4-FFF2-40B4-BE49-F238E27FC236}">
                  <a16:creationId xmlns:a16="http://schemas.microsoft.com/office/drawing/2014/main" id="{3D23A04B-04E1-BC81-8D98-E01211740D7A}"/>
                </a:ext>
              </a:extLst>
            </p:cNvPr>
            <p:cNvGrpSpPr>
              <a:grpSpLocks/>
            </p:cNvGrpSpPr>
            <p:nvPr/>
          </p:nvGrpSpPr>
          <p:grpSpPr bwMode="auto">
            <a:xfrm>
              <a:off x="572925" y="1893987"/>
              <a:ext cx="849312" cy="304800"/>
              <a:chOff x="165" y="1371"/>
              <a:chExt cx="535" cy="240"/>
            </a:xfrm>
          </p:grpSpPr>
          <p:sp>
            <p:nvSpPr>
              <p:cNvPr id="1048" name="Rounded Rectangle 143">
                <a:extLst>
                  <a:ext uri="{FF2B5EF4-FFF2-40B4-BE49-F238E27FC236}">
                    <a16:creationId xmlns:a16="http://schemas.microsoft.com/office/drawing/2014/main" id="{5AFCF47C-426B-16E5-5363-6C0625C7E6ED}"/>
                  </a:ext>
                </a:extLst>
              </p:cNvPr>
              <p:cNvSpPr>
                <a:spLocks noChangeArrowheads="1"/>
              </p:cNvSpPr>
              <p:nvPr/>
            </p:nvSpPr>
            <p:spPr bwMode="auto">
              <a:xfrm>
                <a:off x="165" y="1371"/>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  Image &amp;     Video </a:t>
                </a:r>
              </a:p>
            </p:txBody>
          </p:sp>
          <p:pic>
            <p:nvPicPr>
              <p:cNvPr id="1049" name="Picture 108" descr="16b.png">
                <a:extLst>
                  <a:ext uri="{FF2B5EF4-FFF2-40B4-BE49-F238E27FC236}">
                    <a16:creationId xmlns:a16="http://schemas.microsoft.com/office/drawing/2014/main" id="{E0F007F4-90F2-8E75-4908-83F9798897B5}"/>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172" y="1433"/>
                <a:ext cx="11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50" name="Group 144">
              <a:extLst>
                <a:ext uri="{FF2B5EF4-FFF2-40B4-BE49-F238E27FC236}">
                  <a16:creationId xmlns:a16="http://schemas.microsoft.com/office/drawing/2014/main" id="{EAC5FA6B-CC4C-DD79-EF0C-EAF1B551E259}"/>
                </a:ext>
              </a:extLst>
            </p:cNvPr>
            <p:cNvGrpSpPr>
              <a:grpSpLocks/>
            </p:cNvGrpSpPr>
            <p:nvPr/>
          </p:nvGrpSpPr>
          <p:grpSpPr bwMode="auto">
            <a:xfrm>
              <a:off x="564195" y="2700120"/>
              <a:ext cx="849312" cy="304800"/>
              <a:chOff x="165" y="1715"/>
              <a:chExt cx="535" cy="240"/>
            </a:xfrm>
          </p:grpSpPr>
          <p:sp>
            <p:nvSpPr>
              <p:cNvPr id="1051" name="Rounded Rectangle 143">
                <a:extLst>
                  <a:ext uri="{FF2B5EF4-FFF2-40B4-BE49-F238E27FC236}">
                    <a16:creationId xmlns:a16="http://schemas.microsoft.com/office/drawing/2014/main" id="{D306AA43-0435-8ED2-C831-FA6EFFDA1EB7}"/>
                  </a:ext>
                </a:extLst>
              </p:cNvPr>
              <p:cNvSpPr>
                <a:spLocks noChangeArrowheads="1"/>
              </p:cNvSpPr>
              <p:nvPr/>
            </p:nvSpPr>
            <p:spPr bwMode="auto">
              <a:xfrm>
                <a:off x="165" y="1715"/>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    Enterprise</a:t>
                </a:r>
              </a:p>
              <a:p>
                <a:pPr algn="ctr" eaLnBrk="1" hangingPunct="1">
                  <a:lnSpc>
                    <a:spcPct val="97000"/>
                  </a:lnSpc>
                  <a:spcBef>
                    <a:spcPct val="0"/>
                  </a:spcBef>
                  <a:buClr>
                    <a:srgbClr val="000600"/>
                  </a:buClr>
                  <a:buFont typeface="Arial" panose="020B0604020202020204" pitchFamily="34" charset="0"/>
                  <a:buNone/>
                </a:pPr>
                <a:r>
                  <a:rPr lang="en-US" altLang="en-US" sz="800" b="0"/>
                  <a:t>    Content Data</a:t>
                </a:r>
              </a:p>
            </p:txBody>
          </p:sp>
          <p:pic>
            <p:nvPicPr>
              <p:cNvPr id="1052" name="Picture 109" descr="16c.png">
                <a:extLst>
                  <a:ext uri="{FF2B5EF4-FFF2-40B4-BE49-F238E27FC236}">
                    <a16:creationId xmlns:a16="http://schemas.microsoft.com/office/drawing/2014/main" id="{D18E2B77-9C1A-3245-31A2-2BF38DE92BC6}"/>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191" y="1721"/>
                <a:ext cx="7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57" name="Group 142">
              <a:extLst>
                <a:ext uri="{FF2B5EF4-FFF2-40B4-BE49-F238E27FC236}">
                  <a16:creationId xmlns:a16="http://schemas.microsoft.com/office/drawing/2014/main" id="{B18C0F62-2EB7-FA10-246E-67152DDD385D}"/>
                </a:ext>
              </a:extLst>
            </p:cNvPr>
            <p:cNvGrpSpPr>
              <a:grpSpLocks/>
            </p:cNvGrpSpPr>
            <p:nvPr/>
          </p:nvGrpSpPr>
          <p:grpSpPr bwMode="auto">
            <a:xfrm>
              <a:off x="538001" y="3310785"/>
              <a:ext cx="960437" cy="2222501"/>
              <a:chOff x="171" y="2320"/>
              <a:chExt cx="605" cy="1400"/>
            </a:xfrm>
          </p:grpSpPr>
          <p:sp>
            <p:nvSpPr>
              <p:cNvPr id="1058" name="Rounded Rectangle 115">
                <a:extLst>
                  <a:ext uri="{FF2B5EF4-FFF2-40B4-BE49-F238E27FC236}">
                    <a16:creationId xmlns:a16="http://schemas.microsoft.com/office/drawing/2014/main" id="{75EC0C1F-2530-D83B-CEE8-71372B998E70}"/>
                  </a:ext>
                </a:extLst>
              </p:cNvPr>
              <p:cNvSpPr>
                <a:spLocks noChangeArrowheads="1"/>
              </p:cNvSpPr>
              <p:nvPr/>
            </p:nvSpPr>
            <p:spPr bwMode="auto">
              <a:xfrm>
                <a:off x="171" y="2320"/>
                <a:ext cx="605" cy="1400"/>
              </a:xfrm>
              <a:prstGeom prst="roundRect">
                <a:avLst>
                  <a:gd name="adj" fmla="val 16667"/>
                </a:avLst>
              </a:prstGeom>
              <a:solidFill>
                <a:srgbClr val="C5E9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1100">
                    <a:solidFill>
                      <a:schemeClr val="tx1"/>
                    </a:solidFill>
                    <a:latin typeface="Calibri" panose="020F0502020204030204" pitchFamily="34" charset="0"/>
                  </a:rPr>
                  <a:t>Sources</a:t>
                </a:r>
              </a:p>
            </p:txBody>
          </p:sp>
          <p:sp>
            <p:nvSpPr>
              <p:cNvPr id="1059" name="Rounded Rectangle 143">
                <a:extLst>
                  <a:ext uri="{FF2B5EF4-FFF2-40B4-BE49-F238E27FC236}">
                    <a16:creationId xmlns:a16="http://schemas.microsoft.com/office/drawing/2014/main" id="{70BB9418-C73D-16DF-E889-9019187258D7}"/>
                  </a:ext>
                </a:extLst>
              </p:cNvPr>
              <p:cNvSpPr>
                <a:spLocks noChangeArrowheads="1"/>
              </p:cNvSpPr>
              <p:nvPr/>
            </p:nvSpPr>
            <p:spPr bwMode="auto">
              <a:xfrm>
                <a:off x="206" y="2608"/>
                <a:ext cx="517"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MES</a:t>
                </a:r>
              </a:p>
            </p:txBody>
          </p:sp>
          <p:sp>
            <p:nvSpPr>
              <p:cNvPr id="1060" name="Rounded Rectangle 143">
                <a:extLst>
                  <a:ext uri="{FF2B5EF4-FFF2-40B4-BE49-F238E27FC236}">
                    <a16:creationId xmlns:a16="http://schemas.microsoft.com/office/drawing/2014/main" id="{435041AC-2DF1-A79C-BB42-5256A8335598}"/>
                  </a:ext>
                </a:extLst>
              </p:cNvPr>
              <p:cNvSpPr>
                <a:spLocks noChangeArrowheads="1"/>
              </p:cNvSpPr>
              <p:nvPr/>
            </p:nvSpPr>
            <p:spPr bwMode="auto">
              <a:xfrm>
                <a:off x="206" y="2828"/>
                <a:ext cx="522"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IOT</a:t>
                </a:r>
              </a:p>
            </p:txBody>
          </p:sp>
          <p:sp>
            <p:nvSpPr>
              <p:cNvPr id="1061" name="Rounded Rectangle 143">
                <a:extLst>
                  <a:ext uri="{FF2B5EF4-FFF2-40B4-BE49-F238E27FC236}">
                    <a16:creationId xmlns:a16="http://schemas.microsoft.com/office/drawing/2014/main" id="{DE971612-FB44-E99C-4D43-83561F55D0B2}"/>
                  </a:ext>
                </a:extLst>
              </p:cNvPr>
              <p:cNvSpPr>
                <a:spLocks noChangeArrowheads="1"/>
              </p:cNvSpPr>
              <p:nvPr/>
            </p:nvSpPr>
            <p:spPr bwMode="auto">
              <a:xfrm>
                <a:off x="192" y="3052"/>
                <a:ext cx="535"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SAP</a:t>
                </a:r>
              </a:p>
            </p:txBody>
          </p:sp>
        </p:grpSp>
        <p:grpSp>
          <p:nvGrpSpPr>
            <p:cNvPr id="1062" name="Group 167">
              <a:extLst>
                <a:ext uri="{FF2B5EF4-FFF2-40B4-BE49-F238E27FC236}">
                  <a16:creationId xmlns:a16="http://schemas.microsoft.com/office/drawing/2014/main" id="{ABC9902A-6CE6-DDE0-FC54-6419C8BEE205}"/>
                </a:ext>
              </a:extLst>
            </p:cNvPr>
            <p:cNvGrpSpPr>
              <a:grpSpLocks/>
            </p:cNvGrpSpPr>
            <p:nvPr/>
          </p:nvGrpSpPr>
          <p:grpSpPr bwMode="auto">
            <a:xfrm>
              <a:off x="564195" y="2299595"/>
              <a:ext cx="849312" cy="304800"/>
              <a:chOff x="193" y="1975"/>
              <a:chExt cx="535" cy="192"/>
            </a:xfrm>
          </p:grpSpPr>
          <p:sp>
            <p:nvSpPr>
              <p:cNvPr id="1063" name="Rounded Rectangle 143">
                <a:extLst>
                  <a:ext uri="{FF2B5EF4-FFF2-40B4-BE49-F238E27FC236}">
                    <a16:creationId xmlns:a16="http://schemas.microsoft.com/office/drawing/2014/main" id="{A94E2621-7E45-F4DC-611F-571EC6F5DA8F}"/>
                  </a:ext>
                </a:extLst>
              </p:cNvPr>
              <p:cNvSpPr>
                <a:spLocks noChangeArrowheads="1"/>
              </p:cNvSpPr>
              <p:nvPr/>
            </p:nvSpPr>
            <p:spPr bwMode="auto">
              <a:xfrm>
                <a:off x="193" y="1975"/>
                <a:ext cx="535"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       Manufacture</a:t>
                </a:r>
              </a:p>
              <a:p>
                <a:pPr algn="ctr" eaLnBrk="1" hangingPunct="1">
                  <a:lnSpc>
                    <a:spcPct val="97000"/>
                  </a:lnSpc>
                  <a:spcBef>
                    <a:spcPct val="0"/>
                  </a:spcBef>
                  <a:buClr>
                    <a:srgbClr val="000600"/>
                  </a:buClr>
                  <a:buFont typeface="Arial" panose="020B0604020202020204" pitchFamily="34" charset="0"/>
                  <a:buNone/>
                </a:pPr>
                <a:r>
                  <a:rPr lang="en-US" altLang="en-US" sz="800" b="0"/>
                  <a:t>   Data </a:t>
                </a:r>
              </a:p>
            </p:txBody>
          </p:sp>
          <p:pic>
            <p:nvPicPr>
              <p:cNvPr id="1064" name="Picture 111" descr="16e.png">
                <a:extLst>
                  <a:ext uri="{FF2B5EF4-FFF2-40B4-BE49-F238E27FC236}">
                    <a16:creationId xmlns:a16="http://schemas.microsoft.com/office/drawing/2014/main" id="{611D72EF-FE41-FAD2-9AE6-25DCF34D1B2F}"/>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05" y="1989"/>
                <a:ext cx="13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66" name="Rounded Rectangle 115">
              <a:extLst>
                <a:ext uri="{FF2B5EF4-FFF2-40B4-BE49-F238E27FC236}">
                  <a16:creationId xmlns:a16="http://schemas.microsoft.com/office/drawing/2014/main" id="{A5C1DA9D-65B1-C83D-FD88-EB0D875555D5}"/>
                </a:ext>
              </a:extLst>
            </p:cNvPr>
            <p:cNvSpPr>
              <a:spLocks noChangeArrowheads="1"/>
            </p:cNvSpPr>
            <p:nvPr/>
          </p:nvSpPr>
          <p:spPr bwMode="auto">
            <a:xfrm>
              <a:off x="7020776" y="762910"/>
              <a:ext cx="1860550" cy="4845876"/>
            </a:xfrm>
            <a:prstGeom prst="roundRect">
              <a:avLst>
                <a:gd name="adj" fmla="val 4790"/>
              </a:avLst>
            </a:prstGeom>
            <a:solidFill>
              <a:srgbClr val="00B0F0"/>
            </a:solidFill>
            <a:ln>
              <a:noFill/>
            </a:ln>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zh-TW" altLang="en-US" sz="1600" b="0">
                  <a:solidFill>
                    <a:schemeClr val="tx1"/>
                  </a:solidFill>
                  <a:latin typeface="微軟正黑體" panose="020B0604030504040204" pitchFamily="34" charset="-120"/>
                  <a:ea typeface="微軟正黑體" panose="020B0604030504040204" pitchFamily="34" charset="-120"/>
                </a:rPr>
                <a:t>數據應用</a:t>
              </a:r>
              <a:endParaRPr lang="en-US" altLang="en-US" sz="1600" b="0">
                <a:solidFill>
                  <a:schemeClr val="tx1"/>
                </a:solidFill>
                <a:latin typeface="微軟正黑體" panose="020B0604030504040204" pitchFamily="34" charset="-120"/>
                <a:ea typeface="微軟正黑體" panose="020B0604030504040204" pitchFamily="34" charset="-120"/>
              </a:endParaRPr>
            </a:p>
          </p:txBody>
        </p:sp>
        <p:grpSp>
          <p:nvGrpSpPr>
            <p:cNvPr id="1067" name="Group 188">
              <a:extLst>
                <a:ext uri="{FF2B5EF4-FFF2-40B4-BE49-F238E27FC236}">
                  <a16:creationId xmlns:a16="http://schemas.microsoft.com/office/drawing/2014/main" id="{29095F78-0487-C047-8D88-6B259242C5E5}"/>
                </a:ext>
              </a:extLst>
            </p:cNvPr>
            <p:cNvGrpSpPr>
              <a:grpSpLocks/>
            </p:cNvGrpSpPr>
            <p:nvPr/>
          </p:nvGrpSpPr>
          <p:grpSpPr bwMode="auto">
            <a:xfrm>
              <a:off x="7106501" y="1860731"/>
              <a:ext cx="1676400" cy="1707035"/>
              <a:chOff x="4512" y="1152"/>
              <a:chExt cx="1056" cy="1104"/>
            </a:xfrm>
          </p:grpSpPr>
          <p:sp>
            <p:nvSpPr>
              <p:cNvPr id="1084" name="Rounded Rectangle 115">
                <a:extLst>
                  <a:ext uri="{FF2B5EF4-FFF2-40B4-BE49-F238E27FC236}">
                    <a16:creationId xmlns:a16="http://schemas.microsoft.com/office/drawing/2014/main" id="{FD052476-9AFC-78B7-651A-3617E8ED76B5}"/>
                  </a:ext>
                </a:extLst>
              </p:cNvPr>
              <p:cNvSpPr>
                <a:spLocks noChangeArrowheads="1"/>
              </p:cNvSpPr>
              <p:nvPr/>
            </p:nvSpPr>
            <p:spPr bwMode="auto">
              <a:xfrm>
                <a:off x="4512" y="1152"/>
                <a:ext cx="1056" cy="1104"/>
              </a:xfrm>
              <a:prstGeom prst="roundRect">
                <a:avLst>
                  <a:gd name="adj" fmla="val 8225"/>
                </a:avLst>
              </a:prstGeom>
              <a:solidFill>
                <a:srgbClr val="C5E9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Reporting, Analysis </a:t>
                </a:r>
              </a:p>
              <a:p>
                <a:pPr algn="ctr" eaLnBrk="1" hangingPunct="1">
                  <a:spcBef>
                    <a:spcPct val="0"/>
                  </a:spcBef>
                  <a:buFontTx/>
                  <a:buNone/>
                </a:pPr>
                <a:r>
                  <a:rPr lang="en-US" altLang="en-US" sz="900">
                    <a:solidFill>
                      <a:schemeClr val="tx1"/>
                    </a:solidFill>
                  </a:rPr>
                  <a:t>&amp; Content Analytics</a:t>
                </a:r>
              </a:p>
            </p:txBody>
          </p:sp>
          <p:sp>
            <p:nvSpPr>
              <p:cNvPr id="1085" name="Rounded Rectangle 275">
                <a:extLst>
                  <a:ext uri="{FF2B5EF4-FFF2-40B4-BE49-F238E27FC236}">
                    <a16:creationId xmlns:a16="http://schemas.microsoft.com/office/drawing/2014/main" id="{3FB81EB5-2DCB-DCDB-AE47-4EE98519B85B}"/>
                  </a:ext>
                </a:extLst>
              </p:cNvPr>
              <p:cNvSpPr>
                <a:spLocks noChangeArrowheads="1"/>
              </p:cNvSpPr>
              <p:nvPr/>
            </p:nvSpPr>
            <p:spPr bwMode="auto">
              <a:xfrm>
                <a:off x="5046" y="1642"/>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Query &amp; Analysis</a:t>
                </a:r>
              </a:p>
            </p:txBody>
          </p:sp>
          <p:sp>
            <p:nvSpPr>
              <p:cNvPr id="1086" name="Rounded Rectangle 264">
                <a:extLst>
                  <a:ext uri="{FF2B5EF4-FFF2-40B4-BE49-F238E27FC236}">
                    <a16:creationId xmlns:a16="http://schemas.microsoft.com/office/drawing/2014/main" id="{5A9F406C-7830-5FD3-AD07-6B6F8F4A9D94}"/>
                  </a:ext>
                </a:extLst>
              </p:cNvPr>
              <p:cNvSpPr>
                <a:spLocks noChangeArrowheads="1"/>
              </p:cNvSpPr>
              <p:nvPr/>
            </p:nvSpPr>
            <p:spPr bwMode="auto">
              <a:xfrm>
                <a:off x="4560" y="1401"/>
                <a:ext cx="461" cy="211"/>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Planning, Forecasting </a:t>
                </a:r>
              </a:p>
            </p:txBody>
          </p:sp>
          <p:sp>
            <p:nvSpPr>
              <p:cNvPr id="1087" name="Rounded Rectangle 269">
                <a:extLst>
                  <a:ext uri="{FF2B5EF4-FFF2-40B4-BE49-F238E27FC236}">
                    <a16:creationId xmlns:a16="http://schemas.microsoft.com/office/drawing/2014/main" id="{5E14E0B7-A363-D224-1021-20472AABABA6}"/>
                  </a:ext>
                </a:extLst>
              </p:cNvPr>
              <p:cNvSpPr>
                <a:spLocks noChangeArrowheads="1"/>
              </p:cNvSpPr>
              <p:nvPr/>
            </p:nvSpPr>
            <p:spPr bwMode="auto">
              <a:xfrm>
                <a:off x="5046" y="1403"/>
                <a:ext cx="461" cy="211"/>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Scorecards,</a:t>
                </a:r>
              </a:p>
              <a:p>
                <a:pPr algn="ctr" eaLnBrk="1" hangingPunct="1">
                  <a:lnSpc>
                    <a:spcPct val="97000"/>
                  </a:lnSpc>
                  <a:spcBef>
                    <a:spcPct val="0"/>
                  </a:spcBef>
                  <a:buClr>
                    <a:srgbClr val="000600"/>
                  </a:buClr>
                  <a:buFont typeface="Arial" panose="020B0604020202020204" pitchFamily="34" charset="0"/>
                  <a:buNone/>
                </a:pPr>
                <a:r>
                  <a:rPr lang="en-US" altLang="en-US" sz="800" b="0"/>
                  <a:t>Dashboards</a:t>
                </a:r>
              </a:p>
            </p:txBody>
          </p:sp>
          <p:sp>
            <p:nvSpPr>
              <p:cNvPr id="1088" name="Rounded Rectangle 271">
                <a:extLst>
                  <a:ext uri="{FF2B5EF4-FFF2-40B4-BE49-F238E27FC236}">
                    <a16:creationId xmlns:a16="http://schemas.microsoft.com/office/drawing/2014/main" id="{A553040D-CAE3-722C-A429-07881F6D2114}"/>
                  </a:ext>
                </a:extLst>
              </p:cNvPr>
              <p:cNvSpPr>
                <a:spLocks noChangeArrowheads="1"/>
              </p:cNvSpPr>
              <p:nvPr/>
            </p:nvSpPr>
            <p:spPr bwMode="auto">
              <a:xfrm>
                <a:off x="4560" y="1646"/>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Budgeting</a:t>
                </a:r>
              </a:p>
            </p:txBody>
          </p:sp>
          <p:sp>
            <p:nvSpPr>
              <p:cNvPr id="1089" name="Rounded Rectangle 278">
                <a:extLst>
                  <a:ext uri="{FF2B5EF4-FFF2-40B4-BE49-F238E27FC236}">
                    <a16:creationId xmlns:a16="http://schemas.microsoft.com/office/drawing/2014/main" id="{43149F66-A7FB-14C9-32F5-071D118B9027}"/>
                  </a:ext>
                </a:extLst>
              </p:cNvPr>
              <p:cNvSpPr>
                <a:spLocks noChangeArrowheads="1"/>
              </p:cNvSpPr>
              <p:nvPr/>
            </p:nvSpPr>
            <p:spPr bwMode="auto">
              <a:xfrm>
                <a:off x="4560" y="1843"/>
                <a:ext cx="461" cy="17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Reporting</a:t>
                </a:r>
              </a:p>
            </p:txBody>
          </p:sp>
          <p:sp>
            <p:nvSpPr>
              <p:cNvPr id="1090" name="Rounded Rectangle 280">
                <a:extLst>
                  <a:ext uri="{FF2B5EF4-FFF2-40B4-BE49-F238E27FC236}">
                    <a16:creationId xmlns:a16="http://schemas.microsoft.com/office/drawing/2014/main" id="{8FDDDBA0-4FD6-E7B9-84AA-940039D2B6A5}"/>
                  </a:ext>
                </a:extLst>
              </p:cNvPr>
              <p:cNvSpPr>
                <a:spLocks noChangeArrowheads="1"/>
              </p:cNvSpPr>
              <p:nvPr/>
            </p:nvSpPr>
            <p:spPr bwMode="auto">
              <a:xfrm>
                <a:off x="5040" y="1822"/>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Storytelling</a:t>
                </a:r>
              </a:p>
            </p:txBody>
          </p:sp>
          <p:sp>
            <p:nvSpPr>
              <p:cNvPr id="1091" name="Rounded Rectangle 273">
                <a:extLst>
                  <a:ext uri="{FF2B5EF4-FFF2-40B4-BE49-F238E27FC236}">
                    <a16:creationId xmlns:a16="http://schemas.microsoft.com/office/drawing/2014/main" id="{DE970FAF-5844-DF6D-4B03-2B5932B8A521}"/>
                  </a:ext>
                </a:extLst>
              </p:cNvPr>
              <p:cNvSpPr>
                <a:spLocks noChangeArrowheads="1"/>
              </p:cNvSpPr>
              <p:nvPr/>
            </p:nvSpPr>
            <p:spPr bwMode="auto">
              <a:xfrm>
                <a:off x="4560" y="2023"/>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Collaboration</a:t>
                </a:r>
              </a:p>
            </p:txBody>
          </p:sp>
          <p:sp>
            <p:nvSpPr>
              <p:cNvPr id="1092" name="Rounded Rectangle 270">
                <a:extLst>
                  <a:ext uri="{FF2B5EF4-FFF2-40B4-BE49-F238E27FC236}">
                    <a16:creationId xmlns:a16="http://schemas.microsoft.com/office/drawing/2014/main" id="{9D2127D3-C106-0027-9ECD-EC586B408DBF}"/>
                  </a:ext>
                </a:extLst>
              </p:cNvPr>
              <p:cNvSpPr>
                <a:spLocks noChangeArrowheads="1"/>
              </p:cNvSpPr>
              <p:nvPr/>
            </p:nvSpPr>
            <p:spPr bwMode="auto">
              <a:xfrm>
                <a:off x="5040" y="2010"/>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Alerting, Monitoring</a:t>
                </a:r>
              </a:p>
            </p:txBody>
          </p:sp>
        </p:grpSp>
        <p:grpSp>
          <p:nvGrpSpPr>
            <p:cNvPr id="1068" name="Group 198">
              <a:extLst>
                <a:ext uri="{FF2B5EF4-FFF2-40B4-BE49-F238E27FC236}">
                  <a16:creationId xmlns:a16="http://schemas.microsoft.com/office/drawing/2014/main" id="{8830AD01-842D-3178-742B-EEAA664AF4BC}"/>
                </a:ext>
              </a:extLst>
            </p:cNvPr>
            <p:cNvGrpSpPr>
              <a:grpSpLocks/>
            </p:cNvGrpSpPr>
            <p:nvPr/>
          </p:nvGrpSpPr>
          <p:grpSpPr bwMode="auto">
            <a:xfrm>
              <a:off x="7106501" y="1180391"/>
              <a:ext cx="1676400" cy="623130"/>
              <a:chOff x="4512" y="686"/>
              <a:chExt cx="1056" cy="403"/>
            </a:xfrm>
          </p:grpSpPr>
          <p:sp>
            <p:nvSpPr>
              <p:cNvPr id="1081" name="Rounded Rectangle 115">
                <a:extLst>
                  <a:ext uri="{FF2B5EF4-FFF2-40B4-BE49-F238E27FC236}">
                    <a16:creationId xmlns:a16="http://schemas.microsoft.com/office/drawing/2014/main" id="{6B8571BB-D5CE-68A4-A6C6-889A120B4A69}"/>
                  </a:ext>
                </a:extLst>
              </p:cNvPr>
              <p:cNvSpPr>
                <a:spLocks noChangeArrowheads="1"/>
              </p:cNvSpPr>
              <p:nvPr/>
            </p:nvSpPr>
            <p:spPr bwMode="auto">
              <a:xfrm>
                <a:off x="4512" y="686"/>
                <a:ext cx="1056" cy="403"/>
              </a:xfrm>
              <a:prstGeom prst="roundRect">
                <a:avLst>
                  <a:gd name="adj" fmla="val 16667"/>
                </a:avLst>
              </a:prstGeom>
              <a:solidFill>
                <a:srgbClr val="C5E9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Decision Management</a:t>
                </a:r>
              </a:p>
            </p:txBody>
          </p:sp>
          <p:sp>
            <p:nvSpPr>
              <p:cNvPr id="1082" name="Rounded Rectangle 276">
                <a:extLst>
                  <a:ext uri="{FF2B5EF4-FFF2-40B4-BE49-F238E27FC236}">
                    <a16:creationId xmlns:a16="http://schemas.microsoft.com/office/drawing/2014/main" id="{697ABDF8-D268-F439-B9C6-D56BA195FAED}"/>
                  </a:ext>
                </a:extLst>
              </p:cNvPr>
              <p:cNvSpPr>
                <a:spLocks noChangeArrowheads="1"/>
              </p:cNvSpPr>
              <p:nvPr/>
            </p:nvSpPr>
            <p:spPr bwMode="auto">
              <a:xfrm>
                <a:off x="4574" y="808"/>
                <a:ext cx="461"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Rules Management</a:t>
                </a:r>
              </a:p>
            </p:txBody>
          </p:sp>
          <p:sp>
            <p:nvSpPr>
              <p:cNvPr id="1083" name="Rounded Rectangle 281">
                <a:extLst>
                  <a:ext uri="{FF2B5EF4-FFF2-40B4-BE49-F238E27FC236}">
                    <a16:creationId xmlns:a16="http://schemas.microsoft.com/office/drawing/2014/main" id="{17E98D2E-179A-7007-BD03-C367F745E56F}"/>
                  </a:ext>
                </a:extLst>
              </p:cNvPr>
              <p:cNvSpPr>
                <a:spLocks noChangeArrowheads="1"/>
              </p:cNvSpPr>
              <p:nvPr/>
            </p:nvSpPr>
            <p:spPr bwMode="auto">
              <a:xfrm>
                <a:off x="5060" y="810"/>
                <a:ext cx="461"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Real Time Decision Management</a:t>
                </a:r>
              </a:p>
            </p:txBody>
          </p:sp>
        </p:grpSp>
        <p:sp>
          <p:nvSpPr>
            <p:cNvPr id="1071" name="Rounded Rectangle 115">
              <a:extLst>
                <a:ext uri="{FF2B5EF4-FFF2-40B4-BE49-F238E27FC236}">
                  <a16:creationId xmlns:a16="http://schemas.microsoft.com/office/drawing/2014/main" id="{92B93A28-F193-E000-844B-A1F97AE2D7C5}"/>
                </a:ext>
              </a:extLst>
            </p:cNvPr>
            <p:cNvSpPr>
              <a:spLocks noChangeArrowheads="1"/>
            </p:cNvSpPr>
            <p:nvPr/>
          </p:nvSpPr>
          <p:spPr bwMode="auto">
            <a:xfrm>
              <a:off x="7106501" y="4102761"/>
              <a:ext cx="1676400" cy="1335940"/>
            </a:xfrm>
            <a:prstGeom prst="roundRect">
              <a:avLst>
                <a:gd name="adj" fmla="val 12641"/>
              </a:avLst>
            </a:prstGeom>
            <a:solidFill>
              <a:srgbClr val="C5E9FF"/>
            </a:solidFill>
            <a:ln>
              <a:noFill/>
            </a:ln>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Predictive Analytics &amp; Modeling</a:t>
              </a:r>
            </a:p>
          </p:txBody>
        </p:sp>
        <p:sp>
          <p:nvSpPr>
            <p:cNvPr id="1072" name="Rounded Rectangle 268">
              <a:extLst>
                <a:ext uri="{FF2B5EF4-FFF2-40B4-BE49-F238E27FC236}">
                  <a16:creationId xmlns:a16="http://schemas.microsoft.com/office/drawing/2014/main" id="{05ACF359-C176-9695-D4E9-9486EEE5CA37}"/>
                </a:ext>
              </a:extLst>
            </p:cNvPr>
            <p:cNvSpPr>
              <a:spLocks noChangeArrowheads="1"/>
            </p:cNvSpPr>
            <p:nvPr/>
          </p:nvSpPr>
          <p:spPr bwMode="auto">
            <a:xfrm>
              <a:off x="7965112" y="4474409"/>
              <a:ext cx="730250"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Text Analytics</a:t>
              </a:r>
            </a:p>
          </p:txBody>
        </p:sp>
        <p:sp>
          <p:nvSpPr>
            <p:cNvPr id="1073" name="Rounded Rectangle 266">
              <a:extLst>
                <a:ext uri="{FF2B5EF4-FFF2-40B4-BE49-F238E27FC236}">
                  <a16:creationId xmlns:a16="http://schemas.microsoft.com/office/drawing/2014/main" id="{A002E426-A6D0-C2F9-7EAB-AAEE4B960415}"/>
                </a:ext>
              </a:extLst>
            </p:cNvPr>
            <p:cNvSpPr>
              <a:spLocks noChangeArrowheads="1"/>
            </p:cNvSpPr>
            <p:nvPr/>
          </p:nvSpPr>
          <p:spPr bwMode="auto">
            <a:xfrm>
              <a:off x="7192000" y="4452762"/>
              <a:ext cx="731838"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Predictive Analytics</a:t>
              </a:r>
            </a:p>
          </p:txBody>
        </p:sp>
        <p:sp>
          <p:nvSpPr>
            <p:cNvPr id="1074" name="Rounded Rectangle 265">
              <a:extLst>
                <a:ext uri="{FF2B5EF4-FFF2-40B4-BE49-F238E27FC236}">
                  <a16:creationId xmlns:a16="http://schemas.microsoft.com/office/drawing/2014/main" id="{478685D0-A086-4BD1-0CA6-292C17C5CAAF}"/>
                </a:ext>
              </a:extLst>
            </p:cNvPr>
            <p:cNvSpPr>
              <a:spLocks noChangeArrowheads="1"/>
            </p:cNvSpPr>
            <p:nvPr/>
          </p:nvSpPr>
          <p:spPr bwMode="auto">
            <a:xfrm>
              <a:off x="7192000" y="5057337"/>
              <a:ext cx="730250"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Mining</a:t>
              </a:r>
            </a:p>
          </p:txBody>
        </p:sp>
        <p:sp>
          <p:nvSpPr>
            <p:cNvPr id="1075" name="Rounded Rectangle 274">
              <a:extLst>
                <a:ext uri="{FF2B5EF4-FFF2-40B4-BE49-F238E27FC236}">
                  <a16:creationId xmlns:a16="http://schemas.microsoft.com/office/drawing/2014/main" id="{46C6020D-9825-D58D-4881-092641B89BDA}"/>
                </a:ext>
              </a:extLst>
            </p:cNvPr>
            <p:cNvSpPr>
              <a:spLocks noChangeArrowheads="1"/>
            </p:cNvSpPr>
            <p:nvPr/>
          </p:nvSpPr>
          <p:spPr bwMode="auto">
            <a:xfrm>
              <a:off x="7963525" y="4765100"/>
              <a:ext cx="731838"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Optimization</a:t>
              </a:r>
            </a:p>
          </p:txBody>
        </p:sp>
        <p:sp>
          <p:nvSpPr>
            <p:cNvPr id="1076" name="Rounded Rectangle 267">
              <a:extLst>
                <a:ext uri="{FF2B5EF4-FFF2-40B4-BE49-F238E27FC236}">
                  <a16:creationId xmlns:a16="http://schemas.microsoft.com/office/drawing/2014/main" id="{112412E7-2AB6-4C27-116E-62177482B4EC}"/>
                </a:ext>
              </a:extLst>
            </p:cNvPr>
            <p:cNvSpPr>
              <a:spLocks noChangeArrowheads="1"/>
            </p:cNvSpPr>
            <p:nvPr/>
          </p:nvSpPr>
          <p:spPr bwMode="auto">
            <a:xfrm>
              <a:off x="7192000" y="4754276"/>
              <a:ext cx="731838"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Simulation</a:t>
              </a:r>
            </a:p>
          </p:txBody>
        </p:sp>
        <p:sp>
          <p:nvSpPr>
            <p:cNvPr id="1077" name="Rounded Rectangle 277">
              <a:extLst>
                <a:ext uri="{FF2B5EF4-FFF2-40B4-BE49-F238E27FC236}">
                  <a16:creationId xmlns:a16="http://schemas.microsoft.com/office/drawing/2014/main" id="{770D79A5-C442-B22A-CC72-D9274ACD052F}"/>
                </a:ext>
              </a:extLst>
            </p:cNvPr>
            <p:cNvSpPr>
              <a:spLocks noChangeArrowheads="1"/>
            </p:cNvSpPr>
            <p:nvPr/>
          </p:nvSpPr>
          <p:spPr bwMode="auto">
            <a:xfrm>
              <a:off x="7963525" y="5057337"/>
              <a:ext cx="731838"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Correlations</a:t>
              </a:r>
            </a:p>
          </p:txBody>
        </p:sp>
        <p:sp>
          <p:nvSpPr>
            <p:cNvPr id="1093" name="AutoShape 7">
              <a:extLst>
                <a:ext uri="{FF2B5EF4-FFF2-40B4-BE49-F238E27FC236}">
                  <a16:creationId xmlns:a16="http://schemas.microsoft.com/office/drawing/2014/main" id="{05C23146-6954-85C2-2D1E-23A150C2EB82}"/>
                </a:ext>
              </a:extLst>
            </p:cNvPr>
            <p:cNvSpPr>
              <a:spLocks noChangeArrowheads="1"/>
            </p:cNvSpPr>
            <p:nvPr/>
          </p:nvSpPr>
          <p:spPr bwMode="auto">
            <a:xfrm>
              <a:off x="5429158" y="1451790"/>
              <a:ext cx="555685" cy="26561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數據遮罩</a:t>
              </a:r>
              <a:endParaRPr lang="en-GB" altLang="en-US" sz="800">
                <a:solidFill>
                  <a:schemeClr val="tx1"/>
                </a:solidFill>
                <a:latin typeface="+mj-ea"/>
                <a:ea typeface="+mj-ea"/>
              </a:endParaRPr>
            </a:p>
          </p:txBody>
        </p:sp>
        <p:sp>
          <p:nvSpPr>
            <p:cNvPr id="1094" name="AutoShape 7">
              <a:extLst>
                <a:ext uri="{FF2B5EF4-FFF2-40B4-BE49-F238E27FC236}">
                  <a16:creationId xmlns:a16="http://schemas.microsoft.com/office/drawing/2014/main" id="{A8D41E53-E743-CE63-6AEB-AA487123BE80}"/>
                </a:ext>
              </a:extLst>
            </p:cNvPr>
            <p:cNvSpPr>
              <a:spLocks noChangeArrowheads="1"/>
            </p:cNvSpPr>
            <p:nvPr/>
          </p:nvSpPr>
          <p:spPr bwMode="auto">
            <a:xfrm>
              <a:off x="4816780" y="1451790"/>
              <a:ext cx="555685" cy="26561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數據樣本</a:t>
              </a:r>
              <a:endParaRPr lang="en-GB" altLang="en-US" sz="800">
                <a:solidFill>
                  <a:schemeClr val="tx1"/>
                </a:solidFill>
                <a:latin typeface="+mj-ea"/>
                <a:ea typeface="+mj-ea"/>
              </a:endParaRPr>
            </a:p>
          </p:txBody>
        </p:sp>
        <p:sp>
          <p:nvSpPr>
            <p:cNvPr id="1096" name="AutoShape 2">
              <a:extLst>
                <a:ext uri="{FF2B5EF4-FFF2-40B4-BE49-F238E27FC236}">
                  <a16:creationId xmlns:a16="http://schemas.microsoft.com/office/drawing/2014/main" id="{A9794F57-9E93-0EF1-0768-FD4B5E56A574}"/>
                </a:ext>
              </a:extLst>
            </p:cNvPr>
            <p:cNvSpPr>
              <a:spLocks noChangeArrowheads="1"/>
            </p:cNvSpPr>
            <p:nvPr/>
          </p:nvSpPr>
          <p:spPr bwMode="auto">
            <a:xfrm rot="5400000">
              <a:off x="1501245" y="1664719"/>
              <a:ext cx="284529" cy="329160"/>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1097" name="AutoShape 2">
              <a:extLst>
                <a:ext uri="{FF2B5EF4-FFF2-40B4-BE49-F238E27FC236}">
                  <a16:creationId xmlns:a16="http://schemas.microsoft.com/office/drawing/2014/main" id="{2393E649-8A57-256D-441E-DB52BEC3250B}"/>
                </a:ext>
              </a:extLst>
            </p:cNvPr>
            <p:cNvSpPr>
              <a:spLocks noChangeArrowheads="1"/>
            </p:cNvSpPr>
            <p:nvPr/>
          </p:nvSpPr>
          <p:spPr bwMode="auto">
            <a:xfrm>
              <a:off x="2874484" y="2550462"/>
              <a:ext cx="249267" cy="343995"/>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1098" name="AutoShape 2">
              <a:extLst>
                <a:ext uri="{FF2B5EF4-FFF2-40B4-BE49-F238E27FC236}">
                  <a16:creationId xmlns:a16="http://schemas.microsoft.com/office/drawing/2014/main" id="{E3572BE1-D720-9113-C0FC-901B86946705}"/>
                </a:ext>
              </a:extLst>
            </p:cNvPr>
            <p:cNvSpPr>
              <a:spLocks noChangeArrowheads="1"/>
            </p:cNvSpPr>
            <p:nvPr/>
          </p:nvSpPr>
          <p:spPr bwMode="auto">
            <a:xfrm rot="10800000">
              <a:off x="2269515" y="2548170"/>
              <a:ext cx="249267" cy="343995"/>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1099" name="AutoShape 2">
              <a:extLst>
                <a:ext uri="{FF2B5EF4-FFF2-40B4-BE49-F238E27FC236}">
                  <a16:creationId xmlns:a16="http://schemas.microsoft.com/office/drawing/2014/main" id="{7D75E81A-854F-C409-20C2-7F48515423A5}"/>
                </a:ext>
              </a:extLst>
            </p:cNvPr>
            <p:cNvSpPr>
              <a:spLocks noChangeArrowheads="1"/>
            </p:cNvSpPr>
            <p:nvPr/>
          </p:nvSpPr>
          <p:spPr bwMode="auto">
            <a:xfrm rot="10800000">
              <a:off x="3153913" y="2554780"/>
              <a:ext cx="249267" cy="343995"/>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1100" name="AutoShape 2">
              <a:extLst>
                <a:ext uri="{FF2B5EF4-FFF2-40B4-BE49-F238E27FC236}">
                  <a16:creationId xmlns:a16="http://schemas.microsoft.com/office/drawing/2014/main" id="{43BF262D-EC38-69C3-75B7-2CF6310E613E}"/>
                </a:ext>
              </a:extLst>
            </p:cNvPr>
            <p:cNvSpPr>
              <a:spLocks noChangeArrowheads="1"/>
            </p:cNvSpPr>
            <p:nvPr/>
          </p:nvSpPr>
          <p:spPr bwMode="auto">
            <a:xfrm rot="5400000">
              <a:off x="6886956" y="3428579"/>
              <a:ext cx="262834" cy="370399"/>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pic>
          <p:nvPicPr>
            <p:cNvPr id="1101" name="Picture 24" descr="What is Oracle? | Webopedia">
              <a:extLst>
                <a:ext uri="{FF2B5EF4-FFF2-40B4-BE49-F238E27FC236}">
                  <a16:creationId xmlns:a16="http://schemas.microsoft.com/office/drawing/2014/main" id="{EBF48CA6-5A26-7B9D-3663-1D99E5AC481C}"/>
                </a:ext>
              </a:extLst>
            </p:cNvPr>
            <p:cNvPicPr>
              <a:picLocks noChangeAspect="1" noChangeArrowheads="1"/>
            </p:cNvPicPr>
            <p:nvPr/>
          </p:nvPicPr>
          <p:blipFill rotWithShape="1">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l="11332" t="20661" r="10931" b="20033"/>
            <a:stretch/>
          </p:blipFill>
          <p:spPr bwMode="auto">
            <a:xfrm>
              <a:off x="1421482" y="1408888"/>
              <a:ext cx="372961" cy="284529"/>
            </a:xfrm>
            <a:prstGeom prst="rect">
              <a:avLst/>
            </a:prstGeom>
            <a:noFill/>
            <a:extLst>
              <a:ext uri="{909E8E84-426E-40DD-AFC4-6F175D3DCCD1}">
                <a14:hiddenFill xmlns:a14="http://schemas.microsoft.com/office/drawing/2010/main">
                  <a:solidFill>
                    <a:srgbClr val="FFFFFF"/>
                  </a:solidFill>
                </a14:hiddenFill>
              </a:ext>
            </a:extLst>
          </p:spPr>
        </p:pic>
        <p:pic>
          <p:nvPicPr>
            <p:cNvPr id="1102" name="Picture 26" descr="Kafka：大量數據搜集與應用的核心技術平台- AI與MarTech研究">
              <a:extLst>
                <a:ext uri="{FF2B5EF4-FFF2-40B4-BE49-F238E27FC236}">
                  <a16:creationId xmlns:a16="http://schemas.microsoft.com/office/drawing/2014/main" id="{8F8728ED-F703-7074-09B3-01EA78FF5D32}"/>
                </a:ext>
              </a:extLst>
            </p:cNvPr>
            <p:cNvPicPr>
              <a:picLocks noChangeAspect="1" noChangeArrowheads="1"/>
            </p:cNvPicPr>
            <p:nvPr/>
          </p:nvPicPr>
          <p:blipFill rotWithShape="1">
            <a:blip r:embed="rId16">
              <a:clrChange>
                <a:clrFrom>
                  <a:srgbClr val="FDFBFE"/>
                </a:clrFrom>
                <a:clrTo>
                  <a:srgbClr val="FDFBFE">
                    <a:alpha val="0"/>
                  </a:srgbClr>
                </a:clrTo>
              </a:clrChange>
              <a:extLst>
                <a:ext uri="{28A0092B-C50C-407E-A947-70E740481C1C}">
                  <a14:useLocalDpi xmlns:a14="http://schemas.microsoft.com/office/drawing/2010/main" val="0"/>
                </a:ext>
              </a:extLst>
            </a:blip>
            <a:srcRect l="6077" t="13821" r="5614" b="13499"/>
            <a:stretch/>
          </p:blipFill>
          <p:spPr bwMode="auto">
            <a:xfrm>
              <a:off x="1401288" y="979560"/>
              <a:ext cx="435868" cy="201784"/>
            </a:xfrm>
            <a:prstGeom prst="rect">
              <a:avLst/>
            </a:prstGeom>
            <a:noFill/>
            <a:extLst>
              <a:ext uri="{909E8E84-426E-40DD-AFC4-6F175D3DCCD1}">
                <a14:hiddenFill xmlns:a14="http://schemas.microsoft.com/office/drawing/2010/main">
                  <a:solidFill>
                    <a:srgbClr val="FFFFFF"/>
                  </a:solidFill>
                </a14:hiddenFill>
              </a:ext>
            </a:extLst>
          </p:spPr>
        </p:pic>
        <p:sp>
          <p:nvSpPr>
            <p:cNvPr id="1106" name="AutoShape 2">
              <a:extLst>
                <a:ext uri="{FF2B5EF4-FFF2-40B4-BE49-F238E27FC236}">
                  <a16:creationId xmlns:a16="http://schemas.microsoft.com/office/drawing/2014/main" id="{6E6D6CDB-6012-57E6-AEDF-594CC54D34C9}"/>
                </a:ext>
              </a:extLst>
            </p:cNvPr>
            <p:cNvSpPr>
              <a:spLocks noChangeArrowheads="1"/>
            </p:cNvSpPr>
            <p:nvPr/>
          </p:nvSpPr>
          <p:spPr bwMode="auto">
            <a:xfrm>
              <a:off x="5225470" y="2538085"/>
              <a:ext cx="249267" cy="343995"/>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1107" name="AutoShape 7">
              <a:extLst>
                <a:ext uri="{FF2B5EF4-FFF2-40B4-BE49-F238E27FC236}">
                  <a16:creationId xmlns:a16="http://schemas.microsoft.com/office/drawing/2014/main" id="{787D2763-0956-7B35-3B7E-CA1A878F7807}"/>
                </a:ext>
              </a:extLst>
            </p:cNvPr>
            <p:cNvSpPr>
              <a:spLocks noChangeArrowheads="1"/>
            </p:cNvSpPr>
            <p:nvPr/>
          </p:nvSpPr>
          <p:spPr bwMode="auto">
            <a:xfrm>
              <a:off x="6054373" y="1451790"/>
              <a:ext cx="555685" cy="26561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數據檢視</a:t>
              </a:r>
              <a:endParaRPr lang="en-GB" altLang="en-US" sz="800">
                <a:solidFill>
                  <a:schemeClr val="tx1"/>
                </a:solidFill>
                <a:latin typeface="+mj-ea"/>
                <a:ea typeface="+mj-ea"/>
              </a:endParaRPr>
            </a:p>
          </p:txBody>
        </p:sp>
        <p:pic>
          <p:nvPicPr>
            <p:cNvPr id="1109" name="Picture 30" descr="Data Lakehouse Platform Powered by Apache Iceberg | Dremio">
              <a:extLst>
                <a:ext uri="{FF2B5EF4-FFF2-40B4-BE49-F238E27FC236}">
                  <a16:creationId xmlns:a16="http://schemas.microsoft.com/office/drawing/2014/main" id="{B94FA03A-8F0A-3661-8CAB-930E8C6C1F8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64218" y="1820594"/>
              <a:ext cx="1746844" cy="554623"/>
            </a:xfrm>
            <a:prstGeom prst="rect">
              <a:avLst/>
            </a:prstGeom>
            <a:noFill/>
            <a:extLst>
              <a:ext uri="{909E8E84-426E-40DD-AFC4-6F175D3DCCD1}">
                <a14:hiddenFill xmlns:a14="http://schemas.microsoft.com/office/drawing/2010/main">
                  <a:solidFill>
                    <a:srgbClr val="FFFFFF"/>
                  </a:solidFill>
                </a14:hiddenFill>
              </a:ext>
            </a:extLst>
          </p:spPr>
        </p:pic>
        <p:sp>
          <p:nvSpPr>
            <p:cNvPr id="1111" name="矩形 1110">
              <a:extLst>
                <a:ext uri="{FF2B5EF4-FFF2-40B4-BE49-F238E27FC236}">
                  <a16:creationId xmlns:a16="http://schemas.microsoft.com/office/drawing/2014/main" id="{BA152FC2-F325-E1D6-5B3A-95FC4DF08968}"/>
                </a:ext>
              </a:extLst>
            </p:cNvPr>
            <p:cNvSpPr/>
            <p:nvPr/>
          </p:nvSpPr>
          <p:spPr>
            <a:xfrm>
              <a:off x="4725748" y="1147863"/>
              <a:ext cx="2025913" cy="126310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4" name="Rounded Rectangle 115">
              <a:extLst>
                <a:ext uri="{FF2B5EF4-FFF2-40B4-BE49-F238E27FC236}">
                  <a16:creationId xmlns:a16="http://schemas.microsoft.com/office/drawing/2014/main" id="{7B703032-1E6B-53CE-AE50-A008949FFF72}"/>
                </a:ext>
              </a:extLst>
            </p:cNvPr>
            <p:cNvSpPr>
              <a:spLocks noChangeArrowheads="1"/>
            </p:cNvSpPr>
            <p:nvPr/>
          </p:nvSpPr>
          <p:spPr bwMode="auto">
            <a:xfrm>
              <a:off x="1785269" y="4644947"/>
              <a:ext cx="5020182" cy="723888"/>
            </a:xfrm>
            <a:prstGeom prst="roundRect">
              <a:avLst>
                <a:gd name="adj" fmla="val 7651"/>
              </a:avLst>
            </a:prstGeom>
            <a:solidFill>
              <a:schemeClr val="bg1"/>
            </a:solidFill>
            <a:ln>
              <a:solidFill>
                <a:schemeClr val="tx1"/>
              </a:solidFill>
            </a:ln>
          </p:spPr>
          <p:txBody>
            <a:bodyPr vert="eaVert" lIns="0" tIns="36000" rIns="0" anchor="t" anchorCtr="0"/>
            <a:lstStyle/>
            <a:p>
              <a:pPr algn="ctr">
                <a:lnSpc>
                  <a:spcPct val="85000"/>
                </a:lnSpc>
                <a:spcBef>
                  <a:spcPct val="0"/>
                </a:spcBef>
              </a:pPr>
              <a:r>
                <a:rPr lang="zh-TW" altLang="en-US" sz="1600" b="1">
                  <a:latin typeface="+mj-ea"/>
                  <a:ea typeface="+mj-ea"/>
                </a:rPr>
                <a:t>管理</a:t>
              </a:r>
              <a:endParaRPr lang="en-US" altLang="en-US" sz="1600" b="1">
                <a:latin typeface="+mj-ea"/>
                <a:ea typeface="+mj-ea"/>
              </a:endParaRPr>
            </a:p>
          </p:txBody>
        </p:sp>
        <p:sp>
          <p:nvSpPr>
            <p:cNvPr id="1117" name="AutoShape 7">
              <a:extLst>
                <a:ext uri="{FF2B5EF4-FFF2-40B4-BE49-F238E27FC236}">
                  <a16:creationId xmlns:a16="http://schemas.microsoft.com/office/drawing/2014/main" id="{7EB777E3-486A-BD07-DAF2-A4E76B4CCA84}"/>
                </a:ext>
              </a:extLst>
            </p:cNvPr>
            <p:cNvSpPr>
              <a:spLocks noChangeArrowheads="1"/>
            </p:cNvSpPr>
            <p:nvPr/>
          </p:nvSpPr>
          <p:spPr bwMode="auto">
            <a:xfrm>
              <a:off x="2914442" y="5517815"/>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a:solidFill>
                    <a:schemeClr val="bg1">
                      <a:lumMod val="65000"/>
                    </a:schemeClr>
                  </a:solidFill>
                  <a:latin typeface="+mj-ea"/>
                  <a:ea typeface="+mj-ea"/>
                </a:rPr>
                <a:t>資源配置</a:t>
              </a:r>
              <a:endParaRPr lang="en-GB" altLang="en-US" sz="800">
                <a:solidFill>
                  <a:schemeClr val="bg1">
                    <a:lumMod val="65000"/>
                  </a:schemeClr>
                </a:solidFill>
                <a:latin typeface="+mj-ea"/>
                <a:ea typeface="+mj-ea"/>
              </a:endParaRPr>
            </a:p>
          </p:txBody>
        </p:sp>
        <p:sp>
          <p:nvSpPr>
            <p:cNvPr id="1120" name="矩形 1119">
              <a:extLst>
                <a:ext uri="{FF2B5EF4-FFF2-40B4-BE49-F238E27FC236}">
                  <a16:creationId xmlns:a16="http://schemas.microsoft.com/office/drawing/2014/main" id="{78BB2305-424F-BB5E-556C-1E02711C63A9}"/>
                </a:ext>
              </a:extLst>
            </p:cNvPr>
            <p:cNvSpPr/>
            <p:nvPr/>
          </p:nvSpPr>
          <p:spPr>
            <a:xfrm>
              <a:off x="1864106" y="4680469"/>
              <a:ext cx="4555056" cy="63123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zh-TW" altLang="en-US" sz="1200">
                  <a:solidFill>
                    <a:schemeClr val="tx1"/>
                  </a:solidFill>
                </a:rPr>
                <a:t>客製化</a:t>
              </a:r>
            </a:p>
          </p:txBody>
        </p:sp>
        <p:sp>
          <p:nvSpPr>
            <p:cNvPr id="1123" name="AutoShape 7">
              <a:extLst>
                <a:ext uri="{FF2B5EF4-FFF2-40B4-BE49-F238E27FC236}">
                  <a16:creationId xmlns:a16="http://schemas.microsoft.com/office/drawing/2014/main" id="{5329C5A9-C293-BB06-DB23-EB63300872AB}"/>
                </a:ext>
              </a:extLst>
            </p:cNvPr>
            <p:cNvSpPr>
              <a:spLocks noChangeArrowheads="1"/>
            </p:cNvSpPr>
            <p:nvPr/>
          </p:nvSpPr>
          <p:spPr bwMode="auto">
            <a:xfrm>
              <a:off x="4326155" y="2953475"/>
              <a:ext cx="555685" cy="25556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數據權限</a:t>
              </a:r>
              <a:endParaRPr lang="en-GB" altLang="en-US" sz="800">
                <a:solidFill>
                  <a:schemeClr val="tx1"/>
                </a:solidFill>
                <a:latin typeface="+mj-ea"/>
                <a:ea typeface="+mj-ea"/>
              </a:endParaRPr>
            </a:p>
          </p:txBody>
        </p:sp>
        <p:sp>
          <p:nvSpPr>
            <p:cNvPr id="1125" name="AutoShape 7">
              <a:extLst>
                <a:ext uri="{FF2B5EF4-FFF2-40B4-BE49-F238E27FC236}">
                  <a16:creationId xmlns:a16="http://schemas.microsoft.com/office/drawing/2014/main" id="{E0938B79-834E-53C7-85BD-21AC2E237A81}"/>
                </a:ext>
              </a:extLst>
            </p:cNvPr>
            <p:cNvSpPr>
              <a:spLocks noChangeArrowheads="1"/>
            </p:cNvSpPr>
            <p:nvPr/>
          </p:nvSpPr>
          <p:spPr bwMode="auto">
            <a:xfrm>
              <a:off x="3753042" y="4718778"/>
              <a:ext cx="981503" cy="256012"/>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數據使用者權限管理</a:t>
              </a:r>
              <a:endParaRPr lang="en-GB" altLang="en-US" sz="800">
                <a:solidFill>
                  <a:schemeClr val="tx1"/>
                </a:solidFill>
                <a:latin typeface="+mj-ea"/>
                <a:ea typeface="+mj-ea"/>
              </a:endParaRPr>
            </a:p>
          </p:txBody>
        </p:sp>
        <p:sp>
          <p:nvSpPr>
            <p:cNvPr id="1126" name="AutoShape 7">
              <a:extLst>
                <a:ext uri="{FF2B5EF4-FFF2-40B4-BE49-F238E27FC236}">
                  <a16:creationId xmlns:a16="http://schemas.microsoft.com/office/drawing/2014/main" id="{164501DD-637B-0E92-81A0-CEF82566EAD1}"/>
                </a:ext>
              </a:extLst>
            </p:cNvPr>
            <p:cNvSpPr>
              <a:spLocks noChangeArrowheads="1"/>
            </p:cNvSpPr>
            <p:nvPr/>
          </p:nvSpPr>
          <p:spPr bwMode="auto">
            <a:xfrm>
              <a:off x="1967204" y="4726349"/>
              <a:ext cx="555685" cy="249189"/>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用戶入口</a:t>
              </a:r>
              <a:endParaRPr lang="en-GB" altLang="en-US" sz="800">
                <a:solidFill>
                  <a:schemeClr val="tx1"/>
                </a:solidFill>
                <a:latin typeface="+mj-ea"/>
                <a:ea typeface="+mj-ea"/>
              </a:endParaRPr>
            </a:p>
          </p:txBody>
        </p:sp>
        <p:sp>
          <p:nvSpPr>
            <p:cNvPr id="1127" name="AutoShape 7">
              <a:extLst>
                <a:ext uri="{FF2B5EF4-FFF2-40B4-BE49-F238E27FC236}">
                  <a16:creationId xmlns:a16="http://schemas.microsoft.com/office/drawing/2014/main" id="{79DB2F10-50A3-B56C-48A0-4F52D637ECBA}"/>
                </a:ext>
              </a:extLst>
            </p:cNvPr>
            <p:cNvSpPr>
              <a:spLocks noChangeArrowheads="1"/>
            </p:cNvSpPr>
            <p:nvPr/>
          </p:nvSpPr>
          <p:spPr bwMode="auto">
            <a:xfrm>
              <a:off x="2572364" y="4725600"/>
              <a:ext cx="1117947" cy="24958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開發</a:t>
              </a:r>
              <a:r>
                <a:rPr lang="en-US" altLang="zh-TW" sz="800">
                  <a:solidFill>
                    <a:schemeClr val="tx1"/>
                  </a:solidFill>
                  <a:latin typeface="+mj-ea"/>
                  <a:ea typeface="+mj-ea"/>
                </a:rPr>
                <a:t>UI</a:t>
              </a:r>
              <a:r>
                <a:rPr lang="zh-TW" altLang="en-US" sz="800">
                  <a:solidFill>
                    <a:schemeClr val="tx1"/>
                  </a:solidFill>
                  <a:latin typeface="+mj-ea"/>
                  <a:ea typeface="+mj-ea"/>
                </a:rPr>
                <a:t>與版本控制</a:t>
              </a:r>
              <a:endParaRPr lang="en-GB" altLang="en-US" sz="800">
                <a:solidFill>
                  <a:schemeClr val="tx1"/>
                </a:solidFill>
                <a:latin typeface="+mj-ea"/>
                <a:ea typeface="+mj-ea"/>
              </a:endParaRPr>
            </a:p>
          </p:txBody>
        </p:sp>
        <p:sp>
          <p:nvSpPr>
            <p:cNvPr id="1128" name="矩形 1127">
              <a:extLst>
                <a:ext uri="{FF2B5EF4-FFF2-40B4-BE49-F238E27FC236}">
                  <a16:creationId xmlns:a16="http://schemas.microsoft.com/office/drawing/2014/main" id="{A5069170-2DEE-9ADF-EDC9-0E27F4052F54}"/>
                </a:ext>
              </a:extLst>
            </p:cNvPr>
            <p:cNvSpPr/>
            <p:nvPr/>
          </p:nvSpPr>
          <p:spPr>
            <a:xfrm>
              <a:off x="5996331" y="3906091"/>
              <a:ext cx="324101" cy="369858"/>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32" name="Picture 34" descr="GitHub - zer0beat/apache-ranger-compiled: Here you can find the compiled  packages for every version (starting on 2.0.0) of Apache Ranger">
              <a:extLst>
                <a:ext uri="{FF2B5EF4-FFF2-40B4-BE49-F238E27FC236}">
                  <a16:creationId xmlns:a16="http://schemas.microsoft.com/office/drawing/2014/main" id="{A14115B2-F287-CB81-847F-A1940A16A91F}"/>
                </a:ext>
              </a:extLst>
            </p:cNvPr>
            <p:cNvPicPr>
              <a:picLocks noChangeAspect="1" noChangeArrowheads="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98503" y="2980447"/>
              <a:ext cx="981780" cy="207220"/>
            </a:xfrm>
            <a:prstGeom prst="rect">
              <a:avLst/>
            </a:prstGeom>
            <a:noFill/>
            <a:extLst>
              <a:ext uri="{909E8E84-426E-40DD-AFC4-6F175D3DCCD1}">
                <a14:hiddenFill xmlns:a14="http://schemas.microsoft.com/office/drawing/2010/main">
                  <a:solidFill>
                    <a:srgbClr val="FFFFFF"/>
                  </a:solidFill>
                </a14:hiddenFill>
              </a:ext>
            </a:extLst>
          </p:spPr>
        </p:pic>
        <p:pic>
          <p:nvPicPr>
            <p:cNvPr id="1133" name="Picture 6" descr="Apache SeaTunnel – Medium">
              <a:extLst>
                <a:ext uri="{FF2B5EF4-FFF2-40B4-BE49-F238E27FC236}">
                  <a16:creationId xmlns:a16="http://schemas.microsoft.com/office/drawing/2014/main" id="{5E1B0B82-0EF6-8CA4-6181-6D47B8D6A0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763" t="6445" r="15327" b="21201"/>
            <a:stretch/>
          </p:blipFill>
          <p:spPr bwMode="auto">
            <a:xfrm>
              <a:off x="2092629" y="1858449"/>
              <a:ext cx="440257" cy="621915"/>
            </a:xfrm>
            <a:prstGeom prst="rect">
              <a:avLst/>
            </a:prstGeom>
            <a:noFill/>
            <a:extLst>
              <a:ext uri="{909E8E84-426E-40DD-AFC4-6F175D3DCCD1}">
                <a14:hiddenFill xmlns:a14="http://schemas.microsoft.com/office/drawing/2010/main">
                  <a:solidFill>
                    <a:srgbClr val="FFFFFF"/>
                  </a:solidFill>
                </a14:hiddenFill>
              </a:ext>
            </a:extLst>
          </p:spPr>
        </p:pic>
        <p:sp>
          <p:nvSpPr>
            <p:cNvPr id="1134" name="Rounded Rectangle 143">
              <a:extLst>
                <a:ext uri="{FF2B5EF4-FFF2-40B4-BE49-F238E27FC236}">
                  <a16:creationId xmlns:a16="http://schemas.microsoft.com/office/drawing/2014/main" id="{B3F0DF30-B94C-224B-E5A7-817089DD2FA6}"/>
                </a:ext>
              </a:extLst>
            </p:cNvPr>
            <p:cNvSpPr>
              <a:spLocks noChangeArrowheads="1"/>
            </p:cNvSpPr>
            <p:nvPr/>
          </p:nvSpPr>
          <p:spPr bwMode="auto">
            <a:xfrm>
              <a:off x="580862" y="4833634"/>
              <a:ext cx="849312" cy="30480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Corp</a:t>
              </a:r>
              <a:r>
                <a:rPr lang="zh-TW" altLang="en-US" sz="800" b="0"/>
                <a:t> </a:t>
              </a:r>
              <a:r>
                <a:rPr lang="en-US" altLang="zh-TW" sz="800" b="0"/>
                <a:t>DP</a:t>
              </a:r>
              <a:endParaRPr lang="en-US" altLang="en-US" sz="800" b="0"/>
            </a:p>
          </p:txBody>
        </p:sp>
        <p:pic>
          <p:nvPicPr>
            <p:cNvPr id="1137" name="Picture 40">
              <a:extLst>
                <a:ext uri="{FF2B5EF4-FFF2-40B4-BE49-F238E27FC236}">
                  <a16:creationId xmlns:a16="http://schemas.microsoft.com/office/drawing/2014/main" id="{97057DFB-C40C-4B51-D321-FBF73D16E68F}"/>
                </a:ext>
              </a:extLst>
            </p:cNvPr>
            <p:cNvPicPr>
              <a:picLocks noChangeAspect="1" noChangeArrowheads="1"/>
            </p:cNvPicPr>
            <p:nvPr/>
          </p:nvPicPr>
          <p:blipFill rotWithShape="1">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l="2397" t="30533" r="2239" b="28530"/>
            <a:stretch/>
          </p:blipFill>
          <p:spPr bwMode="auto">
            <a:xfrm>
              <a:off x="2860667" y="4123715"/>
              <a:ext cx="730716" cy="15538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Quickstart — Delta Lake Documentation">
              <a:extLst>
                <a:ext uri="{FF2B5EF4-FFF2-40B4-BE49-F238E27FC236}">
                  <a16:creationId xmlns:a16="http://schemas.microsoft.com/office/drawing/2014/main" id="{EF381603-52AA-7023-3533-A2D639D6BAD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93242" y="4125986"/>
              <a:ext cx="774563" cy="1582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pache Hudi (Part 1): History, Getting Started | by Dipankar Mazumdar |  Medium">
              <a:extLst>
                <a:ext uri="{FF2B5EF4-FFF2-40B4-BE49-F238E27FC236}">
                  <a16:creationId xmlns:a16="http://schemas.microsoft.com/office/drawing/2014/main" id="{D0B84123-6AFD-83C3-6E15-BB5792CE3B9D}"/>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4386" t="15404" r="5430" b="20078"/>
            <a:stretch/>
          </p:blipFill>
          <p:spPr bwMode="auto">
            <a:xfrm>
              <a:off x="3720258" y="4099361"/>
              <a:ext cx="551630" cy="169109"/>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C7C12E06-C9F4-A590-A41C-3638B0FAF10C}"/>
                </a:ext>
              </a:extLst>
            </p:cNvPr>
            <p:cNvSpPr/>
            <p:nvPr/>
          </p:nvSpPr>
          <p:spPr>
            <a:xfrm>
              <a:off x="1884541" y="4069010"/>
              <a:ext cx="1772610" cy="215275"/>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Picture 6" descr="What's new in Apache Spark 2.2 - Knoldus Blogs">
              <a:extLst>
                <a:ext uri="{FF2B5EF4-FFF2-40B4-BE49-F238E27FC236}">
                  <a16:creationId xmlns:a16="http://schemas.microsoft.com/office/drawing/2014/main" id="{9CE24AC7-0C6A-48E7-6790-8FFBF5885B4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70428" y="1996523"/>
              <a:ext cx="518465" cy="275012"/>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9">
              <a:extLst>
                <a:ext uri="{FF2B5EF4-FFF2-40B4-BE49-F238E27FC236}">
                  <a16:creationId xmlns:a16="http://schemas.microsoft.com/office/drawing/2014/main" id="{6051C5A8-A6E6-0129-861B-1A4F43A178B8}"/>
                </a:ext>
              </a:extLst>
            </p:cNvPr>
            <p:cNvPicPr>
              <a:picLocks noChangeAspect="1"/>
            </p:cNvPicPr>
            <p:nvPr/>
          </p:nvPicPr>
          <p:blipFill>
            <a:blip r:embed="rId23">
              <a:clrChange>
                <a:clrFrom>
                  <a:srgbClr val="FFFFFF"/>
                </a:clrFrom>
                <a:clrTo>
                  <a:srgbClr val="FFFFFF">
                    <a:alpha val="0"/>
                  </a:srgbClr>
                </a:clrTo>
              </a:clrChange>
            </a:blip>
            <a:stretch>
              <a:fillRect/>
            </a:stretch>
          </p:blipFill>
          <p:spPr>
            <a:xfrm>
              <a:off x="2117968" y="5795883"/>
              <a:ext cx="1106322" cy="333257"/>
            </a:xfrm>
            <a:prstGeom prst="rect">
              <a:avLst/>
            </a:prstGeom>
          </p:spPr>
        </p:pic>
        <p:sp>
          <p:nvSpPr>
            <p:cNvPr id="12" name="AutoShape 7">
              <a:extLst>
                <a:ext uri="{FF2B5EF4-FFF2-40B4-BE49-F238E27FC236}">
                  <a16:creationId xmlns:a16="http://schemas.microsoft.com/office/drawing/2014/main" id="{9F47C8D6-53A9-0829-8ED4-E843C579E214}"/>
                </a:ext>
              </a:extLst>
            </p:cNvPr>
            <p:cNvSpPr>
              <a:spLocks noChangeArrowheads="1"/>
            </p:cNvSpPr>
            <p:nvPr/>
          </p:nvSpPr>
          <p:spPr bwMode="auto">
            <a:xfrm>
              <a:off x="2363102" y="5511367"/>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a:latin typeface="+mj-ea"/>
                  <a:ea typeface="+mj-ea"/>
                </a:rPr>
                <a:t>彈性擴展</a:t>
              </a:r>
              <a:endParaRPr lang="en-GB" altLang="en-US"/>
            </a:p>
          </p:txBody>
        </p:sp>
        <p:sp>
          <p:nvSpPr>
            <p:cNvPr id="16" name="AutoShape 7">
              <a:extLst>
                <a:ext uri="{FF2B5EF4-FFF2-40B4-BE49-F238E27FC236}">
                  <a16:creationId xmlns:a16="http://schemas.microsoft.com/office/drawing/2014/main" id="{E40A2826-DF3E-B698-F128-9B83D64FFFC2}"/>
                </a:ext>
              </a:extLst>
            </p:cNvPr>
            <p:cNvSpPr>
              <a:spLocks noChangeArrowheads="1"/>
            </p:cNvSpPr>
            <p:nvPr/>
          </p:nvSpPr>
          <p:spPr bwMode="auto">
            <a:xfrm>
              <a:off x="3468621" y="5517814"/>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en-US" altLang="zh-TW" sz="800">
                  <a:latin typeface="+mj-ea"/>
                  <a:ea typeface="+mj-ea"/>
                </a:rPr>
                <a:t>Log</a:t>
              </a:r>
              <a:r>
                <a:rPr lang="zh-TW" altLang="en-US" sz="800">
                  <a:latin typeface="+mj-ea"/>
                  <a:ea typeface="+mj-ea"/>
                </a:rPr>
                <a:t>分析</a:t>
              </a:r>
              <a:endParaRPr lang="en-GB" altLang="en-US"/>
            </a:p>
          </p:txBody>
        </p:sp>
        <p:pic>
          <p:nvPicPr>
            <p:cNvPr id="27" name="圖片 26">
              <a:extLst>
                <a:ext uri="{FF2B5EF4-FFF2-40B4-BE49-F238E27FC236}">
                  <a16:creationId xmlns:a16="http://schemas.microsoft.com/office/drawing/2014/main" id="{79D814CA-6397-A55F-4DC6-428F2E55C332}"/>
                </a:ext>
              </a:extLst>
            </p:cNvPr>
            <p:cNvPicPr>
              <a:picLocks noChangeAspect="1"/>
            </p:cNvPicPr>
            <p:nvPr/>
          </p:nvPicPr>
          <p:blipFill>
            <a:blip r:embed="rId24">
              <a:clrChange>
                <a:clrFrom>
                  <a:srgbClr val="FFFFFF"/>
                </a:clrFrom>
                <a:clrTo>
                  <a:srgbClr val="FFFFFF">
                    <a:alpha val="0"/>
                  </a:srgbClr>
                </a:clrTo>
              </a:clrChange>
            </a:blip>
            <a:stretch>
              <a:fillRect/>
            </a:stretch>
          </p:blipFill>
          <p:spPr>
            <a:xfrm>
              <a:off x="3455882" y="5862347"/>
              <a:ext cx="589280" cy="253376"/>
            </a:xfrm>
            <a:prstGeom prst="rect">
              <a:avLst/>
            </a:prstGeom>
          </p:spPr>
        </p:pic>
        <p:cxnSp>
          <p:nvCxnSpPr>
            <p:cNvPr id="6" name="直線接點 5">
              <a:extLst>
                <a:ext uri="{FF2B5EF4-FFF2-40B4-BE49-F238E27FC236}">
                  <a16:creationId xmlns:a16="http://schemas.microsoft.com/office/drawing/2014/main" id="{2F72346F-3E58-E4D0-62F5-516CD2DFCE57}"/>
                </a:ext>
              </a:extLst>
            </p:cNvPr>
            <p:cNvCxnSpPr>
              <a:cxnSpLocks/>
            </p:cNvCxnSpPr>
            <p:nvPr/>
          </p:nvCxnSpPr>
          <p:spPr>
            <a:xfrm>
              <a:off x="1707661" y="4471671"/>
              <a:ext cx="5217422"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8" name="Picture 20" descr="Cube — The Universal Semantic Layer">
              <a:extLst>
                <a:ext uri="{FF2B5EF4-FFF2-40B4-BE49-F238E27FC236}">
                  <a16:creationId xmlns:a16="http://schemas.microsoft.com/office/drawing/2014/main" id="{22D6C716-C2E1-ED2C-4338-3D472C0E37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17600" y="4035206"/>
              <a:ext cx="451485" cy="130071"/>
            </a:xfrm>
            <a:prstGeom prst="rect">
              <a:avLst/>
            </a:prstGeom>
            <a:noFill/>
            <a:extLst>
              <a:ext uri="{909E8E84-426E-40DD-AFC4-6F175D3DCCD1}">
                <a14:hiddenFill xmlns:a14="http://schemas.microsoft.com/office/drawing/2010/main">
                  <a:solidFill>
                    <a:srgbClr val="FFFFFF"/>
                  </a:solidFill>
                </a14:hiddenFill>
              </a:ext>
            </a:extLst>
          </p:spPr>
        </p:pic>
        <p:sp>
          <p:nvSpPr>
            <p:cNvPr id="18" name="AutoShape 7">
              <a:extLst>
                <a:ext uri="{FF2B5EF4-FFF2-40B4-BE49-F238E27FC236}">
                  <a16:creationId xmlns:a16="http://schemas.microsoft.com/office/drawing/2014/main" id="{3765EFCB-DA9D-3EAE-7E9D-4EB7B842B11A}"/>
                </a:ext>
              </a:extLst>
            </p:cNvPr>
            <p:cNvSpPr>
              <a:spLocks noChangeArrowheads="1"/>
            </p:cNvSpPr>
            <p:nvPr/>
          </p:nvSpPr>
          <p:spPr bwMode="auto">
            <a:xfrm>
              <a:off x="4797276" y="4725600"/>
              <a:ext cx="763347" cy="24597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數據地圖</a:t>
              </a:r>
              <a:endParaRPr lang="en-GB" altLang="en-US" sz="800">
                <a:solidFill>
                  <a:schemeClr val="tx1"/>
                </a:solidFill>
                <a:latin typeface="+mj-ea"/>
                <a:ea typeface="+mj-ea"/>
              </a:endParaRPr>
            </a:p>
          </p:txBody>
        </p:sp>
        <p:sp>
          <p:nvSpPr>
            <p:cNvPr id="26" name="AutoShape 7">
              <a:extLst>
                <a:ext uri="{FF2B5EF4-FFF2-40B4-BE49-F238E27FC236}">
                  <a16:creationId xmlns:a16="http://schemas.microsoft.com/office/drawing/2014/main" id="{96048666-4526-8A82-F743-36BF1EE18998}"/>
                </a:ext>
              </a:extLst>
            </p:cNvPr>
            <p:cNvSpPr>
              <a:spLocks noChangeArrowheads="1"/>
            </p:cNvSpPr>
            <p:nvPr/>
          </p:nvSpPr>
          <p:spPr bwMode="auto">
            <a:xfrm>
              <a:off x="5618677" y="4725600"/>
              <a:ext cx="763347" cy="24597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a:solidFill>
                    <a:schemeClr val="tx1"/>
                  </a:solidFill>
                  <a:latin typeface="+mj-ea"/>
                  <a:ea typeface="+mj-ea"/>
                </a:rPr>
                <a:t>報警配置</a:t>
              </a:r>
              <a:endParaRPr lang="en-GB" altLang="en-US" sz="800">
                <a:solidFill>
                  <a:schemeClr val="tx1"/>
                </a:solidFill>
                <a:latin typeface="+mj-ea"/>
                <a:ea typeface="+mj-ea"/>
              </a:endParaRPr>
            </a:p>
          </p:txBody>
        </p:sp>
      </p:grpSp>
      <p:sp>
        <p:nvSpPr>
          <p:cNvPr id="29" name="文字方塊 28">
            <a:extLst>
              <a:ext uri="{FF2B5EF4-FFF2-40B4-BE49-F238E27FC236}">
                <a16:creationId xmlns:a16="http://schemas.microsoft.com/office/drawing/2014/main" id="{63AC23B4-54CF-A3BB-90E1-9FE7CEFA2CF5}"/>
              </a:ext>
            </a:extLst>
          </p:cNvPr>
          <p:cNvSpPr txBox="1"/>
          <p:nvPr/>
        </p:nvSpPr>
        <p:spPr>
          <a:xfrm>
            <a:off x="8513926" y="705289"/>
            <a:ext cx="3583032" cy="5816977"/>
          </a:xfrm>
          <a:prstGeom prst="rect">
            <a:avLst/>
          </a:prstGeom>
          <a:noFill/>
        </p:spPr>
        <p:txBody>
          <a:bodyPr wrap="none" rtlCol="0">
            <a:spAutoFit/>
          </a:bodyPr>
          <a:lstStyle/>
          <a:p>
            <a:r>
              <a:rPr lang="en-US" altLang="zh-TW" sz="1200" b="1" u="sng" dirty="0">
                <a:solidFill>
                  <a:schemeClr val="accent1">
                    <a:lumMod val="75000"/>
                  </a:schemeClr>
                </a:solidFill>
              </a:rPr>
              <a:t>POC1</a:t>
            </a:r>
            <a:r>
              <a:rPr lang="zh-TW" altLang="en-US" sz="1200" b="1" u="sng" dirty="0">
                <a:solidFill>
                  <a:schemeClr val="accent1">
                    <a:lumMod val="75000"/>
                  </a:schemeClr>
                </a:solidFill>
              </a:rPr>
              <a:t>結果對應清單</a:t>
            </a:r>
            <a:r>
              <a:rPr lang="en-US" altLang="zh-TW" sz="1200" b="1" u="sng" dirty="0">
                <a:solidFill>
                  <a:schemeClr val="accent1">
                    <a:lumMod val="75000"/>
                  </a:schemeClr>
                </a:solidFill>
              </a:rPr>
              <a:t>:</a:t>
            </a:r>
          </a:p>
          <a:p>
            <a:r>
              <a:rPr lang="zh-TW" altLang="en-US" sz="1200" dirty="0"/>
              <a:t>數據擷取</a:t>
            </a:r>
            <a:r>
              <a:rPr lang="en-US" altLang="zh-TW" sz="1200" dirty="0"/>
              <a:t>(</a:t>
            </a:r>
            <a:r>
              <a:rPr lang="zh-TW" altLang="en-US" sz="1200" dirty="0"/>
              <a:t>數據匯流</a:t>
            </a:r>
            <a:r>
              <a:rPr lang="en-US" altLang="zh-TW" sz="1200" dirty="0"/>
              <a:t>/</a:t>
            </a:r>
            <a:r>
              <a:rPr lang="zh-TW" altLang="en-US" sz="1200" dirty="0"/>
              <a:t>格式轉換</a:t>
            </a:r>
            <a:endParaRPr lang="en-US" altLang="zh-TW" sz="1200" dirty="0"/>
          </a:p>
          <a:p>
            <a:r>
              <a:rPr lang="en-US" altLang="zh-TW" sz="1200" dirty="0">
                <a:sym typeface="Wingdings" panose="05000000000000000000" pitchFamily="2" charset="2"/>
              </a:rPr>
              <a:t></a:t>
            </a:r>
            <a:r>
              <a:rPr lang="en-US" altLang="zh-TW" sz="1200" i="1" dirty="0">
                <a:sym typeface="Wingdings" panose="05000000000000000000" pitchFamily="2" charset="2"/>
              </a:rPr>
              <a:t>Apache </a:t>
            </a:r>
            <a:r>
              <a:rPr lang="en-US" altLang="zh-TW" sz="1200" i="1" dirty="0" err="1">
                <a:sym typeface="Wingdings" panose="05000000000000000000" pitchFamily="2" charset="2"/>
              </a:rPr>
              <a:t>Seatunnel</a:t>
            </a:r>
            <a:endParaRPr lang="en-US" altLang="zh-TW" sz="1200" i="1" dirty="0">
              <a:sym typeface="Wingdings" panose="05000000000000000000" pitchFamily="2" charset="2"/>
            </a:endParaRPr>
          </a:p>
          <a:p>
            <a:r>
              <a:rPr lang="zh-TW" altLang="en-US" sz="1200" dirty="0"/>
              <a:t>排程控制</a:t>
            </a:r>
            <a:endParaRPr lang="en-US" altLang="zh-TW" sz="1200" dirty="0"/>
          </a:p>
          <a:p>
            <a:pPr marL="171450" indent="-171450">
              <a:buFont typeface="Wingdings" panose="05000000000000000000" pitchFamily="2" charset="2"/>
              <a:buChar char="à"/>
            </a:pPr>
            <a:r>
              <a:rPr lang="en-US" altLang="zh-TW" sz="1200" i="1" dirty="0">
                <a:sym typeface="Wingdings" panose="05000000000000000000" pitchFamily="2" charset="2"/>
              </a:rPr>
              <a:t>Apache </a:t>
            </a:r>
            <a:r>
              <a:rPr lang="en-US" altLang="zh-TW" sz="1200" i="1" dirty="0" err="1">
                <a:sym typeface="Wingdings" panose="05000000000000000000" pitchFamily="2" charset="2"/>
              </a:rPr>
              <a:t>DophineScheduler</a:t>
            </a:r>
            <a:endParaRPr lang="en-US" altLang="zh-TW" sz="1200" i="1" dirty="0">
              <a:sym typeface="Wingdings" panose="05000000000000000000" pitchFamily="2" charset="2"/>
            </a:endParaRPr>
          </a:p>
          <a:p>
            <a:r>
              <a:rPr lang="zh-TW" altLang="en-US" sz="1200" dirty="0">
                <a:sym typeface="Wingdings" panose="05000000000000000000" pitchFamily="2" charset="2"/>
              </a:rPr>
              <a:t>數據湖泊</a:t>
            </a:r>
            <a:r>
              <a:rPr lang="en-US" altLang="zh-TW" sz="1200" dirty="0">
                <a:sym typeface="Wingdings" panose="05000000000000000000" pitchFamily="2" charset="2"/>
              </a:rPr>
              <a:t>(</a:t>
            </a:r>
            <a:r>
              <a:rPr lang="zh-TW" altLang="en-US" sz="1200" dirty="0">
                <a:sym typeface="Wingdings" panose="05000000000000000000" pitchFamily="2" charset="2"/>
              </a:rPr>
              <a:t>半結構化</a:t>
            </a:r>
            <a:r>
              <a:rPr lang="en-US" altLang="zh-TW" sz="1200" dirty="0">
                <a:sym typeface="Wingdings" panose="05000000000000000000" pitchFamily="2" charset="2"/>
              </a:rPr>
              <a:t>/</a:t>
            </a:r>
            <a:r>
              <a:rPr lang="zh-TW" altLang="en-US" sz="1200" dirty="0">
                <a:sym typeface="Wingdings" panose="05000000000000000000" pitchFamily="2" charset="2"/>
              </a:rPr>
              <a:t>結構化</a:t>
            </a:r>
            <a:r>
              <a:rPr lang="en-US" altLang="zh-TW" sz="1200" dirty="0">
                <a:sym typeface="Wingdings" panose="05000000000000000000" pitchFamily="2" charset="2"/>
              </a:rPr>
              <a:t>/</a:t>
            </a:r>
            <a:r>
              <a:rPr lang="en-US" altLang="zh-TW" sz="1000" dirty="0">
                <a:sym typeface="Wingdings" panose="05000000000000000000" pitchFamily="2" charset="2"/>
              </a:rPr>
              <a:t>ODS/DWD/DWS/DataMart</a:t>
            </a:r>
            <a:r>
              <a:rPr lang="en-US" altLang="zh-TW" sz="1200" dirty="0">
                <a:sym typeface="Wingdings" panose="05000000000000000000" pitchFamily="2" charset="2"/>
              </a:rPr>
              <a:t>)</a:t>
            </a:r>
          </a:p>
          <a:p>
            <a:r>
              <a:rPr lang="en-US" altLang="zh-TW" sz="1200" dirty="0">
                <a:sym typeface="Wingdings" panose="05000000000000000000" pitchFamily="2" charset="2"/>
              </a:rPr>
              <a:t></a:t>
            </a:r>
            <a:r>
              <a:rPr lang="en-US" altLang="zh-TW" sz="1200" i="1" dirty="0">
                <a:sym typeface="Wingdings" panose="05000000000000000000" pitchFamily="2" charset="2"/>
              </a:rPr>
              <a:t>Apache Doris </a:t>
            </a:r>
            <a:r>
              <a:rPr lang="en-US" altLang="zh-TW" sz="1200" dirty="0">
                <a:sym typeface="Wingdings" panose="05000000000000000000" pitchFamily="2" charset="2"/>
              </a:rPr>
              <a:t>( &lt;1PB )</a:t>
            </a:r>
          </a:p>
          <a:p>
            <a:r>
              <a:rPr lang="zh-TW" altLang="en-US" sz="1200" dirty="0">
                <a:sym typeface="Wingdings" panose="05000000000000000000" pitchFamily="2" charset="2"/>
              </a:rPr>
              <a:t>數據湖泊</a:t>
            </a:r>
            <a:r>
              <a:rPr lang="en-US" altLang="zh-TW" sz="1200" dirty="0">
                <a:sym typeface="Wingdings" panose="05000000000000000000" pitchFamily="2" charset="2"/>
              </a:rPr>
              <a:t>(Sematic Layer/Data Cache)</a:t>
            </a:r>
          </a:p>
          <a:p>
            <a:r>
              <a:rPr lang="en-US" altLang="zh-TW" sz="1200" dirty="0">
                <a:sym typeface="Wingdings" panose="05000000000000000000" pitchFamily="2" charset="2"/>
              </a:rPr>
              <a:t></a:t>
            </a:r>
            <a:r>
              <a:rPr lang="en-US" altLang="zh-TW" sz="1200" i="1" dirty="0" err="1">
                <a:sym typeface="Wingdings" panose="05000000000000000000" pitchFamily="2" charset="2"/>
              </a:rPr>
              <a:t>CubeJs</a:t>
            </a:r>
            <a:r>
              <a:rPr lang="en-US" altLang="zh-TW" sz="1200" i="1" dirty="0">
                <a:sym typeface="Wingdings" panose="05000000000000000000" pitchFamily="2" charset="2"/>
              </a:rPr>
              <a:t> / </a:t>
            </a:r>
            <a:r>
              <a:rPr lang="en-US" altLang="zh-TW" sz="1200" i="1" dirty="0" err="1">
                <a:sym typeface="Wingdings" panose="05000000000000000000" pitchFamily="2" charset="2"/>
              </a:rPr>
              <a:t>Clickhouse</a:t>
            </a:r>
            <a:endParaRPr lang="en-US" altLang="zh-TW" sz="1200" i="1" dirty="0">
              <a:sym typeface="Wingdings" panose="05000000000000000000" pitchFamily="2" charset="2"/>
            </a:endParaRPr>
          </a:p>
          <a:p>
            <a:r>
              <a:rPr lang="zh-TW" altLang="en-US" sz="1200" dirty="0">
                <a:sym typeface="Wingdings" panose="05000000000000000000" pitchFamily="2" charset="2"/>
              </a:rPr>
              <a:t>數據權限</a:t>
            </a:r>
            <a:r>
              <a:rPr lang="en-US" altLang="zh-TW" sz="1200" dirty="0">
                <a:sym typeface="Wingdings" panose="05000000000000000000" pitchFamily="2" charset="2"/>
              </a:rPr>
              <a:t>(Doris)</a:t>
            </a:r>
          </a:p>
          <a:p>
            <a:r>
              <a:rPr lang="en-US" altLang="zh-TW" sz="1200" dirty="0">
                <a:sym typeface="Wingdings" panose="05000000000000000000" pitchFamily="2" charset="2"/>
              </a:rPr>
              <a:t></a:t>
            </a:r>
            <a:r>
              <a:rPr lang="en-US" altLang="zh-TW" sz="1200" i="1" dirty="0">
                <a:sym typeface="Wingdings" panose="05000000000000000000" pitchFamily="2" charset="2"/>
              </a:rPr>
              <a:t>Apache Ranger</a:t>
            </a:r>
          </a:p>
          <a:p>
            <a:r>
              <a:rPr lang="zh-TW" altLang="en-US" sz="1200" dirty="0">
                <a:sym typeface="Wingdings" panose="05000000000000000000" pitchFamily="2" charset="2"/>
              </a:rPr>
              <a:t>數據提供</a:t>
            </a:r>
            <a:r>
              <a:rPr lang="en-US" altLang="zh-TW" sz="1200" dirty="0">
                <a:sym typeface="Wingdings" panose="05000000000000000000" pitchFamily="2" charset="2"/>
              </a:rPr>
              <a:t>(API)</a:t>
            </a:r>
          </a:p>
          <a:p>
            <a:pPr marL="171450" indent="-171450">
              <a:buFont typeface="Wingdings" panose="05000000000000000000" pitchFamily="2" charset="2"/>
              <a:buChar char="à"/>
            </a:pPr>
            <a:r>
              <a:rPr lang="en-US" altLang="zh-TW" sz="1200" i="1" dirty="0" err="1">
                <a:sym typeface="Wingdings" panose="05000000000000000000" pitchFamily="2" charset="2"/>
              </a:rPr>
              <a:t>Cube.Js</a:t>
            </a:r>
            <a:endParaRPr lang="en-US" altLang="zh-TW" sz="1200" i="1" dirty="0">
              <a:sym typeface="Wingdings" panose="05000000000000000000" pitchFamily="2" charset="2"/>
            </a:endParaRPr>
          </a:p>
          <a:p>
            <a:endParaRPr lang="en-US" altLang="zh-TW" sz="1200" dirty="0">
              <a:sym typeface="Wingdings" panose="05000000000000000000" pitchFamily="2" charset="2"/>
            </a:endParaRPr>
          </a:p>
          <a:p>
            <a:r>
              <a:rPr lang="zh-TW" altLang="en-US" sz="1200" b="1" u="sng" dirty="0">
                <a:solidFill>
                  <a:schemeClr val="accent1">
                    <a:lumMod val="75000"/>
                  </a:schemeClr>
                </a:solidFill>
                <a:sym typeface="Wingdings" panose="05000000000000000000" pitchFamily="2" charset="2"/>
              </a:rPr>
              <a:t>數據中台第一階段開發</a:t>
            </a:r>
            <a:r>
              <a:rPr lang="en-US" altLang="zh-TW" sz="1200" b="1" u="sng" dirty="0">
                <a:solidFill>
                  <a:schemeClr val="accent1">
                    <a:lumMod val="75000"/>
                  </a:schemeClr>
                </a:solidFill>
                <a:sym typeface="Wingdings" panose="05000000000000000000" pitchFamily="2" charset="2"/>
              </a:rPr>
              <a:t>:</a:t>
            </a:r>
          </a:p>
          <a:p>
            <a:r>
              <a:rPr lang="zh-TW" altLang="en-US" sz="1200" dirty="0"/>
              <a:t>管理</a:t>
            </a:r>
            <a:endParaRPr lang="en-US" altLang="zh-TW" sz="1200" dirty="0"/>
          </a:p>
          <a:p>
            <a:r>
              <a:rPr lang="en-US" altLang="zh-TW" sz="1200" dirty="0">
                <a:sym typeface="Wingdings" panose="05000000000000000000" pitchFamily="2" charset="2"/>
              </a:rPr>
              <a:t></a:t>
            </a:r>
            <a:r>
              <a:rPr lang="zh-TW" altLang="en-US" sz="1200" dirty="0">
                <a:sym typeface="Wingdings" panose="05000000000000000000" pitchFamily="2" charset="2"/>
              </a:rPr>
              <a:t>客製化</a:t>
            </a:r>
            <a:r>
              <a:rPr lang="en-US" altLang="zh-TW" sz="1200" dirty="0">
                <a:sym typeface="Wingdings" panose="05000000000000000000" pitchFamily="2" charset="2"/>
              </a:rPr>
              <a:t>(</a:t>
            </a:r>
            <a:r>
              <a:rPr lang="zh-TW" altLang="en-US" sz="1200" dirty="0">
                <a:sym typeface="Wingdings" panose="05000000000000000000" pitchFamily="2" charset="2"/>
              </a:rPr>
              <a:t> 數據中台第一階段開發案</a:t>
            </a:r>
            <a:r>
              <a:rPr lang="en-US" altLang="zh-TW" sz="1200" dirty="0">
                <a:sym typeface="Wingdings" panose="05000000000000000000" pitchFamily="2" charset="2"/>
              </a:rPr>
              <a:t>)</a:t>
            </a:r>
          </a:p>
          <a:p>
            <a:endParaRPr lang="en-US" altLang="zh-TW" sz="1200" dirty="0">
              <a:sym typeface="Wingdings" panose="05000000000000000000" pitchFamily="2" charset="2"/>
            </a:endParaRPr>
          </a:p>
          <a:p>
            <a:r>
              <a:rPr lang="en-US" altLang="zh-TW" sz="1200" b="1" u="sng" dirty="0">
                <a:solidFill>
                  <a:schemeClr val="accent1">
                    <a:lumMod val="75000"/>
                  </a:schemeClr>
                </a:solidFill>
              </a:rPr>
              <a:t>POC2</a:t>
            </a:r>
            <a:r>
              <a:rPr lang="zh-TW" altLang="en-US" sz="1200" b="1" u="sng" dirty="0">
                <a:solidFill>
                  <a:schemeClr val="accent1">
                    <a:lumMod val="75000"/>
                  </a:schemeClr>
                </a:solidFill>
              </a:rPr>
              <a:t>預計測試對應清單</a:t>
            </a:r>
            <a:r>
              <a:rPr lang="en-US" altLang="zh-TW" sz="1200" b="1" u="sng" dirty="0">
                <a:solidFill>
                  <a:schemeClr val="accent1">
                    <a:lumMod val="75000"/>
                  </a:schemeClr>
                </a:solidFill>
              </a:rPr>
              <a:t>:</a:t>
            </a:r>
            <a:endParaRPr lang="en-US" altLang="zh-TW" sz="1200" dirty="0"/>
          </a:p>
          <a:p>
            <a:r>
              <a:rPr lang="zh-TW" altLang="en-US" sz="1200" dirty="0">
                <a:sym typeface="Wingdings" panose="05000000000000000000" pitchFamily="2" charset="2"/>
              </a:rPr>
              <a:t>數據處裡</a:t>
            </a:r>
            <a:r>
              <a:rPr lang="en-US" altLang="zh-TW" sz="1200" dirty="0">
                <a:sym typeface="Wingdings" panose="05000000000000000000" pitchFamily="2" charset="2"/>
              </a:rPr>
              <a:t>(Batch/Stream)</a:t>
            </a:r>
          </a:p>
          <a:p>
            <a:r>
              <a:rPr lang="en-US" altLang="zh-TW" sz="1200" dirty="0">
                <a:sym typeface="Wingdings" panose="05000000000000000000" pitchFamily="2" charset="2"/>
              </a:rPr>
              <a:t></a:t>
            </a:r>
            <a:r>
              <a:rPr lang="en-US" altLang="zh-TW" sz="1200" i="1" dirty="0">
                <a:sym typeface="Wingdings" panose="05000000000000000000" pitchFamily="2" charset="2"/>
              </a:rPr>
              <a:t>Apache Spark/Apache </a:t>
            </a:r>
            <a:r>
              <a:rPr lang="en-US" altLang="zh-TW" sz="1200" i="1" dirty="0" err="1">
                <a:sym typeface="Wingdings" panose="05000000000000000000" pitchFamily="2" charset="2"/>
              </a:rPr>
              <a:t>Flink</a:t>
            </a:r>
            <a:endParaRPr lang="en-US" altLang="zh-TW" sz="1200" i="1" dirty="0">
              <a:sym typeface="Wingdings" panose="05000000000000000000" pitchFamily="2" charset="2"/>
            </a:endParaRPr>
          </a:p>
          <a:p>
            <a:r>
              <a:rPr lang="zh-TW" altLang="en-US" sz="1200" dirty="0">
                <a:sym typeface="Wingdings" panose="05000000000000000000" pitchFamily="2" charset="2"/>
              </a:rPr>
              <a:t>數據湖泊</a:t>
            </a:r>
            <a:r>
              <a:rPr lang="en-US" altLang="zh-TW" sz="1200" dirty="0">
                <a:sym typeface="Wingdings" panose="05000000000000000000" pitchFamily="2" charset="2"/>
              </a:rPr>
              <a:t>(</a:t>
            </a:r>
            <a:r>
              <a:rPr lang="zh-TW" altLang="en-US" sz="1200" dirty="0">
                <a:sym typeface="Wingdings" panose="05000000000000000000" pitchFamily="2" charset="2"/>
              </a:rPr>
              <a:t>檔案</a:t>
            </a:r>
            <a:r>
              <a:rPr lang="en-US" altLang="zh-TW" sz="1200" dirty="0">
                <a:sym typeface="Wingdings" panose="05000000000000000000" pitchFamily="2" charset="2"/>
              </a:rPr>
              <a:t>)</a:t>
            </a:r>
          </a:p>
          <a:p>
            <a:r>
              <a:rPr lang="en-US" altLang="zh-TW" sz="1200" dirty="0">
                <a:sym typeface="Wingdings" panose="05000000000000000000" pitchFamily="2" charset="2"/>
              </a:rPr>
              <a:t></a:t>
            </a:r>
            <a:r>
              <a:rPr lang="en-US" altLang="zh-TW" sz="1200" i="1" dirty="0">
                <a:sym typeface="Wingdings" panose="05000000000000000000" pitchFamily="2" charset="2"/>
              </a:rPr>
              <a:t>MINIO(S3)</a:t>
            </a:r>
            <a:endParaRPr lang="en-US" altLang="zh-TW" sz="1200" i="1" dirty="0"/>
          </a:p>
          <a:p>
            <a:r>
              <a:rPr lang="zh-TW" altLang="en-US" sz="1200" dirty="0">
                <a:sym typeface="Wingdings" panose="05000000000000000000" pitchFamily="2" charset="2"/>
              </a:rPr>
              <a:t>數據湖泊</a:t>
            </a:r>
            <a:r>
              <a:rPr lang="en-US" altLang="zh-TW" sz="1200" dirty="0">
                <a:sym typeface="Wingdings" panose="05000000000000000000" pitchFamily="2" charset="2"/>
              </a:rPr>
              <a:t>(</a:t>
            </a:r>
            <a:r>
              <a:rPr lang="zh-TW" altLang="en-US" sz="1200" dirty="0">
                <a:sym typeface="Wingdings" panose="05000000000000000000" pitchFamily="2" charset="2"/>
              </a:rPr>
              <a:t>大數據 </a:t>
            </a:r>
            <a:r>
              <a:rPr lang="en-US" altLang="zh-TW" sz="1200" dirty="0">
                <a:sym typeface="Wingdings" panose="05000000000000000000" pitchFamily="2" charset="2"/>
              </a:rPr>
              <a:t>&gt; 1PB)</a:t>
            </a:r>
          </a:p>
          <a:p>
            <a:r>
              <a:rPr lang="en-US" altLang="zh-TW" sz="1200" dirty="0">
                <a:sym typeface="Wingdings" panose="05000000000000000000" pitchFamily="2" charset="2"/>
              </a:rPr>
              <a:t></a:t>
            </a:r>
            <a:r>
              <a:rPr lang="en-US" altLang="zh-TW" sz="1200" i="1" dirty="0">
                <a:sym typeface="Wingdings" panose="05000000000000000000" pitchFamily="2" charset="2"/>
              </a:rPr>
              <a:t>Iceberg / Hudi / Delta Lake</a:t>
            </a:r>
            <a:endParaRPr lang="en-US" altLang="zh-TW" sz="1200" i="1" dirty="0"/>
          </a:p>
          <a:p>
            <a:r>
              <a:rPr lang="zh-TW" altLang="en-US" sz="1200" dirty="0">
                <a:sym typeface="Wingdings" panose="05000000000000000000" pitchFamily="2" charset="2"/>
              </a:rPr>
              <a:t>維運</a:t>
            </a:r>
            <a:r>
              <a:rPr lang="en-US" altLang="zh-TW" sz="1200" dirty="0">
                <a:sym typeface="Wingdings" panose="05000000000000000000" pitchFamily="2" charset="2"/>
              </a:rPr>
              <a:t>(HA</a:t>
            </a:r>
            <a:r>
              <a:rPr lang="zh-TW" altLang="en-US" sz="1200" dirty="0">
                <a:sym typeface="Wingdings" panose="05000000000000000000" pitchFamily="2" charset="2"/>
              </a:rPr>
              <a:t>運行</a:t>
            </a:r>
            <a:r>
              <a:rPr lang="en-US" altLang="zh-TW" sz="1200" dirty="0">
                <a:sym typeface="Wingdings" panose="05000000000000000000" pitchFamily="2" charset="2"/>
              </a:rPr>
              <a:t>/</a:t>
            </a:r>
            <a:r>
              <a:rPr lang="zh-TW" altLang="en-US" sz="1200" dirty="0">
                <a:sym typeface="Wingdings" panose="05000000000000000000" pitchFamily="2" charset="2"/>
              </a:rPr>
              <a:t>彈性擴展</a:t>
            </a:r>
            <a:r>
              <a:rPr lang="en-US" altLang="zh-TW" sz="1200" dirty="0">
                <a:sym typeface="Wingdings" panose="05000000000000000000" pitchFamily="2" charset="2"/>
              </a:rPr>
              <a:t>)</a:t>
            </a:r>
          </a:p>
          <a:p>
            <a:r>
              <a:rPr lang="en-US" altLang="zh-TW" sz="1200" dirty="0">
                <a:sym typeface="Wingdings" panose="05000000000000000000" pitchFamily="2" charset="2"/>
              </a:rPr>
              <a:t></a:t>
            </a:r>
            <a:r>
              <a:rPr lang="en-US" altLang="zh-TW" sz="1200" i="1" dirty="0">
                <a:sym typeface="Wingdings" panose="05000000000000000000" pitchFamily="2" charset="2"/>
              </a:rPr>
              <a:t>MicroK8S</a:t>
            </a:r>
          </a:p>
          <a:p>
            <a:r>
              <a:rPr lang="zh-TW" altLang="en-US" sz="1200" dirty="0"/>
              <a:t>維運</a:t>
            </a:r>
            <a:r>
              <a:rPr lang="en-US" altLang="zh-TW" sz="1200" dirty="0"/>
              <a:t>(Log</a:t>
            </a:r>
            <a:r>
              <a:rPr lang="zh-TW" altLang="en-US" sz="1200" dirty="0"/>
              <a:t>分析</a:t>
            </a:r>
            <a:r>
              <a:rPr lang="en-US" altLang="zh-TW" sz="1200" dirty="0"/>
              <a:t>/</a:t>
            </a:r>
            <a:r>
              <a:rPr lang="zh-TW" altLang="en-US" sz="1200" dirty="0"/>
              <a:t>監控設定</a:t>
            </a:r>
            <a:r>
              <a:rPr lang="en-US" altLang="zh-TW" sz="1200" dirty="0"/>
              <a:t>/</a:t>
            </a:r>
            <a:r>
              <a:rPr lang="zh-TW" altLang="en-US" sz="1200" dirty="0"/>
              <a:t>警報通知</a:t>
            </a:r>
            <a:r>
              <a:rPr lang="en-US" altLang="zh-TW" sz="1200" dirty="0"/>
              <a:t>)</a:t>
            </a:r>
          </a:p>
          <a:p>
            <a:r>
              <a:rPr lang="en-US" altLang="zh-TW" sz="1200" dirty="0">
                <a:sym typeface="Wingdings" panose="05000000000000000000" pitchFamily="2" charset="2"/>
              </a:rPr>
              <a:t></a:t>
            </a:r>
            <a:r>
              <a:rPr lang="en-US" altLang="zh-TW" sz="1200" i="1" dirty="0">
                <a:sym typeface="Wingdings" panose="05000000000000000000" pitchFamily="2" charset="2"/>
              </a:rPr>
              <a:t>PLG + Prometheus</a:t>
            </a:r>
          </a:p>
          <a:p>
            <a:r>
              <a:rPr lang="zh-TW" altLang="en-US" sz="1200" dirty="0">
                <a:sym typeface="Wingdings" panose="05000000000000000000" pitchFamily="2" charset="2"/>
              </a:rPr>
              <a:t>維運</a:t>
            </a:r>
            <a:r>
              <a:rPr lang="en-US" altLang="zh-TW" sz="1200" dirty="0">
                <a:sym typeface="Wingdings" panose="05000000000000000000" pitchFamily="2" charset="2"/>
              </a:rPr>
              <a:t>(</a:t>
            </a:r>
            <a:r>
              <a:rPr lang="zh-TW" altLang="en-US" sz="1200" dirty="0">
                <a:sym typeface="Wingdings" panose="05000000000000000000" pitchFamily="2" charset="2"/>
              </a:rPr>
              <a:t>備份還原</a:t>
            </a:r>
            <a:r>
              <a:rPr lang="en-US" altLang="zh-TW" sz="1200" dirty="0">
                <a:sym typeface="Wingdings" panose="05000000000000000000" pitchFamily="2" charset="2"/>
              </a:rPr>
              <a:t>)</a:t>
            </a:r>
          </a:p>
          <a:p>
            <a:r>
              <a:rPr lang="en-US" altLang="zh-TW" sz="1200" dirty="0">
                <a:sym typeface="Wingdings" panose="05000000000000000000" pitchFamily="2" charset="2"/>
              </a:rPr>
              <a:t>TBD</a:t>
            </a:r>
          </a:p>
        </p:txBody>
      </p:sp>
      <p:pic>
        <p:nvPicPr>
          <p:cNvPr id="23" name="Picture 8" descr="Monitoring AWS EKS and S3 with SkyWalkingThis article shows how to use  SkyWalking to monitor EKS and S3. | by Apache SkyWalking | Dev Genius">
            <a:extLst>
              <a:ext uri="{FF2B5EF4-FFF2-40B4-BE49-F238E27FC236}">
                <a16:creationId xmlns:a16="http://schemas.microsoft.com/office/drawing/2014/main" id="{B6D1D278-8D3D-02FE-D9B6-272CD95DD41D}"/>
              </a:ext>
            </a:extLst>
          </p:cNvPr>
          <p:cNvPicPr>
            <a:picLocks noChangeAspect="1" noChangeArrowheads="1"/>
          </p:cNvPicPr>
          <p:nvPr/>
        </p:nvPicPr>
        <p:blipFill rotWithShape="1">
          <a:blip r:embed="rId25">
            <a:clrChange>
              <a:clrFrom>
                <a:srgbClr val="FFFFFF"/>
              </a:clrFrom>
              <a:clrTo>
                <a:srgbClr val="FFFFFF">
                  <a:alpha val="0"/>
                </a:srgbClr>
              </a:clrTo>
            </a:clrChange>
            <a:extLst>
              <a:ext uri="{28A0092B-C50C-407E-A947-70E740481C1C}">
                <a14:useLocalDpi xmlns:a14="http://schemas.microsoft.com/office/drawing/2010/main" val="0"/>
              </a:ext>
            </a:extLst>
          </a:blip>
          <a:srcRect l="59715" t="29898" r="11616" b="17124"/>
          <a:stretch/>
        </p:blipFill>
        <p:spPr bwMode="auto">
          <a:xfrm>
            <a:off x="1127684" y="1217205"/>
            <a:ext cx="283037" cy="17598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JDBC Connector - Mule 3">
            <a:extLst>
              <a:ext uri="{FF2B5EF4-FFF2-40B4-BE49-F238E27FC236}">
                <a16:creationId xmlns:a16="http://schemas.microsoft.com/office/drawing/2014/main" id="{EA4D7285-91C6-6602-A215-DDC8AEEB1C5A}"/>
              </a:ext>
            </a:extLst>
          </p:cNvPr>
          <p:cNvPicPr>
            <a:picLocks noChangeAspect="1" noChangeArrowheads="1"/>
          </p:cNvPicPr>
          <p:nvPr/>
        </p:nvPicPr>
        <p:blipFill rotWithShape="1">
          <a:blip r:embed="rId26">
            <a:clrChange>
              <a:clrFrom>
                <a:srgbClr val="FFFFFF"/>
              </a:clrFrom>
              <a:clrTo>
                <a:srgbClr val="FFFFFF">
                  <a:alpha val="0"/>
                </a:srgbClr>
              </a:clrTo>
            </a:clrChange>
            <a:extLst>
              <a:ext uri="{28A0092B-C50C-407E-A947-70E740481C1C}">
                <a14:useLocalDpi xmlns:a14="http://schemas.microsoft.com/office/drawing/2010/main" val="0"/>
              </a:ext>
            </a:extLst>
          </a:blip>
          <a:srcRect l="21680" t="16735" r="21777" b="16502"/>
          <a:stretch/>
        </p:blipFill>
        <p:spPr bwMode="auto">
          <a:xfrm>
            <a:off x="6518213" y="3752354"/>
            <a:ext cx="267501" cy="31585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2" descr="When Is It Best To Use A RESTful API?">
            <a:extLst>
              <a:ext uri="{FF2B5EF4-FFF2-40B4-BE49-F238E27FC236}">
                <a16:creationId xmlns:a16="http://schemas.microsoft.com/office/drawing/2014/main" id="{1EBA5C98-1CEA-095C-1317-CC300F36CE50}"/>
              </a:ext>
            </a:extLst>
          </p:cNvPr>
          <p:cNvPicPr>
            <a:picLocks noChangeAspect="1" noChangeArrowheads="1"/>
          </p:cNvPicPr>
          <p:nvPr/>
        </p:nvPicPr>
        <p:blipFill rotWithShape="1">
          <a:blip r:embed="rId27">
            <a:clrChange>
              <a:clrFrom>
                <a:srgbClr val="FFFFFF"/>
              </a:clrFrom>
              <a:clrTo>
                <a:srgbClr val="FFFFFF">
                  <a:alpha val="0"/>
                </a:srgbClr>
              </a:clrTo>
            </a:clrChange>
            <a:duotone>
              <a:prstClr val="black"/>
              <a:schemeClr val="tx2">
                <a:tint val="45000"/>
                <a:satMod val="400000"/>
              </a:schemeClr>
            </a:duotone>
            <a:extLst>
              <a:ext uri="{BEBA8EAE-BF5A-486C-A8C5-ECC9F3942E4B}">
                <a14:imgProps xmlns:a14="http://schemas.microsoft.com/office/drawing/2010/main">
                  <a14:imgLayer r:embed="rId28">
                    <a14:imgEffect>
                      <a14:saturation sat="0"/>
                    </a14:imgEffect>
                  </a14:imgLayer>
                </a14:imgProps>
              </a:ext>
              <a:ext uri="{28A0092B-C50C-407E-A947-70E740481C1C}">
                <a14:useLocalDpi xmlns:a14="http://schemas.microsoft.com/office/drawing/2010/main" val="0"/>
              </a:ext>
            </a:extLst>
          </a:blip>
          <a:srcRect l="29723" t="10234" r="29738" b="10557"/>
          <a:stretch/>
        </p:blipFill>
        <p:spPr bwMode="auto">
          <a:xfrm>
            <a:off x="6818702" y="3647498"/>
            <a:ext cx="360328" cy="390153"/>
          </a:xfrm>
          <a:prstGeom prst="rect">
            <a:avLst/>
          </a:prstGeom>
          <a:noFill/>
          <a:extLst>
            <a:ext uri="{909E8E84-426E-40DD-AFC4-6F175D3DCCD1}">
              <a14:hiddenFill xmlns:a14="http://schemas.microsoft.com/office/drawing/2010/main">
                <a:solidFill>
                  <a:srgbClr val="FFFFFF"/>
                </a:solidFill>
              </a14:hiddenFill>
            </a:ext>
          </a:extLst>
        </p:spPr>
      </p:pic>
      <p:sp>
        <p:nvSpPr>
          <p:cNvPr id="25" name="文字方塊 24">
            <a:extLst>
              <a:ext uri="{FF2B5EF4-FFF2-40B4-BE49-F238E27FC236}">
                <a16:creationId xmlns:a16="http://schemas.microsoft.com/office/drawing/2014/main" id="{CE2DD349-3D8D-122C-5A44-054B6AF54508}"/>
              </a:ext>
            </a:extLst>
          </p:cNvPr>
          <p:cNvSpPr txBox="1"/>
          <p:nvPr/>
        </p:nvSpPr>
        <p:spPr>
          <a:xfrm>
            <a:off x="7502010" y="3527426"/>
            <a:ext cx="704039" cy="230832"/>
          </a:xfrm>
          <a:prstGeom prst="rect">
            <a:avLst/>
          </a:prstGeom>
          <a:noFill/>
        </p:spPr>
        <p:txBody>
          <a:bodyPr wrap="none" rtlCol="0">
            <a:spAutoFit/>
          </a:bodyPr>
          <a:lstStyle/>
          <a:p>
            <a:r>
              <a:rPr lang="en-US" altLang="zh-TW" sz="900" i="1" dirty="0"/>
              <a:t>(raw data)</a:t>
            </a:r>
            <a:endParaRPr lang="zh-TW" altLang="en-US" sz="900" i="1" dirty="0"/>
          </a:p>
        </p:txBody>
      </p:sp>
      <p:pic>
        <p:nvPicPr>
          <p:cNvPr id="30" name="Picture 8" descr="Monitoring AWS EKS and S3 with SkyWalkingThis article shows how to use  SkyWalking to monitor EKS and S3. | by Apache SkyWalking | Dev Genius">
            <a:extLst>
              <a:ext uri="{FF2B5EF4-FFF2-40B4-BE49-F238E27FC236}">
                <a16:creationId xmlns:a16="http://schemas.microsoft.com/office/drawing/2014/main" id="{256FD0D9-177E-EAFE-2412-CE74617E9F26}"/>
              </a:ext>
            </a:extLst>
          </p:cNvPr>
          <p:cNvPicPr>
            <a:picLocks noChangeAspect="1" noChangeArrowheads="1"/>
          </p:cNvPicPr>
          <p:nvPr/>
        </p:nvPicPr>
        <p:blipFill rotWithShape="1">
          <a:blip r:embed="rId25">
            <a:clrChange>
              <a:clrFrom>
                <a:srgbClr val="FFFFFF"/>
              </a:clrFrom>
              <a:clrTo>
                <a:srgbClr val="FFFFFF">
                  <a:alpha val="0"/>
                </a:srgbClr>
              </a:clrTo>
            </a:clrChange>
            <a:extLst>
              <a:ext uri="{28A0092B-C50C-407E-A947-70E740481C1C}">
                <a14:useLocalDpi xmlns:a14="http://schemas.microsoft.com/office/drawing/2010/main" val="0"/>
              </a:ext>
            </a:extLst>
          </a:blip>
          <a:srcRect l="59715" t="29898" r="11616" b="17124"/>
          <a:stretch/>
        </p:blipFill>
        <p:spPr bwMode="auto">
          <a:xfrm>
            <a:off x="7177001" y="3550068"/>
            <a:ext cx="380775" cy="23675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惊叹号图片免费下载_惊叹号素材_惊叹号海报-新图网">
            <a:extLst>
              <a:ext uri="{FF2B5EF4-FFF2-40B4-BE49-F238E27FC236}">
                <a16:creationId xmlns:a16="http://schemas.microsoft.com/office/drawing/2014/main" id="{7B5F1F5A-B601-F513-5C60-49FACC61C48E}"/>
              </a:ext>
            </a:extLst>
          </p:cNvPr>
          <p:cNvPicPr>
            <a:picLocks noChangeAspect="1" noChangeArrowheads="1"/>
          </p:cNvPicPr>
          <p:nvPr/>
        </p:nvPicPr>
        <p:blipFill rotWithShape="1">
          <a:blip r:embed="rId29">
            <a:clrChange>
              <a:clrFrom>
                <a:srgbClr val="F6F6F6"/>
              </a:clrFrom>
              <a:clrTo>
                <a:srgbClr val="F6F6F6">
                  <a:alpha val="0"/>
                </a:srgbClr>
              </a:clrTo>
            </a:clrChange>
            <a:extLst>
              <a:ext uri="{28A0092B-C50C-407E-A947-70E740481C1C}">
                <a14:useLocalDpi xmlns:a14="http://schemas.microsoft.com/office/drawing/2010/main" val="0"/>
              </a:ext>
            </a:extLst>
          </a:blip>
          <a:srcRect l="36734" t="6653" r="36736" b="10885"/>
          <a:stretch/>
        </p:blipFill>
        <p:spPr bwMode="auto">
          <a:xfrm>
            <a:off x="6977225" y="3701310"/>
            <a:ext cx="66800" cy="2076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6" descr="Kafka：大量數據搜集與應用的核心技術平台- AI與MarTech研究">
            <a:extLst>
              <a:ext uri="{FF2B5EF4-FFF2-40B4-BE49-F238E27FC236}">
                <a16:creationId xmlns:a16="http://schemas.microsoft.com/office/drawing/2014/main" id="{68657103-9E9D-F79B-BC6D-2724E099EB6E}"/>
              </a:ext>
            </a:extLst>
          </p:cNvPr>
          <p:cNvPicPr>
            <a:picLocks noChangeAspect="1" noChangeArrowheads="1"/>
          </p:cNvPicPr>
          <p:nvPr/>
        </p:nvPicPr>
        <p:blipFill rotWithShape="1">
          <a:blip r:embed="rId16">
            <a:clrChange>
              <a:clrFrom>
                <a:srgbClr val="FDFBFE"/>
              </a:clrFrom>
              <a:clrTo>
                <a:srgbClr val="FDFBFE">
                  <a:alpha val="0"/>
                </a:srgbClr>
              </a:clrTo>
            </a:clrChange>
            <a:extLst>
              <a:ext uri="{28A0092B-C50C-407E-A947-70E740481C1C}">
                <a14:useLocalDpi xmlns:a14="http://schemas.microsoft.com/office/drawing/2010/main" val="0"/>
              </a:ext>
            </a:extLst>
          </a:blip>
          <a:srcRect l="6077" t="13821" r="5614" b="13499"/>
          <a:stretch/>
        </p:blipFill>
        <p:spPr bwMode="auto">
          <a:xfrm>
            <a:off x="7192676" y="3815570"/>
            <a:ext cx="435868" cy="201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141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D9021C-1D7C-1DF3-2535-BA14BF3C2035}"/>
              </a:ext>
            </a:extLst>
          </p:cNvPr>
          <p:cNvSpPr>
            <a:spLocks noGrp="1"/>
          </p:cNvSpPr>
          <p:nvPr>
            <p:ph type="title"/>
          </p:nvPr>
        </p:nvSpPr>
        <p:spPr/>
        <p:txBody>
          <a:bodyPr/>
          <a:lstStyle/>
          <a:p>
            <a:r>
              <a:rPr lang="en-US" altLang="zh-TW" dirty="0"/>
              <a:t>Data Provider</a:t>
            </a:r>
            <a:r>
              <a:rPr lang="zh-TW" altLang="en-US" dirty="0"/>
              <a:t> </a:t>
            </a:r>
            <a:r>
              <a:rPr lang="en-US" altLang="zh-TW" dirty="0"/>
              <a:t>and Permission ( TBD )</a:t>
            </a:r>
            <a:endParaRPr lang="zh-TW" altLang="en-US" dirty="0"/>
          </a:p>
        </p:txBody>
      </p:sp>
      <p:graphicFrame>
        <p:nvGraphicFramePr>
          <p:cNvPr id="5" name="表格 4">
            <a:extLst>
              <a:ext uri="{FF2B5EF4-FFF2-40B4-BE49-F238E27FC236}">
                <a16:creationId xmlns:a16="http://schemas.microsoft.com/office/drawing/2014/main" id="{9EFAC117-F02A-B303-4D6D-951A7D20637B}"/>
              </a:ext>
            </a:extLst>
          </p:cNvPr>
          <p:cNvGraphicFramePr>
            <a:graphicFrameLocks noGrp="1"/>
          </p:cNvGraphicFramePr>
          <p:nvPr>
            <p:extLst>
              <p:ext uri="{D42A27DB-BD31-4B8C-83A1-F6EECF244321}">
                <p14:modId xmlns:p14="http://schemas.microsoft.com/office/powerpoint/2010/main" val="1491184229"/>
              </p:ext>
            </p:extLst>
          </p:nvPr>
        </p:nvGraphicFramePr>
        <p:xfrm>
          <a:off x="792482" y="3203485"/>
          <a:ext cx="10769599" cy="3325581"/>
        </p:xfrm>
        <a:graphic>
          <a:graphicData uri="http://schemas.openxmlformats.org/drawingml/2006/table">
            <a:tbl>
              <a:tblPr firstRow="1">
                <a:tableStyleId>{00A15C55-8517-42AA-B614-E9B94910E393}</a:tableStyleId>
              </a:tblPr>
              <a:tblGrid>
                <a:gridCol w="1328433">
                  <a:extLst>
                    <a:ext uri="{9D8B030D-6E8A-4147-A177-3AD203B41FA5}">
                      <a16:colId xmlns:a16="http://schemas.microsoft.com/office/drawing/2014/main" val="1016297071"/>
                    </a:ext>
                  </a:extLst>
                </a:gridCol>
                <a:gridCol w="940526">
                  <a:extLst>
                    <a:ext uri="{9D8B030D-6E8A-4147-A177-3AD203B41FA5}">
                      <a16:colId xmlns:a16="http://schemas.microsoft.com/office/drawing/2014/main" val="3131484638"/>
                    </a:ext>
                  </a:extLst>
                </a:gridCol>
                <a:gridCol w="3715281">
                  <a:extLst>
                    <a:ext uri="{9D8B030D-6E8A-4147-A177-3AD203B41FA5}">
                      <a16:colId xmlns:a16="http://schemas.microsoft.com/office/drawing/2014/main" val="242701227"/>
                    </a:ext>
                  </a:extLst>
                </a:gridCol>
                <a:gridCol w="4785359">
                  <a:extLst>
                    <a:ext uri="{9D8B030D-6E8A-4147-A177-3AD203B41FA5}">
                      <a16:colId xmlns:a16="http://schemas.microsoft.com/office/drawing/2014/main" val="2874557863"/>
                    </a:ext>
                  </a:extLst>
                </a:gridCol>
              </a:tblGrid>
              <a:tr h="373321">
                <a:tc>
                  <a:txBody>
                    <a:bodyPr/>
                    <a:lstStyle/>
                    <a:p>
                      <a:pPr marL="0" algn="l" defTabSz="914377" rtl="0" eaLnBrk="1" fontAlgn="ctr" latinLnBrk="0" hangingPunct="1"/>
                      <a:r>
                        <a:rPr lang="en-US" altLang="zh-TW" sz="1400" b="1" kern="1200" dirty="0">
                          <a:solidFill>
                            <a:srgbClr val="F0F3FB"/>
                          </a:solidFill>
                        </a:rPr>
                        <a:t>Role</a:t>
                      </a:r>
                      <a:endParaRPr lang="zh-TW" altLang="en-US" sz="1400" b="1" kern="1200" dirty="0">
                        <a:solidFill>
                          <a:srgbClr val="F0F3FB"/>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algn="l" defTabSz="914377" rtl="0" eaLnBrk="1" fontAlgn="ctr" latinLnBrk="0" hangingPunct="1"/>
                      <a:r>
                        <a:rPr lang="en-US" altLang="zh-TW" sz="1400" b="1" kern="1200" dirty="0">
                          <a:solidFill>
                            <a:srgbClr val="F0F3FB"/>
                          </a:solidFill>
                        </a:rPr>
                        <a:t>Permissions</a:t>
                      </a:r>
                      <a:endParaRPr lang="zh-TW" altLang="en-US" sz="1400" b="1" kern="1200" dirty="0">
                        <a:solidFill>
                          <a:srgbClr val="F0F3FB"/>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a:txBody>
                    <a:bodyPr/>
                    <a:lstStyle/>
                    <a:p>
                      <a:pPr marL="0" algn="l" defTabSz="914377" rtl="0" eaLnBrk="1" fontAlgn="ctr" latinLnBrk="0" hangingPunct="1"/>
                      <a:r>
                        <a:rPr lang="en-US" altLang="zh-TW" sz="1400" b="1" kern="1200" dirty="0">
                          <a:solidFill>
                            <a:srgbClr val="F0F3FB"/>
                          </a:solidFill>
                          <a:latin typeface="+mn-lt"/>
                          <a:ea typeface="+mn-ea"/>
                          <a:cs typeface="+mn-cs"/>
                        </a:rPr>
                        <a:t>Purpose</a:t>
                      </a:r>
                      <a:endParaRPr lang="zh-TW" altLang="en-US" sz="1400" b="1" kern="1200" dirty="0">
                        <a:solidFill>
                          <a:srgbClr val="F0F3FB"/>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2509183"/>
                  </a:ext>
                </a:extLst>
              </a:tr>
              <a:tr h="590452">
                <a:tc>
                  <a:txBody>
                    <a:bodyPr/>
                    <a:lstStyle/>
                    <a:p>
                      <a:pPr marL="0" algn="ctr" defTabSz="914377" rtl="0" eaLnBrk="1" fontAlgn="ctr" latinLnBrk="0" hangingPunct="1"/>
                      <a:r>
                        <a:rPr lang="en-US" sz="1400" b="1" kern="1200" dirty="0">
                          <a:solidFill>
                            <a:schemeClr val="tx1"/>
                          </a:solidFill>
                        </a:rPr>
                        <a:t>Admin</a:t>
                      </a:r>
                      <a:endParaRPr 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algn="l" defTabSz="914377" rtl="0" eaLnBrk="1" fontAlgn="ctr" latinLnBrk="0" hangingPunct="1"/>
                      <a:r>
                        <a:rPr lang="en-US" altLang="zh-TW" sz="1400" b="1" kern="1200" dirty="0">
                          <a:solidFill>
                            <a:schemeClr val="tx1"/>
                          </a:solidFill>
                        </a:rPr>
                        <a:t>Schema </a:t>
                      </a:r>
                      <a:r>
                        <a:rPr lang="en-US" altLang="zh-TW" sz="1400" b="1" kern="1200" dirty="0" err="1">
                          <a:solidFill>
                            <a:schemeClr val="tx1"/>
                          </a:solidFill>
                        </a:rPr>
                        <a:t>CRU、Role</a:t>
                      </a:r>
                      <a:r>
                        <a:rPr lang="en-US" altLang="zh-TW" sz="1400" b="1" kern="1200" dirty="0">
                          <a:solidFill>
                            <a:schemeClr val="tx1"/>
                          </a:solidFill>
                        </a:rPr>
                        <a:t> Permission</a:t>
                      </a:r>
                      <a:endParaRPr 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a:txBody>
                    <a:bodyPr/>
                    <a:lstStyle/>
                    <a:p>
                      <a:pPr marL="0" algn="l" defTabSz="914377" rtl="0" eaLnBrk="1" fontAlgn="ctr" latinLnBrk="0" hangingPunct="1"/>
                      <a:r>
                        <a:rPr lang="zh-TW" altLang="en-US" sz="1400" b="1" kern="1200" dirty="0">
                          <a:solidFill>
                            <a:schemeClr val="tx1"/>
                          </a:solidFill>
                        </a:rPr>
                        <a:t>數據架構規劃</a:t>
                      </a:r>
                      <a:r>
                        <a:rPr lang="en-US" altLang="zh-TW" sz="1400" b="1" kern="1200" dirty="0">
                          <a:solidFill>
                            <a:schemeClr val="tx1"/>
                          </a:solidFill>
                        </a:rPr>
                        <a:t>、</a:t>
                      </a:r>
                      <a:r>
                        <a:rPr lang="zh-TW" altLang="en-US" sz="1400" b="1" kern="1200" dirty="0">
                          <a:solidFill>
                            <a:schemeClr val="tx1"/>
                          </a:solidFill>
                        </a:rPr>
                        <a:t>系統管理</a:t>
                      </a:r>
                      <a:endParaRPr lang="zh-TW" alt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906118"/>
                  </a:ext>
                </a:extLst>
              </a:tr>
              <a:tr h="590452">
                <a:tc>
                  <a:txBody>
                    <a:bodyPr/>
                    <a:lstStyle/>
                    <a:p>
                      <a:pPr marL="0" algn="ctr" defTabSz="914377" rtl="0" eaLnBrk="1" fontAlgn="ctr" latinLnBrk="0" hangingPunct="1"/>
                      <a:r>
                        <a:rPr lang="en-US" sz="1400" b="1" kern="1200">
                          <a:solidFill>
                            <a:schemeClr val="tx1"/>
                          </a:solidFill>
                        </a:rPr>
                        <a:t>Data Engineer</a:t>
                      </a:r>
                      <a:endParaRPr lang="en-US" sz="1400" b="1" kern="120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algn="l" defTabSz="914377" rtl="0" eaLnBrk="1" fontAlgn="ctr" latinLnBrk="0" hangingPunct="1"/>
                      <a:r>
                        <a:rPr lang="zh-TW" altLang="en-US" sz="1400" b="1" kern="1200" dirty="0">
                          <a:solidFill>
                            <a:schemeClr val="tx1"/>
                          </a:solidFill>
                        </a:rPr>
                        <a:t> </a:t>
                      </a:r>
                      <a:r>
                        <a:rPr lang="en-US" altLang="zh-TW" sz="1400" b="1" kern="1200" dirty="0">
                          <a:solidFill>
                            <a:schemeClr val="tx1"/>
                          </a:solidFill>
                        </a:rPr>
                        <a:t>Data CRUD</a:t>
                      </a:r>
                      <a:endParaRPr 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a:txBody>
                    <a:bodyPr/>
                    <a:lstStyle/>
                    <a:p>
                      <a:pPr marL="0" algn="l" defTabSz="914377" rtl="0" eaLnBrk="1" fontAlgn="ctr" latinLnBrk="0" hangingPunct="1"/>
                      <a:r>
                        <a:rPr lang="zh-TW" altLang="en-US" sz="1400" b="1" kern="1200" dirty="0">
                          <a:solidFill>
                            <a:schemeClr val="tx1"/>
                          </a:solidFill>
                        </a:rPr>
                        <a:t>數據應用工程開發</a:t>
                      </a:r>
                      <a:endParaRPr lang="zh-TW" altLang="en-US" sz="1400" dirty="0"/>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0598826"/>
                  </a:ext>
                </a:extLst>
              </a:tr>
              <a:tr h="590452">
                <a:tc rowSpan="3">
                  <a:txBody>
                    <a:bodyPr/>
                    <a:lstStyle/>
                    <a:p>
                      <a:pPr marL="0" algn="ctr" defTabSz="914377" rtl="0" eaLnBrk="1" fontAlgn="ctr" latinLnBrk="0" hangingPunct="1"/>
                      <a:r>
                        <a:rPr lang="en-US" sz="1400" b="1" kern="1200" dirty="0">
                          <a:solidFill>
                            <a:schemeClr val="tx1"/>
                          </a:solidFill>
                        </a:rPr>
                        <a:t>Data Consumer</a:t>
                      </a:r>
                    </a:p>
                    <a:p>
                      <a:pPr marL="0" algn="ctr" defTabSz="914377" rtl="0" eaLnBrk="1" fontAlgn="ctr" latinLnBrk="0" hangingPunct="1"/>
                      <a:r>
                        <a:rPr lang="en-US" sz="1400" b="1" kern="1200" dirty="0">
                          <a:solidFill>
                            <a:schemeClr val="tx1"/>
                          </a:solidFill>
                          <a:latin typeface="+mn-lt"/>
                          <a:ea typeface="+mn-ea"/>
                          <a:cs typeface="+mn-cs"/>
                        </a:rPr>
                        <a:t>(DataMart/DW)</a:t>
                      </a: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77" rtl="0" eaLnBrk="1" fontAlgn="ctr" latinLnBrk="0" hangingPunct="1"/>
                      <a:r>
                        <a:rPr lang="en-US" sz="1400" b="1" kern="1200">
                          <a:solidFill>
                            <a:schemeClr val="tx1"/>
                          </a:solidFill>
                        </a:rPr>
                        <a:t>Tier 1</a:t>
                      </a:r>
                      <a:endParaRPr lang="en-US" sz="1400" b="1" kern="120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77" rtl="0" eaLnBrk="1" fontAlgn="ctr" latinLnBrk="0" hangingPunct="1"/>
                      <a:r>
                        <a:rPr lang="en-US" altLang="zh-TW" sz="1400" b="1" kern="1200" dirty="0">
                          <a:solidFill>
                            <a:schemeClr val="tx1"/>
                          </a:solidFill>
                        </a:rPr>
                        <a:t>20+ </a:t>
                      </a:r>
                      <a:r>
                        <a:rPr lang="en-US" sz="1400" b="1" kern="1200" dirty="0">
                          <a:solidFill>
                            <a:schemeClr val="tx1"/>
                          </a:solidFill>
                        </a:rPr>
                        <a:t>database(or tables)</a:t>
                      </a:r>
                      <a:r>
                        <a:rPr lang="zh-TW" altLang="en-US" sz="1400" b="1" kern="1200" dirty="0">
                          <a:solidFill>
                            <a:schemeClr val="tx1"/>
                          </a:solidFill>
                        </a:rPr>
                        <a:t> </a:t>
                      </a:r>
                      <a:r>
                        <a:rPr lang="en-US" altLang="zh-TW" sz="1400" b="1" kern="1200" dirty="0">
                          <a:solidFill>
                            <a:schemeClr val="tx1"/>
                          </a:solidFill>
                        </a:rPr>
                        <a:t>(</a:t>
                      </a:r>
                      <a:r>
                        <a:rPr lang="en-US" sz="1400" b="1" kern="1200" dirty="0">
                          <a:solidFill>
                            <a:schemeClr val="tx1"/>
                          </a:solidFill>
                        </a:rPr>
                        <a:t>R)</a:t>
                      </a:r>
                      <a:endParaRPr lang="zh-TW" alt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77" rtl="0" eaLnBrk="1" fontAlgn="ctr" latinLnBrk="0" hangingPunct="1"/>
                      <a:r>
                        <a:rPr lang="zh-TW" altLang="en-US" sz="1400" b="1" kern="1200" dirty="0">
                          <a:solidFill>
                            <a:schemeClr val="tx1"/>
                          </a:solidFill>
                        </a:rPr>
                        <a:t>高階分析 </a:t>
                      </a:r>
                      <a:r>
                        <a:rPr lang="en-US" altLang="zh-TW" sz="1400" b="1" kern="1200" dirty="0">
                          <a:solidFill>
                            <a:schemeClr val="tx1"/>
                          </a:solidFill>
                        </a:rPr>
                        <a:t>/ </a:t>
                      </a:r>
                      <a:r>
                        <a:rPr lang="zh-TW" altLang="en-US" sz="1400" b="1" kern="1200" dirty="0">
                          <a:solidFill>
                            <a:schemeClr val="tx1"/>
                          </a:solidFill>
                        </a:rPr>
                        <a:t>系統平台</a:t>
                      </a:r>
                      <a:endParaRPr lang="zh-TW" alt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625664"/>
                  </a:ext>
                </a:extLst>
              </a:tr>
              <a:tr h="590452">
                <a:tc vMerge="1">
                  <a:txBody>
                    <a:bodyPr/>
                    <a:lstStyle/>
                    <a:p>
                      <a:endParaRPr lang="zh-TW" altLang="en-US"/>
                    </a:p>
                  </a:txBody>
                  <a:tcPr/>
                </a:tc>
                <a:tc>
                  <a:txBody>
                    <a:bodyPr/>
                    <a:lstStyle/>
                    <a:p>
                      <a:pPr marL="0" algn="l" defTabSz="914377" rtl="0" eaLnBrk="1" fontAlgn="ctr" latinLnBrk="0" hangingPunct="1"/>
                      <a:r>
                        <a:rPr lang="en-US" sz="1400" b="1" kern="1200">
                          <a:solidFill>
                            <a:schemeClr val="tx1"/>
                          </a:solidFill>
                        </a:rPr>
                        <a:t>Tier 2</a:t>
                      </a:r>
                      <a:endParaRPr lang="en-US" sz="1400" b="1" kern="120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77" rtl="0" eaLnBrk="1" fontAlgn="ctr" latinLnBrk="0" hangingPunct="1"/>
                      <a:r>
                        <a:rPr lang="en-US" altLang="zh-TW" sz="1400" b="1" kern="1200" dirty="0">
                          <a:solidFill>
                            <a:schemeClr val="tx1"/>
                          </a:solidFill>
                        </a:rPr>
                        <a:t>10+ database(or tables)</a:t>
                      </a:r>
                      <a:r>
                        <a:rPr lang="zh-TW" altLang="en-US" sz="1400" b="1" kern="1200" dirty="0">
                          <a:solidFill>
                            <a:schemeClr val="tx1"/>
                          </a:solidFill>
                        </a:rPr>
                        <a:t> </a:t>
                      </a:r>
                      <a:r>
                        <a:rPr lang="en-US" altLang="zh-TW" sz="1400" b="1" kern="1200" dirty="0">
                          <a:solidFill>
                            <a:schemeClr val="tx1"/>
                          </a:solidFill>
                        </a:rPr>
                        <a:t>(R)</a:t>
                      </a:r>
                      <a:endParaRPr lang="zh-TW" alt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77" rtl="0" eaLnBrk="1" fontAlgn="ctr" latinLnBrk="0" hangingPunct="1"/>
                      <a:r>
                        <a:rPr lang="zh-TW" altLang="en-US" sz="1400" b="1" kern="1200" dirty="0">
                          <a:solidFill>
                            <a:schemeClr val="tx1"/>
                          </a:solidFill>
                          <a:latin typeface="+mn-lt"/>
                          <a:ea typeface="+mn-ea"/>
                          <a:cs typeface="+mn-cs"/>
                        </a:rPr>
                        <a:t>進階數據分析</a:t>
                      </a: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1961242"/>
                  </a:ext>
                </a:extLst>
              </a:tr>
              <a:tr h="590452">
                <a:tc vMerge="1">
                  <a:txBody>
                    <a:bodyPr/>
                    <a:lstStyle/>
                    <a:p>
                      <a:endParaRPr lang="zh-TW" altLang="en-US"/>
                    </a:p>
                  </a:txBody>
                  <a:tcPr/>
                </a:tc>
                <a:tc>
                  <a:txBody>
                    <a:bodyPr/>
                    <a:lstStyle/>
                    <a:p>
                      <a:pPr marL="0" algn="l" defTabSz="914377" rtl="0" eaLnBrk="1" fontAlgn="ctr" latinLnBrk="0" hangingPunct="1"/>
                      <a:r>
                        <a:rPr lang="en-US" sz="1400" b="1" kern="1200">
                          <a:solidFill>
                            <a:schemeClr val="tx1"/>
                          </a:solidFill>
                        </a:rPr>
                        <a:t>Tier 3</a:t>
                      </a:r>
                      <a:endParaRPr lang="en-US" sz="1400" b="1" kern="120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77" rtl="0" eaLnBrk="1" fontAlgn="ctr" latinLnBrk="0" hangingPunct="1"/>
                      <a:r>
                        <a:rPr lang="en-US" altLang="zh-TW" sz="1400" b="1" kern="1200" dirty="0">
                          <a:solidFill>
                            <a:schemeClr val="tx1"/>
                          </a:solidFill>
                        </a:rPr>
                        <a:t>5+ database(or tables)</a:t>
                      </a:r>
                      <a:r>
                        <a:rPr lang="zh-TW" altLang="en-US" sz="1400" b="1" kern="1200" dirty="0">
                          <a:solidFill>
                            <a:schemeClr val="tx1"/>
                          </a:solidFill>
                        </a:rPr>
                        <a:t> </a:t>
                      </a:r>
                      <a:r>
                        <a:rPr lang="en-US" altLang="zh-TW" sz="1400" b="1" kern="1200" dirty="0">
                          <a:solidFill>
                            <a:schemeClr val="tx1"/>
                          </a:solidFill>
                        </a:rPr>
                        <a:t>(R)</a:t>
                      </a:r>
                      <a:endParaRPr lang="zh-TW" alt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77" rtl="0" eaLnBrk="1" fontAlgn="ctr" latinLnBrk="0" hangingPunct="1"/>
                      <a:r>
                        <a:rPr lang="zh-TW" altLang="en-US" sz="1400" b="1" kern="1200" dirty="0">
                          <a:solidFill>
                            <a:schemeClr val="tx1"/>
                          </a:solidFill>
                        </a:rPr>
                        <a:t>一般數據使用</a:t>
                      </a:r>
                      <a:endParaRPr lang="zh-TW" altLang="en-US" sz="1400" b="1" kern="1200" dirty="0">
                        <a:solidFill>
                          <a:schemeClr val="tx1"/>
                        </a:solidFill>
                        <a:latin typeface="+mn-lt"/>
                        <a:ea typeface="+mn-ea"/>
                        <a:cs typeface="+mn-cs"/>
                      </a:endParaRPr>
                    </a:p>
                  </a:txBody>
                  <a:tcPr marL="7200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8996821"/>
                  </a:ext>
                </a:extLst>
              </a:tr>
            </a:tbl>
          </a:graphicData>
        </a:graphic>
      </p:graphicFrame>
      <p:graphicFrame>
        <p:nvGraphicFramePr>
          <p:cNvPr id="6" name="表格 5">
            <a:extLst>
              <a:ext uri="{FF2B5EF4-FFF2-40B4-BE49-F238E27FC236}">
                <a16:creationId xmlns:a16="http://schemas.microsoft.com/office/drawing/2014/main" id="{AB04E787-1A86-B3B3-69B8-064876C5FEB6}"/>
              </a:ext>
            </a:extLst>
          </p:cNvPr>
          <p:cNvGraphicFramePr>
            <a:graphicFrameLocks noGrp="1"/>
          </p:cNvGraphicFramePr>
          <p:nvPr>
            <p:extLst>
              <p:ext uri="{D42A27DB-BD31-4B8C-83A1-F6EECF244321}">
                <p14:modId xmlns:p14="http://schemas.microsoft.com/office/powerpoint/2010/main" val="2091158520"/>
              </p:ext>
            </p:extLst>
          </p:nvPr>
        </p:nvGraphicFramePr>
        <p:xfrm>
          <a:off x="792482" y="628568"/>
          <a:ext cx="10769601" cy="2286000"/>
        </p:xfrm>
        <a:graphic>
          <a:graphicData uri="http://schemas.openxmlformats.org/drawingml/2006/table">
            <a:tbl>
              <a:tblPr firstRow="1" bandRow="1">
                <a:tableStyleId>{5C22544A-7EE6-4342-B048-85BDC9FD1C3A}</a:tableStyleId>
              </a:tblPr>
              <a:tblGrid>
                <a:gridCol w="1168400">
                  <a:extLst>
                    <a:ext uri="{9D8B030D-6E8A-4147-A177-3AD203B41FA5}">
                      <a16:colId xmlns:a16="http://schemas.microsoft.com/office/drawing/2014/main" val="3025360353"/>
                    </a:ext>
                  </a:extLst>
                </a:gridCol>
                <a:gridCol w="1778000">
                  <a:extLst>
                    <a:ext uri="{9D8B030D-6E8A-4147-A177-3AD203B41FA5}">
                      <a16:colId xmlns:a16="http://schemas.microsoft.com/office/drawing/2014/main" val="3265356273"/>
                    </a:ext>
                  </a:extLst>
                </a:gridCol>
                <a:gridCol w="1371600">
                  <a:extLst>
                    <a:ext uri="{9D8B030D-6E8A-4147-A177-3AD203B41FA5}">
                      <a16:colId xmlns:a16="http://schemas.microsoft.com/office/drawing/2014/main" val="258824821"/>
                    </a:ext>
                  </a:extLst>
                </a:gridCol>
                <a:gridCol w="3545840">
                  <a:extLst>
                    <a:ext uri="{9D8B030D-6E8A-4147-A177-3AD203B41FA5}">
                      <a16:colId xmlns:a16="http://schemas.microsoft.com/office/drawing/2014/main" val="3474739036"/>
                    </a:ext>
                  </a:extLst>
                </a:gridCol>
                <a:gridCol w="2905761">
                  <a:extLst>
                    <a:ext uri="{9D8B030D-6E8A-4147-A177-3AD203B41FA5}">
                      <a16:colId xmlns:a16="http://schemas.microsoft.com/office/drawing/2014/main" val="1588072115"/>
                    </a:ext>
                  </a:extLst>
                </a:gridCol>
              </a:tblGrid>
              <a:tr h="370840">
                <a:tc>
                  <a:txBody>
                    <a:bodyPr/>
                    <a:lstStyle/>
                    <a:p>
                      <a:r>
                        <a:rPr lang="en-US" altLang="zh-TW" sz="1200" dirty="0"/>
                        <a:t>Usage Type</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Data Type</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MFG DP</a:t>
                      </a:r>
                      <a:r>
                        <a:rPr lang="zh-TW" altLang="en-US" sz="1200" dirty="0"/>
                        <a:t> </a:t>
                      </a:r>
                      <a:r>
                        <a:rPr lang="en-US" altLang="zh-TW" sz="1200" dirty="0"/>
                        <a:t>Solution</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Data Provider</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Data Permission</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672621"/>
                  </a:ext>
                </a:extLst>
              </a:tr>
              <a:tr h="370840">
                <a:tc>
                  <a:txBody>
                    <a:bodyPr/>
                    <a:lstStyle/>
                    <a:p>
                      <a:r>
                        <a:rPr lang="en-US" altLang="zh-TW" sz="1200" dirty="0"/>
                        <a:t>DMP / BI /</a:t>
                      </a:r>
                      <a:r>
                        <a:rPr lang="zh-TW" altLang="en-US" sz="1200" dirty="0"/>
                        <a:t> </a:t>
                      </a:r>
                      <a:r>
                        <a:rPr lang="en-US" altLang="zh-TW" sz="1200" dirty="0"/>
                        <a:t>Dashboard</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Batch / DataMart / DW / Ref.</a:t>
                      </a:r>
                      <a:r>
                        <a:rPr lang="zh-TW" altLang="en-US" sz="1200" dirty="0"/>
                        <a:t> </a:t>
                      </a:r>
                      <a:r>
                        <a:rPr lang="en-US" altLang="zh-TW" sz="1200" dirty="0"/>
                        <a:t>Master Data</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Apache Doris</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JDBC/ODBC ( MySQL)</a:t>
                      </a:r>
                      <a:r>
                        <a:rPr lang="zh-TW" altLang="en-US" sz="1200" dirty="0"/>
                        <a:t>、</a:t>
                      </a:r>
                      <a:r>
                        <a:rPr lang="en-US" altLang="zh-TW" sz="1200" dirty="0"/>
                        <a:t>Restful API</a:t>
                      </a:r>
                      <a:r>
                        <a:rPr lang="en-US" altLang="zh-TW" sz="1200" baseline="30000" dirty="0"/>
                        <a:t>(1)</a:t>
                      </a:r>
                      <a:endParaRPr lang="zh-TW" altLang="en-US" sz="1200" baseline="30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By Role ( Table / Row )</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8239497"/>
                  </a:ext>
                </a:extLst>
              </a:tr>
              <a:tr h="370840">
                <a:tc>
                  <a:txBody>
                    <a:bodyPr/>
                    <a:lstStyle/>
                    <a:p>
                      <a:r>
                        <a:rPr lang="en-US" altLang="zh-TW" sz="1200" dirty="0"/>
                        <a:t>Real-time Alert</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Stream / Real Time</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KSQL / TBD</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TW" sz="1200" dirty="0"/>
                        <a:t>Kafka</a:t>
                      </a:r>
                      <a:r>
                        <a:rPr lang="zh-TW" altLang="en-US" sz="1200" dirty="0"/>
                        <a:t>、</a:t>
                      </a:r>
                      <a:r>
                        <a:rPr lang="en-US" altLang="zh-TW" sz="1200" dirty="0"/>
                        <a:t>DB</a:t>
                      </a:r>
                      <a:r>
                        <a:rPr lang="zh-TW" altLang="en-US" sz="1200" dirty="0"/>
                        <a:t> </a:t>
                      </a:r>
                      <a:r>
                        <a:rPr lang="en-US" altLang="zh-TW" sz="1200" dirty="0"/>
                        <a:t>Protocol (TBD)</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TW" sz="1200" dirty="0"/>
                        <a:t>TBD</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2452667"/>
                  </a:ext>
                </a:extLst>
              </a:tr>
              <a:tr h="370840">
                <a:tc>
                  <a:txBody>
                    <a:bodyPr/>
                    <a:lstStyle/>
                    <a:p>
                      <a:r>
                        <a:rPr lang="en-US" altLang="zh-TW" sz="1200" dirty="0"/>
                        <a:t>Data Analysis / AI / ETL</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Big Data</a:t>
                      </a:r>
                      <a:r>
                        <a:rPr lang="zh-TW" altLang="en-US" sz="1200" dirty="0"/>
                        <a:t> </a:t>
                      </a:r>
                      <a:r>
                        <a:rPr lang="en-US" altLang="zh-TW" sz="1200" dirty="0"/>
                        <a:t>/ ODS</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Apache Hudi</a:t>
                      </a:r>
                      <a:r>
                        <a:rPr lang="en-US" altLang="zh-TW" sz="1200" baseline="30000" dirty="0"/>
                        <a:t>(2)</a:t>
                      </a:r>
                      <a:endParaRPr lang="zh-TW" altLang="en-US" sz="1200" baseline="30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JDBC/ODBC ( Via Doris)</a:t>
                      </a:r>
                      <a:r>
                        <a:rPr lang="zh-TW" altLang="en-US" sz="1200" dirty="0"/>
                        <a:t> 、</a:t>
                      </a:r>
                      <a:r>
                        <a:rPr lang="en-US" altLang="zh-TW" sz="1200" dirty="0"/>
                        <a:t>JDBC (Hive2)</a:t>
                      </a:r>
                      <a:r>
                        <a:rPr lang="zh-TW" altLang="en-US" sz="1200" dirty="0"/>
                        <a:t>、</a:t>
                      </a:r>
                      <a:r>
                        <a:rPr lang="en-US" altLang="zh-TW" sz="1200" dirty="0"/>
                        <a:t>Hive SQL</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By bucket 3 layers ( Factory</a:t>
                      </a:r>
                      <a:r>
                        <a:rPr lang="zh-TW" altLang="en-US" sz="1200" dirty="0"/>
                        <a:t> </a:t>
                      </a:r>
                      <a:r>
                        <a:rPr lang="en-US" altLang="zh-TW" sz="1200" dirty="0"/>
                        <a:t>/</a:t>
                      </a:r>
                      <a:r>
                        <a:rPr lang="zh-TW" altLang="en-US" sz="1200" dirty="0"/>
                        <a:t> </a:t>
                      </a:r>
                      <a:r>
                        <a:rPr lang="en-US" altLang="zh-TW" sz="1200" dirty="0"/>
                        <a:t>Type</a:t>
                      </a:r>
                      <a:r>
                        <a:rPr lang="zh-TW" altLang="en-US" sz="1200" dirty="0"/>
                        <a:t> </a:t>
                      </a:r>
                      <a:r>
                        <a:rPr lang="en-US" altLang="zh-TW" sz="1200" dirty="0"/>
                        <a:t>/</a:t>
                      </a:r>
                      <a:r>
                        <a:rPr lang="zh-TW" altLang="en-US" sz="1200" dirty="0"/>
                        <a:t> </a:t>
                      </a:r>
                      <a:r>
                        <a:rPr lang="en-US" altLang="zh-TW" sz="1200" dirty="0"/>
                        <a:t>Processed)</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8669810"/>
                  </a:ext>
                </a:extLst>
              </a:tr>
              <a:tr h="370840">
                <a:tc>
                  <a:txBody>
                    <a:bodyPr/>
                    <a:lstStyle/>
                    <a:p>
                      <a:r>
                        <a:rPr lang="en-US" altLang="zh-TW" sz="1200" dirty="0"/>
                        <a:t>AI / His. Storage</a:t>
                      </a:r>
                      <a:r>
                        <a:rPr lang="zh-TW" altLang="en-US" sz="1200" dirty="0"/>
                        <a:t> </a:t>
                      </a:r>
                      <a:r>
                        <a:rPr lang="en-US" altLang="zh-TW" sz="1200" dirty="0"/>
                        <a:t>/</a:t>
                      </a:r>
                      <a:r>
                        <a:rPr lang="zh-TW" altLang="en-US" sz="1200" dirty="0"/>
                        <a:t> </a:t>
                      </a:r>
                      <a:r>
                        <a:rPr lang="en-US" altLang="zh-TW" sz="1200" dirty="0"/>
                        <a:t>ETL</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Raw Data (File)</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S3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S3 Protocol</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200" dirty="0"/>
                        <a:t>By bucket ( TBD )</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6712749"/>
                  </a:ext>
                </a:extLst>
              </a:tr>
            </a:tbl>
          </a:graphicData>
        </a:graphic>
      </p:graphicFrame>
      <p:sp>
        <p:nvSpPr>
          <p:cNvPr id="7" name="文字方塊 6">
            <a:extLst>
              <a:ext uri="{FF2B5EF4-FFF2-40B4-BE49-F238E27FC236}">
                <a16:creationId xmlns:a16="http://schemas.microsoft.com/office/drawing/2014/main" id="{6C5B18E1-0F71-D8AF-E18E-197A7E06074B}"/>
              </a:ext>
            </a:extLst>
          </p:cNvPr>
          <p:cNvSpPr txBox="1"/>
          <p:nvPr/>
        </p:nvSpPr>
        <p:spPr>
          <a:xfrm>
            <a:off x="8693536" y="2889750"/>
            <a:ext cx="3081293" cy="338554"/>
          </a:xfrm>
          <a:prstGeom prst="rect">
            <a:avLst/>
          </a:prstGeom>
          <a:noFill/>
        </p:spPr>
        <p:txBody>
          <a:bodyPr wrap="none" rtlCol="0">
            <a:spAutoFit/>
          </a:bodyPr>
          <a:lstStyle/>
          <a:p>
            <a:pPr marL="228600" indent="-228600">
              <a:buAutoNum type="arabicParenBoth"/>
            </a:pPr>
            <a:r>
              <a:rPr lang="en-US" altLang="zh-TW" sz="800" dirty="0"/>
              <a:t>Via Cube.js </a:t>
            </a:r>
            <a:r>
              <a:rPr lang="en-US" altLang="zh-TW" sz="800" dirty="0">
                <a:sym typeface="Wingdings" panose="05000000000000000000" pitchFamily="2" charset="2"/>
              </a:rPr>
              <a:t>Poor</a:t>
            </a:r>
            <a:r>
              <a:rPr lang="zh-TW" altLang="en-US" sz="800" dirty="0"/>
              <a:t> </a:t>
            </a:r>
            <a:r>
              <a:rPr lang="en-US" altLang="zh-TW" sz="800" dirty="0"/>
              <a:t>Data Permission / Data Size &lt; 500 MB</a:t>
            </a:r>
          </a:p>
          <a:p>
            <a:pPr marL="228600" indent="-228600">
              <a:buAutoNum type="arabicParenBoth"/>
            </a:pPr>
            <a:r>
              <a:rPr lang="en-US" altLang="zh-TW" sz="800" dirty="0"/>
              <a:t>Corp DG Team Selected</a:t>
            </a:r>
            <a:endParaRPr lang="zh-TW" altLang="en-US" sz="800" dirty="0"/>
          </a:p>
        </p:txBody>
      </p:sp>
    </p:spTree>
    <p:extLst>
      <p:ext uri="{BB962C8B-B14F-4D97-AF65-F5344CB8AC3E}">
        <p14:creationId xmlns:p14="http://schemas.microsoft.com/office/powerpoint/2010/main" val="3273990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Apache DolphinScheduler (@dolphinschedule) / X">
            <a:extLst>
              <a:ext uri="{FF2B5EF4-FFF2-40B4-BE49-F238E27FC236}">
                <a16:creationId xmlns:a16="http://schemas.microsoft.com/office/drawing/2014/main" id="{8EA99D8C-C9FF-5096-A7D8-7A293337B982}"/>
              </a:ext>
            </a:extLst>
          </p:cNvPr>
          <p:cNvPicPr>
            <a:picLocks noChangeAspect="1" noChangeArrowheads="1"/>
          </p:cNvPicPr>
          <p:nvPr/>
        </p:nvPicPr>
        <p:blipFill>
          <a:blip r:embed="rId2">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2332725" y="1839992"/>
            <a:ext cx="812153" cy="81215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Apache SeaTunnel – Medium">
            <a:extLst>
              <a:ext uri="{FF2B5EF4-FFF2-40B4-BE49-F238E27FC236}">
                <a16:creationId xmlns:a16="http://schemas.microsoft.com/office/drawing/2014/main" id="{476BCB30-3F42-9922-2AF4-D1C80BFF73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763" t="6445" r="15327" b="21201"/>
          <a:stretch/>
        </p:blipFill>
        <p:spPr bwMode="auto">
          <a:xfrm>
            <a:off x="5532060" y="3636626"/>
            <a:ext cx="681184" cy="962252"/>
          </a:xfrm>
          <a:prstGeom prst="rect">
            <a:avLst/>
          </a:prstGeom>
          <a:noFill/>
          <a:extLst>
            <a:ext uri="{909E8E84-426E-40DD-AFC4-6F175D3DCCD1}">
              <a14:hiddenFill xmlns:a14="http://schemas.microsoft.com/office/drawing/2010/main">
                <a:solidFill>
                  <a:srgbClr val="FFFFFF"/>
                </a:solidFill>
              </a14:hiddenFill>
            </a:ext>
          </a:extLst>
        </p:spPr>
      </p:pic>
      <p:pic>
        <p:nvPicPr>
          <p:cNvPr id="8" name="圖片 7">
            <a:extLst>
              <a:ext uri="{FF2B5EF4-FFF2-40B4-BE49-F238E27FC236}">
                <a16:creationId xmlns:a16="http://schemas.microsoft.com/office/drawing/2014/main" id="{2BD26903-DDDE-319E-1112-F2F9F067D0F5}"/>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776985" y="4316571"/>
            <a:ext cx="1075034" cy="191491"/>
          </a:xfrm>
          <a:prstGeom prst="rect">
            <a:avLst/>
          </a:prstGeom>
        </p:spPr>
      </p:pic>
      <p:pic>
        <p:nvPicPr>
          <p:cNvPr id="17" name="Picture 34" descr="GitHub - zer0beat/apache-ranger-compiled: Here you can find the compiled  packages for every version (starting on 2.0.0) of Apache Ranger">
            <a:extLst>
              <a:ext uri="{FF2B5EF4-FFF2-40B4-BE49-F238E27FC236}">
                <a16:creationId xmlns:a16="http://schemas.microsoft.com/office/drawing/2014/main" id="{EE701475-F0B2-833C-53F3-995B85B9EC58}"/>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20538" y="2571171"/>
            <a:ext cx="1138230" cy="24024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8" descr="Apache Druid vs. ClickHouse - Imply">
            <a:extLst>
              <a:ext uri="{FF2B5EF4-FFF2-40B4-BE49-F238E27FC236}">
                <a16:creationId xmlns:a16="http://schemas.microsoft.com/office/drawing/2014/main" id="{4DF08D93-E11A-D462-0D68-1FE36F7A19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044" y="2024346"/>
            <a:ext cx="764726" cy="48385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0" descr="Cube — The Universal Semantic Layer">
            <a:extLst>
              <a:ext uri="{FF2B5EF4-FFF2-40B4-BE49-F238E27FC236}">
                <a16:creationId xmlns:a16="http://schemas.microsoft.com/office/drawing/2014/main" id="{326D9865-B577-0BB5-0334-8962001376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7159" y="2627691"/>
            <a:ext cx="764726" cy="220314"/>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群組 24">
            <a:extLst>
              <a:ext uri="{FF2B5EF4-FFF2-40B4-BE49-F238E27FC236}">
                <a16:creationId xmlns:a16="http://schemas.microsoft.com/office/drawing/2014/main" id="{7D1B8616-B45B-6479-5A27-6C778E8BDE08}"/>
              </a:ext>
            </a:extLst>
          </p:cNvPr>
          <p:cNvGrpSpPr/>
          <p:nvPr/>
        </p:nvGrpSpPr>
        <p:grpSpPr>
          <a:xfrm>
            <a:off x="943587" y="1869481"/>
            <a:ext cx="1454733" cy="969920"/>
            <a:chOff x="3241040" y="984817"/>
            <a:chExt cx="1454733" cy="969920"/>
          </a:xfrm>
        </p:grpSpPr>
        <p:sp>
          <p:nvSpPr>
            <p:cNvPr id="20" name="矩形 19">
              <a:extLst>
                <a:ext uri="{FF2B5EF4-FFF2-40B4-BE49-F238E27FC236}">
                  <a16:creationId xmlns:a16="http://schemas.microsoft.com/office/drawing/2014/main" id="{4693BAD6-93B1-388F-C3F4-B3670B081C36}"/>
                </a:ext>
              </a:extLst>
            </p:cNvPr>
            <p:cNvSpPr/>
            <p:nvPr/>
          </p:nvSpPr>
          <p:spPr>
            <a:xfrm>
              <a:off x="3241040" y="984817"/>
              <a:ext cx="1454733" cy="96992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TW" sz="1200">
                  <a:solidFill>
                    <a:schemeClr val="tx1"/>
                  </a:solidFill>
                </a:rPr>
                <a:t>Customization</a:t>
              </a:r>
              <a:endParaRPr lang="zh-TW" altLang="en-US" sz="1200">
                <a:solidFill>
                  <a:schemeClr val="tx1"/>
                </a:solidFill>
              </a:endParaRPr>
            </a:p>
          </p:txBody>
        </p:sp>
        <p:sp>
          <p:nvSpPr>
            <p:cNvPr id="21" name="AutoShape 7">
              <a:extLst>
                <a:ext uri="{FF2B5EF4-FFF2-40B4-BE49-F238E27FC236}">
                  <a16:creationId xmlns:a16="http://schemas.microsoft.com/office/drawing/2014/main" id="{30FBFFC8-F042-A538-64D1-0399B2830833}"/>
                </a:ext>
              </a:extLst>
            </p:cNvPr>
            <p:cNvSpPr>
              <a:spLocks noChangeArrowheads="1"/>
            </p:cNvSpPr>
            <p:nvPr/>
          </p:nvSpPr>
          <p:spPr bwMode="auto">
            <a:xfrm>
              <a:off x="3341475" y="1571686"/>
              <a:ext cx="555685" cy="312757"/>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en-US" altLang="zh-TW" sz="800">
                  <a:latin typeface="+mj-ea"/>
                  <a:ea typeface="+mj-ea"/>
                </a:rPr>
                <a:t>Backup</a:t>
              </a:r>
            </a:p>
            <a:p>
              <a:pPr algn="ctr">
                <a:lnSpc>
                  <a:spcPct val="85000"/>
                </a:lnSpc>
                <a:spcBef>
                  <a:spcPct val="0"/>
                </a:spcBef>
                <a:buNone/>
              </a:pPr>
              <a:r>
                <a:rPr lang="en-US" altLang="en-US" sz="800">
                  <a:latin typeface="+mj-ea"/>
                  <a:ea typeface="+mj-ea"/>
                </a:rPr>
                <a:t>Restore</a:t>
              </a:r>
              <a:endParaRPr lang="en-GB" altLang="en-US" sz="800">
                <a:latin typeface="+mj-ea"/>
                <a:ea typeface="+mj-ea"/>
              </a:endParaRPr>
            </a:p>
          </p:txBody>
        </p:sp>
        <p:sp>
          <p:nvSpPr>
            <p:cNvPr id="22" name="AutoShape 7">
              <a:extLst>
                <a:ext uri="{FF2B5EF4-FFF2-40B4-BE49-F238E27FC236}">
                  <a16:creationId xmlns:a16="http://schemas.microsoft.com/office/drawing/2014/main" id="{FCA2CCCA-4676-3C48-D29F-1A1A6E60FD8C}"/>
                </a:ext>
              </a:extLst>
            </p:cNvPr>
            <p:cNvSpPr>
              <a:spLocks noChangeArrowheads="1"/>
            </p:cNvSpPr>
            <p:nvPr/>
          </p:nvSpPr>
          <p:spPr bwMode="auto">
            <a:xfrm>
              <a:off x="3974575" y="1625534"/>
              <a:ext cx="654110" cy="249189"/>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a:t>
              </a:r>
              <a:endParaRPr lang="en-GB" altLang="en-US" sz="800">
                <a:solidFill>
                  <a:schemeClr val="tx1"/>
                </a:solidFill>
                <a:latin typeface="+mj-ea"/>
                <a:ea typeface="+mj-ea"/>
              </a:endParaRPr>
            </a:p>
          </p:txBody>
        </p:sp>
        <p:sp>
          <p:nvSpPr>
            <p:cNvPr id="23" name="AutoShape 7">
              <a:extLst>
                <a:ext uri="{FF2B5EF4-FFF2-40B4-BE49-F238E27FC236}">
                  <a16:creationId xmlns:a16="http://schemas.microsoft.com/office/drawing/2014/main" id="{31CF8083-0AEA-0222-15E4-4124A0A522AA}"/>
                </a:ext>
              </a:extLst>
            </p:cNvPr>
            <p:cNvSpPr>
              <a:spLocks noChangeArrowheads="1"/>
            </p:cNvSpPr>
            <p:nvPr/>
          </p:nvSpPr>
          <p:spPr bwMode="auto">
            <a:xfrm>
              <a:off x="3341475" y="1255313"/>
              <a:ext cx="555685" cy="28990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Integrated</a:t>
              </a:r>
            </a:p>
            <a:p>
              <a:pPr algn="ctr" eaLnBrk="1" hangingPunct="1">
                <a:lnSpc>
                  <a:spcPct val="85000"/>
                </a:lnSpc>
                <a:spcBef>
                  <a:spcPct val="0"/>
                </a:spcBef>
                <a:buFontTx/>
                <a:buNone/>
              </a:pPr>
              <a:r>
                <a:rPr lang="en-US" altLang="en-US" sz="800">
                  <a:solidFill>
                    <a:schemeClr val="tx1"/>
                  </a:solidFill>
                  <a:latin typeface="+mj-ea"/>
                  <a:ea typeface="+mj-ea"/>
                </a:rPr>
                <a:t>UI</a:t>
              </a:r>
              <a:endParaRPr lang="en-GB" altLang="en-US" sz="800">
                <a:solidFill>
                  <a:schemeClr val="tx1"/>
                </a:solidFill>
                <a:latin typeface="+mj-ea"/>
                <a:ea typeface="+mj-ea"/>
              </a:endParaRPr>
            </a:p>
          </p:txBody>
        </p:sp>
        <p:sp>
          <p:nvSpPr>
            <p:cNvPr id="24" name="AutoShape 7">
              <a:extLst>
                <a:ext uri="{FF2B5EF4-FFF2-40B4-BE49-F238E27FC236}">
                  <a16:creationId xmlns:a16="http://schemas.microsoft.com/office/drawing/2014/main" id="{B43CEA49-62E4-6CF7-1AEB-280B14802765}"/>
                </a:ext>
              </a:extLst>
            </p:cNvPr>
            <p:cNvSpPr>
              <a:spLocks noChangeArrowheads="1"/>
            </p:cNvSpPr>
            <p:nvPr/>
          </p:nvSpPr>
          <p:spPr bwMode="auto">
            <a:xfrm>
              <a:off x="3974575" y="1220588"/>
              <a:ext cx="654110" cy="321202"/>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a:solidFill>
                    <a:schemeClr val="tx1"/>
                  </a:solidFill>
                  <a:latin typeface="+mj-ea"/>
                  <a:ea typeface="+mj-ea"/>
                </a:rPr>
                <a:t>Data Account</a:t>
              </a:r>
            </a:p>
            <a:p>
              <a:pPr algn="ctr" eaLnBrk="1" hangingPunct="1">
                <a:lnSpc>
                  <a:spcPct val="85000"/>
                </a:lnSpc>
                <a:spcBef>
                  <a:spcPct val="0"/>
                </a:spcBef>
                <a:buFontTx/>
                <a:buNone/>
              </a:pPr>
              <a:r>
                <a:rPr lang="en-US" altLang="en-US" sz="800">
                  <a:solidFill>
                    <a:schemeClr val="tx1"/>
                  </a:solidFill>
                  <a:latin typeface="+mj-ea"/>
                  <a:ea typeface="+mj-ea"/>
                </a:rPr>
                <a:t>Integration</a:t>
              </a:r>
              <a:endParaRPr lang="en-GB" altLang="en-US" sz="800">
                <a:solidFill>
                  <a:schemeClr val="tx1"/>
                </a:solidFill>
                <a:latin typeface="+mj-ea"/>
                <a:ea typeface="+mj-ea"/>
              </a:endParaRPr>
            </a:p>
          </p:txBody>
        </p:sp>
      </p:grpSp>
      <p:pic>
        <p:nvPicPr>
          <p:cNvPr id="28" name="Picture 22" descr="Use Prometheus to Monitor End Devices | by Ken Chen | Medium">
            <a:extLst>
              <a:ext uri="{FF2B5EF4-FFF2-40B4-BE49-F238E27FC236}">
                <a16:creationId xmlns:a16="http://schemas.microsoft.com/office/drawing/2014/main" id="{CF56688A-2C6B-910C-6FA0-6F6934ACDEA0}"/>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2200" t="33705" r="14000" b="33840"/>
          <a:stretch/>
        </p:blipFill>
        <p:spPr bwMode="auto">
          <a:xfrm>
            <a:off x="424592" y="3142855"/>
            <a:ext cx="978975" cy="254011"/>
          </a:xfrm>
          <a:prstGeom prst="rect">
            <a:avLst/>
          </a:prstGeom>
          <a:noFill/>
          <a:extLst>
            <a:ext uri="{909E8E84-426E-40DD-AFC4-6F175D3DCCD1}">
              <a14:hiddenFill xmlns:a14="http://schemas.microsoft.com/office/drawing/2010/main">
                <a:solidFill>
                  <a:srgbClr val="FFFFFF"/>
                </a:solidFill>
              </a14:hiddenFill>
            </a:ext>
          </a:extLst>
        </p:spPr>
      </p:pic>
      <p:pic>
        <p:nvPicPr>
          <p:cNvPr id="29" name="圖片 28">
            <a:extLst>
              <a:ext uri="{FF2B5EF4-FFF2-40B4-BE49-F238E27FC236}">
                <a16:creationId xmlns:a16="http://schemas.microsoft.com/office/drawing/2014/main" id="{550F32EB-B8E8-F312-1314-9F2691181F59}"/>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9080341" y="8530779"/>
            <a:ext cx="1106322" cy="333257"/>
          </a:xfrm>
          <a:prstGeom prst="rect">
            <a:avLst/>
          </a:prstGeom>
        </p:spPr>
      </p:pic>
      <p:pic>
        <p:nvPicPr>
          <p:cNvPr id="30" name="圖片 29">
            <a:extLst>
              <a:ext uri="{FF2B5EF4-FFF2-40B4-BE49-F238E27FC236}">
                <a16:creationId xmlns:a16="http://schemas.microsoft.com/office/drawing/2014/main" id="{5A57D976-116C-C58F-275B-1E6341D990F9}"/>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222154" y="2679066"/>
            <a:ext cx="589280" cy="253376"/>
          </a:xfrm>
          <a:prstGeom prst="rect">
            <a:avLst/>
          </a:prstGeom>
        </p:spPr>
      </p:pic>
      <p:pic>
        <p:nvPicPr>
          <p:cNvPr id="4" name="Picture 16" descr="Minio and Nextcloud – Stuff I'm Up To">
            <a:extLst>
              <a:ext uri="{FF2B5EF4-FFF2-40B4-BE49-F238E27FC236}">
                <a16:creationId xmlns:a16="http://schemas.microsoft.com/office/drawing/2014/main" id="{09467995-F113-8FB2-CFA7-29AC1F5726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569902" y="4287594"/>
            <a:ext cx="1000383" cy="205583"/>
          </a:xfrm>
          <a:prstGeom prst="rect">
            <a:avLst/>
          </a:prstGeom>
          <a:noFill/>
          <a:extLst>
            <a:ext uri="{909E8E84-426E-40DD-AFC4-6F175D3DCCD1}">
              <a14:hiddenFill xmlns:a14="http://schemas.microsoft.com/office/drawing/2010/main">
                <a:solidFill>
                  <a:srgbClr val="FFFFFF"/>
                </a:solidFill>
              </a14:hiddenFill>
            </a:ext>
          </a:extLst>
        </p:spPr>
      </p:pic>
      <p:sp>
        <p:nvSpPr>
          <p:cNvPr id="9" name="標題 8">
            <a:extLst>
              <a:ext uri="{FF2B5EF4-FFF2-40B4-BE49-F238E27FC236}">
                <a16:creationId xmlns:a16="http://schemas.microsoft.com/office/drawing/2014/main" id="{F22BE47F-CBCF-65E5-2636-8FA549256EEC}"/>
              </a:ext>
            </a:extLst>
          </p:cNvPr>
          <p:cNvSpPr>
            <a:spLocks noGrp="1"/>
          </p:cNvSpPr>
          <p:nvPr>
            <p:ph type="title"/>
          </p:nvPr>
        </p:nvSpPr>
        <p:spPr/>
        <p:txBody>
          <a:bodyPr/>
          <a:lstStyle/>
          <a:p>
            <a:r>
              <a:rPr lang="en-US" altLang="zh-TW"/>
              <a:t>MFG</a:t>
            </a:r>
            <a:r>
              <a:rPr lang="zh-TW" altLang="en-US"/>
              <a:t>數據中台運作架構圖</a:t>
            </a:r>
          </a:p>
        </p:txBody>
      </p:sp>
      <p:pic>
        <p:nvPicPr>
          <p:cNvPr id="11" name="Picture 2" descr="Apache Flink - 維基百科，自由的百科全書">
            <a:extLst>
              <a:ext uri="{FF2B5EF4-FFF2-40B4-BE49-F238E27FC236}">
                <a16:creationId xmlns:a16="http://schemas.microsoft.com/office/drawing/2014/main" id="{7B3D1CD7-A091-C0BC-EE64-F6C0FDEB93C0}"/>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83520" y="4081969"/>
            <a:ext cx="877645" cy="42925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如何在Ubuntu 20.04 LTS上安装Apache Nifi-云东方">
            <a:extLst>
              <a:ext uri="{FF2B5EF4-FFF2-40B4-BE49-F238E27FC236}">
                <a16:creationId xmlns:a16="http://schemas.microsoft.com/office/drawing/2014/main" id="{54870F56-57BE-31DB-0FEE-4112B9CAC6A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58815" y="3526136"/>
            <a:ext cx="729331" cy="307803"/>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806DB918-F80A-D7E0-A1B0-61C908C11FD1}"/>
              </a:ext>
            </a:extLst>
          </p:cNvPr>
          <p:cNvSpPr/>
          <p:nvPr/>
        </p:nvSpPr>
        <p:spPr>
          <a:xfrm>
            <a:off x="7030103" y="3492838"/>
            <a:ext cx="1185300" cy="1069161"/>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Picture 6" descr="What's new in Apache Spark 2.2 - Knoldus Blogs">
            <a:extLst>
              <a:ext uri="{FF2B5EF4-FFF2-40B4-BE49-F238E27FC236}">
                <a16:creationId xmlns:a16="http://schemas.microsoft.com/office/drawing/2014/main" id="{CACB1008-FC39-A6D2-9194-36C1470BB8F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04050" y="3784336"/>
            <a:ext cx="742521" cy="393859"/>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9ADD591D-1F89-7D3E-99D7-ED0CFD065709}"/>
              </a:ext>
            </a:extLst>
          </p:cNvPr>
          <p:cNvSpPr/>
          <p:nvPr/>
        </p:nvSpPr>
        <p:spPr>
          <a:xfrm>
            <a:off x="7047500" y="3509374"/>
            <a:ext cx="1149778" cy="1046655"/>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6882B756-4FFF-6DA2-DACE-B4CF8BACFBFE}"/>
              </a:ext>
            </a:extLst>
          </p:cNvPr>
          <p:cNvSpPr txBox="1"/>
          <p:nvPr/>
        </p:nvSpPr>
        <p:spPr>
          <a:xfrm>
            <a:off x="7497555" y="4052485"/>
            <a:ext cx="716732" cy="369332"/>
          </a:xfrm>
          <a:prstGeom prst="rect">
            <a:avLst/>
          </a:prstGeom>
          <a:noFill/>
        </p:spPr>
        <p:txBody>
          <a:bodyPr wrap="square" rtlCol="0">
            <a:spAutoFit/>
          </a:bodyPr>
          <a:lstStyle/>
          <a:p>
            <a:r>
              <a:rPr lang="en-US" altLang="zh-TW" sz="1800" b="1">
                <a:solidFill>
                  <a:srgbClr val="FFC000"/>
                </a:solidFill>
                <a:effectLst>
                  <a:glow rad="127000">
                    <a:schemeClr val="bg1"/>
                  </a:glow>
                </a:effectLst>
              </a:rPr>
              <a:t>TBD</a:t>
            </a:r>
            <a:endParaRPr lang="zh-TW" altLang="en-US" sz="1800" b="1">
              <a:solidFill>
                <a:srgbClr val="FFC000"/>
              </a:solidFill>
              <a:effectLst>
                <a:glow rad="127000">
                  <a:schemeClr val="bg1"/>
                </a:glow>
              </a:effectLst>
            </a:endParaRPr>
          </a:p>
        </p:txBody>
      </p:sp>
      <p:grpSp>
        <p:nvGrpSpPr>
          <p:cNvPr id="1050" name="群組 1049">
            <a:extLst>
              <a:ext uri="{FF2B5EF4-FFF2-40B4-BE49-F238E27FC236}">
                <a16:creationId xmlns:a16="http://schemas.microsoft.com/office/drawing/2014/main" id="{22F7FD23-B655-4AD1-BEBF-AB86AE91EDC8}"/>
              </a:ext>
            </a:extLst>
          </p:cNvPr>
          <p:cNvGrpSpPr/>
          <p:nvPr/>
        </p:nvGrpSpPr>
        <p:grpSpPr>
          <a:xfrm>
            <a:off x="198830" y="2874477"/>
            <a:ext cx="4697327" cy="3127898"/>
            <a:chOff x="650240" y="2642982"/>
            <a:chExt cx="4697327" cy="3127898"/>
          </a:xfrm>
        </p:grpSpPr>
        <p:grpSp>
          <p:nvGrpSpPr>
            <p:cNvPr id="102" name="群組 101">
              <a:extLst>
                <a:ext uri="{FF2B5EF4-FFF2-40B4-BE49-F238E27FC236}">
                  <a16:creationId xmlns:a16="http://schemas.microsoft.com/office/drawing/2014/main" id="{793265B9-EC35-A231-3063-52C9EA1B0B56}"/>
                </a:ext>
              </a:extLst>
            </p:cNvPr>
            <p:cNvGrpSpPr/>
            <p:nvPr/>
          </p:nvGrpSpPr>
          <p:grpSpPr>
            <a:xfrm>
              <a:off x="650240" y="4124960"/>
              <a:ext cx="1534160" cy="1645920"/>
              <a:chOff x="568960" y="4124960"/>
              <a:chExt cx="1534160" cy="1645920"/>
            </a:xfrm>
          </p:grpSpPr>
          <p:sp>
            <p:nvSpPr>
              <p:cNvPr id="80" name="矩形 79">
                <a:extLst>
                  <a:ext uri="{FF2B5EF4-FFF2-40B4-BE49-F238E27FC236}">
                    <a16:creationId xmlns:a16="http://schemas.microsoft.com/office/drawing/2014/main" id="{F4915F82-3F1C-5BC9-D432-B58DF4EA1A0E}"/>
                  </a:ext>
                </a:extLst>
              </p:cNvPr>
              <p:cNvSpPr/>
              <p:nvPr/>
            </p:nvSpPr>
            <p:spPr>
              <a:xfrm>
                <a:off x="657860" y="5171078"/>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81" name="矩形 80">
                <a:extLst>
                  <a:ext uri="{FF2B5EF4-FFF2-40B4-BE49-F238E27FC236}">
                    <a16:creationId xmlns:a16="http://schemas.microsoft.com/office/drawing/2014/main" id="{308184D6-BA2E-79AF-0C22-5EADDABC5130}"/>
                  </a:ext>
                </a:extLst>
              </p:cNvPr>
              <p:cNvSpPr/>
              <p:nvPr/>
            </p:nvSpPr>
            <p:spPr>
              <a:xfrm>
                <a:off x="657859" y="4908849"/>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82" name="矩形 81">
                <a:extLst>
                  <a:ext uri="{FF2B5EF4-FFF2-40B4-BE49-F238E27FC236}">
                    <a16:creationId xmlns:a16="http://schemas.microsoft.com/office/drawing/2014/main" id="{FEC3C652-858D-9C9E-8981-097894320F58}"/>
                  </a:ext>
                </a:extLst>
              </p:cNvPr>
              <p:cNvSpPr/>
              <p:nvPr/>
            </p:nvSpPr>
            <p:spPr>
              <a:xfrm>
                <a:off x="657858" y="4642539"/>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MicroK8S</a:t>
                </a:r>
                <a:endParaRPr lang="zh-TW" altLang="en-US" sz="1100" b="1">
                  <a:solidFill>
                    <a:schemeClr val="tx1"/>
                  </a:solidFill>
                </a:endParaRPr>
              </a:p>
            </p:txBody>
          </p:sp>
          <p:pic>
            <p:nvPicPr>
              <p:cNvPr id="1026" name="Picture 2" descr="Ubuntu and Canonical - BrightTALK">
                <a:extLst>
                  <a:ext uri="{FF2B5EF4-FFF2-40B4-BE49-F238E27FC236}">
                    <a16:creationId xmlns:a16="http://schemas.microsoft.com/office/drawing/2014/main" id="{B192A343-7181-429B-7B15-857BD1C0934B}"/>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700538" y="4956368"/>
                <a:ext cx="188368" cy="172878"/>
              </a:xfrm>
              <a:prstGeom prst="rect">
                <a:avLst/>
              </a:prstGeom>
              <a:noFill/>
              <a:extLst>
                <a:ext uri="{909E8E84-426E-40DD-AFC4-6F175D3DCCD1}">
                  <a14:hiddenFill xmlns:a14="http://schemas.microsoft.com/office/drawing/2010/main">
                    <a:solidFill>
                      <a:srgbClr val="FFFFFF"/>
                    </a:solidFill>
                  </a14:hiddenFill>
                </a:ext>
              </a:extLst>
            </p:spPr>
          </p:pic>
          <p:pic>
            <p:nvPicPr>
              <p:cNvPr id="3" name="圖片 2">
                <a:extLst>
                  <a:ext uri="{FF2B5EF4-FFF2-40B4-BE49-F238E27FC236}">
                    <a16:creationId xmlns:a16="http://schemas.microsoft.com/office/drawing/2014/main" id="{8F968918-E26B-CE55-0A91-1A00B95B6A49}"/>
                  </a:ext>
                </a:extLst>
              </p:cNvPr>
              <p:cNvPicPr>
                <a:picLocks noChangeAspect="1"/>
              </p:cNvPicPr>
              <p:nvPr/>
            </p:nvPicPr>
            <p:blipFill rotWithShape="1">
              <a:blip r:embed="rId9">
                <a:clrChange>
                  <a:clrFrom>
                    <a:srgbClr val="FFFFFF"/>
                  </a:clrFrom>
                  <a:clrTo>
                    <a:srgbClr val="FFFFFF">
                      <a:alpha val="0"/>
                    </a:srgbClr>
                  </a:clrTo>
                </a:clrChange>
              </a:blip>
              <a:srcRect r="78011" b="-31079"/>
              <a:stretch/>
            </p:blipFill>
            <p:spPr>
              <a:xfrm>
                <a:off x="722663" y="4662454"/>
                <a:ext cx="164261" cy="270708"/>
              </a:xfrm>
              <a:prstGeom prst="rect">
                <a:avLst/>
              </a:prstGeom>
            </p:spPr>
          </p:pic>
          <p:sp>
            <p:nvSpPr>
              <p:cNvPr id="83" name="矩形 82">
                <a:extLst>
                  <a:ext uri="{FF2B5EF4-FFF2-40B4-BE49-F238E27FC236}">
                    <a16:creationId xmlns:a16="http://schemas.microsoft.com/office/drawing/2014/main" id="{BD5A5010-9C32-9B81-DDF1-B1B78A5346CC}"/>
                  </a:ext>
                </a:extLst>
              </p:cNvPr>
              <p:cNvSpPr/>
              <p:nvPr/>
            </p:nvSpPr>
            <p:spPr>
              <a:xfrm>
                <a:off x="657858" y="4475341"/>
                <a:ext cx="1349869" cy="170878"/>
              </a:xfrm>
              <a:prstGeom prst="rect">
                <a:avLst/>
              </a:prstGeom>
              <a:solidFill>
                <a:srgbClr val="F8CE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800" b="1">
                    <a:solidFill>
                      <a:schemeClr val="tx1"/>
                    </a:solidFill>
                  </a:rPr>
                  <a:t>kubelet</a:t>
                </a:r>
                <a:endParaRPr lang="zh-TW" altLang="en-US" sz="800" b="1">
                  <a:solidFill>
                    <a:schemeClr val="tx1"/>
                  </a:solidFill>
                </a:endParaRPr>
              </a:p>
            </p:txBody>
          </p:sp>
          <p:sp>
            <p:nvSpPr>
              <p:cNvPr id="84" name="矩形 83">
                <a:extLst>
                  <a:ext uri="{FF2B5EF4-FFF2-40B4-BE49-F238E27FC236}">
                    <a16:creationId xmlns:a16="http://schemas.microsoft.com/office/drawing/2014/main" id="{19514417-43C1-5D16-409F-9535314A2DB7}"/>
                  </a:ext>
                </a:extLst>
              </p:cNvPr>
              <p:cNvSpPr/>
              <p:nvPr/>
            </p:nvSpPr>
            <p:spPr>
              <a:xfrm>
                <a:off x="658680" y="4299636"/>
                <a:ext cx="307087" cy="174419"/>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87" name="矩形 86">
                <a:extLst>
                  <a:ext uri="{FF2B5EF4-FFF2-40B4-BE49-F238E27FC236}">
                    <a16:creationId xmlns:a16="http://schemas.microsoft.com/office/drawing/2014/main" id="{ED00CBAD-DA5D-13E8-55AB-033A4E17A8FE}"/>
                  </a:ext>
                </a:extLst>
              </p:cNvPr>
              <p:cNvSpPr/>
              <p:nvPr/>
            </p:nvSpPr>
            <p:spPr>
              <a:xfrm>
                <a:off x="1006630"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88" name="矩形 87">
                <a:extLst>
                  <a:ext uri="{FF2B5EF4-FFF2-40B4-BE49-F238E27FC236}">
                    <a16:creationId xmlns:a16="http://schemas.microsoft.com/office/drawing/2014/main" id="{F5161285-5266-252A-B8C7-7912522899DA}"/>
                  </a:ext>
                </a:extLst>
              </p:cNvPr>
              <p:cNvSpPr/>
              <p:nvPr/>
            </p:nvSpPr>
            <p:spPr>
              <a:xfrm>
                <a:off x="1350841"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89" name="矩形 88">
                <a:extLst>
                  <a:ext uri="{FF2B5EF4-FFF2-40B4-BE49-F238E27FC236}">
                    <a16:creationId xmlns:a16="http://schemas.microsoft.com/office/drawing/2014/main" id="{BB532F11-A4E8-A185-FB64-B5BF1BB47241}"/>
                  </a:ext>
                </a:extLst>
              </p:cNvPr>
              <p:cNvSpPr/>
              <p:nvPr/>
            </p:nvSpPr>
            <p:spPr>
              <a:xfrm>
                <a:off x="1700640"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90" name="矩形 89">
                <a:extLst>
                  <a:ext uri="{FF2B5EF4-FFF2-40B4-BE49-F238E27FC236}">
                    <a16:creationId xmlns:a16="http://schemas.microsoft.com/office/drawing/2014/main" id="{B525135A-70E0-7BAF-5266-5D0E40B2F591}"/>
                  </a:ext>
                </a:extLst>
              </p:cNvPr>
              <p:cNvSpPr/>
              <p:nvPr/>
            </p:nvSpPr>
            <p:spPr>
              <a:xfrm>
                <a:off x="568960" y="4124960"/>
                <a:ext cx="1534160" cy="16459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bIns="36000" rtlCol="0" anchor="b" anchorCtr="0"/>
              <a:lstStyle/>
              <a:p>
                <a:r>
                  <a:rPr lang="en-US" altLang="zh-TW" sz="1000" b="1">
                    <a:solidFill>
                      <a:schemeClr val="tx1"/>
                    </a:solidFill>
                  </a:rPr>
                  <a:t>Worker Node 1</a:t>
                </a:r>
                <a:endParaRPr lang="zh-TW" altLang="en-US" sz="1000" b="1">
                  <a:solidFill>
                    <a:schemeClr val="tx1"/>
                  </a:solidFill>
                </a:endParaRPr>
              </a:p>
            </p:txBody>
          </p:sp>
        </p:grpSp>
        <p:grpSp>
          <p:nvGrpSpPr>
            <p:cNvPr id="103" name="群組 102">
              <a:extLst>
                <a:ext uri="{FF2B5EF4-FFF2-40B4-BE49-F238E27FC236}">
                  <a16:creationId xmlns:a16="http://schemas.microsoft.com/office/drawing/2014/main" id="{4AE50B9E-51D2-E667-39FD-72BE77A30F10}"/>
                </a:ext>
              </a:extLst>
            </p:cNvPr>
            <p:cNvGrpSpPr/>
            <p:nvPr/>
          </p:nvGrpSpPr>
          <p:grpSpPr>
            <a:xfrm>
              <a:off x="2223413" y="4124960"/>
              <a:ext cx="1534160" cy="1645920"/>
              <a:chOff x="568960" y="4124960"/>
              <a:chExt cx="1534160" cy="1645920"/>
            </a:xfrm>
          </p:grpSpPr>
          <p:sp>
            <p:nvSpPr>
              <p:cNvPr id="104" name="矩形 103">
                <a:extLst>
                  <a:ext uri="{FF2B5EF4-FFF2-40B4-BE49-F238E27FC236}">
                    <a16:creationId xmlns:a16="http://schemas.microsoft.com/office/drawing/2014/main" id="{40D53B28-B89E-27F9-2654-CE1B4D5ED075}"/>
                  </a:ext>
                </a:extLst>
              </p:cNvPr>
              <p:cNvSpPr/>
              <p:nvPr/>
            </p:nvSpPr>
            <p:spPr>
              <a:xfrm>
                <a:off x="657860" y="5171078"/>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05" name="矩形 104">
                <a:extLst>
                  <a:ext uri="{FF2B5EF4-FFF2-40B4-BE49-F238E27FC236}">
                    <a16:creationId xmlns:a16="http://schemas.microsoft.com/office/drawing/2014/main" id="{A7095294-227E-79CC-7D56-BEC04D9BFABC}"/>
                  </a:ext>
                </a:extLst>
              </p:cNvPr>
              <p:cNvSpPr/>
              <p:nvPr/>
            </p:nvSpPr>
            <p:spPr>
              <a:xfrm>
                <a:off x="657859" y="4908849"/>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06" name="矩形 105">
                <a:extLst>
                  <a:ext uri="{FF2B5EF4-FFF2-40B4-BE49-F238E27FC236}">
                    <a16:creationId xmlns:a16="http://schemas.microsoft.com/office/drawing/2014/main" id="{5B97271F-6948-D36A-96FC-A5118CB80389}"/>
                  </a:ext>
                </a:extLst>
              </p:cNvPr>
              <p:cNvSpPr/>
              <p:nvPr/>
            </p:nvSpPr>
            <p:spPr>
              <a:xfrm>
                <a:off x="657858" y="4642539"/>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MicroK8S</a:t>
                </a:r>
                <a:endParaRPr lang="zh-TW" altLang="en-US" sz="1100" b="1">
                  <a:solidFill>
                    <a:schemeClr val="tx1"/>
                  </a:solidFill>
                </a:endParaRPr>
              </a:p>
            </p:txBody>
          </p:sp>
          <p:pic>
            <p:nvPicPr>
              <p:cNvPr id="107" name="Picture 2" descr="Ubuntu and Canonical - BrightTALK">
                <a:extLst>
                  <a:ext uri="{FF2B5EF4-FFF2-40B4-BE49-F238E27FC236}">
                    <a16:creationId xmlns:a16="http://schemas.microsoft.com/office/drawing/2014/main" id="{6825EAB8-70B4-34BA-C12D-4E0C9230CD30}"/>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700538" y="4956368"/>
                <a:ext cx="188368" cy="172878"/>
              </a:xfrm>
              <a:prstGeom prst="rect">
                <a:avLst/>
              </a:prstGeom>
              <a:noFill/>
              <a:extLst>
                <a:ext uri="{909E8E84-426E-40DD-AFC4-6F175D3DCCD1}">
                  <a14:hiddenFill xmlns:a14="http://schemas.microsoft.com/office/drawing/2010/main">
                    <a:solidFill>
                      <a:srgbClr val="FFFFFF"/>
                    </a:solidFill>
                  </a14:hiddenFill>
                </a:ext>
              </a:extLst>
            </p:spPr>
          </p:pic>
          <p:pic>
            <p:nvPicPr>
              <p:cNvPr id="108" name="圖片 107">
                <a:extLst>
                  <a:ext uri="{FF2B5EF4-FFF2-40B4-BE49-F238E27FC236}">
                    <a16:creationId xmlns:a16="http://schemas.microsoft.com/office/drawing/2014/main" id="{1ADA0A62-8384-1AD6-B48B-0265FA8BA3B5}"/>
                  </a:ext>
                </a:extLst>
              </p:cNvPr>
              <p:cNvPicPr>
                <a:picLocks noChangeAspect="1"/>
              </p:cNvPicPr>
              <p:nvPr/>
            </p:nvPicPr>
            <p:blipFill rotWithShape="1">
              <a:blip r:embed="rId9">
                <a:clrChange>
                  <a:clrFrom>
                    <a:srgbClr val="FFFFFF"/>
                  </a:clrFrom>
                  <a:clrTo>
                    <a:srgbClr val="FFFFFF">
                      <a:alpha val="0"/>
                    </a:srgbClr>
                  </a:clrTo>
                </a:clrChange>
              </a:blip>
              <a:srcRect r="78011" b="-31079"/>
              <a:stretch/>
            </p:blipFill>
            <p:spPr>
              <a:xfrm>
                <a:off x="722663" y="4662454"/>
                <a:ext cx="164261" cy="270708"/>
              </a:xfrm>
              <a:prstGeom prst="rect">
                <a:avLst/>
              </a:prstGeom>
            </p:spPr>
          </p:pic>
          <p:sp>
            <p:nvSpPr>
              <p:cNvPr id="109" name="矩形 108">
                <a:extLst>
                  <a:ext uri="{FF2B5EF4-FFF2-40B4-BE49-F238E27FC236}">
                    <a16:creationId xmlns:a16="http://schemas.microsoft.com/office/drawing/2014/main" id="{93CEC832-D30F-909B-52E4-3278AC692551}"/>
                  </a:ext>
                </a:extLst>
              </p:cNvPr>
              <p:cNvSpPr/>
              <p:nvPr/>
            </p:nvSpPr>
            <p:spPr>
              <a:xfrm>
                <a:off x="657858" y="4475341"/>
                <a:ext cx="1349869" cy="170878"/>
              </a:xfrm>
              <a:prstGeom prst="rect">
                <a:avLst/>
              </a:prstGeom>
              <a:solidFill>
                <a:srgbClr val="F8CE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800" b="1">
                    <a:solidFill>
                      <a:schemeClr val="tx1"/>
                    </a:solidFill>
                  </a:rPr>
                  <a:t>kubelet</a:t>
                </a:r>
                <a:endParaRPr lang="zh-TW" altLang="en-US" sz="800" b="1">
                  <a:solidFill>
                    <a:schemeClr val="tx1"/>
                  </a:solidFill>
                </a:endParaRPr>
              </a:p>
            </p:txBody>
          </p:sp>
          <p:sp>
            <p:nvSpPr>
              <p:cNvPr id="110" name="矩形 109">
                <a:extLst>
                  <a:ext uri="{FF2B5EF4-FFF2-40B4-BE49-F238E27FC236}">
                    <a16:creationId xmlns:a16="http://schemas.microsoft.com/office/drawing/2014/main" id="{8353FEA9-56AA-C39B-2D9E-5F5209F8B5F6}"/>
                  </a:ext>
                </a:extLst>
              </p:cNvPr>
              <p:cNvSpPr/>
              <p:nvPr/>
            </p:nvSpPr>
            <p:spPr>
              <a:xfrm>
                <a:off x="658680" y="4302869"/>
                <a:ext cx="307087" cy="174419"/>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111" name="矩形 110">
                <a:extLst>
                  <a:ext uri="{FF2B5EF4-FFF2-40B4-BE49-F238E27FC236}">
                    <a16:creationId xmlns:a16="http://schemas.microsoft.com/office/drawing/2014/main" id="{CA53BC82-B00A-32D2-4722-66F0C576977C}"/>
                  </a:ext>
                </a:extLst>
              </p:cNvPr>
              <p:cNvSpPr/>
              <p:nvPr/>
            </p:nvSpPr>
            <p:spPr>
              <a:xfrm>
                <a:off x="1006630"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112" name="矩形 111">
                <a:extLst>
                  <a:ext uri="{FF2B5EF4-FFF2-40B4-BE49-F238E27FC236}">
                    <a16:creationId xmlns:a16="http://schemas.microsoft.com/office/drawing/2014/main" id="{37F7F9DF-C7C5-480A-6919-A67FC52E6808}"/>
                  </a:ext>
                </a:extLst>
              </p:cNvPr>
              <p:cNvSpPr/>
              <p:nvPr/>
            </p:nvSpPr>
            <p:spPr>
              <a:xfrm>
                <a:off x="1344745"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113" name="矩形 112">
                <a:extLst>
                  <a:ext uri="{FF2B5EF4-FFF2-40B4-BE49-F238E27FC236}">
                    <a16:creationId xmlns:a16="http://schemas.microsoft.com/office/drawing/2014/main" id="{2219F383-902A-8812-A776-2B0850915DFA}"/>
                  </a:ext>
                </a:extLst>
              </p:cNvPr>
              <p:cNvSpPr/>
              <p:nvPr/>
            </p:nvSpPr>
            <p:spPr>
              <a:xfrm>
                <a:off x="1700640"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114" name="矩形 113">
                <a:extLst>
                  <a:ext uri="{FF2B5EF4-FFF2-40B4-BE49-F238E27FC236}">
                    <a16:creationId xmlns:a16="http://schemas.microsoft.com/office/drawing/2014/main" id="{E8CD6CE7-EB9B-5AF3-9675-D6349CF7B679}"/>
                  </a:ext>
                </a:extLst>
              </p:cNvPr>
              <p:cNvSpPr/>
              <p:nvPr/>
            </p:nvSpPr>
            <p:spPr>
              <a:xfrm>
                <a:off x="568960" y="4124960"/>
                <a:ext cx="1534160" cy="16459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bIns="36000" rtlCol="0" anchor="b" anchorCtr="0"/>
              <a:lstStyle/>
              <a:p>
                <a:r>
                  <a:rPr lang="en-US" altLang="zh-TW" sz="1000" b="1">
                    <a:solidFill>
                      <a:schemeClr val="tx1"/>
                    </a:solidFill>
                  </a:rPr>
                  <a:t>Worker Node 2</a:t>
                </a:r>
                <a:endParaRPr lang="zh-TW" altLang="en-US" sz="1000" b="1">
                  <a:solidFill>
                    <a:schemeClr val="tx1"/>
                  </a:solidFill>
                </a:endParaRPr>
              </a:p>
            </p:txBody>
          </p:sp>
        </p:grpSp>
        <p:grpSp>
          <p:nvGrpSpPr>
            <p:cNvPr id="115" name="群組 114">
              <a:extLst>
                <a:ext uri="{FF2B5EF4-FFF2-40B4-BE49-F238E27FC236}">
                  <a16:creationId xmlns:a16="http://schemas.microsoft.com/office/drawing/2014/main" id="{5D175C80-68EE-10F9-5ABF-0E88C8E6515D}"/>
                </a:ext>
              </a:extLst>
            </p:cNvPr>
            <p:cNvGrpSpPr/>
            <p:nvPr/>
          </p:nvGrpSpPr>
          <p:grpSpPr>
            <a:xfrm>
              <a:off x="3813407" y="4123248"/>
              <a:ext cx="1534160" cy="1645920"/>
              <a:chOff x="568960" y="4124960"/>
              <a:chExt cx="1534160" cy="1645920"/>
            </a:xfrm>
          </p:grpSpPr>
          <p:sp>
            <p:nvSpPr>
              <p:cNvPr id="116" name="矩形 115">
                <a:extLst>
                  <a:ext uri="{FF2B5EF4-FFF2-40B4-BE49-F238E27FC236}">
                    <a16:creationId xmlns:a16="http://schemas.microsoft.com/office/drawing/2014/main" id="{897D464C-5E2C-5F43-8804-1AD5FD048EFA}"/>
                  </a:ext>
                </a:extLst>
              </p:cNvPr>
              <p:cNvSpPr/>
              <p:nvPr/>
            </p:nvSpPr>
            <p:spPr>
              <a:xfrm>
                <a:off x="657860" y="5171078"/>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7" name="矩形 116">
                <a:extLst>
                  <a:ext uri="{FF2B5EF4-FFF2-40B4-BE49-F238E27FC236}">
                    <a16:creationId xmlns:a16="http://schemas.microsoft.com/office/drawing/2014/main" id="{8C4B9A39-45FA-5C9E-8B55-F6C2FD465322}"/>
                  </a:ext>
                </a:extLst>
              </p:cNvPr>
              <p:cNvSpPr/>
              <p:nvPr/>
            </p:nvSpPr>
            <p:spPr>
              <a:xfrm>
                <a:off x="657859" y="4908849"/>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8" name="矩形 117">
                <a:extLst>
                  <a:ext uri="{FF2B5EF4-FFF2-40B4-BE49-F238E27FC236}">
                    <a16:creationId xmlns:a16="http://schemas.microsoft.com/office/drawing/2014/main" id="{FD4D916C-BDF0-35B2-B6B8-19E8C96E2BDF}"/>
                  </a:ext>
                </a:extLst>
              </p:cNvPr>
              <p:cNvSpPr/>
              <p:nvPr/>
            </p:nvSpPr>
            <p:spPr>
              <a:xfrm>
                <a:off x="657858" y="4642539"/>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MicroK8S</a:t>
                </a:r>
                <a:endParaRPr lang="zh-TW" altLang="en-US" sz="1100" b="1">
                  <a:solidFill>
                    <a:schemeClr val="tx1"/>
                  </a:solidFill>
                </a:endParaRPr>
              </a:p>
            </p:txBody>
          </p:sp>
          <p:pic>
            <p:nvPicPr>
              <p:cNvPr id="119" name="Picture 2" descr="Ubuntu and Canonical - BrightTALK">
                <a:extLst>
                  <a:ext uri="{FF2B5EF4-FFF2-40B4-BE49-F238E27FC236}">
                    <a16:creationId xmlns:a16="http://schemas.microsoft.com/office/drawing/2014/main" id="{075D83B0-1748-AF6E-CE86-71F8DE29AF41}"/>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700538" y="4956368"/>
                <a:ext cx="188368" cy="172878"/>
              </a:xfrm>
              <a:prstGeom prst="rect">
                <a:avLst/>
              </a:prstGeom>
              <a:noFill/>
              <a:extLst>
                <a:ext uri="{909E8E84-426E-40DD-AFC4-6F175D3DCCD1}">
                  <a14:hiddenFill xmlns:a14="http://schemas.microsoft.com/office/drawing/2010/main">
                    <a:solidFill>
                      <a:srgbClr val="FFFFFF"/>
                    </a:solidFill>
                  </a14:hiddenFill>
                </a:ext>
              </a:extLst>
            </p:spPr>
          </p:pic>
          <p:pic>
            <p:nvPicPr>
              <p:cNvPr id="120" name="圖片 119">
                <a:extLst>
                  <a:ext uri="{FF2B5EF4-FFF2-40B4-BE49-F238E27FC236}">
                    <a16:creationId xmlns:a16="http://schemas.microsoft.com/office/drawing/2014/main" id="{BF7D6B9A-D2D8-458D-B591-28463F1D6F84}"/>
                  </a:ext>
                </a:extLst>
              </p:cNvPr>
              <p:cNvPicPr>
                <a:picLocks noChangeAspect="1"/>
              </p:cNvPicPr>
              <p:nvPr/>
            </p:nvPicPr>
            <p:blipFill rotWithShape="1">
              <a:blip r:embed="rId9">
                <a:clrChange>
                  <a:clrFrom>
                    <a:srgbClr val="FFFFFF"/>
                  </a:clrFrom>
                  <a:clrTo>
                    <a:srgbClr val="FFFFFF">
                      <a:alpha val="0"/>
                    </a:srgbClr>
                  </a:clrTo>
                </a:clrChange>
              </a:blip>
              <a:srcRect r="78011" b="-31079"/>
              <a:stretch/>
            </p:blipFill>
            <p:spPr>
              <a:xfrm>
                <a:off x="722663" y="4662454"/>
                <a:ext cx="164261" cy="270708"/>
              </a:xfrm>
              <a:prstGeom prst="rect">
                <a:avLst/>
              </a:prstGeom>
            </p:spPr>
          </p:pic>
          <p:sp>
            <p:nvSpPr>
              <p:cNvPr id="121" name="矩形 120">
                <a:extLst>
                  <a:ext uri="{FF2B5EF4-FFF2-40B4-BE49-F238E27FC236}">
                    <a16:creationId xmlns:a16="http://schemas.microsoft.com/office/drawing/2014/main" id="{1964BD1A-A47C-36A2-0302-4CFC42BAD976}"/>
                  </a:ext>
                </a:extLst>
              </p:cNvPr>
              <p:cNvSpPr/>
              <p:nvPr/>
            </p:nvSpPr>
            <p:spPr>
              <a:xfrm>
                <a:off x="657858" y="4475341"/>
                <a:ext cx="1349869" cy="170878"/>
              </a:xfrm>
              <a:prstGeom prst="rect">
                <a:avLst/>
              </a:prstGeom>
              <a:solidFill>
                <a:srgbClr val="F8CE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800" b="1">
                    <a:solidFill>
                      <a:schemeClr val="tx1"/>
                    </a:solidFill>
                  </a:rPr>
                  <a:t>kubelet</a:t>
                </a:r>
                <a:endParaRPr lang="zh-TW" altLang="en-US" sz="800" b="1">
                  <a:solidFill>
                    <a:schemeClr val="tx1"/>
                  </a:solidFill>
                </a:endParaRPr>
              </a:p>
            </p:txBody>
          </p:sp>
          <p:sp>
            <p:nvSpPr>
              <p:cNvPr id="122" name="矩形 121">
                <a:extLst>
                  <a:ext uri="{FF2B5EF4-FFF2-40B4-BE49-F238E27FC236}">
                    <a16:creationId xmlns:a16="http://schemas.microsoft.com/office/drawing/2014/main" id="{46634D10-0E9B-3F94-C2C0-4BDA6220FB86}"/>
                  </a:ext>
                </a:extLst>
              </p:cNvPr>
              <p:cNvSpPr/>
              <p:nvPr/>
            </p:nvSpPr>
            <p:spPr>
              <a:xfrm>
                <a:off x="658680" y="4304901"/>
                <a:ext cx="307087" cy="174419"/>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123" name="矩形 122">
                <a:extLst>
                  <a:ext uri="{FF2B5EF4-FFF2-40B4-BE49-F238E27FC236}">
                    <a16:creationId xmlns:a16="http://schemas.microsoft.com/office/drawing/2014/main" id="{7862116B-BF37-387E-9296-47E7E9CBA107}"/>
                  </a:ext>
                </a:extLst>
              </p:cNvPr>
              <p:cNvSpPr/>
              <p:nvPr/>
            </p:nvSpPr>
            <p:spPr>
              <a:xfrm>
                <a:off x="1006630"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124" name="矩形 123">
                <a:extLst>
                  <a:ext uri="{FF2B5EF4-FFF2-40B4-BE49-F238E27FC236}">
                    <a16:creationId xmlns:a16="http://schemas.microsoft.com/office/drawing/2014/main" id="{EBC63095-22B0-2AF3-297B-45F98854B176}"/>
                  </a:ext>
                </a:extLst>
              </p:cNvPr>
              <p:cNvSpPr/>
              <p:nvPr/>
            </p:nvSpPr>
            <p:spPr>
              <a:xfrm>
                <a:off x="1344745"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125" name="矩形 124">
                <a:extLst>
                  <a:ext uri="{FF2B5EF4-FFF2-40B4-BE49-F238E27FC236}">
                    <a16:creationId xmlns:a16="http://schemas.microsoft.com/office/drawing/2014/main" id="{7F486B11-35CB-7555-9ABE-48A5ADB43651}"/>
                  </a:ext>
                </a:extLst>
              </p:cNvPr>
              <p:cNvSpPr/>
              <p:nvPr/>
            </p:nvSpPr>
            <p:spPr>
              <a:xfrm>
                <a:off x="1700640" y="4303885"/>
                <a:ext cx="307087" cy="170877"/>
              </a:xfrm>
              <a:prstGeom prst="rect">
                <a:avLst/>
              </a:prstGeom>
              <a:solidFill>
                <a:srgbClr val="FFB570"/>
              </a:solidFill>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altLang="zh-TW" sz="800" b="1">
                    <a:solidFill>
                      <a:schemeClr val="tx1"/>
                    </a:solidFill>
                  </a:rPr>
                  <a:t>Pod</a:t>
                </a:r>
                <a:endParaRPr lang="zh-TW" altLang="en-US" sz="800" b="1">
                  <a:solidFill>
                    <a:schemeClr val="tx1"/>
                  </a:solidFill>
                </a:endParaRPr>
              </a:p>
            </p:txBody>
          </p:sp>
          <p:sp>
            <p:nvSpPr>
              <p:cNvPr id="126" name="矩形 125">
                <a:extLst>
                  <a:ext uri="{FF2B5EF4-FFF2-40B4-BE49-F238E27FC236}">
                    <a16:creationId xmlns:a16="http://schemas.microsoft.com/office/drawing/2014/main" id="{7D9EFB45-F055-9F4E-8E9F-FE675D71E106}"/>
                  </a:ext>
                </a:extLst>
              </p:cNvPr>
              <p:cNvSpPr/>
              <p:nvPr/>
            </p:nvSpPr>
            <p:spPr>
              <a:xfrm>
                <a:off x="568960" y="4124960"/>
                <a:ext cx="1534160" cy="16459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bIns="36000" rtlCol="0" anchor="b" anchorCtr="0"/>
              <a:lstStyle/>
              <a:p>
                <a:r>
                  <a:rPr lang="en-US" altLang="zh-TW" sz="1000" b="1">
                    <a:solidFill>
                      <a:schemeClr val="tx1"/>
                    </a:solidFill>
                  </a:rPr>
                  <a:t>Worker Node …</a:t>
                </a:r>
                <a:endParaRPr lang="zh-TW" altLang="en-US" sz="1000" b="1">
                  <a:solidFill>
                    <a:schemeClr val="tx1"/>
                  </a:solidFill>
                </a:endParaRPr>
              </a:p>
            </p:txBody>
          </p:sp>
        </p:grpSp>
        <p:grpSp>
          <p:nvGrpSpPr>
            <p:cNvPr id="127" name="群組 126">
              <a:extLst>
                <a:ext uri="{FF2B5EF4-FFF2-40B4-BE49-F238E27FC236}">
                  <a16:creationId xmlns:a16="http://schemas.microsoft.com/office/drawing/2014/main" id="{F1D8F093-400D-83F6-1BD6-C26D4C979D7B}"/>
                </a:ext>
              </a:extLst>
            </p:cNvPr>
            <p:cNvGrpSpPr/>
            <p:nvPr/>
          </p:nvGrpSpPr>
          <p:grpSpPr>
            <a:xfrm>
              <a:off x="1886198" y="2642982"/>
              <a:ext cx="2274998" cy="1441629"/>
              <a:chOff x="568960" y="4329250"/>
              <a:chExt cx="1534160" cy="1441629"/>
            </a:xfrm>
          </p:grpSpPr>
          <p:sp>
            <p:nvSpPr>
              <p:cNvPr id="1024" name="矩形 1023">
                <a:extLst>
                  <a:ext uri="{FF2B5EF4-FFF2-40B4-BE49-F238E27FC236}">
                    <a16:creationId xmlns:a16="http://schemas.microsoft.com/office/drawing/2014/main" id="{BED9468A-F46E-0793-0105-ED1712AB3A04}"/>
                  </a:ext>
                </a:extLst>
              </p:cNvPr>
              <p:cNvSpPr/>
              <p:nvPr/>
            </p:nvSpPr>
            <p:spPr>
              <a:xfrm>
                <a:off x="657860" y="5171078"/>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025" name="矩形 1024">
                <a:extLst>
                  <a:ext uri="{FF2B5EF4-FFF2-40B4-BE49-F238E27FC236}">
                    <a16:creationId xmlns:a16="http://schemas.microsoft.com/office/drawing/2014/main" id="{C75238B2-B9A7-5028-F843-46787C11236B}"/>
                  </a:ext>
                </a:extLst>
              </p:cNvPr>
              <p:cNvSpPr/>
              <p:nvPr/>
            </p:nvSpPr>
            <p:spPr>
              <a:xfrm>
                <a:off x="657859" y="4908849"/>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027" name="矩形 1026">
                <a:extLst>
                  <a:ext uri="{FF2B5EF4-FFF2-40B4-BE49-F238E27FC236}">
                    <a16:creationId xmlns:a16="http://schemas.microsoft.com/office/drawing/2014/main" id="{02B4D77F-5D74-AB37-6406-0AE21A4FE408}"/>
                  </a:ext>
                </a:extLst>
              </p:cNvPr>
              <p:cNvSpPr/>
              <p:nvPr/>
            </p:nvSpPr>
            <p:spPr>
              <a:xfrm>
                <a:off x="657858" y="4642539"/>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MicroK8S</a:t>
                </a:r>
                <a:endParaRPr lang="zh-TW" altLang="en-US" sz="1100" b="1">
                  <a:solidFill>
                    <a:schemeClr val="tx1"/>
                  </a:solidFill>
                </a:endParaRPr>
              </a:p>
            </p:txBody>
          </p:sp>
          <p:pic>
            <p:nvPicPr>
              <p:cNvPr id="1028" name="Picture 2" descr="Ubuntu and Canonical - BrightTALK">
                <a:extLst>
                  <a:ext uri="{FF2B5EF4-FFF2-40B4-BE49-F238E27FC236}">
                    <a16:creationId xmlns:a16="http://schemas.microsoft.com/office/drawing/2014/main" id="{5B88697F-C621-BB65-995F-6612EC0EE45C}"/>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821117" y="4941991"/>
                <a:ext cx="142995" cy="211631"/>
              </a:xfrm>
              <a:prstGeom prst="rect">
                <a:avLst/>
              </a:prstGeom>
              <a:noFill/>
              <a:extLst>
                <a:ext uri="{909E8E84-426E-40DD-AFC4-6F175D3DCCD1}">
                  <a14:hiddenFill xmlns:a14="http://schemas.microsoft.com/office/drawing/2010/main">
                    <a:solidFill>
                      <a:srgbClr val="FFFFFF"/>
                    </a:solidFill>
                  </a14:hiddenFill>
                </a:ext>
              </a:extLst>
            </p:spPr>
          </p:pic>
          <p:pic>
            <p:nvPicPr>
              <p:cNvPr id="1029" name="圖片 1028">
                <a:extLst>
                  <a:ext uri="{FF2B5EF4-FFF2-40B4-BE49-F238E27FC236}">
                    <a16:creationId xmlns:a16="http://schemas.microsoft.com/office/drawing/2014/main" id="{90A7BE16-1BA6-4864-87D7-89302C58FB16}"/>
                  </a:ext>
                </a:extLst>
              </p:cNvPr>
              <p:cNvPicPr>
                <a:picLocks noChangeAspect="1"/>
              </p:cNvPicPr>
              <p:nvPr/>
            </p:nvPicPr>
            <p:blipFill rotWithShape="1">
              <a:blip r:embed="rId9">
                <a:clrChange>
                  <a:clrFrom>
                    <a:srgbClr val="FFFFFF"/>
                  </a:clrFrom>
                  <a:clrTo>
                    <a:srgbClr val="FFFFFF">
                      <a:alpha val="0"/>
                    </a:srgbClr>
                  </a:clrTo>
                </a:clrChange>
              </a:blip>
              <a:srcRect r="78011" b="-31079"/>
              <a:stretch/>
            </p:blipFill>
            <p:spPr>
              <a:xfrm>
                <a:off x="840437" y="4673658"/>
                <a:ext cx="105945" cy="270708"/>
              </a:xfrm>
              <a:prstGeom prst="rect">
                <a:avLst/>
              </a:prstGeom>
            </p:spPr>
          </p:pic>
          <p:sp>
            <p:nvSpPr>
              <p:cNvPr id="1030" name="矩形 1029">
                <a:extLst>
                  <a:ext uri="{FF2B5EF4-FFF2-40B4-BE49-F238E27FC236}">
                    <a16:creationId xmlns:a16="http://schemas.microsoft.com/office/drawing/2014/main" id="{51F8458E-C914-CFA9-4044-797714A892DD}"/>
                  </a:ext>
                </a:extLst>
              </p:cNvPr>
              <p:cNvSpPr/>
              <p:nvPr/>
            </p:nvSpPr>
            <p:spPr>
              <a:xfrm>
                <a:off x="657858" y="4475341"/>
                <a:ext cx="1349869" cy="170878"/>
              </a:xfrm>
              <a:prstGeom prst="rect">
                <a:avLst/>
              </a:prstGeom>
              <a:solidFill>
                <a:srgbClr val="F8CE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800" b="1" err="1">
                    <a:solidFill>
                      <a:schemeClr val="tx1"/>
                    </a:solidFill>
                  </a:rPr>
                  <a:t>etcd</a:t>
                </a:r>
                <a:r>
                  <a:rPr lang="zh-TW" altLang="en-US" sz="800" b="1">
                    <a:solidFill>
                      <a:schemeClr val="tx1"/>
                    </a:solidFill>
                  </a:rPr>
                  <a:t>、</a:t>
                </a:r>
                <a:r>
                  <a:rPr lang="en-US" altLang="zh-TW" sz="800" b="1" err="1">
                    <a:solidFill>
                      <a:schemeClr val="tx1"/>
                    </a:solidFill>
                  </a:rPr>
                  <a:t>kube</a:t>
                </a:r>
                <a:r>
                  <a:rPr lang="en-US" altLang="zh-TW" sz="800" b="1">
                    <a:solidFill>
                      <a:schemeClr val="tx1"/>
                    </a:solidFill>
                  </a:rPr>
                  <a:t>-scheduler</a:t>
                </a:r>
                <a:r>
                  <a:rPr lang="zh-TW" altLang="en-US" sz="800" b="1">
                    <a:solidFill>
                      <a:schemeClr val="tx1"/>
                    </a:solidFill>
                  </a:rPr>
                  <a:t>、</a:t>
                </a:r>
                <a:r>
                  <a:rPr lang="en-US" altLang="zh-TW" sz="800" b="1">
                    <a:solidFill>
                      <a:schemeClr val="tx1"/>
                    </a:solidFill>
                  </a:rPr>
                  <a:t>controllers</a:t>
                </a:r>
                <a:endParaRPr lang="zh-TW" altLang="en-US" sz="800" b="1">
                  <a:solidFill>
                    <a:schemeClr val="tx1"/>
                  </a:solidFill>
                </a:endParaRPr>
              </a:p>
            </p:txBody>
          </p:sp>
          <p:sp>
            <p:nvSpPr>
              <p:cNvPr id="1035" name="矩形 1034">
                <a:extLst>
                  <a:ext uri="{FF2B5EF4-FFF2-40B4-BE49-F238E27FC236}">
                    <a16:creationId xmlns:a16="http://schemas.microsoft.com/office/drawing/2014/main" id="{F19C0CC0-2CB0-40FC-8C6D-DB5D7177AFF5}"/>
                  </a:ext>
                </a:extLst>
              </p:cNvPr>
              <p:cNvSpPr/>
              <p:nvPr/>
            </p:nvSpPr>
            <p:spPr>
              <a:xfrm>
                <a:off x="568960" y="4329250"/>
                <a:ext cx="1534160" cy="14416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bIns="36000" rtlCol="0" anchor="b" anchorCtr="0"/>
              <a:lstStyle/>
              <a:p>
                <a:pPr algn="ctr"/>
                <a:r>
                  <a:rPr lang="en-US" altLang="zh-TW" sz="1000" b="1">
                    <a:solidFill>
                      <a:schemeClr val="tx1"/>
                    </a:solidFill>
                  </a:rPr>
                  <a:t>Master Node</a:t>
                </a:r>
                <a:endParaRPr lang="zh-TW" altLang="en-US" sz="1000" b="1">
                  <a:solidFill>
                    <a:schemeClr val="tx1"/>
                  </a:solidFill>
                </a:endParaRPr>
              </a:p>
            </p:txBody>
          </p:sp>
        </p:grpSp>
      </p:grpSp>
      <p:grpSp>
        <p:nvGrpSpPr>
          <p:cNvPr id="1052" name="群組 1051">
            <a:extLst>
              <a:ext uri="{FF2B5EF4-FFF2-40B4-BE49-F238E27FC236}">
                <a16:creationId xmlns:a16="http://schemas.microsoft.com/office/drawing/2014/main" id="{2C92A5BE-D68D-DCAA-7B5B-AF6AF6A3D430}"/>
              </a:ext>
            </a:extLst>
          </p:cNvPr>
          <p:cNvGrpSpPr/>
          <p:nvPr/>
        </p:nvGrpSpPr>
        <p:grpSpPr>
          <a:xfrm>
            <a:off x="5174341" y="4632175"/>
            <a:ext cx="1349872" cy="1147714"/>
            <a:chOff x="6255086" y="4865643"/>
            <a:chExt cx="1349872" cy="1147714"/>
          </a:xfrm>
        </p:grpSpPr>
        <p:sp>
          <p:nvSpPr>
            <p:cNvPr id="1039" name="矩形 1038">
              <a:extLst>
                <a:ext uri="{FF2B5EF4-FFF2-40B4-BE49-F238E27FC236}">
                  <a16:creationId xmlns:a16="http://schemas.microsoft.com/office/drawing/2014/main" id="{42671C84-4456-A7AB-4948-50690D2F9318}"/>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040" name="矩形 1039">
              <a:extLst>
                <a:ext uri="{FF2B5EF4-FFF2-40B4-BE49-F238E27FC236}">
                  <a16:creationId xmlns:a16="http://schemas.microsoft.com/office/drawing/2014/main" id="{D7CB4E35-1BD3-5949-4660-0DEC14726D2A}"/>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041" name="矩形 1040">
              <a:extLst>
                <a:ext uri="{FF2B5EF4-FFF2-40B4-BE49-F238E27FC236}">
                  <a16:creationId xmlns:a16="http://schemas.microsoft.com/office/drawing/2014/main" id="{C2C954A3-4F17-F342-3781-FBEFF5A0C276}"/>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042" name="Picture 2" descr="Ubuntu and Canonical - BrightTALK">
              <a:extLst>
                <a:ext uri="{FF2B5EF4-FFF2-40B4-BE49-F238E27FC236}">
                  <a16:creationId xmlns:a16="http://schemas.microsoft.com/office/drawing/2014/main" id="{7CAAB5E1-DBE9-182F-9ED9-4FE9FEF5AE07}"/>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051" name="矩形 1050">
              <a:extLst>
                <a:ext uri="{FF2B5EF4-FFF2-40B4-BE49-F238E27FC236}">
                  <a16:creationId xmlns:a16="http://schemas.microsoft.com/office/drawing/2014/main" id="{ABA05E42-BDF8-855E-3081-5E6D40705409}"/>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080" name="群組 1079">
            <a:extLst>
              <a:ext uri="{FF2B5EF4-FFF2-40B4-BE49-F238E27FC236}">
                <a16:creationId xmlns:a16="http://schemas.microsoft.com/office/drawing/2014/main" id="{6B8DC8C6-A4E5-20EF-5861-EF5C6DA8544D}"/>
              </a:ext>
            </a:extLst>
          </p:cNvPr>
          <p:cNvGrpSpPr/>
          <p:nvPr/>
        </p:nvGrpSpPr>
        <p:grpSpPr>
          <a:xfrm>
            <a:off x="5234488" y="4681181"/>
            <a:ext cx="1349872" cy="1147714"/>
            <a:chOff x="6255086" y="4865643"/>
            <a:chExt cx="1349872" cy="1147714"/>
          </a:xfrm>
        </p:grpSpPr>
        <p:sp>
          <p:nvSpPr>
            <p:cNvPr id="1081" name="矩形 1080">
              <a:extLst>
                <a:ext uri="{FF2B5EF4-FFF2-40B4-BE49-F238E27FC236}">
                  <a16:creationId xmlns:a16="http://schemas.microsoft.com/office/drawing/2014/main" id="{9610C768-B7D7-97F9-067D-618984558DD9}"/>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082" name="矩形 1081">
              <a:extLst>
                <a:ext uri="{FF2B5EF4-FFF2-40B4-BE49-F238E27FC236}">
                  <a16:creationId xmlns:a16="http://schemas.microsoft.com/office/drawing/2014/main" id="{1E80F46E-42AD-C001-EF1E-A70C256A04D4}"/>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083" name="矩形 1082">
              <a:extLst>
                <a:ext uri="{FF2B5EF4-FFF2-40B4-BE49-F238E27FC236}">
                  <a16:creationId xmlns:a16="http://schemas.microsoft.com/office/drawing/2014/main" id="{CC17F74B-93B3-5CC4-AB96-C188D0BA9210}"/>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084" name="Picture 2" descr="Ubuntu and Canonical - BrightTALK">
              <a:extLst>
                <a:ext uri="{FF2B5EF4-FFF2-40B4-BE49-F238E27FC236}">
                  <a16:creationId xmlns:a16="http://schemas.microsoft.com/office/drawing/2014/main" id="{C8DA5D3A-6265-9796-4316-0207F4EF49EA}"/>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085" name="矩形 1084">
              <a:extLst>
                <a:ext uri="{FF2B5EF4-FFF2-40B4-BE49-F238E27FC236}">
                  <a16:creationId xmlns:a16="http://schemas.microsoft.com/office/drawing/2014/main" id="{7700642E-7621-FB9F-BB8D-AF0895CEF9E2}"/>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092" name="群組 1091">
            <a:extLst>
              <a:ext uri="{FF2B5EF4-FFF2-40B4-BE49-F238E27FC236}">
                <a16:creationId xmlns:a16="http://schemas.microsoft.com/office/drawing/2014/main" id="{E950D8A3-7A66-A601-C343-9D65A967D459}"/>
              </a:ext>
            </a:extLst>
          </p:cNvPr>
          <p:cNvGrpSpPr/>
          <p:nvPr/>
        </p:nvGrpSpPr>
        <p:grpSpPr>
          <a:xfrm>
            <a:off x="6847409" y="4634365"/>
            <a:ext cx="1349872" cy="1147714"/>
            <a:chOff x="6255086" y="4865643"/>
            <a:chExt cx="1349872" cy="1147714"/>
          </a:xfrm>
        </p:grpSpPr>
        <p:sp>
          <p:nvSpPr>
            <p:cNvPr id="1093" name="矩形 1092">
              <a:extLst>
                <a:ext uri="{FF2B5EF4-FFF2-40B4-BE49-F238E27FC236}">
                  <a16:creationId xmlns:a16="http://schemas.microsoft.com/office/drawing/2014/main" id="{CD83302D-4689-DBA8-6B40-1C5F07E9B051}"/>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094" name="矩形 1093">
              <a:extLst>
                <a:ext uri="{FF2B5EF4-FFF2-40B4-BE49-F238E27FC236}">
                  <a16:creationId xmlns:a16="http://schemas.microsoft.com/office/drawing/2014/main" id="{61D03EE4-8B91-84EA-8E46-F6D30E6C0E8C}"/>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095" name="矩形 1094">
              <a:extLst>
                <a:ext uri="{FF2B5EF4-FFF2-40B4-BE49-F238E27FC236}">
                  <a16:creationId xmlns:a16="http://schemas.microsoft.com/office/drawing/2014/main" id="{7624C30C-7761-4146-298B-5FE51415E41E}"/>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096" name="Picture 2" descr="Ubuntu and Canonical - BrightTALK">
              <a:extLst>
                <a:ext uri="{FF2B5EF4-FFF2-40B4-BE49-F238E27FC236}">
                  <a16:creationId xmlns:a16="http://schemas.microsoft.com/office/drawing/2014/main" id="{FF542433-800B-ADDA-7F5C-EDCA56A58189}"/>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097" name="矩形 1096">
              <a:extLst>
                <a:ext uri="{FF2B5EF4-FFF2-40B4-BE49-F238E27FC236}">
                  <a16:creationId xmlns:a16="http://schemas.microsoft.com/office/drawing/2014/main" id="{0158B6EA-D873-85E1-38ED-6C75B7726F8C}"/>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098" name="群組 1097">
            <a:extLst>
              <a:ext uri="{FF2B5EF4-FFF2-40B4-BE49-F238E27FC236}">
                <a16:creationId xmlns:a16="http://schemas.microsoft.com/office/drawing/2014/main" id="{3B143891-F279-DF65-7F49-7BC606BAEA14}"/>
              </a:ext>
            </a:extLst>
          </p:cNvPr>
          <p:cNvGrpSpPr/>
          <p:nvPr/>
        </p:nvGrpSpPr>
        <p:grpSpPr>
          <a:xfrm>
            <a:off x="6907556" y="4683371"/>
            <a:ext cx="1349872" cy="1147714"/>
            <a:chOff x="6255086" y="4865643"/>
            <a:chExt cx="1349872" cy="1147714"/>
          </a:xfrm>
        </p:grpSpPr>
        <p:sp>
          <p:nvSpPr>
            <p:cNvPr id="1099" name="矩形 1098">
              <a:extLst>
                <a:ext uri="{FF2B5EF4-FFF2-40B4-BE49-F238E27FC236}">
                  <a16:creationId xmlns:a16="http://schemas.microsoft.com/office/drawing/2014/main" id="{1A8993C8-5FEF-47DE-2467-410D6108EB55}"/>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00" name="矩形 1099">
              <a:extLst>
                <a:ext uri="{FF2B5EF4-FFF2-40B4-BE49-F238E27FC236}">
                  <a16:creationId xmlns:a16="http://schemas.microsoft.com/office/drawing/2014/main" id="{B6A3477C-D7FC-86BD-EFBA-EACF5F419482}"/>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01" name="矩形 1100">
              <a:extLst>
                <a:ext uri="{FF2B5EF4-FFF2-40B4-BE49-F238E27FC236}">
                  <a16:creationId xmlns:a16="http://schemas.microsoft.com/office/drawing/2014/main" id="{CC195957-9604-BEB1-8039-9BA269F6D787}"/>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02" name="Picture 2" descr="Ubuntu and Canonical - BrightTALK">
              <a:extLst>
                <a:ext uri="{FF2B5EF4-FFF2-40B4-BE49-F238E27FC236}">
                  <a16:creationId xmlns:a16="http://schemas.microsoft.com/office/drawing/2014/main" id="{3B9900E5-E8E2-9BAC-ED82-A0BBF4A6FF2E}"/>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03" name="矩形 1102">
              <a:extLst>
                <a:ext uri="{FF2B5EF4-FFF2-40B4-BE49-F238E27FC236}">
                  <a16:creationId xmlns:a16="http://schemas.microsoft.com/office/drawing/2014/main" id="{6515979C-FB4D-690D-7FD1-CA6840D68E95}"/>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04" name="群組 1103">
            <a:extLst>
              <a:ext uri="{FF2B5EF4-FFF2-40B4-BE49-F238E27FC236}">
                <a16:creationId xmlns:a16="http://schemas.microsoft.com/office/drawing/2014/main" id="{AE48C604-15FD-BDD2-B8CB-E375E80B82F3}"/>
              </a:ext>
            </a:extLst>
          </p:cNvPr>
          <p:cNvGrpSpPr/>
          <p:nvPr/>
        </p:nvGrpSpPr>
        <p:grpSpPr>
          <a:xfrm>
            <a:off x="6991042" y="4766636"/>
            <a:ext cx="1349872" cy="1147714"/>
            <a:chOff x="6255086" y="4865643"/>
            <a:chExt cx="1349872" cy="1147714"/>
          </a:xfrm>
        </p:grpSpPr>
        <p:sp>
          <p:nvSpPr>
            <p:cNvPr id="1105" name="矩形 1104">
              <a:extLst>
                <a:ext uri="{FF2B5EF4-FFF2-40B4-BE49-F238E27FC236}">
                  <a16:creationId xmlns:a16="http://schemas.microsoft.com/office/drawing/2014/main" id="{15F952E0-DC8D-FD03-33FF-2B1E0E509815}"/>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06" name="矩形 1105">
              <a:extLst>
                <a:ext uri="{FF2B5EF4-FFF2-40B4-BE49-F238E27FC236}">
                  <a16:creationId xmlns:a16="http://schemas.microsoft.com/office/drawing/2014/main" id="{A7C64ED5-EE12-4295-2A01-0923E4E3046E}"/>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07" name="矩形 1106">
              <a:extLst>
                <a:ext uri="{FF2B5EF4-FFF2-40B4-BE49-F238E27FC236}">
                  <a16:creationId xmlns:a16="http://schemas.microsoft.com/office/drawing/2014/main" id="{72EFE889-DE87-ADDB-E436-906DE9CEC8A0}"/>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08" name="Picture 2" descr="Ubuntu and Canonical - BrightTALK">
              <a:extLst>
                <a:ext uri="{FF2B5EF4-FFF2-40B4-BE49-F238E27FC236}">
                  <a16:creationId xmlns:a16="http://schemas.microsoft.com/office/drawing/2014/main" id="{4E185BEA-DE1B-6FE6-062E-793474A6EEF1}"/>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09" name="矩形 1108">
              <a:extLst>
                <a:ext uri="{FF2B5EF4-FFF2-40B4-BE49-F238E27FC236}">
                  <a16:creationId xmlns:a16="http://schemas.microsoft.com/office/drawing/2014/main" id="{73804689-C0AA-3452-23C7-4B7E1E26F634}"/>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10" name="群組 1109">
            <a:extLst>
              <a:ext uri="{FF2B5EF4-FFF2-40B4-BE49-F238E27FC236}">
                <a16:creationId xmlns:a16="http://schemas.microsoft.com/office/drawing/2014/main" id="{ED34EEEB-B9ED-7497-EDA3-56B5864DC18E}"/>
              </a:ext>
            </a:extLst>
          </p:cNvPr>
          <p:cNvGrpSpPr/>
          <p:nvPr/>
        </p:nvGrpSpPr>
        <p:grpSpPr>
          <a:xfrm>
            <a:off x="7060136" y="4851843"/>
            <a:ext cx="1349872" cy="1147714"/>
            <a:chOff x="6255086" y="4865643"/>
            <a:chExt cx="1349872" cy="1147714"/>
          </a:xfrm>
        </p:grpSpPr>
        <p:sp>
          <p:nvSpPr>
            <p:cNvPr id="1111" name="矩形 1110">
              <a:extLst>
                <a:ext uri="{FF2B5EF4-FFF2-40B4-BE49-F238E27FC236}">
                  <a16:creationId xmlns:a16="http://schemas.microsoft.com/office/drawing/2014/main" id="{463328C9-A752-3327-8077-661E4BA1614C}"/>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12" name="矩形 1111">
              <a:extLst>
                <a:ext uri="{FF2B5EF4-FFF2-40B4-BE49-F238E27FC236}">
                  <a16:creationId xmlns:a16="http://schemas.microsoft.com/office/drawing/2014/main" id="{48D0BA6D-F652-AD45-2E0B-5672EE9A009A}"/>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13" name="矩形 1112">
              <a:extLst>
                <a:ext uri="{FF2B5EF4-FFF2-40B4-BE49-F238E27FC236}">
                  <a16:creationId xmlns:a16="http://schemas.microsoft.com/office/drawing/2014/main" id="{B8F7820D-A6BE-FCAA-D8AE-1A094E114156}"/>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14" name="Picture 2" descr="Ubuntu and Canonical - BrightTALK">
              <a:extLst>
                <a:ext uri="{FF2B5EF4-FFF2-40B4-BE49-F238E27FC236}">
                  <a16:creationId xmlns:a16="http://schemas.microsoft.com/office/drawing/2014/main" id="{8D5D0F5C-7093-99DF-F8F2-AAC6AF9633B9}"/>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15" name="矩形 1114">
              <a:extLst>
                <a:ext uri="{FF2B5EF4-FFF2-40B4-BE49-F238E27FC236}">
                  <a16:creationId xmlns:a16="http://schemas.microsoft.com/office/drawing/2014/main" id="{E6F010E2-4464-BB01-0A53-A8614D9C2F29}"/>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23" name="群組 1122">
            <a:extLst>
              <a:ext uri="{FF2B5EF4-FFF2-40B4-BE49-F238E27FC236}">
                <a16:creationId xmlns:a16="http://schemas.microsoft.com/office/drawing/2014/main" id="{4794B657-F1CB-B1C2-5DF3-5C7AD5D9FD4B}"/>
              </a:ext>
            </a:extLst>
          </p:cNvPr>
          <p:cNvGrpSpPr/>
          <p:nvPr/>
        </p:nvGrpSpPr>
        <p:grpSpPr>
          <a:xfrm>
            <a:off x="8635175" y="4631619"/>
            <a:ext cx="1349872" cy="1147714"/>
            <a:chOff x="6255086" y="4865643"/>
            <a:chExt cx="1349872" cy="1147714"/>
          </a:xfrm>
        </p:grpSpPr>
        <p:sp>
          <p:nvSpPr>
            <p:cNvPr id="1124" name="矩形 1123">
              <a:extLst>
                <a:ext uri="{FF2B5EF4-FFF2-40B4-BE49-F238E27FC236}">
                  <a16:creationId xmlns:a16="http://schemas.microsoft.com/office/drawing/2014/main" id="{566F1996-0815-15ED-C9E9-93CCEC002FDA}"/>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25" name="矩形 1124">
              <a:extLst>
                <a:ext uri="{FF2B5EF4-FFF2-40B4-BE49-F238E27FC236}">
                  <a16:creationId xmlns:a16="http://schemas.microsoft.com/office/drawing/2014/main" id="{F7F792A7-4585-D4A3-2AED-09CB1B323A29}"/>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26" name="矩形 1125">
              <a:extLst>
                <a:ext uri="{FF2B5EF4-FFF2-40B4-BE49-F238E27FC236}">
                  <a16:creationId xmlns:a16="http://schemas.microsoft.com/office/drawing/2014/main" id="{EF143848-B847-07F2-CC44-C6D00E9EDDAC}"/>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27" name="Picture 2" descr="Ubuntu and Canonical - BrightTALK">
              <a:extLst>
                <a:ext uri="{FF2B5EF4-FFF2-40B4-BE49-F238E27FC236}">
                  <a16:creationId xmlns:a16="http://schemas.microsoft.com/office/drawing/2014/main" id="{5D58B2AC-1BBE-E7DA-F0C1-53E8B667C6E0}"/>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28" name="矩形 1127">
              <a:extLst>
                <a:ext uri="{FF2B5EF4-FFF2-40B4-BE49-F238E27FC236}">
                  <a16:creationId xmlns:a16="http://schemas.microsoft.com/office/drawing/2014/main" id="{3B7FD9C4-374A-685F-311F-DE49612A28AB}"/>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29" name="群組 1128">
            <a:extLst>
              <a:ext uri="{FF2B5EF4-FFF2-40B4-BE49-F238E27FC236}">
                <a16:creationId xmlns:a16="http://schemas.microsoft.com/office/drawing/2014/main" id="{DFA41A96-958C-D51A-461C-FFD351DE31A7}"/>
              </a:ext>
            </a:extLst>
          </p:cNvPr>
          <p:cNvGrpSpPr/>
          <p:nvPr/>
        </p:nvGrpSpPr>
        <p:grpSpPr>
          <a:xfrm>
            <a:off x="8695322" y="4680625"/>
            <a:ext cx="1349872" cy="1147714"/>
            <a:chOff x="6255086" y="4865643"/>
            <a:chExt cx="1349872" cy="1147714"/>
          </a:xfrm>
        </p:grpSpPr>
        <p:sp>
          <p:nvSpPr>
            <p:cNvPr id="1130" name="矩形 1129">
              <a:extLst>
                <a:ext uri="{FF2B5EF4-FFF2-40B4-BE49-F238E27FC236}">
                  <a16:creationId xmlns:a16="http://schemas.microsoft.com/office/drawing/2014/main" id="{27806384-08B2-7208-9D3C-DE4F3166A329}"/>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31" name="矩形 1130">
              <a:extLst>
                <a:ext uri="{FF2B5EF4-FFF2-40B4-BE49-F238E27FC236}">
                  <a16:creationId xmlns:a16="http://schemas.microsoft.com/office/drawing/2014/main" id="{3F368868-4A1E-B911-F7D4-629AA17ADAE6}"/>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32" name="矩形 1131">
              <a:extLst>
                <a:ext uri="{FF2B5EF4-FFF2-40B4-BE49-F238E27FC236}">
                  <a16:creationId xmlns:a16="http://schemas.microsoft.com/office/drawing/2014/main" id="{85EC23BA-3D8F-0779-662C-3B1E3058AF48}"/>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33" name="Picture 2" descr="Ubuntu and Canonical - BrightTALK">
              <a:extLst>
                <a:ext uri="{FF2B5EF4-FFF2-40B4-BE49-F238E27FC236}">
                  <a16:creationId xmlns:a16="http://schemas.microsoft.com/office/drawing/2014/main" id="{2C6786B8-CF56-FA6E-75F8-51B4A74CBD9F}"/>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34" name="矩形 1133">
              <a:extLst>
                <a:ext uri="{FF2B5EF4-FFF2-40B4-BE49-F238E27FC236}">
                  <a16:creationId xmlns:a16="http://schemas.microsoft.com/office/drawing/2014/main" id="{72ED3BEE-A6D4-6C3B-92A8-F3400C6804B7}"/>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35" name="群組 1134">
            <a:extLst>
              <a:ext uri="{FF2B5EF4-FFF2-40B4-BE49-F238E27FC236}">
                <a16:creationId xmlns:a16="http://schemas.microsoft.com/office/drawing/2014/main" id="{E70F07E3-BF71-9D01-BE41-0B6AB209F3F5}"/>
              </a:ext>
            </a:extLst>
          </p:cNvPr>
          <p:cNvGrpSpPr/>
          <p:nvPr/>
        </p:nvGrpSpPr>
        <p:grpSpPr>
          <a:xfrm>
            <a:off x="8778808" y="4763890"/>
            <a:ext cx="1349872" cy="1147714"/>
            <a:chOff x="6255086" y="4865643"/>
            <a:chExt cx="1349872" cy="1147714"/>
          </a:xfrm>
        </p:grpSpPr>
        <p:sp>
          <p:nvSpPr>
            <p:cNvPr id="1136" name="矩形 1135">
              <a:extLst>
                <a:ext uri="{FF2B5EF4-FFF2-40B4-BE49-F238E27FC236}">
                  <a16:creationId xmlns:a16="http://schemas.microsoft.com/office/drawing/2014/main" id="{DD68AA47-BE61-3D25-AD83-B73E2D340D93}"/>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37" name="矩形 1136">
              <a:extLst>
                <a:ext uri="{FF2B5EF4-FFF2-40B4-BE49-F238E27FC236}">
                  <a16:creationId xmlns:a16="http://schemas.microsoft.com/office/drawing/2014/main" id="{F4B48998-2764-E1F9-6D37-35A698C6A9BA}"/>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38" name="矩形 1137">
              <a:extLst>
                <a:ext uri="{FF2B5EF4-FFF2-40B4-BE49-F238E27FC236}">
                  <a16:creationId xmlns:a16="http://schemas.microsoft.com/office/drawing/2014/main" id="{AD7FBE55-F9D8-17F1-8614-ED49AFF633F2}"/>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39" name="Picture 2" descr="Ubuntu and Canonical - BrightTALK">
              <a:extLst>
                <a:ext uri="{FF2B5EF4-FFF2-40B4-BE49-F238E27FC236}">
                  <a16:creationId xmlns:a16="http://schemas.microsoft.com/office/drawing/2014/main" id="{A2E989E7-3076-5D3F-3D69-8CBBC9F6CB40}"/>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40" name="矩形 1139">
              <a:extLst>
                <a:ext uri="{FF2B5EF4-FFF2-40B4-BE49-F238E27FC236}">
                  <a16:creationId xmlns:a16="http://schemas.microsoft.com/office/drawing/2014/main" id="{03E9E298-9F83-1015-AEDE-2B13E2BD2DB3}"/>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41" name="群組 1140">
            <a:extLst>
              <a:ext uri="{FF2B5EF4-FFF2-40B4-BE49-F238E27FC236}">
                <a16:creationId xmlns:a16="http://schemas.microsoft.com/office/drawing/2014/main" id="{8A3154C1-4A26-9A24-2CA0-0304AB12B67A}"/>
              </a:ext>
            </a:extLst>
          </p:cNvPr>
          <p:cNvGrpSpPr/>
          <p:nvPr/>
        </p:nvGrpSpPr>
        <p:grpSpPr>
          <a:xfrm>
            <a:off x="8847902" y="4849097"/>
            <a:ext cx="1349872" cy="1147714"/>
            <a:chOff x="6255086" y="4865643"/>
            <a:chExt cx="1349872" cy="1147714"/>
          </a:xfrm>
        </p:grpSpPr>
        <p:sp>
          <p:nvSpPr>
            <p:cNvPr id="1142" name="矩形 1141">
              <a:extLst>
                <a:ext uri="{FF2B5EF4-FFF2-40B4-BE49-F238E27FC236}">
                  <a16:creationId xmlns:a16="http://schemas.microsoft.com/office/drawing/2014/main" id="{DEFDB07E-DEA6-4EE0-6D0A-305BC5F55141}"/>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43" name="矩形 1142">
              <a:extLst>
                <a:ext uri="{FF2B5EF4-FFF2-40B4-BE49-F238E27FC236}">
                  <a16:creationId xmlns:a16="http://schemas.microsoft.com/office/drawing/2014/main" id="{26F3CEB6-F36D-FCA1-2116-12B3EBBA39AD}"/>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44" name="矩形 1143">
              <a:extLst>
                <a:ext uri="{FF2B5EF4-FFF2-40B4-BE49-F238E27FC236}">
                  <a16:creationId xmlns:a16="http://schemas.microsoft.com/office/drawing/2014/main" id="{72FF15C8-8421-1C1B-10EC-0DA4E9B53C16}"/>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45" name="Picture 2" descr="Ubuntu and Canonical - BrightTALK">
              <a:extLst>
                <a:ext uri="{FF2B5EF4-FFF2-40B4-BE49-F238E27FC236}">
                  <a16:creationId xmlns:a16="http://schemas.microsoft.com/office/drawing/2014/main" id="{CC2A9261-183A-44E1-51EE-26C540D8D006}"/>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46" name="矩形 1145">
              <a:extLst>
                <a:ext uri="{FF2B5EF4-FFF2-40B4-BE49-F238E27FC236}">
                  <a16:creationId xmlns:a16="http://schemas.microsoft.com/office/drawing/2014/main" id="{3400BFC2-6B04-D650-9DC7-AF7ECF269D2B}"/>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47" name="群組 1146">
            <a:extLst>
              <a:ext uri="{FF2B5EF4-FFF2-40B4-BE49-F238E27FC236}">
                <a16:creationId xmlns:a16="http://schemas.microsoft.com/office/drawing/2014/main" id="{BD1A1717-144E-5362-AEE3-B0F25C3A89A8}"/>
              </a:ext>
            </a:extLst>
          </p:cNvPr>
          <p:cNvGrpSpPr/>
          <p:nvPr/>
        </p:nvGrpSpPr>
        <p:grpSpPr>
          <a:xfrm>
            <a:off x="8907030" y="4932483"/>
            <a:ext cx="1349872" cy="1147714"/>
            <a:chOff x="6255086" y="4865643"/>
            <a:chExt cx="1349872" cy="1147714"/>
          </a:xfrm>
        </p:grpSpPr>
        <p:sp>
          <p:nvSpPr>
            <p:cNvPr id="1148" name="矩形 1147">
              <a:extLst>
                <a:ext uri="{FF2B5EF4-FFF2-40B4-BE49-F238E27FC236}">
                  <a16:creationId xmlns:a16="http://schemas.microsoft.com/office/drawing/2014/main" id="{D92D11EC-C5E2-BD34-6FBE-34B4E9BD31FD}"/>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49" name="矩形 1148">
              <a:extLst>
                <a:ext uri="{FF2B5EF4-FFF2-40B4-BE49-F238E27FC236}">
                  <a16:creationId xmlns:a16="http://schemas.microsoft.com/office/drawing/2014/main" id="{AC8F7B5B-6B71-5841-3F09-FBE129204A95}"/>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50" name="矩形 1149">
              <a:extLst>
                <a:ext uri="{FF2B5EF4-FFF2-40B4-BE49-F238E27FC236}">
                  <a16:creationId xmlns:a16="http://schemas.microsoft.com/office/drawing/2014/main" id="{94FE39E7-D1B0-629F-F297-7E4C6CC64838}"/>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51" name="Picture 2" descr="Ubuntu and Canonical - BrightTALK">
              <a:extLst>
                <a:ext uri="{FF2B5EF4-FFF2-40B4-BE49-F238E27FC236}">
                  <a16:creationId xmlns:a16="http://schemas.microsoft.com/office/drawing/2014/main" id="{4A11DA80-EB98-9103-E198-A92166CF2729}"/>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52" name="矩形 1151">
              <a:extLst>
                <a:ext uri="{FF2B5EF4-FFF2-40B4-BE49-F238E27FC236}">
                  <a16:creationId xmlns:a16="http://schemas.microsoft.com/office/drawing/2014/main" id="{9CB2FA4F-B11B-BEF6-2651-2B83A37447A7}"/>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53" name="群組 1152">
            <a:extLst>
              <a:ext uri="{FF2B5EF4-FFF2-40B4-BE49-F238E27FC236}">
                <a16:creationId xmlns:a16="http://schemas.microsoft.com/office/drawing/2014/main" id="{97FAEFC3-6283-C4C1-74AD-6E1C9F1070B8}"/>
              </a:ext>
            </a:extLst>
          </p:cNvPr>
          <p:cNvGrpSpPr/>
          <p:nvPr/>
        </p:nvGrpSpPr>
        <p:grpSpPr>
          <a:xfrm>
            <a:off x="8977328" y="5002262"/>
            <a:ext cx="1349872" cy="1147714"/>
            <a:chOff x="6255086" y="4865643"/>
            <a:chExt cx="1349872" cy="1147714"/>
          </a:xfrm>
        </p:grpSpPr>
        <p:sp>
          <p:nvSpPr>
            <p:cNvPr id="1154" name="矩形 1153">
              <a:extLst>
                <a:ext uri="{FF2B5EF4-FFF2-40B4-BE49-F238E27FC236}">
                  <a16:creationId xmlns:a16="http://schemas.microsoft.com/office/drawing/2014/main" id="{D0FF93AB-21C6-ABB3-4C9B-B606316118DA}"/>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55" name="矩形 1154">
              <a:extLst>
                <a:ext uri="{FF2B5EF4-FFF2-40B4-BE49-F238E27FC236}">
                  <a16:creationId xmlns:a16="http://schemas.microsoft.com/office/drawing/2014/main" id="{58FBB207-D9B7-A4F4-23BD-D4F701971392}"/>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56" name="矩形 1155">
              <a:extLst>
                <a:ext uri="{FF2B5EF4-FFF2-40B4-BE49-F238E27FC236}">
                  <a16:creationId xmlns:a16="http://schemas.microsoft.com/office/drawing/2014/main" id="{9DED0962-1C3C-9317-6864-78BCB12052C5}"/>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57" name="Picture 2" descr="Ubuntu and Canonical - BrightTALK">
              <a:extLst>
                <a:ext uri="{FF2B5EF4-FFF2-40B4-BE49-F238E27FC236}">
                  <a16:creationId xmlns:a16="http://schemas.microsoft.com/office/drawing/2014/main" id="{D8A683D3-7205-50A8-026D-AE3A6DA297DD}"/>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58" name="矩形 1157">
              <a:extLst>
                <a:ext uri="{FF2B5EF4-FFF2-40B4-BE49-F238E27FC236}">
                  <a16:creationId xmlns:a16="http://schemas.microsoft.com/office/drawing/2014/main" id="{8B3CA98F-1A11-1BC0-415A-7E88FC89BFC0}"/>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59" name="群組 1158">
            <a:extLst>
              <a:ext uri="{FF2B5EF4-FFF2-40B4-BE49-F238E27FC236}">
                <a16:creationId xmlns:a16="http://schemas.microsoft.com/office/drawing/2014/main" id="{429F9150-8B00-6E9C-7B53-E1D51D0C471E}"/>
              </a:ext>
            </a:extLst>
          </p:cNvPr>
          <p:cNvGrpSpPr/>
          <p:nvPr/>
        </p:nvGrpSpPr>
        <p:grpSpPr>
          <a:xfrm>
            <a:off x="10536260" y="4642425"/>
            <a:ext cx="1349872" cy="1147714"/>
            <a:chOff x="6255086" y="4865643"/>
            <a:chExt cx="1349872" cy="1147714"/>
          </a:xfrm>
        </p:grpSpPr>
        <p:sp>
          <p:nvSpPr>
            <p:cNvPr id="1160" name="矩形 1159">
              <a:extLst>
                <a:ext uri="{FF2B5EF4-FFF2-40B4-BE49-F238E27FC236}">
                  <a16:creationId xmlns:a16="http://schemas.microsoft.com/office/drawing/2014/main" id="{3BE914AE-D8A0-914A-8381-5EEADAB13E8B}"/>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61" name="矩形 1160">
              <a:extLst>
                <a:ext uri="{FF2B5EF4-FFF2-40B4-BE49-F238E27FC236}">
                  <a16:creationId xmlns:a16="http://schemas.microsoft.com/office/drawing/2014/main" id="{FC2A58E9-C5EE-C14D-B5FA-CB7485075571}"/>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62" name="矩形 1161">
              <a:extLst>
                <a:ext uri="{FF2B5EF4-FFF2-40B4-BE49-F238E27FC236}">
                  <a16:creationId xmlns:a16="http://schemas.microsoft.com/office/drawing/2014/main" id="{18592824-80A6-9DDE-8065-957BDFCBA156}"/>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63" name="Picture 2" descr="Ubuntu and Canonical - BrightTALK">
              <a:extLst>
                <a:ext uri="{FF2B5EF4-FFF2-40B4-BE49-F238E27FC236}">
                  <a16:creationId xmlns:a16="http://schemas.microsoft.com/office/drawing/2014/main" id="{050018DA-033A-72A4-9BAF-1487B58A4954}"/>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64" name="矩形 1163">
              <a:extLst>
                <a:ext uri="{FF2B5EF4-FFF2-40B4-BE49-F238E27FC236}">
                  <a16:creationId xmlns:a16="http://schemas.microsoft.com/office/drawing/2014/main" id="{D314DDC4-3DFF-A4CE-B7CE-1D20A6697430}"/>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grpSp>
        <p:nvGrpSpPr>
          <p:cNvPr id="1165" name="群組 1164">
            <a:extLst>
              <a:ext uri="{FF2B5EF4-FFF2-40B4-BE49-F238E27FC236}">
                <a16:creationId xmlns:a16="http://schemas.microsoft.com/office/drawing/2014/main" id="{FCB6A1E0-2CE8-2C77-FBDA-D8B45BD2EA0B}"/>
              </a:ext>
            </a:extLst>
          </p:cNvPr>
          <p:cNvGrpSpPr/>
          <p:nvPr/>
        </p:nvGrpSpPr>
        <p:grpSpPr>
          <a:xfrm>
            <a:off x="10596407" y="4691431"/>
            <a:ext cx="1349872" cy="1147714"/>
            <a:chOff x="6255086" y="4865643"/>
            <a:chExt cx="1349872" cy="1147714"/>
          </a:xfrm>
        </p:grpSpPr>
        <p:sp>
          <p:nvSpPr>
            <p:cNvPr id="1166" name="矩形 1165">
              <a:extLst>
                <a:ext uri="{FF2B5EF4-FFF2-40B4-BE49-F238E27FC236}">
                  <a16:creationId xmlns:a16="http://schemas.microsoft.com/office/drawing/2014/main" id="{D7645482-85D1-0B8F-39C8-E888AA8B9509}"/>
                </a:ext>
              </a:extLst>
            </p:cNvPr>
            <p:cNvSpPr/>
            <p:nvPr/>
          </p:nvSpPr>
          <p:spPr>
            <a:xfrm>
              <a:off x="6255089" y="5665016"/>
              <a:ext cx="1349869" cy="348341"/>
            </a:xfrm>
            <a:prstGeom prst="rect">
              <a:avLst/>
            </a:prstGeom>
            <a:solidFill>
              <a:srgbClr val="B9E0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VM</a:t>
              </a:r>
            </a:p>
            <a:p>
              <a:pPr algn="ctr"/>
              <a:r>
                <a:rPr lang="en-US" altLang="zh-TW" sz="900" b="1">
                  <a:solidFill>
                    <a:schemeClr val="tx1"/>
                  </a:solidFill>
                </a:rPr>
                <a:t>CPU/RAM/Storage</a:t>
              </a:r>
              <a:endParaRPr lang="zh-TW" altLang="en-US" sz="900" b="1">
                <a:solidFill>
                  <a:schemeClr val="tx1"/>
                </a:solidFill>
              </a:endParaRPr>
            </a:p>
          </p:txBody>
        </p:sp>
        <p:sp>
          <p:nvSpPr>
            <p:cNvPr id="1167" name="矩形 1166">
              <a:extLst>
                <a:ext uri="{FF2B5EF4-FFF2-40B4-BE49-F238E27FC236}">
                  <a16:creationId xmlns:a16="http://schemas.microsoft.com/office/drawing/2014/main" id="{4D3CDF61-D906-F3BD-E0DE-A12CAB40551F}"/>
                </a:ext>
              </a:extLst>
            </p:cNvPr>
            <p:cNvSpPr/>
            <p:nvPr/>
          </p:nvSpPr>
          <p:spPr>
            <a:xfrm>
              <a:off x="6255088" y="5402787"/>
              <a:ext cx="1349869" cy="260226"/>
            </a:xfrm>
            <a:prstGeom prst="rect">
              <a:avLst/>
            </a:prstGeom>
            <a:solidFill>
              <a:srgbClr val="D4E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Ubuntu LTS</a:t>
              </a:r>
              <a:endParaRPr lang="zh-TW" altLang="en-US" sz="900" b="1">
                <a:solidFill>
                  <a:schemeClr val="tx1"/>
                </a:solidFill>
              </a:endParaRPr>
            </a:p>
          </p:txBody>
        </p:sp>
        <p:sp>
          <p:nvSpPr>
            <p:cNvPr id="1168" name="矩形 1167">
              <a:extLst>
                <a:ext uri="{FF2B5EF4-FFF2-40B4-BE49-F238E27FC236}">
                  <a16:creationId xmlns:a16="http://schemas.microsoft.com/office/drawing/2014/main" id="{B9E866C1-23CF-F8AB-D6F5-AFD175483EAB}"/>
                </a:ext>
              </a:extLst>
            </p:cNvPr>
            <p:cNvSpPr/>
            <p:nvPr/>
          </p:nvSpPr>
          <p:spPr>
            <a:xfrm>
              <a:off x="6255087" y="5136477"/>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 Engine</a:t>
              </a:r>
              <a:endParaRPr lang="zh-TW" altLang="en-US" sz="1100" b="1">
                <a:solidFill>
                  <a:schemeClr val="tx1"/>
                </a:solidFill>
              </a:endParaRPr>
            </a:p>
          </p:txBody>
        </p:sp>
        <p:pic>
          <p:nvPicPr>
            <p:cNvPr id="1169" name="Picture 2" descr="Ubuntu and Canonical - BrightTALK">
              <a:extLst>
                <a:ext uri="{FF2B5EF4-FFF2-40B4-BE49-F238E27FC236}">
                  <a16:creationId xmlns:a16="http://schemas.microsoft.com/office/drawing/2014/main" id="{575744E8-FCEA-3793-B156-347689D1F8BF}"/>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V="1">
              <a:off x="6297767" y="5450306"/>
              <a:ext cx="188368" cy="172878"/>
            </a:xfrm>
            <a:prstGeom prst="rect">
              <a:avLst/>
            </a:prstGeom>
            <a:noFill/>
            <a:extLst>
              <a:ext uri="{909E8E84-426E-40DD-AFC4-6F175D3DCCD1}">
                <a14:hiddenFill xmlns:a14="http://schemas.microsoft.com/office/drawing/2010/main">
                  <a:solidFill>
                    <a:srgbClr val="FFFFFF"/>
                  </a:solidFill>
                </a14:hiddenFill>
              </a:ext>
            </a:extLst>
          </p:spPr>
        </p:pic>
        <p:sp>
          <p:nvSpPr>
            <p:cNvPr id="1170" name="矩形 1169">
              <a:extLst>
                <a:ext uri="{FF2B5EF4-FFF2-40B4-BE49-F238E27FC236}">
                  <a16:creationId xmlns:a16="http://schemas.microsoft.com/office/drawing/2014/main" id="{1447937D-9BAB-C087-9F3A-0342331C7F40}"/>
                </a:ext>
              </a:extLst>
            </p:cNvPr>
            <p:cNvSpPr/>
            <p:nvPr/>
          </p:nvSpPr>
          <p:spPr>
            <a:xfrm>
              <a:off x="6255086" y="4865643"/>
              <a:ext cx="1349869" cy="270708"/>
            </a:xfrm>
            <a:prstGeom prst="rect">
              <a:avLst/>
            </a:prstGeom>
            <a:solidFill>
              <a:srgbClr val="FFE5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a:solidFill>
                    <a:schemeClr val="tx1"/>
                  </a:solidFill>
                </a:rPr>
                <a:t>Container</a:t>
              </a:r>
              <a:endParaRPr lang="zh-TW" altLang="en-US" sz="1100" b="1">
                <a:solidFill>
                  <a:schemeClr val="tx1"/>
                </a:solidFill>
              </a:endParaRPr>
            </a:p>
          </p:txBody>
        </p:sp>
      </p:grpSp>
      <p:sp>
        <p:nvSpPr>
          <p:cNvPr id="1172" name="文字方塊 1171">
            <a:extLst>
              <a:ext uri="{FF2B5EF4-FFF2-40B4-BE49-F238E27FC236}">
                <a16:creationId xmlns:a16="http://schemas.microsoft.com/office/drawing/2014/main" id="{C7C6D1D7-853E-AA1E-9AEA-1154AEC007D3}"/>
              </a:ext>
            </a:extLst>
          </p:cNvPr>
          <p:cNvSpPr txBox="1"/>
          <p:nvPr/>
        </p:nvSpPr>
        <p:spPr>
          <a:xfrm>
            <a:off x="10520970" y="4490381"/>
            <a:ext cx="1290738" cy="584775"/>
          </a:xfrm>
          <a:prstGeom prst="rect">
            <a:avLst/>
          </a:prstGeom>
          <a:noFill/>
        </p:spPr>
        <p:txBody>
          <a:bodyPr wrap="none" rtlCol="0">
            <a:spAutoFit/>
          </a:bodyPr>
          <a:lstStyle/>
          <a:p>
            <a:pPr algn="ctr"/>
            <a:r>
              <a:rPr lang="en-US" altLang="zh-TW" sz="1600" b="1">
                <a:solidFill>
                  <a:srgbClr val="FF0000"/>
                </a:solidFill>
                <a:effectLst>
                  <a:glow rad="127000">
                    <a:schemeClr val="bg1"/>
                  </a:glow>
                </a:effectLst>
              </a:rPr>
              <a:t>S3 solution</a:t>
            </a:r>
          </a:p>
          <a:p>
            <a:pPr algn="ctr"/>
            <a:r>
              <a:rPr lang="en-US" altLang="zh-TW" sz="1600" b="1">
                <a:solidFill>
                  <a:srgbClr val="FF0000"/>
                </a:solidFill>
                <a:effectLst>
                  <a:glow rad="127000">
                    <a:schemeClr val="bg1"/>
                  </a:glow>
                </a:effectLst>
              </a:rPr>
              <a:t>TBD</a:t>
            </a:r>
            <a:endParaRPr lang="zh-TW" altLang="en-US" sz="1600" b="1">
              <a:solidFill>
                <a:srgbClr val="FF0000"/>
              </a:solidFill>
              <a:effectLst>
                <a:glow rad="127000">
                  <a:schemeClr val="bg1"/>
                </a:glow>
              </a:effectLst>
            </a:endParaRPr>
          </a:p>
        </p:txBody>
      </p:sp>
      <p:sp>
        <p:nvSpPr>
          <p:cNvPr id="1177" name="Rounded Rectangle 115">
            <a:extLst>
              <a:ext uri="{FF2B5EF4-FFF2-40B4-BE49-F238E27FC236}">
                <a16:creationId xmlns:a16="http://schemas.microsoft.com/office/drawing/2014/main" id="{020D6BC2-955D-F4BC-07B8-34B5B3B2AA4F}"/>
              </a:ext>
            </a:extLst>
          </p:cNvPr>
          <p:cNvSpPr>
            <a:spLocks noChangeArrowheads="1"/>
          </p:cNvSpPr>
          <p:nvPr/>
        </p:nvSpPr>
        <p:spPr bwMode="auto">
          <a:xfrm>
            <a:off x="4683678" y="716489"/>
            <a:ext cx="2375137" cy="310753"/>
          </a:xfrm>
          <a:prstGeom prst="roundRect">
            <a:avLst>
              <a:gd name="adj" fmla="val 1698"/>
            </a:avLst>
          </a:prstGeom>
          <a:solidFill>
            <a:srgbClr val="00B0F0"/>
          </a:solidFill>
          <a:ln>
            <a:noFill/>
          </a:ln>
        </p:spPr>
        <p:txBody>
          <a:bodyPr wrap="none" lIns="0" tIns="0" rIns="0" bIns="0" anchor="ctr" anchorCtr="0">
            <a:spAutoFit/>
          </a:bodyP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zh-TW">
                <a:solidFill>
                  <a:schemeClr val="tx1"/>
                </a:solidFill>
                <a:latin typeface="微軟正黑體" panose="020B0604030504040204" pitchFamily="34" charset="-120"/>
                <a:ea typeface="微軟正黑體" panose="020B0604030504040204" pitchFamily="34" charset="-120"/>
              </a:rPr>
              <a:t>MFG</a:t>
            </a:r>
            <a:r>
              <a:rPr lang="zh-TW" altLang="en-US">
                <a:solidFill>
                  <a:schemeClr val="tx1"/>
                </a:solidFill>
                <a:latin typeface="微軟正黑體" panose="020B0604030504040204" pitchFamily="34" charset="-120"/>
                <a:ea typeface="微軟正黑體" panose="020B0604030504040204" pitchFamily="34" charset="-120"/>
              </a:rPr>
              <a:t> </a:t>
            </a:r>
            <a:r>
              <a:rPr lang="en-US" altLang="zh-TW">
                <a:solidFill>
                  <a:schemeClr val="tx1"/>
                </a:solidFill>
                <a:latin typeface="微軟正黑體" panose="020B0604030504040204" pitchFamily="34" charset="-120"/>
                <a:ea typeface="微軟正黑體" panose="020B0604030504040204" pitchFamily="34" charset="-120"/>
              </a:rPr>
              <a:t>Data Platform</a:t>
            </a:r>
            <a:endParaRPr lang="en-US" altLang="en-US">
              <a:solidFill>
                <a:schemeClr val="tx1"/>
              </a:solidFill>
              <a:latin typeface="微軟正黑體" panose="020B0604030504040204" pitchFamily="34" charset="-120"/>
              <a:ea typeface="微軟正黑體" panose="020B0604030504040204" pitchFamily="34" charset="-120"/>
            </a:endParaRPr>
          </a:p>
        </p:txBody>
      </p:sp>
      <p:cxnSp>
        <p:nvCxnSpPr>
          <p:cNvPr id="1179" name="接點: 肘形 1178">
            <a:extLst>
              <a:ext uri="{FF2B5EF4-FFF2-40B4-BE49-F238E27FC236}">
                <a16:creationId xmlns:a16="http://schemas.microsoft.com/office/drawing/2014/main" id="{9805A560-BC8D-14EA-CF35-2C929F0E3E61}"/>
              </a:ext>
            </a:extLst>
          </p:cNvPr>
          <p:cNvCxnSpPr>
            <a:cxnSpLocks/>
            <a:stCxn id="1177" idx="2"/>
            <a:endCxn id="30" idx="0"/>
          </p:cNvCxnSpPr>
          <p:nvPr/>
        </p:nvCxnSpPr>
        <p:spPr>
          <a:xfrm rot="5400000">
            <a:off x="2368109" y="-824072"/>
            <a:ext cx="1651824" cy="5354453"/>
          </a:xfrm>
          <a:prstGeom prst="bentConnector3">
            <a:avLst>
              <a:gd name="adj1" fmla="val 4452"/>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180" name="接點: 肘形 1179">
            <a:extLst>
              <a:ext uri="{FF2B5EF4-FFF2-40B4-BE49-F238E27FC236}">
                <a16:creationId xmlns:a16="http://schemas.microsoft.com/office/drawing/2014/main" id="{C9A563D4-3FAB-30EE-7894-4172D13F53BF}"/>
              </a:ext>
            </a:extLst>
          </p:cNvPr>
          <p:cNvCxnSpPr>
            <a:cxnSpLocks/>
            <a:stCxn id="1177" idx="2"/>
            <a:endCxn id="28" idx="0"/>
          </p:cNvCxnSpPr>
          <p:nvPr/>
        </p:nvCxnSpPr>
        <p:spPr>
          <a:xfrm rot="5400000">
            <a:off x="2334858" y="-393535"/>
            <a:ext cx="2115613" cy="4957167"/>
          </a:xfrm>
          <a:prstGeom prst="bentConnector3">
            <a:avLst>
              <a:gd name="adj1" fmla="val 10061"/>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186" name="接點: 肘形 1185">
            <a:extLst>
              <a:ext uri="{FF2B5EF4-FFF2-40B4-BE49-F238E27FC236}">
                <a16:creationId xmlns:a16="http://schemas.microsoft.com/office/drawing/2014/main" id="{BE066649-B72B-000E-72DD-246A25F55B06}"/>
              </a:ext>
            </a:extLst>
          </p:cNvPr>
          <p:cNvCxnSpPr>
            <a:cxnSpLocks/>
            <a:stCxn id="1177" idx="2"/>
            <a:endCxn id="20" idx="0"/>
          </p:cNvCxnSpPr>
          <p:nvPr/>
        </p:nvCxnSpPr>
        <p:spPr>
          <a:xfrm rot="5400000">
            <a:off x="3349982" y="-651785"/>
            <a:ext cx="842239" cy="4200293"/>
          </a:xfrm>
          <a:prstGeom prst="bentConnector3">
            <a:avLst>
              <a:gd name="adj1" fmla="val 40380"/>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189" name="接點: 肘形 1188">
            <a:extLst>
              <a:ext uri="{FF2B5EF4-FFF2-40B4-BE49-F238E27FC236}">
                <a16:creationId xmlns:a16="http://schemas.microsoft.com/office/drawing/2014/main" id="{1F052EFD-D8F3-8628-B498-A36C87B6DF23}"/>
              </a:ext>
            </a:extLst>
          </p:cNvPr>
          <p:cNvCxnSpPr>
            <a:cxnSpLocks/>
            <a:stCxn id="1177" idx="2"/>
            <a:endCxn id="17" idx="0"/>
          </p:cNvCxnSpPr>
          <p:nvPr/>
        </p:nvCxnSpPr>
        <p:spPr>
          <a:xfrm rot="5400000">
            <a:off x="4258486" y="958409"/>
            <a:ext cx="1543929" cy="1681594"/>
          </a:xfrm>
          <a:prstGeom prst="bentConnector3">
            <a:avLst>
              <a:gd name="adj1" fmla="val 55247"/>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199" name="接點: 肘形 1198">
            <a:extLst>
              <a:ext uri="{FF2B5EF4-FFF2-40B4-BE49-F238E27FC236}">
                <a16:creationId xmlns:a16="http://schemas.microsoft.com/office/drawing/2014/main" id="{A4EA3857-AA58-F3B9-50C6-1F1EB86C9473}"/>
              </a:ext>
            </a:extLst>
          </p:cNvPr>
          <p:cNvCxnSpPr>
            <a:cxnSpLocks/>
            <a:stCxn id="1177" idx="2"/>
            <a:endCxn id="5" idx="0"/>
          </p:cNvCxnSpPr>
          <p:nvPr/>
        </p:nvCxnSpPr>
        <p:spPr>
          <a:xfrm rot="5400000">
            <a:off x="3898650" y="-132605"/>
            <a:ext cx="812750" cy="3132445"/>
          </a:xfrm>
          <a:prstGeom prst="bentConnector3">
            <a:avLst>
              <a:gd name="adj1" fmla="val 58544"/>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2" name="接點: 肘形 1201">
            <a:extLst>
              <a:ext uri="{FF2B5EF4-FFF2-40B4-BE49-F238E27FC236}">
                <a16:creationId xmlns:a16="http://schemas.microsoft.com/office/drawing/2014/main" id="{47ECF8B2-D940-2860-A39A-5C3603049951}"/>
              </a:ext>
            </a:extLst>
          </p:cNvPr>
          <p:cNvCxnSpPr>
            <a:cxnSpLocks/>
            <a:stCxn id="1177" idx="2"/>
            <a:endCxn id="6" idx="0"/>
          </p:cNvCxnSpPr>
          <p:nvPr/>
        </p:nvCxnSpPr>
        <p:spPr>
          <a:xfrm>
            <a:off x="5871247" y="1027242"/>
            <a:ext cx="1405" cy="2609384"/>
          </a:xfrm>
          <a:prstGeom prst="straightConnector1">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6" name="接點: 肘形 1205">
            <a:extLst>
              <a:ext uri="{FF2B5EF4-FFF2-40B4-BE49-F238E27FC236}">
                <a16:creationId xmlns:a16="http://schemas.microsoft.com/office/drawing/2014/main" id="{BDD1937A-ADF4-9C34-2E73-2A3CE44D9F41}"/>
              </a:ext>
            </a:extLst>
          </p:cNvPr>
          <p:cNvCxnSpPr>
            <a:cxnSpLocks/>
            <a:stCxn id="1177" idx="2"/>
            <a:endCxn id="18" idx="0"/>
          </p:cNvCxnSpPr>
          <p:nvPr/>
        </p:nvCxnSpPr>
        <p:spPr>
          <a:xfrm rot="5400000">
            <a:off x="4266275" y="419374"/>
            <a:ext cx="997104" cy="2212840"/>
          </a:xfrm>
          <a:prstGeom prst="bentConnector3">
            <a:avLst>
              <a:gd name="adj1" fmla="val 73216"/>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16" name="接點: 肘形 1215">
            <a:extLst>
              <a:ext uri="{FF2B5EF4-FFF2-40B4-BE49-F238E27FC236}">
                <a16:creationId xmlns:a16="http://schemas.microsoft.com/office/drawing/2014/main" id="{5A1712F8-DEA4-D11A-C76D-C98D4B1044D1}"/>
              </a:ext>
            </a:extLst>
          </p:cNvPr>
          <p:cNvCxnSpPr>
            <a:cxnSpLocks/>
            <a:stCxn id="1177" idx="2"/>
            <a:endCxn id="19" idx="0"/>
          </p:cNvCxnSpPr>
          <p:nvPr/>
        </p:nvCxnSpPr>
        <p:spPr>
          <a:xfrm rot="5400000">
            <a:off x="3690161" y="446604"/>
            <a:ext cx="1600449" cy="2761725"/>
          </a:xfrm>
          <a:prstGeom prst="bentConnector3">
            <a:avLst>
              <a:gd name="adj1" fmla="val 37705"/>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20" name="接點: 肘形 1219">
            <a:extLst>
              <a:ext uri="{FF2B5EF4-FFF2-40B4-BE49-F238E27FC236}">
                <a16:creationId xmlns:a16="http://schemas.microsoft.com/office/drawing/2014/main" id="{B2562F84-B124-3806-5213-76F11785A214}"/>
              </a:ext>
            </a:extLst>
          </p:cNvPr>
          <p:cNvCxnSpPr>
            <a:cxnSpLocks/>
            <a:stCxn id="8" idx="0"/>
            <a:endCxn id="1177" idx="2"/>
          </p:cNvCxnSpPr>
          <p:nvPr/>
        </p:nvCxnSpPr>
        <p:spPr>
          <a:xfrm rot="16200000" flipV="1">
            <a:off x="5948211" y="950279"/>
            <a:ext cx="3289329" cy="3443255"/>
          </a:xfrm>
          <a:prstGeom prst="bentConnector3">
            <a:avLst>
              <a:gd name="adj1" fmla="val 67243"/>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23" name="接點: 肘形 1222">
            <a:extLst>
              <a:ext uri="{FF2B5EF4-FFF2-40B4-BE49-F238E27FC236}">
                <a16:creationId xmlns:a16="http://schemas.microsoft.com/office/drawing/2014/main" id="{8AE4255F-380E-AC12-F031-3DE16E6B6694}"/>
              </a:ext>
            </a:extLst>
          </p:cNvPr>
          <p:cNvCxnSpPr>
            <a:cxnSpLocks/>
            <a:stCxn id="4" idx="0"/>
            <a:endCxn id="1177" idx="2"/>
          </p:cNvCxnSpPr>
          <p:nvPr/>
        </p:nvCxnSpPr>
        <p:spPr>
          <a:xfrm rot="16200000" flipV="1">
            <a:off x="6840495" y="57994"/>
            <a:ext cx="3260352" cy="5198847"/>
          </a:xfrm>
          <a:prstGeom prst="bentConnector3">
            <a:avLst>
              <a:gd name="adj1" fmla="val 70567"/>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61" name="接點: 肘形 1260">
            <a:extLst>
              <a:ext uri="{FF2B5EF4-FFF2-40B4-BE49-F238E27FC236}">
                <a16:creationId xmlns:a16="http://schemas.microsoft.com/office/drawing/2014/main" id="{F95ADE74-E804-8FD7-2BC2-4ECFEE548A8D}"/>
              </a:ext>
            </a:extLst>
          </p:cNvPr>
          <p:cNvCxnSpPr>
            <a:cxnSpLocks/>
            <a:stCxn id="15" idx="0"/>
            <a:endCxn id="1177" idx="2"/>
          </p:cNvCxnSpPr>
          <p:nvPr/>
        </p:nvCxnSpPr>
        <p:spPr>
          <a:xfrm rot="16200000" flipV="1">
            <a:off x="5505752" y="1392737"/>
            <a:ext cx="2482132" cy="1751142"/>
          </a:xfrm>
          <a:prstGeom prst="bentConnector3">
            <a:avLst>
              <a:gd name="adj1" fmla="val 51865"/>
            </a:avLst>
          </a:prstGeom>
          <a:ln w="28575">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2" name="文字方塊 1">
            <a:extLst>
              <a:ext uri="{FF2B5EF4-FFF2-40B4-BE49-F238E27FC236}">
                <a16:creationId xmlns:a16="http://schemas.microsoft.com/office/drawing/2014/main" id="{15FC313C-763F-4721-3EF2-D885AB2862E6}"/>
              </a:ext>
            </a:extLst>
          </p:cNvPr>
          <p:cNvSpPr txBox="1"/>
          <p:nvPr/>
        </p:nvSpPr>
        <p:spPr>
          <a:xfrm>
            <a:off x="7146422" y="1116391"/>
            <a:ext cx="4461478" cy="584775"/>
          </a:xfrm>
          <a:prstGeom prst="rect">
            <a:avLst/>
          </a:prstGeom>
          <a:noFill/>
        </p:spPr>
        <p:txBody>
          <a:bodyPr wrap="none" rtlCol="0">
            <a:spAutoFit/>
          </a:bodyPr>
          <a:lstStyle/>
          <a:p>
            <a:r>
              <a:rPr lang="en-US" altLang="zh-TW" sz="1600" i="1"/>
              <a:t>*</a:t>
            </a:r>
            <a:r>
              <a:rPr lang="zh-TW" altLang="en-US" sz="1600" i="1"/>
              <a:t>細部資源規劃細節請參考</a:t>
            </a:r>
            <a:endParaRPr lang="en-US" altLang="zh-TW" sz="1600" i="1"/>
          </a:p>
          <a:p>
            <a:r>
              <a:rPr lang="en-US" altLang="zh-TW" sz="1600" b="1" i="1"/>
              <a:t>MFG_Data_Platform_Archicture_Sizing.xlsx</a:t>
            </a:r>
            <a:endParaRPr lang="zh-TW" altLang="en-US" sz="1600" b="1" i="1"/>
          </a:p>
        </p:txBody>
      </p:sp>
      <p:sp>
        <p:nvSpPr>
          <p:cNvPr id="7" name="文字方塊 6">
            <a:extLst>
              <a:ext uri="{FF2B5EF4-FFF2-40B4-BE49-F238E27FC236}">
                <a16:creationId xmlns:a16="http://schemas.microsoft.com/office/drawing/2014/main" id="{9B2765B1-1966-5438-EA55-8AB5DDAEFFBA}"/>
              </a:ext>
            </a:extLst>
          </p:cNvPr>
          <p:cNvSpPr txBox="1"/>
          <p:nvPr/>
        </p:nvSpPr>
        <p:spPr>
          <a:xfrm>
            <a:off x="9589617" y="3737109"/>
            <a:ext cx="1237839" cy="553998"/>
          </a:xfrm>
          <a:prstGeom prst="rect">
            <a:avLst/>
          </a:prstGeom>
          <a:noFill/>
        </p:spPr>
        <p:txBody>
          <a:bodyPr wrap="none" rtlCol="0">
            <a:spAutoFit/>
          </a:bodyPr>
          <a:lstStyle/>
          <a:p>
            <a:r>
              <a:rPr lang="en-US" altLang="zh-TW" sz="1000"/>
              <a:t>Doris</a:t>
            </a:r>
            <a:r>
              <a:rPr lang="zh-TW" altLang="en-US" sz="1000"/>
              <a:t>暫時以</a:t>
            </a:r>
            <a:endParaRPr lang="en-US" altLang="zh-TW" sz="1000"/>
          </a:p>
          <a:p>
            <a:r>
              <a:rPr lang="en-US" altLang="zh-TW" sz="1000" b="1">
                <a:solidFill>
                  <a:srgbClr val="FF0000"/>
                </a:solidFill>
              </a:rPr>
              <a:t>“</a:t>
            </a:r>
            <a:r>
              <a:rPr lang="zh-TW" altLang="en-US" sz="1000" b="1">
                <a:solidFill>
                  <a:srgbClr val="FF0000"/>
                </a:solidFill>
              </a:rPr>
              <a:t>算存分離</a:t>
            </a:r>
            <a:r>
              <a:rPr lang="en-US" altLang="zh-TW" sz="1000" b="1">
                <a:solidFill>
                  <a:srgbClr val="FF0000"/>
                </a:solidFill>
              </a:rPr>
              <a:t>”</a:t>
            </a:r>
            <a:r>
              <a:rPr lang="zh-TW" altLang="en-US" sz="1000"/>
              <a:t>做規劃</a:t>
            </a:r>
            <a:endParaRPr lang="en-US" altLang="zh-TW" sz="1000"/>
          </a:p>
          <a:p>
            <a:r>
              <a:rPr lang="en-US" altLang="zh-TW" sz="1000"/>
              <a:t>S3</a:t>
            </a:r>
            <a:r>
              <a:rPr lang="zh-TW" altLang="en-US" sz="1000"/>
              <a:t>待實際資源決定</a:t>
            </a:r>
          </a:p>
        </p:txBody>
      </p:sp>
      <p:cxnSp>
        <p:nvCxnSpPr>
          <p:cNvPr id="26" name="直線接點 25">
            <a:extLst>
              <a:ext uri="{FF2B5EF4-FFF2-40B4-BE49-F238E27FC236}">
                <a16:creationId xmlns:a16="http://schemas.microsoft.com/office/drawing/2014/main" id="{6E27D9A9-AE21-4A86-1D0C-19E2A230A59E}"/>
              </a:ext>
            </a:extLst>
          </p:cNvPr>
          <p:cNvCxnSpPr>
            <a:cxnSpLocks/>
            <a:stCxn id="8" idx="3"/>
            <a:endCxn id="4" idx="1"/>
          </p:cNvCxnSpPr>
          <p:nvPr/>
        </p:nvCxnSpPr>
        <p:spPr>
          <a:xfrm flipV="1">
            <a:off x="9852019" y="4390386"/>
            <a:ext cx="717883" cy="21931"/>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36" name="圖片 35">
            <a:extLst>
              <a:ext uri="{FF2B5EF4-FFF2-40B4-BE49-F238E27FC236}">
                <a16:creationId xmlns:a16="http://schemas.microsoft.com/office/drawing/2014/main" id="{33AA4B8B-D49F-B4EE-2107-A8A68A2464BA}"/>
              </a:ext>
            </a:extLst>
          </p:cNvPr>
          <p:cNvPicPr>
            <a:picLocks noChangeAspect="1"/>
          </p:cNvPicPr>
          <p:nvPr/>
        </p:nvPicPr>
        <p:blipFill>
          <a:blip r:embed="rId16"/>
          <a:stretch>
            <a:fillRect/>
          </a:stretch>
        </p:blipFill>
        <p:spPr>
          <a:xfrm>
            <a:off x="154471" y="6055345"/>
            <a:ext cx="4805680" cy="733423"/>
          </a:xfrm>
          <a:prstGeom prst="rect">
            <a:avLst/>
          </a:prstGeom>
          <a:solidFill>
            <a:schemeClr val="bg1">
              <a:alpha val="99000"/>
            </a:schemeClr>
          </a:solidFill>
        </p:spPr>
      </p:pic>
      <p:sp>
        <p:nvSpPr>
          <p:cNvPr id="37" name="矩形 36">
            <a:extLst>
              <a:ext uri="{FF2B5EF4-FFF2-40B4-BE49-F238E27FC236}">
                <a16:creationId xmlns:a16="http://schemas.microsoft.com/office/drawing/2014/main" id="{B06109C6-575F-2A21-CB2D-F0C801EA65A7}"/>
              </a:ext>
            </a:extLst>
          </p:cNvPr>
          <p:cNvSpPr/>
          <p:nvPr/>
        </p:nvSpPr>
        <p:spPr>
          <a:xfrm>
            <a:off x="0" y="6023869"/>
            <a:ext cx="5277169" cy="8527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37">
            <a:extLst>
              <a:ext uri="{FF2B5EF4-FFF2-40B4-BE49-F238E27FC236}">
                <a16:creationId xmlns:a16="http://schemas.microsoft.com/office/drawing/2014/main" id="{364313DE-08EB-6DD6-2E51-517231A8E477}"/>
              </a:ext>
            </a:extLst>
          </p:cNvPr>
          <p:cNvSpPr/>
          <p:nvPr/>
        </p:nvSpPr>
        <p:spPr>
          <a:xfrm>
            <a:off x="154471" y="6023869"/>
            <a:ext cx="4805680" cy="826924"/>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文字方塊 38">
            <a:extLst>
              <a:ext uri="{FF2B5EF4-FFF2-40B4-BE49-F238E27FC236}">
                <a16:creationId xmlns:a16="http://schemas.microsoft.com/office/drawing/2014/main" id="{FDB01766-07C0-69BD-9FA3-D2714743A5E6}"/>
              </a:ext>
            </a:extLst>
          </p:cNvPr>
          <p:cNvSpPr txBox="1"/>
          <p:nvPr/>
        </p:nvSpPr>
        <p:spPr>
          <a:xfrm>
            <a:off x="4960151" y="6382057"/>
            <a:ext cx="2220480" cy="400110"/>
          </a:xfrm>
          <a:prstGeom prst="rect">
            <a:avLst/>
          </a:prstGeom>
          <a:solidFill>
            <a:schemeClr val="bg1"/>
          </a:solidFill>
        </p:spPr>
        <p:txBody>
          <a:bodyPr wrap="none" rtlCol="0">
            <a:spAutoFit/>
          </a:bodyPr>
          <a:lstStyle/>
          <a:p>
            <a:r>
              <a:rPr lang="zh-TW" altLang="en-US" sz="1000"/>
              <a:t>視未來需求隨時擴展</a:t>
            </a:r>
            <a:r>
              <a:rPr lang="en-US" altLang="zh-TW" sz="1000"/>
              <a:t>K8S</a:t>
            </a:r>
            <a:r>
              <a:rPr lang="zh-TW" altLang="en-US" sz="1000"/>
              <a:t>資源</a:t>
            </a:r>
            <a:endParaRPr lang="en-US" altLang="zh-TW" sz="1000"/>
          </a:p>
          <a:p>
            <a:r>
              <a:rPr lang="zh-TW" altLang="en-US" sz="1000"/>
              <a:t>或待公司有</a:t>
            </a:r>
            <a:r>
              <a:rPr lang="en-US" altLang="zh-TW" sz="1000"/>
              <a:t>K8S</a:t>
            </a:r>
            <a:r>
              <a:rPr lang="zh-TW" altLang="en-US" sz="1000"/>
              <a:t>解決方案後進行搬遷</a:t>
            </a:r>
          </a:p>
        </p:txBody>
      </p:sp>
    </p:spTree>
    <p:extLst>
      <p:ext uri="{BB962C8B-B14F-4D97-AF65-F5344CB8AC3E}">
        <p14:creationId xmlns:p14="http://schemas.microsoft.com/office/powerpoint/2010/main" val="3620833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11FEDD-1F0C-3957-4591-5B34047121EC}"/>
              </a:ext>
            </a:extLst>
          </p:cNvPr>
          <p:cNvSpPr>
            <a:spLocks noGrp="1"/>
          </p:cNvSpPr>
          <p:nvPr>
            <p:ph type="title"/>
          </p:nvPr>
        </p:nvSpPr>
        <p:spPr/>
        <p:txBody>
          <a:bodyPr/>
          <a:lstStyle/>
          <a:p>
            <a:r>
              <a:rPr lang="zh-TW" altLang="en-US"/>
              <a:t>附錄</a:t>
            </a:r>
          </a:p>
        </p:txBody>
      </p:sp>
    </p:spTree>
    <p:extLst>
      <p:ext uri="{BB962C8B-B14F-4D97-AF65-F5344CB8AC3E}">
        <p14:creationId xmlns:p14="http://schemas.microsoft.com/office/powerpoint/2010/main" val="275921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5D6289-8E63-8E69-63DC-90B874769E8C}"/>
              </a:ext>
            </a:extLst>
          </p:cNvPr>
          <p:cNvSpPr>
            <a:spLocks noGrp="1"/>
          </p:cNvSpPr>
          <p:nvPr>
            <p:ph type="title"/>
          </p:nvPr>
        </p:nvSpPr>
        <p:spPr/>
        <p:txBody>
          <a:bodyPr/>
          <a:lstStyle/>
          <a:p>
            <a:r>
              <a:rPr lang="en-US" altLang="zh-TW"/>
              <a:t>Apache Doris</a:t>
            </a:r>
            <a:r>
              <a:rPr lang="zh-TW" altLang="en-US"/>
              <a:t> 算存一體 </a:t>
            </a:r>
            <a:r>
              <a:rPr lang="en-US" altLang="zh-TW"/>
              <a:t>VS </a:t>
            </a:r>
            <a:r>
              <a:rPr lang="zh-TW" altLang="en-US"/>
              <a:t>算存分離</a:t>
            </a:r>
          </a:p>
        </p:txBody>
      </p:sp>
      <p:grpSp>
        <p:nvGrpSpPr>
          <p:cNvPr id="70" name="群組 69">
            <a:extLst>
              <a:ext uri="{FF2B5EF4-FFF2-40B4-BE49-F238E27FC236}">
                <a16:creationId xmlns:a16="http://schemas.microsoft.com/office/drawing/2014/main" id="{F89084EE-582C-7B3D-F14B-84C24D9C8B10}"/>
              </a:ext>
            </a:extLst>
          </p:cNvPr>
          <p:cNvGrpSpPr/>
          <p:nvPr/>
        </p:nvGrpSpPr>
        <p:grpSpPr>
          <a:xfrm>
            <a:off x="1407608" y="1137294"/>
            <a:ext cx="3653809" cy="3610280"/>
            <a:chOff x="1180930" y="1129551"/>
            <a:chExt cx="3653809" cy="3610280"/>
          </a:xfrm>
        </p:grpSpPr>
        <p:sp>
          <p:nvSpPr>
            <p:cNvPr id="20" name="矩形: 圓角 19">
              <a:extLst>
                <a:ext uri="{FF2B5EF4-FFF2-40B4-BE49-F238E27FC236}">
                  <a16:creationId xmlns:a16="http://schemas.microsoft.com/office/drawing/2014/main" id="{E60C4312-26F5-0F2F-025D-56A8EB55EE68}"/>
                </a:ext>
              </a:extLst>
            </p:cNvPr>
            <p:cNvSpPr/>
            <p:nvPr/>
          </p:nvSpPr>
          <p:spPr>
            <a:xfrm>
              <a:off x="1180930" y="1197982"/>
              <a:ext cx="932588" cy="5440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FE</a:t>
              </a:r>
              <a:endParaRPr lang="zh-TW" altLang="en-US" sz="1600">
                <a:solidFill>
                  <a:schemeClr val="tx1"/>
                </a:solidFill>
              </a:endParaRPr>
            </a:p>
          </p:txBody>
        </p:sp>
        <p:sp>
          <p:nvSpPr>
            <p:cNvPr id="21" name="矩形: 圓角 20">
              <a:extLst>
                <a:ext uri="{FF2B5EF4-FFF2-40B4-BE49-F238E27FC236}">
                  <a16:creationId xmlns:a16="http://schemas.microsoft.com/office/drawing/2014/main" id="{E42CBB8F-2695-89AF-F886-5EBA6268EA63}"/>
                </a:ext>
              </a:extLst>
            </p:cNvPr>
            <p:cNvSpPr/>
            <p:nvPr/>
          </p:nvSpPr>
          <p:spPr>
            <a:xfrm>
              <a:off x="2292099" y="1197981"/>
              <a:ext cx="932588" cy="5440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FE</a:t>
              </a:r>
              <a:endParaRPr lang="zh-TW" altLang="en-US" sz="1600">
                <a:solidFill>
                  <a:schemeClr val="tx1"/>
                </a:solidFill>
              </a:endParaRPr>
            </a:p>
          </p:txBody>
        </p:sp>
        <p:sp>
          <p:nvSpPr>
            <p:cNvPr id="22" name="矩形: 圓角 21">
              <a:extLst>
                <a:ext uri="{FF2B5EF4-FFF2-40B4-BE49-F238E27FC236}">
                  <a16:creationId xmlns:a16="http://schemas.microsoft.com/office/drawing/2014/main" id="{EED71399-236E-C73D-A098-3B6BAE643B06}"/>
                </a:ext>
              </a:extLst>
            </p:cNvPr>
            <p:cNvSpPr/>
            <p:nvPr/>
          </p:nvSpPr>
          <p:spPr>
            <a:xfrm>
              <a:off x="3400332" y="1197980"/>
              <a:ext cx="932588" cy="5440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FE</a:t>
              </a:r>
              <a:endParaRPr lang="zh-TW" altLang="en-US" sz="1600">
                <a:solidFill>
                  <a:schemeClr val="tx1"/>
                </a:solidFill>
              </a:endParaRPr>
            </a:p>
          </p:txBody>
        </p:sp>
        <p:sp>
          <p:nvSpPr>
            <p:cNvPr id="23" name="矩形: 圓角 22">
              <a:extLst>
                <a:ext uri="{FF2B5EF4-FFF2-40B4-BE49-F238E27FC236}">
                  <a16:creationId xmlns:a16="http://schemas.microsoft.com/office/drawing/2014/main" id="{88C4D130-00DC-0DD2-5760-39B524FF432B}"/>
                </a:ext>
              </a:extLst>
            </p:cNvPr>
            <p:cNvSpPr/>
            <p:nvPr/>
          </p:nvSpPr>
          <p:spPr>
            <a:xfrm>
              <a:off x="1182398" y="2263869"/>
              <a:ext cx="3151990" cy="439838"/>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Inter Connection</a:t>
              </a:r>
              <a:endParaRPr lang="zh-TW" altLang="en-US" sz="1600">
                <a:solidFill>
                  <a:schemeClr val="tx1"/>
                </a:solidFill>
              </a:endParaRPr>
            </a:p>
          </p:txBody>
        </p:sp>
        <p:sp>
          <p:nvSpPr>
            <p:cNvPr id="24" name="矩形: 圓角 23">
              <a:extLst>
                <a:ext uri="{FF2B5EF4-FFF2-40B4-BE49-F238E27FC236}">
                  <a16:creationId xmlns:a16="http://schemas.microsoft.com/office/drawing/2014/main" id="{F8694DF0-9A08-EF66-8D20-22089D7633F3}"/>
                </a:ext>
              </a:extLst>
            </p:cNvPr>
            <p:cNvSpPr/>
            <p:nvPr/>
          </p:nvSpPr>
          <p:spPr>
            <a:xfrm>
              <a:off x="1180930" y="3235122"/>
              <a:ext cx="932588" cy="15047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TW" sz="1600">
                  <a:solidFill>
                    <a:schemeClr val="tx1"/>
                  </a:solidFill>
                </a:rPr>
                <a:t>BE</a:t>
              </a:r>
              <a:endParaRPr lang="zh-TW" altLang="en-US" sz="1600">
                <a:solidFill>
                  <a:schemeClr val="tx1"/>
                </a:solidFill>
              </a:endParaRPr>
            </a:p>
          </p:txBody>
        </p:sp>
        <p:sp>
          <p:nvSpPr>
            <p:cNvPr id="25" name="矩形: 圓角 24">
              <a:extLst>
                <a:ext uri="{FF2B5EF4-FFF2-40B4-BE49-F238E27FC236}">
                  <a16:creationId xmlns:a16="http://schemas.microsoft.com/office/drawing/2014/main" id="{88C89060-C87C-0678-9462-30A13F0BB27E}"/>
                </a:ext>
              </a:extLst>
            </p:cNvPr>
            <p:cNvSpPr/>
            <p:nvPr/>
          </p:nvSpPr>
          <p:spPr>
            <a:xfrm>
              <a:off x="2292099" y="3235122"/>
              <a:ext cx="932588" cy="15047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TW" sz="1600">
                  <a:solidFill>
                    <a:schemeClr val="tx1"/>
                  </a:solidFill>
                </a:rPr>
                <a:t>BE</a:t>
              </a:r>
              <a:endParaRPr lang="zh-TW" altLang="en-US" sz="1600">
                <a:solidFill>
                  <a:schemeClr val="tx1"/>
                </a:solidFill>
              </a:endParaRPr>
            </a:p>
          </p:txBody>
        </p:sp>
        <p:sp>
          <p:nvSpPr>
            <p:cNvPr id="26" name="矩形: 圓角 25">
              <a:extLst>
                <a:ext uri="{FF2B5EF4-FFF2-40B4-BE49-F238E27FC236}">
                  <a16:creationId xmlns:a16="http://schemas.microsoft.com/office/drawing/2014/main" id="{DE3F0D30-C8C9-8FE3-0E5F-2C4ADD534ADF}"/>
                </a:ext>
              </a:extLst>
            </p:cNvPr>
            <p:cNvSpPr/>
            <p:nvPr/>
          </p:nvSpPr>
          <p:spPr>
            <a:xfrm>
              <a:off x="3400332" y="3235121"/>
              <a:ext cx="932588" cy="15047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TW" sz="1600">
                  <a:solidFill>
                    <a:schemeClr val="tx1"/>
                  </a:solidFill>
                </a:rPr>
                <a:t>BE</a:t>
              </a:r>
              <a:endParaRPr lang="zh-TW" altLang="en-US" sz="1600">
                <a:solidFill>
                  <a:schemeClr val="tx1"/>
                </a:solidFill>
              </a:endParaRPr>
            </a:p>
          </p:txBody>
        </p:sp>
        <p:sp>
          <p:nvSpPr>
            <p:cNvPr id="27" name="矩形: 圓角 26">
              <a:extLst>
                <a:ext uri="{FF2B5EF4-FFF2-40B4-BE49-F238E27FC236}">
                  <a16:creationId xmlns:a16="http://schemas.microsoft.com/office/drawing/2014/main" id="{B18DA2F0-98B4-EB7D-BDF3-30807B7A1161}"/>
                </a:ext>
              </a:extLst>
            </p:cNvPr>
            <p:cNvSpPr/>
            <p:nvPr/>
          </p:nvSpPr>
          <p:spPr>
            <a:xfrm>
              <a:off x="1261274" y="4010626"/>
              <a:ext cx="774837" cy="42825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disk</a:t>
              </a:r>
              <a:endParaRPr lang="zh-TW" altLang="en-US" sz="1600">
                <a:solidFill>
                  <a:schemeClr val="tx1"/>
                </a:solidFill>
              </a:endParaRPr>
            </a:p>
          </p:txBody>
        </p:sp>
        <p:sp>
          <p:nvSpPr>
            <p:cNvPr id="28" name="矩形: 圓角 27">
              <a:extLst>
                <a:ext uri="{FF2B5EF4-FFF2-40B4-BE49-F238E27FC236}">
                  <a16:creationId xmlns:a16="http://schemas.microsoft.com/office/drawing/2014/main" id="{FA5A0D79-46D0-3B59-A989-3E7922BC1EEE}"/>
                </a:ext>
              </a:extLst>
            </p:cNvPr>
            <p:cNvSpPr/>
            <p:nvPr/>
          </p:nvSpPr>
          <p:spPr>
            <a:xfrm>
              <a:off x="2370974" y="4010625"/>
              <a:ext cx="774837" cy="42825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disk</a:t>
              </a:r>
              <a:endParaRPr lang="zh-TW" altLang="en-US" sz="1600">
                <a:solidFill>
                  <a:schemeClr val="tx1"/>
                </a:solidFill>
              </a:endParaRPr>
            </a:p>
          </p:txBody>
        </p:sp>
        <p:sp>
          <p:nvSpPr>
            <p:cNvPr id="29" name="矩形: 圓角 28">
              <a:extLst>
                <a:ext uri="{FF2B5EF4-FFF2-40B4-BE49-F238E27FC236}">
                  <a16:creationId xmlns:a16="http://schemas.microsoft.com/office/drawing/2014/main" id="{E536B076-0D39-A49B-D956-BF89702E7172}"/>
                </a:ext>
              </a:extLst>
            </p:cNvPr>
            <p:cNvSpPr/>
            <p:nvPr/>
          </p:nvSpPr>
          <p:spPr>
            <a:xfrm>
              <a:off x="3479207" y="4010625"/>
              <a:ext cx="774837" cy="42825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disk</a:t>
              </a:r>
              <a:endParaRPr lang="zh-TW" altLang="en-US" sz="1600">
                <a:solidFill>
                  <a:schemeClr val="tx1"/>
                </a:solidFill>
              </a:endParaRPr>
            </a:p>
          </p:txBody>
        </p:sp>
        <p:cxnSp>
          <p:nvCxnSpPr>
            <p:cNvPr id="31" name="接點: 弧形 30">
              <a:extLst>
                <a:ext uri="{FF2B5EF4-FFF2-40B4-BE49-F238E27FC236}">
                  <a16:creationId xmlns:a16="http://schemas.microsoft.com/office/drawing/2014/main" id="{6C8F366E-8CE9-372F-1BDB-77BA248FFF78}"/>
                </a:ext>
              </a:extLst>
            </p:cNvPr>
            <p:cNvCxnSpPr>
              <a:cxnSpLocks/>
              <a:stCxn id="24" idx="2"/>
              <a:endCxn id="26" idx="2"/>
            </p:cNvCxnSpPr>
            <p:nvPr/>
          </p:nvCxnSpPr>
          <p:spPr>
            <a:xfrm rot="5400000" flipH="1" flipV="1">
              <a:off x="2756924" y="3630130"/>
              <a:ext cx="1" cy="2219402"/>
            </a:xfrm>
            <a:prstGeom prst="curvedConnector3">
              <a:avLst>
                <a:gd name="adj1" fmla="val -22860000000"/>
              </a:avLst>
            </a:prstGeom>
            <a:ln w="19050">
              <a:solidFill>
                <a:schemeClr val="tx1"/>
              </a:solidFill>
              <a:tailEnd type="arrow" w="lg" len="sm"/>
            </a:ln>
          </p:spPr>
          <p:style>
            <a:lnRef idx="1">
              <a:schemeClr val="accent1"/>
            </a:lnRef>
            <a:fillRef idx="0">
              <a:schemeClr val="accent1"/>
            </a:fillRef>
            <a:effectRef idx="0">
              <a:schemeClr val="accent1"/>
            </a:effectRef>
            <a:fontRef idx="minor">
              <a:schemeClr val="tx1"/>
            </a:fontRef>
          </p:style>
        </p:cxnSp>
        <p:pic>
          <p:nvPicPr>
            <p:cNvPr id="32" name="圖片 31">
              <a:extLst>
                <a:ext uri="{FF2B5EF4-FFF2-40B4-BE49-F238E27FC236}">
                  <a16:creationId xmlns:a16="http://schemas.microsoft.com/office/drawing/2014/main" id="{9EBF9C0B-E495-2822-79A8-40B3D2B19461}"/>
                </a:ext>
              </a:extLst>
            </p:cNvPr>
            <p:cNvPicPr>
              <a:picLocks noChangeAspect="1"/>
            </p:cNvPicPr>
            <p:nvPr/>
          </p:nvPicPr>
          <p:blipFill>
            <a:blip r:embed="rId2"/>
            <a:stretch>
              <a:fillRect/>
            </a:stretch>
          </p:blipFill>
          <p:spPr>
            <a:xfrm>
              <a:off x="1545172" y="1850824"/>
              <a:ext cx="204102" cy="308874"/>
            </a:xfrm>
            <a:prstGeom prst="rect">
              <a:avLst/>
            </a:prstGeom>
          </p:spPr>
        </p:pic>
        <p:pic>
          <p:nvPicPr>
            <p:cNvPr id="33" name="圖片 32">
              <a:extLst>
                <a:ext uri="{FF2B5EF4-FFF2-40B4-BE49-F238E27FC236}">
                  <a16:creationId xmlns:a16="http://schemas.microsoft.com/office/drawing/2014/main" id="{16BD6ADF-F896-2CDE-66A7-4D72C257B52C}"/>
                </a:ext>
              </a:extLst>
            </p:cNvPr>
            <p:cNvPicPr>
              <a:picLocks noChangeAspect="1"/>
            </p:cNvPicPr>
            <p:nvPr/>
          </p:nvPicPr>
          <p:blipFill>
            <a:blip r:embed="rId2"/>
            <a:stretch>
              <a:fillRect/>
            </a:stretch>
          </p:blipFill>
          <p:spPr>
            <a:xfrm>
              <a:off x="2654873" y="1844017"/>
              <a:ext cx="204102" cy="308874"/>
            </a:xfrm>
            <a:prstGeom prst="rect">
              <a:avLst/>
            </a:prstGeom>
          </p:spPr>
        </p:pic>
        <p:pic>
          <p:nvPicPr>
            <p:cNvPr id="34" name="圖片 33">
              <a:extLst>
                <a:ext uri="{FF2B5EF4-FFF2-40B4-BE49-F238E27FC236}">
                  <a16:creationId xmlns:a16="http://schemas.microsoft.com/office/drawing/2014/main" id="{CF9E8AE2-BCBC-2BE7-1DA4-75EF245CB745}"/>
                </a:ext>
              </a:extLst>
            </p:cNvPr>
            <p:cNvPicPr>
              <a:picLocks noChangeAspect="1"/>
            </p:cNvPicPr>
            <p:nvPr/>
          </p:nvPicPr>
          <p:blipFill>
            <a:blip r:embed="rId2"/>
            <a:stretch>
              <a:fillRect/>
            </a:stretch>
          </p:blipFill>
          <p:spPr>
            <a:xfrm>
              <a:off x="3764574" y="1844017"/>
              <a:ext cx="204102" cy="308874"/>
            </a:xfrm>
            <a:prstGeom prst="rect">
              <a:avLst/>
            </a:prstGeom>
          </p:spPr>
        </p:pic>
        <p:sp>
          <p:nvSpPr>
            <p:cNvPr id="36" name="文字方塊 35">
              <a:extLst>
                <a:ext uri="{FF2B5EF4-FFF2-40B4-BE49-F238E27FC236}">
                  <a16:creationId xmlns:a16="http://schemas.microsoft.com/office/drawing/2014/main" id="{8D492DD5-814C-CFF9-8E39-412E0D4BBE11}"/>
                </a:ext>
              </a:extLst>
            </p:cNvPr>
            <p:cNvSpPr txBox="1"/>
            <p:nvPr/>
          </p:nvSpPr>
          <p:spPr>
            <a:xfrm>
              <a:off x="4342296" y="1129551"/>
              <a:ext cx="492443" cy="461665"/>
            </a:xfrm>
            <a:prstGeom prst="rect">
              <a:avLst/>
            </a:prstGeom>
            <a:noFill/>
          </p:spPr>
          <p:txBody>
            <a:bodyPr wrap="none" rtlCol="0">
              <a:spAutoFit/>
            </a:bodyPr>
            <a:lstStyle/>
            <a:p>
              <a:r>
                <a:rPr lang="en-US" altLang="zh-TW"/>
                <a:t>…</a:t>
              </a:r>
              <a:endParaRPr lang="zh-TW" altLang="en-US"/>
            </a:p>
          </p:txBody>
        </p:sp>
        <p:sp>
          <p:nvSpPr>
            <p:cNvPr id="37" name="文字方塊 36">
              <a:extLst>
                <a:ext uri="{FF2B5EF4-FFF2-40B4-BE49-F238E27FC236}">
                  <a16:creationId xmlns:a16="http://schemas.microsoft.com/office/drawing/2014/main" id="{C1BC83C4-8460-D5C8-4CE3-D39CD5792225}"/>
                </a:ext>
              </a:extLst>
            </p:cNvPr>
            <p:cNvSpPr txBox="1"/>
            <p:nvPr/>
          </p:nvSpPr>
          <p:spPr>
            <a:xfrm>
              <a:off x="4342296" y="3664404"/>
              <a:ext cx="492443" cy="461665"/>
            </a:xfrm>
            <a:prstGeom prst="rect">
              <a:avLst/>
            </a:prstGeom>
            <a:noFill/>
          </p:spPr>
          <p:txBody>
            <a:bodyPr wrap="none" rtlCol="0">
              <a:spAutoFit/>
            </a:bodyPr>
            <a:lstStyle/>
            <a:p>
              <a:r>
                <a:rPr lang="en-US" altLang="zh-TW"/>
                <a:t>…</a:t>
              </a:r>
              <a:endParaRPr lang="zh-TW" altLang="en-US"/>
            </a:p>
          </p:txBody>
        </p:sp>
        <p:pic>
          <p:nvPicPr>
            <p:cNvPr id="58" name="圖片 57">
              <a:extLst>
                <a:ext uri="{FF2B5EF4-FFF2-40B4-BE49-F238E27FC236}">
                  <a16:creationId xmlns:a16="http://schemas.microsoft.com/office/drawing/2014/main" id="{384ACE6D-1DBB-DF15-63CD-0ED9DECC0D8A}"/>
                </a:ext>
              </a:extLst>
            </p:cNvPr>
            <p:cNvPicPr>
              <a:picLocks noChangeAspect="1"/>
            </p:cNvPicPr>
            <p:nvPr/>
          </p:nvPicPr>
          <p:blipFill>
            <a:blip r:embed="rId2"/>
            <a:stretch>
              <a:fillRect/>
            </a:stretch>
          </p:blipFill>
          <p:spPr>
            <a:xfrm>
              <a:off x="1548790" y="2803912"/>
              <a:ext cx="204102" cy="308874"/>
            </a:xfrm>
            <a:prstGeom prst="rect">
              <a:avLst/>
            </a:prstGeom>
          </p:spPr>
        </p:pic>
        <p:pic>
          <p:nvPicPr>
            <p:cNvPr id="59" name="圖片 58">
              <a:extLst>
                <a:ext uri="{FF2B5EF4-FFF2-40B4-BE49-F238E27FC236}">
                  <a16:creationId xmlns:a16="http://schemas.microsoft.com/office/drawing/2014/main" id="{C9996689-8D0B-F0C3-2DD6-6984B622AE93}"/>
                </a:ext>
              </a:extLst>
            </p:cNvPr>
            <p:cNvPicPr>
              <a:picLocks noChangeAspect="1"/>
            </p:cNvPicPr>
            <p:nvPr/>
          </p:nvPicPr>
          <p:blipFill>
            <a:blip r:embed="rId2"/>
            <a:stretch>
              <a:fillRect/>
            </a:stretch>
          </p:blipFill>
          <p:spPr>
            <a:xfrm>
              <a:off x="2654873" y="2803912"/>
              <a:ext cx="204102" cy="308874"/>
            </a:xfrm>
            <a:prstGeom prst="rect">
              <a:avLst/>
            </a:prstGeom>
          </p:spPr>
        </p:pic>
        <p:pic>
          <p:nvPicPr>
            <p:cNvPr id="60" name="圖片 59">
              <a:extLst>
                <a:ext uri="{FF2B5EF4-FFF2-40B4-BE49-F238E27FC236}">
                  <a16:creationId xmlns:a16="http://schemas.microsoft.com/office/drawing/2014/main" id="{5ED117D5-67D7-5FA6-1206-AEDC0FF48478}"/>
                </a:ext>
              </a:extLst>
            </p:cNvPr>
            <p:cNvPicPr>
              <a:picLocks noChangeAspect="1"/>
            </p:cNvPicPr>
            <p:nvPr/>
          </p:nvPicPr>
          <p:blipFill>
            <a:blip r:embed="rId2"/>
            <a:stretch>
              <a:fillRect/>
            </a:stretch>
          </p:blipFill>
          <p:spPr>
            <a:xfrm>
              <a:off x="3760956" y="2803912"/>
              <a:ext cx="204102" cy="308874"/>
            </a:xfrm>
            <a:prstGeom prst="rect">
              <a:avLst/>
            </a:prstGeom>
          </p:spPr>
        </p:pic>
        <p:cxnSp>
          <p:nvCxnSpPr>
            <p:cNvPr id="38" name="直線單箭頭接點 37">
              <a:extLst>
                <a:ext uri="{FF2B5EF4-FFF2-40B4-BE49-F238E27FC236}">
                  <a16:creationId xmlns:a16="http://schemas.microsoft.com/office/drawing/2014/main" id="{9CF927F5-B841-3FA6-AA35-161F80EF7241}"/>
                </a:ext>
              </a:extLst>
            </p:cNvPr>
            <p:cNvCxnSpPr>
              <a:cxnSpLocks/>
              <a:stCxn id="27" idx="3"/>
              <a:endCxn id="28" idx="1"/>
            </p:cNvCxnSpPr>
            <p:nvPr/>
          </p:nvCxnSpPr>
          <p:spPr>
            <a:xfrm flipV="1">
              <a:off x="2036111" y="4224755"/>
              <a:ext cx="334863"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51" name="文字方塊 50">
            <a:extLst>
              <a:ext uri="{FF2B5EF4-FFF2-40B4-BE49-F238E27FC236}">
                <a16:creationId xmlns:a16="http://schemas.microsoft.com/office/drawing/2014/main" id="{D64D0336-8261-52C3-AF2F-A96394C5FEFF}"/>
              </a:ext>
            </a:extLst>
          </p:cNvPr>
          <p:cNvSpPr txBox="1"/>
          <p:nvPr/>
        </p:nvSpPr>
        <p:spPr>
          <a:xfrm>
            <a:off x="1115091" y="4982571"/>
            <a:ext cx="4570482" cy="1477328"/>
          </a:xfrm>
          <a:prstGeom prst="rect">
            <a:avLst/>
          </a:prstGeom>
          <a:noFill/>
        </p:spPr>
        <p:txBody>
          <a:bodyPr wrap="none" rtlCol="0">
            <a:spAutoFit/>
          </a:bodyPr>
          <a:lstStyle/>
          <a:p>
            <a:r>
              <a:rPr lang="zh-TW" altLang="en-US" sz="1800" dirty="0"/>
              <a:t>佈屬 </a:t>
            </a:r>
            <a:r>
              <a:rPr lang="en-US" altLang="zh-TW" sz="1800" dirty="0"/>
              <a:t>: FE/BE</a:t>
            </a:r>
            <a:r>
              <a:rPr lang="zh-TW" altLang="en-US" sz="1800" dirty="0"/>
              <a:t>可獨立擴充</a:t>
            </a:r>
            <a:endParaRPr lang="en-US" altLang="zh-TW" sz="1800" dirty="0"/>
          </a:p>
          <a:p>
            <a:r>
              <a:rPr lang="zh-TW" altLang="en-US" sz="1800" dirty="0"/>
              <a:t>寫入 </a:t>
            </a:r>
            <a:r>
              <a:rPr lang="en-US" altLang="zh-TW" sz="1800" dirty="0"/>
              <a:t>:</a:t>
            </a:r>
            <a:r>
              <a:rPr lang="zh-TW" altLang="en-US" sz="1800" dirty="0"/>
              <a:t> 優異</a:t>
            </a:r>
            <a:r>
              <a:rPr lang="en-US" altLang="zh-TW" sz="1800" dirty="0"/>
              <a:t>, BE</a:t>
            </a:r>
            <a:r>
              <a:rPr lang="zh-TW" altLang="en-US" sz="1800" dirty="0"/>
              <a:t>節點負責寫入本地硬碟</a:t>
            </a:r>
            <a:endParaRPr lang="en-US" altLang="zh-TW" sz="1800" dirty="0"/>
          </a:p>
          <a:p>
            <a:r>
              <a:rPr lang="zh-TW" altLang="en-US" sz="1800" dirty="0"/>
              <a:t>讀取 </a:t>
            </a:r>
            <a:r>
              <a:rPr lang="en-US" altLang="zh-TW" sz="1800" dirty="0"/>
              <a:t>: </a:t>
            </a:r>
            <a:r>
              <a:rPr lang="zh-TW" altLang="en-US" sz="1800" dirty="0"/>
              <a:t>優異</a:t>
            </a:r>
            <a:r>
              <a:rPr lang="en-US" altLang="zh-TW" sz="1800" dirty="0"/>
              <a:t>, BE</a:t>
            </a:r>
            <a:r>
              <a:rPr lang="zh-TW" altLang="en-US" sz="1800" dirty="0"/>
              <a:t>節點負責計算</a:t>
            </a:r>
            <a:r>
              <a:rPr lang="en-US" altLang="zh-TW" sz="1800" dirty="0"/>
              <a:t>/</a:t>
            </a:r>
            <a:r>
              <a:rPr lang="zh-TW" altLang="en-US" sz="1800" dirty="0"/>
              <a:t>存取本地硬碟</a:t>
            </a:r>
            <a:endParaRPr lang="en-US" altLang="zh-TW" sz="1800" dirty="0"/>
          </a:p>
          <a:p>
            <a:r>
              <a:rPr lang="zh-TW" altLang="en-US" sz="1800" dirty="0"/>
              <a:t>空間 </a:t>
            </a:r>
            <a:r>
              <a:rPr lang="en-US" altLang="zh-TW" sz="1800" dirty="0"/>
              <a:t>: </a:t>
            </a:r>
            <a:r>
              <a:rPr lang="zh-TW" altLang="en-US" sz="1800" dirty="0"/>
              <a:t>全量數據 </a:t>
            </a:r>
            <a:r>
              <a:rPr lang="en-US" altLang="zh-TW" sz="1800" dirty="0"/>
              <a:t>x 3</a:t>
            </a:r>
            <a:r>
              <a:rPr lang="zh-TW" altLang="en-US" sz="1800" dirty="0"/>
              <a:t> </a:t>
            </a:r>
            <a:r>
              <a:rPr lang="en-US" altLang="zh-TW" sz="1800" dirty="0"/>
              <a:t>(</a:t>
            </a:r>
            <a:r>
              <a:rPr lang="zh-TW" altLang="en-US" sz="1800" dirty="0"/>
              <a:t> 可</a:t>
            </a:r>
            <a:r>
              <a:rPr lang="zh-TW" altLang="en-US" sz="1800"/>
              <a:t>設定副本數量 </a:t>
            </a:r>
            <a:r>
              <a:rPr lang="en-US" altLang="zh-TW" sz="1800" dirty="0"/>
              <a:t>)</a:t>
            </a:r>
            <a:endParaRPr lang="zh-TW" altLang="en-US" sz="1800" dirty="0"/>
          </a:p>
          <a:p>
            <a:r>
              <a:rPr lang="zh-TW" altLang="en-US" sz="1800" dirty="0"/>
              <a:t>節約 </a:t>
            </a:r>
            <a:r>
              <a:rPr lang="en-US" altLang="zh-TW" sz="1800" dirty="0"/>
              <a:t>: </a:t>
            </a:r>
            <a:r>
              <a:rPr lang="zh-TW" altLang="en-US" sz="1800" dirty="0"/>
              <a:t>冷熱分層搭配</a:t>
            </a:r>
            <a:r>
              <a:rPr lang="en-US" altLang="zh-TW" sz="1800" dirty="0"/>
              <a:t>S3</a:t>
            </a:r>
            <a:r>
              <a:rPr lang="zh-TW" altLang="en-US" sz="1800" dirty="0"/>
              <a:t>可節約</a:t>
            </a:r>
            <a:r>
              <a:rPr lang="en-US" altLang="zh-TW" sz="1800" dirty="0"/>
              <a:t>70%</a:t>
            </a:r>
            <a:r>
              <a:rPr lang="zh-TW" altLang="en-US" sz="1800" dirty="0"/>
              <a:t>成本</a:t>
            </a:r>
            <a:endParaRPr lang="en-US" altLang="zh-TW" sz="1800" dirty="0"/>
          </a:p>
        </p:txBody>
      </p:sp>
      <p:sp>
        <p:nvSpPr>
          <p:cNvPr id="62" name="文字方塊 61">
            <a:extLst>
              <a:ext uri="{FF2B5EF4-FFF2-40B4-BE49-F238E27FC236}">
                <a16:creationId xmlns:a16="http://schemas.microsoft.com/office/drawing/2014/main" id="{E4A00806-C3F5-2F0B-5852-EA0BCBC9E227}"/>
              </a:ext>
            </a:extLst>
          </p:cNvPr>
          <p:cNvSpPr txBox="1"/>
          <p:nvPr/>
        </p:nvSpPr>
        <p:spPr>
          <a:xfrm>
            <a:off x="6420559" y="4982571"/>
            <a:ext cx="4942379" cy="1477328"/>
          </a:xfrm>
          <a:prstGeom prst="rect">
            <a:avLst/>
          </a:prstGeom>
          <a:noFill/>
        </p:spPr>
        <p:txBody>
          <a:bodyPr wrap="none" rtlCol="0">
            <a:spAutoFit/>
          </a:bodyPr>
          <a:lstStyle/>
          <a:p>
            <a:r>
              <a:rPr lang="zh-TW" altLang="en-US" sz="1800" dirty="0"/>
              <a:t>佈屬 </a:t>
            </a:r>
            <a:r>
              <a:rPr lang="en-US" altLang="zh-TW" sz="1800" dirty="0"/>
              <a:t>: FE/BE/CN </a:t>
            </a:r>
            <a:r>
              <a:rPr lang="zh-TW" altLang="en-US" sz="1800" dirty="0"/>
              <a:t>可獨立擴充</a:t>
            </a:r>
            <a:endParaRPr lang="en-US" altLang="zh-TW" sz="1800" dirty="0"/>
          </a:p>
          <a:p>
            <a:r>
              <a:rPr lang="zh-TW" altLang="en-US" sz="1800" dirty="0"/>
              <a:t>寫入 </a:t>
            </a:r>
            <a:r>
              <a:rPr lang="en-US" altLang="zh-TW" sz="1800" dirty="0"/>
              <a:t>: </a:t>
            </a:r>
            <a:r>
              <a:rPr lang="zh-TW" altLang="en-US" sz="1800" dirty="0"/>
              <a:t>一般</a:t>
            </a:r>
            <a:r>
              <a:rPr lang="en-US" altLang="zh-TW" sz="1800" dirty="0"/>
              <a:t>, BE</a:t>
            </a:r>
            <a:r>
              <a:rPr lang="zh-TW" altLang="en-US" sz="1800" dirty="0"/>
              <a:t>節點負責寫入儲存層</a:t>
            </a:r>
            <a:endParaRPr lang="en-US" altLang="zh-TW" sz="1800" dirty="0"/>
          </a:p>
          <a:p>
            <a:r>
              <a:rPr lang="zh-TW" altLang="en-US" sz="1800" dirty="0"/>
              <a:t>讀取 </a:t>
            </a:r>
            <a:r>
              <a:rPr lang="en-US" altLang="zh-TW" sz="1800" dirty="0"/>
              <a:t>: </a:t>
            </a:r>
            <a:r>
              <a:rPr lang="zh-TW" altLang="en-US" sz="1800" dirty="0"/>
              <a:t>優異</a:t>
            </a:r>
            <a:r>
              <a:rPr lang="en-US" altLang="zh-TW" sz="1800" dirty="0"/>
              <a:t>, CN/BE</a:t>
            </a:r>
            <a:r>
              <a:rPr lang="zh-TW" altLang="en-US" sz="1800" dirty="0"/>
              <a:t>節點使用</a:t>
            </a:r>
            <a:r>
              <a:rPr lang="en-US" altLang="zh-TW" sz="1800" dirty="0"/>
              <a:t>Cache</a:t>
            </a:r>
            <a:r>
              <a:rPr lang="zh-TW" altLang="en-US" sz="1800" dirty="0"/>
              <a:t>加速儲存層</a:t>
            </a:r>
            <a:endParaRPr lang="en-US" altLang="zh-TW" sz="1800" dirty="0"/>
          </a:p>
          <a:p>
            <a:r>
              <a:rPr lang="zh-TW" altLang="en-US" sz="1800" dirty="0"/>
              <a:t>空間 </a:t>
            </a:r>
            <a:r>
              <a:rPr lang="en-US" altLang="zh-TW" sz="1800" dirty="0"/>
              <a:t>: </a:t>
            </a:r>
            <a:r>
              <a:rPr lang="zh-TW" altLang="en-US" sz="1800" dirty="0"/>
              <a:t>全量數據 </a:t>
            </a:r>
            <a:r>
              <a:rPr lang="en-US" altLang="zh-TW" sz="1800" dirty="0"/>
              <a:t>x 1 ( S3 </a:t>
            </a:r>
            <a:r>
              <a:rPr lang="zh-TW" altLang="en-US" sz="1800" dirty="0"/>
              <a:t>負責數據持久性</a:t>
            </a:r>
            <a:r>
              <a:rPr lang="en-US" altLang="zh-TW" sz="1800" dirty="0"/>
              <a:t>)</a:t>
            </a:r>
            <a:endParaRPr lang="zh-TW" altLang="en-US" sz="1800" dirty="0"/>
          </a:p>
          <a:p>
            <a:r>
              <a:rPr lang="zh-TW" altLang="en-US" sz="1800" dirty="0"/>
              <a:t>節約 </a:t>
            </a:r>
            <a:r>
              <a:rPr lang="en-US" altLang="zh-TW" sz="1800" dirty="0"/>
              <a:t>: </a:t>
            </a:r>
            <a:r>
              <a:rPr lang="zh-TW" altLang="en-US" sz="1800" dirty="0"/>
              <a:t>搭配</a:t>
            </a:r>
            <a:r>
              <a:rPr lang="en-US" altLang="zh-TW" sz="1800" dirty="0"/>
              <a:t>S3</a:t>
            </a:r>
            <a:r>
              <a:rPr lang="zh-TW" altLang="en-US" sz="1800" dirty="0"/>
              <a:t>可節約</a:t>
            </a:r>
            <a:r>
              <a:rPr lang="en-US" altLang="zh-TW" sz="1800" dirty="0"/>
              <a:t>90%</a:t>
            </a:r>
            <a:r>
              <a:rPr lang="zh-TW" altLang="en-US" sz="1800" dirty="0"/>
              <a:t>成本</a:t>
            </a:r>
            <a:endParaRPr lang="en-US" altLang="zh-TW" sz="1800" dirty="0"/>
          </a:p>
        </p:txBody>
      </p:sp>
      <p:grpSp>
        <p:nvGrpSpPr>
          <p:cNvPr id="69" name="群組 68">
            <a:extLst>
              <a:ext uri="{FF2B5EF4-FFF2-40B4-BE49-F238E27FC236}">
                <a16:creationId xmlns:a16="http://schemas.microsoft.com/office/drawing/2014/main" id="{8B7E3410-7BDA-2A3B-F4DD-6023C3D2E1EC}"/>
              </a:ext>
            </a:extLst>
          </p:cNvPr>
          <p:cNvGrpSpPr/>
          <p:nvPr/>
        </p:nvGrpSpPr>
        <p:grpSpPr>
          <a:xfrm>
            <a:off x="6420559" y="1118732"/>
            <a:ext cx="4851356" cy="3619977"/>
            <a:chOff x="6159714" y="1129551"/>
            <a:chExt cx="4851356" cy="3619977"/>
          </a:xfrm>
        </p:grpSpPr>
        <p:sp>
          <p:nvSpPr>
            <p:cNvPr id="41" name="矩形: 圓角 40">
              <a:extLst>
                <a:ext uri="{FF2B5EF4-FFF2-40B4-BE49-F238E27FC236}">
                  <a16:creationId xmlns:a16="http://schemas.microsoft.com/office/drawing/2014/main" id="{6084E0D4-B14F-C855-9EB4-32C36D0F98B9}"/>
                </a:ext>
              </a:extLst>
            </p:cNvPr>
            <p:cNvSpPr/>
            <p:nvPr/>
          </p:nvSpPr>
          <p:spPr>
            <a:xfrm>
              <a:off x="6159714" y="1197980"/>
              <a:ext cx="932588" cy="5440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FE</a:t>
              </a:r>
              <a:endParaRPr lang="zh-TW" altLang="en-US" sz="1600">
                <a:solidFill>
                  <a:schemeClr val="tx1"/>
                </a:solidFill>
              </a:endParaRPr>
            </a:p>
          </p:txBody>
        </p:sp>
        <p:sp>
          <p:nvSpPr>
            <p:cNvPr id="42" name="矩形: 圓角 41">
              <a:extLst>
                <a:ext uri="{FF2B5EF4-FFF2-40B4-BE49-F238E27FC236}">
                  <a16:creationId xmlns:a16="http://schemas.microsoft.com/office/drawing/2014/main" id="{91F2F8CA-56B6-04DB-7192-C17F34FAB38C}"/>
                </a:ext>
              </a:extLst>
            </p:cNvPr>
            <p:cNvSpPr/>
            <p:nvPr/>
          </p:nvSpPr>
          <p:spPr>
            <a:xfrm>
              <a:off x="7270883" y="1197979"/>
              <a:ext cx="932588" cy="5440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FE</a:t>
              </a:r>
              <a:endParaRPr lang="zh-TW" altLang="en-US" sz="1600">
                <a:solidFill>
                  <a:schemeClr val="tx1"/>
                </a:solidFill>
              </a:endParaRPr>
            </a:p>
          </p:txBody>
        </p:sp>
        <p:sp>
          <p:nvSpPr>
            <p:cNvPr id="43" name="矩形: 圓角 42">
              <a:extLst>
                <a:ext uri="{FF2B5EF4-FFF2-40B4-BE49-F238E27FC236}">
                  <a16:creationId xmlns:a16="http://schemas.microsoft.com/office/drawing/2014/main" id="{698DEA6C-53C5-11B5-F3AB-63DC1CBCFB86}"/>
                </a:ext>
              </a:extLst>
            </p:cNvPr>
            <p:cNvSpPr/>
            <p:nvPr/>
          </p:nvSpPr>
          <p:spPr>
            <a:xfrm>
              <a:off x="8379116" y="1197978"/>
              <a:ext cx="932588" cy="544009"/>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FE</a:t>
              </a:r>
              <a:endParaRPr lang="zh-TW" altLang="en-US" sz="1600">
                <a:solidFill>
                  <a:schemeClr val="tx1"/>
                </a:solidFill>
              </a:endParaRPr>
            </a:p>
          </p:txBody>
        </p:sp>
        <p:sp>
          <p:nvSpPr>
            <p:cNvPr id="44" name="矩形: 圓角 43">
              <a:extLst>
                <a:ext uri="{FF2B5EF4-FFF2-40B4-BE49-F238E27FC236}">
                  <a16:creationId xmlns:a16="http://schemas.microsoft.com/office/drawing/2014/main" id="{A5E9C8FE-420E-8487-A11E-0F0AE1F0F80F}"/>
                </a:ext>
              </a:extLst>
            </p:cNvPr>
            <p:cNvSpPr/>
            <p:nvPr/>
          </p:nvSpPr>
          <p:spPr>
            <a:xfrm>
              <a:off x="6161181" y="2263867"/>
              <a:ext cx="4258753" cy="439838"/>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Inter Connection</a:t>
              </a:r>
              <a:endParaRPr lang="zh-TW" altLang="en-US" sz="1600">
                <a:solidFill>
                  <a:schemeClr val="tx1"/>
                </a:solidFill>
              </a:endParaRPr>
            </a:p>
          </p:txBody>
        </p:sp>
        <p:sp>
          <p:nvSpPr>
            <p:cNvPr id="45" name="矩形: 圓角 44">
              <a:extLst>
                <a:ext uri="{FF2B5EF4-FFF2-40B4-BE49-F238E27FC236}">
                  <a16:creationId xmlns:a16="http://schemas.microsoft.com/office/drawing/2014/main" id="{A04BB25F-2203-2299-9801-F2C7971C7D3A}"/>
                </a:ext>
              </a:extLst>
            </p:cNvPr>
            <p:cNvSpPr/>
            <p:nvPr/>
          </p:nvSpPr>
          <p:spPr>
            <a:xfrm>
              <a:off x="6159714" y="3235122"/>
              <a:ext cx="932588" cy="515190"/>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TW" sz="1600">
                  <a:solidFill>
                    <a:schemeClr val="tx1"/>
                  </a:solidFill>
                </a:rPr>
                <a:t>BE</a:t>
              </a:r>
              <a:endParaRPr lang="zh-TW" altLang="en-US" sz="1600">
                <a:solidFill>
                  <a:schemeClr val="tx1"/>
                </a:solidFill>
              </a:endParaRPr>
            </a:p>
          </p:txBody>
        </p:sp>
        <p:sp>
          <p:nvSpPr>
            <p:cNvPr id="46" name="矩形: 圓角 45">
              <a:extLst>
                <a:ext uri="{FF2B5EF4-FFF2-40B4-BE49-F238E27FC236}">
                  <a16:creationId xmlns:a16="http://schemas.microsoft.com/office/drawing/2014/main" id="{BDC42073-2530-9030-483D-DD5BC71BE965}"/>
                </a:ext>
              </a:extLst>
            </p:cNvPr>
            <p:cNvSpPr/>
            <p:nvPr/>
          </p:nvSpPr>
          <p:spPr>
            <a:xfrm>
              <a:off x="7270883" y="3235122"/>
              <a:ext cx="932588" cy="515190"/>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TW" sz="1600">
                  <a:solidFill>
                    <a:schemeClr val="tx1"/>
                  </a:solidFill>
                </a:rPr>
                <a:t>BE</a:t>
              </a:r>
              <a:endParaRPr lang="zh-TW" altLang="en-US" sz="1600">
                <a:solidFill>
                  <a:schemeClr val="tx1"/>
                </a:solidFill>
              </a:endParaRPr>
            </a:p>
          </p:txBody>
        </p:sp>
        <p:sp>
          <p:nvSpPr>
            <p:cNvPr id="47" name="矩形: 圓角 46">
              <a:extLst>
                <a:ext uri="{FF2B5EF4-FFF2-40B4-BE49-F238E27FC236}">
                  <a16:creationId xmlns:a16="http://schemas.microsoft.com/office/drawing/2014/main" id="{95519186-E765-7BE2-920C-E1EEDC403BF2}"/>
                </a:ext>
              </a:extLst>
            </p:cNvPr>
            <p:cNvSpPr/>
            <p:nvPr/>
          </p:nvSpPr>
          <p:spPr>
            <a:xfrm>
              <a:off x="8379116" y="3235121"/>
              <a:ext cx="932588" cy="515190"/>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TW" sz="1600">
                  <a:solidFill>
                    <a:schemeClr val="tx1"/>
                  </a:solidFill>
                </a:rPr>
                <a:t>CN</a:t>
              </a:r>
              <a:endParaRPr lang="zh-TW" altLang="en-US" sz="1600">
                <a:solidFill>
                  <a:schemeClr val="tx1"/>
                </a:solidFill>
              </a:endParaRPr>
            </a:p>
          </p:txBody>
        </p:sp>
        <p:pic>
          <p:nvPicPr>
            <p:cNvPr id="53" name="圖片 52">
              <a:extLst>
                <a:ext uri="{FF2B5EF4-FFF2-40B4-BE49-F238E27FC236}">
                  <a16:creationId xmlns:a16="http://schemas.microsoft.com/office/drawing/2014/main" id="{B14F26C7-2196-BB6D-D826-E1F161CEA7A0}"/>
                </a:ext>
              </a:extLst>
            </p:cNvPr>
            <p:cNvPicPr>
              <a:picLocks noChangeAspect="1"/>
            </p:cNvPicPr>
            <p:nvPr/>
          </p:nvPicPr>
          <p:blipFill>
            <a:blip r:embed="rId2"/>
            <a:stretch>
              <a:fillRect/>
            </a:stretch>
          </p:blipFill>
          <p:spPr>
            <a:xfrm>
              <a:off x="6523956" y="1850822"/>
              <a:ext cx="204102" cy="308874"/>
            </a:xfrm>
            <a:prstGeom prst="rect">
              <a:avLst/>
            </a:prstGeom>
          </p:spPr>
        </p:pic>
        <p:pic>
          <p:nvPicPr>
            <p:cNvPr id="54" name="圖片 53">
              <a:extLst>
                <a:ext uri="{FF2B5EF4-FFF2-40B4-BE49-F238E27FC236}">
                  <a16:creationId xmlns:a16="http://schemas.microsoft.com/office/drawing/2014/main" id="{693E968C-C308-CDEF-3A1D-AC29F9DD7A71}"/>
                </a:ext>
              </a:extLst>
            </p:cNvPr>
            <p:cNvPicPr>
              <a:picLocks noChangeAspect="1"/>
            </p:cNvPicPr>
            <p:nvPr/>
          </p:nvPicPr>
          <p:blipFill>
            <a:blip r:embed="rId2"/>
            <a:stretch>
              <a:fillRect/>
            </a:stretch>
          </p:blipFill>
          <p:spPr>
            <a:xfrm>
              <a:off x="7633657" y="1844015"/>
              <a:ext cx="204102" cy="308874"/>
            </a:xfrm>
            <a:prstGeom prst="rect">
              <a:avLst/>
            </a:prstGeom>
          </p:spPr>
        </p:pic>
        <p:pic>
          <p:nvPicPr>
            <p:cNvPr id="55" name="圖片 54">
              <a:extLst>
                <a:ext uri="{FF2B5EF4-FFF2-40B4-BE49-F238E27FC236}">
                  <a16:creationId xmlns:a16="http://schemas.microsoft.com/office/drawing/2014/main" id="{D9D0DC75-DA20-9581-3EB3-BBB369E07F18}"/>
                </a:ext>
              </a:extLst>
            </p:cNvPr>
            <p:cNvPicPr>
              <a:picLocks noChangeAspect="1"/>
            </p:cNvPicPr>
            <p:nvPr/>
          </p:nvPicPr>
          <p:blipFill>
            <a:blip r:embed="rId2"/>
            <a:stretch>
              <a:fillRect/>
            </a:stretch>
          </p:blipFill>
          <p:spPr>
            <a:xfrm>
              <a:off x="8743358" y="1844015"/>
              <a:ext cx="204102" cy="308874"/>
            </a:xfrm>
            <a:prstGeom prst="rect">
              <a:avLst/>
            </a:prstGeom>
          </p:spPr>
        </p:pic>
        <p:sp>
          <p:nvSpPr>
            <p:cNvPr id="3" name="矩形: 圓角 2">
              <a:extLst>
                <a:ext uri="{FF2B5EF4-FFF2-40B4-BE49-F238E27FC236}">
                  <a16:creationId xmlns:a16="http://schemas.microsoft.com/office/drawing/2014/main" id="{5770BC23-D055-07B4-4937-F5EE16391F4D}"/>
                </a:ext>
              </a:extLst>
            </p:cNvPr>
            <p:cNvSpPr/>
            <p:nvPr/>
          </p:nvSpPr>
          <p:spPr>
            <a:xfrm>
              <a:off x="9487349" y="3235121"/>
              <a:ext cx="932588" cy="515190"/>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TW" sz="1600">
                  <a:solidFill>
                    <a:schemeClr val="tx1"/>
                  </a:solidFill>
                </a:rPr>
                <a:t>CN</a:t>
              </a:r>
              <a:endParaRPr lang="zh-TW" altLang="en-US" sz="1600">
                <a:solidFill>
                  <a:schemeClr val="tx1"/>
                </a:solidFill>
              </a:endParaRPr>
            </a:p>
          </p:txBody>
        </p:sp>
        <p:sp>
          <p:nvSpPr>
            <p:cNvPr id="4" name="文字方塊 3">
              <a:extLst>
                <a:ext uri="{FF2B5EF4-FFF2-40B4-BE49-F238E27FC236}">
                  <a16:creationId xmlns:a16="http://schemas.microsoft.com/office/drawing/2014/main" id="{284CFE3D-8DC7-B2E9-011E-BFB12E7264B3}"/>
                </a:ext>
              </a:extLst>
            </p:cNvPr>
            <p:cNvSpPr txBox="1"/>
            <p:nvPr/>
          </p:nvSpPr>
          <p:spPr>
            <a:xfrm>
              <a:off x="9528446" y="1129551"/>
              <a:ext cx="492443" cy="461665"/>
            </a:xfrm>
            <a:prstGeom prst="rect">
              <a:avLst/>
            </a:prstGeom>
            <a:noFill/>
          </p:spPr>
          <p:txBody>
            <a:bodyPr wrap="none" rtlCol="0">
              <a:spAutoFit/>
            </a:bodyPr>
            <a:lstStyle/>
            <a:p>
              <a:r>
                <a:rPr lang="en-US" altLang="zh-TW"/>
                <a:t>…</a:t>
              </a:r>
              <a:endParaRPr lang="zh-TW" altLang="en-US"/>
            </a:p>
          </p:txBody>
        </p:sp>
        <p:sp>
          <p:nvSpPr>
            <p:cNvPr id="5" name="文字方塊 4">
              <a:extLst>
                <a:ext uri="{FF2B5EF4-FFF2-40B4-BE49-F238E27FC236}">
                  <a16:creationId xmlns:a16="http://schemas.microsoft.com/office/drawing/2014/main" id="{ADC3771F-38F5-EAC8-79E7-B450D320E6AD}"/>
                </a:ext>
              </a:extLst>
            </p:cNvPr>
            <p:cNvSpPr txBox="1"/>
            <p:nvPr/>
          </p:nvSpPr>
          <p:spPr>
            <a:xfrm>
              <a:off x="10518627" y="3246975"/>
              <a:ext cx="492443" cy="461665"/>
            </a:xfrm>
            <a:prstGeom prst="rect">
              <a:avLst/>
            </a:prstGeom>
            <a:noFill/>
          </p:spPr>
          <p:txBody>
            <a:bodyPr wrap="none" rtlCol="0">
              <a:spAutoFit/>
            </a:bodyPr>
            <a:lstStyle/>
            <a:p>
              <a:r>
                <a:rPr lang="en-US" altLang="zh-TW"/>
                <a:t>…</a:t>
              </a:r>
              <a:endParaRPr lang="zh-TW" altLang="en-US"/>
            </a:p>
          </p:txBody>
        </p:sp>
        <p:pic>
          <p:nvPicPr>
            <p:cNvPr id="6" name="圖片 5">
              <a:extLst>
                <a:ext uri="{FF2B5EF4-FFF2-40B4-BE49-F238E27FC236}">
                  <a16:creationId xmlns:a16="http://schemas.microsoft.com/office/drawing/2014/main" id="{BB4F63CB-AE9B-370E-3051-6D5331178274}"/>
                </a:ext>
              </a:extLst>
            </p:cNvPr>
            <p:cNvPicPr>
              <a:picLocks noChangeAspect="1"/>
            </p:cNvPicPr>
            <p:nvPr/>
          </p:nvPicPr>
          <p:blipFill>
            <a:blip r:embed="rId2"/>
            <a:stretch>
              <a:fillRect/>
            </a:stretch>
          </p:blipFill>
          <p:spPr>
            <a:xfrm>
              <a:off x="6523956" y="2832347"/>
              <a:ext cx="204102" cy="308874"/>
            </a:xfrm>
            <a:prstGeom prst="rect">
              <a:avLst/>
            </a:prstGeom>
          </p:spPr>
        </p:pic>
        <p:pic>
          <p:nvPicPr>
            <p:cNvPr id="7" name="圖片 6">
              <a:extLst>
                <a:ext uri="{FF2B5EF4-FFF2-40B4-BE49-F238E27FC236}">
                  <a16:creationId xmlns:a16="http://schemas.microsoft.com/office/drawing/2014/main" id="{0BF8CA1F-0420-F019-E598-A7A45BF22D37}"/>
                </a:ext>
              </a:extLst>
            </p:cNvPr>
            <p:cNvPicPr>
              <a:picLocks noChangeAspect="1"/>
            </p:cNvPicPr>
            <p:nvPr/>
          </p:nvPicPr>
          <p:blipFill>
            <a:blip r:embed="rId2"/>
            <a:stretch>
              <a:fillRect/>
            </a:stretch>
          </p:blipFill>
          <p:spPr>
            <a:xfrm>
              <a:off x="7630039" y="2798816"/>
              <a:ext cx="204102" cy="308874"/>
            </a:xfrm>
            <a:prstGeom prst="rect">
              <a:avLst/>
            </a:prstGeom>
          </p:spPr>
        </p:pic>
        <p:sp>
          <p:nvSpPr>
            <p:cNvPr id="9" name="矩形: 圓角 8">
              <a:extLst>
                <a:ext uri="{FF2B5EF4-FFF2-40B4-BE49-F238E27FC236}">
                  <a16:creationId xmlns:a16="http://schemas.microsoft.com/office/drawing/2014/main" id="{52349396-6B3C-AE63-1F30-42F37BFE4C50}"/>
                </a:ext>
              </a:extLst>
            </p:cNvPr>
            <p:cNvSpPr/>
            <p:nvPr/>
          </p:nvSpPr>
          <p:spPr>
            <a:xfrm>
              <a:off x="6159714" y="4309690"/>
              <a:ext cx="4258747" cy="439838"/>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rPr>
                <a:t>S3 / Azure / GCP / HDFS</a:t>
              </a:r>
              <a:endParaRPr lang="zh-TW" altLang="en-US" sz="1600">
                <a:solidFill>
                  <a:schemeClr val="tx1"/>
                </a:solidFill>
              </a:endParaRPr>
            </a:p>
          </p:txBody>
        </p:sp>
        <p:pic>
          <p:nvPicPr>
            <p:cNvPr id="14" name="圖片 13">
              <a:extLst>
                <a:ext uri="{FF2B5EF4-FFF2-40B4-BE49-F238E27FC236}">
                  <a16:creationId xmlns:a16="http://schemas.microsoft.com/office/drawing/2014/main" id="{5276ACC2-F137-6E5A-E226-F36F22AECE5B}"/>
                </a:ext>
              </a:extLst>
            </p:cNvPr>
            <p:cNvPicPr>
              <a:picLocks noChangeAspect="1"/>
            </p:cNvPicPr>
            <p:nvPr/>
          </p:nvPicPr>
          <p:blipFill>
            <a:blip r:embed="rId2"/>
            <a:stretch>
              <a:fillRect/>
            </a:stretch>
          </p:blipFill>
          <p:spPr>
            <a:xfrm>
              <a:off x="6557174" y="3864354"/>
              <a:ext cx="204102" cy="308874"/>
            </a:xfrm>
            <a:prstGeom prst="rect">
              <a:avLst/>
            </a:prstGeom>
          </p:spPr>
        </p:pic>
        <p:pic>
          <p:nvPicPr>
            <p:cNvPr id="15" name="圖片 14">
              <a:extLst>
                <a:ext uri="{FF2B5EF4-FFF2-40B4-BE49-F238E27FC236}">
                  <a16:creationId xmlns:a16="http://schemas.microsoft.com/office/drawing/2014/main" id="{AA3D1436-C9BD-D765-5C40-53E9ED93365F}"/>
                </a:ext>
              </a:extLst>
            </p:cNvPr>
            <p:cNvPicPr>
              <a:picLocks noChangeAspect="1"/>
            </p:cNvPicPr>
            <p:nvPr/>
          </p:nvPicPr>
          <p:blipFill>
            <a:blip r:embed="rId2"/>
            <a:stretch>
              <a:fillRect/>
            </a:stretch>
          </p:blipFill>
          <p:spPr>
            <a:xfrm>
              <a:off x="7633912" y="3854184"/>
              <a:ext cx="204102" cy="308874"/>
            </a:xfrm>
            <a:prstGeom prst="rect">
              <a:avLst/>
            </a:prstGeom>
          </p:spPr>
        </p:pic>
        <p:cxnSp>
          <p:nvCxnSpPr>
            <p:cNvPr id="17" name="直線單箭頭接點 16">
              <a:extLst>
                <a:ext uri="{FF2B5EF4-FFF2-40B4-BE49-F238E27FC236}">
                  <a16:creationId xmlns:a16="http://schemas.microsoft.com/office/drawing/2014/main" id="{ABD40548-2050-FEDD-06E7-B8CCCB65D128}"/>
                </a:ext>
              </a:extLst>
            </p:cNvPr>
            <p:cNvCxnSpPr>
              <a:cxnSpLocks/>
            </p:cNvCxnSpPr>
            <p:nvPr/>
          </p:nvCxnSpPr>
          <p:spPr>
            <a:xfrm flipV="1">
              <a:off x="8845409" y="3822716"/>
              <a:ext cx="0" cy="32951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28C3CF4E-D226-0315-8A1A-84D8DFB513D0}"/>
                </a:ext>
              </a:extLst>
            </p:cNvPr>
            <p:cNvCxnSpPr>
              <a:cxnSpLocks/>
            </p:cNvCxnSpPr>
            <p:nvPr/>
          </p:nvCxnSpPr>
          <p:spPr>
            <a:xfrm flipV="1">
              <a:off x="9953643" y="3796551"/>
              <a:ext cx="0" cy="32951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2D1384C8-F3DF-7DB0-AB31-F1F0E8964986}"/>
                </a:ext>
              </a:extLst>
            </p:cNvPr>
            <p:cNvCxnSpPr>
              <a:cxnSpLocks/>
            </p:cNvCxnSpPr>
            <p:nvPr/>
          </p:nvCxnSpPr>
          <p:spPr>
            <a:xfrm flipV="1">
              <a:off x="9928896" y="2811703"/>
              <a:ext cx="0" cy="32951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CF31D534-FE28-7E29-6BE8-2D0D195ABC14}"/>
                </a:ext>
              </a:extLst>
            </p:cNvPr>
            <p:cNvCxnSpPr>
              <a:cxnSpLocks/>
            </p:cNvCxnSpPr>
            <p:nvPr/>
          </p:nvCxnSpPr>
          <p:spPr>
            <a:xfrm flipV="1">
              <a:off x="8845409" y="2798816"/>
              <a:ext cx="0" cy="32951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矩形: 圓角 62">
              <a:extLst>
                <a:ext uri="{FF2B5EF4-FFF2-40B4-BE49-F238E27FC236}">
                  <a16:creationId xmlns:a16="http://schemas.microsoft.com/office/drawing/2014/main" id="{0A289FA4-A86E-3731-6D92-CF1FCE5F95AC}"/>
                </a:ext>
              </a:extLst>
            </p:cNvPr>
            <p:cNvSpPr/>
            <p:nvPr/>
          </p:nvSpPr>
          <p:spPr>
            <a:xfrm>
              <a:off x="6240058" y="3561261"/>
              <a:ext cx="774837" cy="138594"/>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800">
                  <a:solidFill>
                    <a:schemeClr val="tx1"/>
                  </a:solidFill>
                </a:rPr>
                <a:t>Cache</a:t>
              </a:r>
              <a:endParaRPr lang="zh-TW" altLang="en-US" sz="800">
                <a:solidFill>
                  <a:schemeClr val="tx1"/>
                </a:solidFill>
              </a:endParaRPr>
            </a:p>
          </p:txBody>
        </p:sp>
        <p:sp>
          <p:nvSpPr>
            <p:cNvPr id="64" name="矩形: 圓角 63">
              <a:extLst>
                <a:ext uri="{FF2B5EF4-FFF2-40B4-BE49-F238E27FC236}">
                  <a16:creationId xmlns:a16="http://schemas.microsoft.com/office/drawing/2014/main" id="{B3191D65-9C62-FC85-BDC4-E5F1DC0EEB63}"/>
                </a:ext>
              </a:extLst>
            </p:cNvPr>
            <p:cNvSpPr/>
            <p:nvPr/>
          </p:nvSpPr>
          <p:spPr>
            <a:xfrm>
              <a:off x="7346822" y="3561261"/>
              <a:ext cx="774837" cy="138594"/>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800">
                  <a:solidFill>
                    <a:schemeClr val="tx1"/>
                  </a:solidFill>
                </a:rPr>
                <a:t>Cache</a:t>
              </a:r>
              <a:endParaRPr lang="zh-TW" altLang="en-US" sz="800">
                <a:solidFill>
                  <a:schemeClr val="tx1"/>
                </a:solidFill>
              </a:endParaRPr>
            </a:p>
          </p:txBody>
        </p:sp>
        <p:sp>
          <p:nvSpPr>
            <p:cNvPr id="65" name="矩形: 圓角 64">
              <a:extLst>
                <a:ext uri="{FF2B5EF4-FFF2-40B4-BE49-F238E27FC236}">
                  <a16:creationId xmlns:a16="http://schemas.microsoft.com/office/drawing/2014/main" id="{AADEB663-16CC-11E2-8A23-9375DDC17864}"/>
                </a:ext>
              </a:extLst>
            </p:cNvPr>
            <p:cNvSpPr/>
            <p:nvPr/>
          </p:nvSpPr>
          <p:spPr>
            <a:xfrm>
              <a:off x="8457991" y="3561261"/>
              <a:ext cx="774837" cy="138594"/>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800">
                  <a:solidFill>
                    <a:schemeClr val="tx1"/>
                  </a:solidFill>
                </a:rPr>
                <a:t>Cache</a:t>
              </a:r>
              <a:endParaRPr lang="zh-TW" altLang="en-US" sz="800">
                <a:solidFill>
                  <a:schemeClr val="tx1"/>
                </a:solidFill>
              </a:endParaRPr>
            </a:p>
          </p:txBody>
        </p:sp>
        <p:sp>
          <p:nvSpPr>
            <p:cNvPr id="66" name="矩形: 圓角 65">
              <a:extLst>
                <a:ext uri="{FF2B5EF4-FFF2-40B4-BE49-F238E27FC236}">
                  <a16:creationId xmlns:a16="http://schemas.microsoft.com/office/drawing/2014/main" id="{ADA95A8F-20ED-6CAC-B627-D24CEFED3D3A}"/>
                </a:ext>
              </a:extLst>
            </p:cNvPr>
            <p:cNvSpPr/>
            <p:nvPr/>
          </p:nvSpPr>
          <p:spPr>
            <a:xfrm>
              <a:off x="9566224" y="3561261"/>
              <a:ext cx="774837" cy="138594"/>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800">
                  <a:solidFill>
                    <a:schemeClr val="tx1"/>
                  </a:solidFill>
                </a:rPr>
                <a:t>Cache</a:t>
              </a:r>
              <a:endParaRPr lang="zh-TW" altLang="en-US" sz="800">
                <a:solidFill>
                  <a:schemeClr val="tx1"/>
                </a:solidFill>
              </a:endParaRPr>
            </a:p>
          </p:txBody>
        </p:sp>
      </p:grpSp>
      <p:sp>
        <p:nvSpPr>
          <p:cNvPr id="67" name="文字方塊 66">
            <a:extLst>
              <a:ext uri="{FF2B5EF4-FFF2-40B4-BE49-F238E27FC236}">
                <a16:creationId xmlns:a16="http://schemas.microsoft.com/office/drawing/2014/main" id="{73F97F6A-9BBD-FC24-75B2-88BA2AE5336B}"/>
              </a:ext>
            </a:extLst>
          </p:cNvPr>
          <p:cNvSpPr txBox="1"/>
          <p:nvPr/>
        </p:nvSpPr>
        <p:spPr>
          <a:xfrm>
            <a:off x="2336945" y="699678"/>
            <a:ext cx="1415772" cy="461665"/>
          </a:xfrm>
          <a:prstGeom prst="rect">
            <a:avLst/>
          </a:prstGeom>
          <a:noFill/>
        </p:spPr>
        <p:txBody>
          <a:bodyPr wrap="none" rtlCol="0">
            <a:spAutoFit/>
          </a:bodyPr>
          <a:lstStyle/>
          <a:p>
            <a:r>
              <a:rPr lang="zh-TW" altLang="en-US" b="1">
                <a:solidFill>
                  <a:srgbClr val="FF0000"/>
                </a:solidFill>
              </a:rPr>
              <a:t>算存一體</a:t>
            </a:r>
          </a:p>
        </p:txBody>
      </p:sp>
      <p:sp>
        <p:nvSpPr>
          <p:cNvPr id="68" name="文字方塊 67">
            <a:extLst>
              <a:ext uri="{FF2B5EF4-FFF2-40B4-BE49-F238E27FC236}">
                <a16:creationId xmlns:a16="http://schemas.microsoft.com/office/drawing/2014/main" id="{CFE9B3E2-5DA0-6DC3-C827-5B86F1734288}"/>
              </a:ext>
            </a:extLst>
          </p:cNvPr>
          <p:cNvSpPr txBox="1"/>
          <p:nvPr/>
        </p:nvSpPr>
        <p:spPr>
          <a:xfrm>
            <a:off x="7792533" y="659509"/>
            <a:ext cx="1415772" cy="461665"/>
          </a:xfrm>
          <a:prstGeom prst="rect">
            <a:avLst/>
          </a:prstGeom>
          <a:noFill/>
        </p:spPr>
        <p:txBody>
          <a:bodyPr wrap="none" rtlCol="0">
            <a:spAutoFit/>
          </a:bodyPr>
          <a:lstStyle/>
          <a:p>
            <a:r>
              <a:rPr lang="zh-TW" altLang="en-US" b="1">
                <a:solidFill>
                  <a:srgbClr val="FF0000"/>
                </a:solidFill>
              </a:rPr>
              <a:t>算存分離</a:t>
            </a:r>
          </a:p>
        </p:txBody>
      </p:sp>
    </p:spTree>
    <p:extLst>
      <p:ext uri="{BB962C8B-B14F-4D97-AF65-F5344CB8AC3E}">
        <p14:creationId xmlns:p14="http://schemas.microsoft.com/office/powerpoint/2010/main" val="472583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91B37F-34EA-9168-69AB-0B1D50DEC516}"/>
              </a:ext>
            </a:extLst>
          </p:cNvPr>
          <p:cNvSpPr>
            <a:spLocks noGrp="1"/>
          </p:cNvSpPr>
          <p:nvPr>
            <p:ph type="title"/>
          </p:nvPr>
        </p:nvSpPr>
        <p:spPr/>
        <p:txBody>
          <a:bodyPr/>
          <a:lstStyle/>
          <a:p>
            <a:r>
              <a:rPr lang="zh-TW" altLang="en-US"/>
              <a:t>短期</a:t>
            </a:r>
            <a:r>
              <a:rPr lang="en-US" altLang="zh-TW"/>
              <a:t>Apache Doris</a:t>
            </a:r>
            <a:r>
              <a:rPr lang="zh-TW" altLang="en-US"/>
              <a:t>滿足製造域相關需求作法</a:t>
            </a:r>
          </a:p>
        </p:txBody>
      </p:sp>
      <p:pic>
        <p:nvPicPr>
          <p:cNvPr id="3" name="圖片 2">
            <a:extLst>
              <a:ext uri="{FF2B5EF4-FFF2-40B4-BE49-F238E27FC236}">
                <a16:creationId xmlns:a16="http://schemas.microsoft.com/office/drawing/2014/main" id="{6F005F28-1FA9-1A9A-5151-30431A9CF5C2}"/>
              </a:ext>
            </a:extLst>
          </p:cNvPr>
          <p:cNvPicPr>
            <a:picLocks noChangeAspect="1"/>
          </p:cNvPicPr>
          <p:nvPr/>
        </p:nvPicPr>
        <p:blipFill rotWithShape="1">
          <a:blip r:embed="rId2"/>
          <a:srcRect t="10848"/>
          <a:stretch/>
        </p:blipFill>
        <p:spPr>
          <a:xfrm>
            <a:off x="201794" y="1549135"/>
            <a:ext cx="11788411" cy="3956243"/>
          </a:xfrm>
          <a:prstGeom prst="rect">
            <a:avLst/>
          </a:prstGeom>
        </p:spPr>
      </p:pic>
      <p:sp>
        <p:nvSpPr>
          <p:cNvPr id="4" name="文字方塊 3">
            <a:extLst>
              <a:ext uri="{FF2B5EF4-FFF2-40B4-BE49-F238E27FC236}">
                <a16:creationId xmlns:a16="http://schemas.microsoft.com/office/drawing/2014/main" id="{B827ECD6-58F7-F809-50B8-A492EE0B6E0C}"/>
              </a:ext>
            </a:extLst>
          </p:cNvPr>
          <p:cNvSpPr txBox="1"/>
          <p:nvPr/>
        </p:nvSpPr>
        <p:spPr>
          <a:xfrm>
            <a:off x="249292" y="1549135"/>
            <a:ext cx="1721946" cy="461665"/>
          </a:xfrm>
          <a:prstGeom prst="rect">
            <a:avLst/>
          </a:prstGeom>
          <a:noFill/>
        </p:spPr>
        <p:txBody>
          <a:bodyPr wrap="none" rtlCol="0">
            <a:spAutoFit/>
          </a:bodyPr>
          <a:lstStyle/>
          <a:p>
            <a:r>
              <a:rPr lang="en-US" altLang="zh-TW"/>
              <a:t>MES</a:t>
            </a:r>
            <a:r>
              <a:rPr lang="zh-TW" altLang="en-US"/>
              <a:t> </a:t>
            </a:r>
            <a:r>
              <a:rPr lang="en-US" altLang="zh-TW"/>
              <a:t>/ EAP</a:t>
            </a:r>
            <a:endParaRPr lang="zh-TW" altLang="en-US"/>
          </a:p>
        </p:txBody>
      </p:sp>
      <p:sp>
        <p:nvSpPr>
          <p:cNvPr id="5" name="矩形 4">
            <a:extLst>
              <a:ext uri="{FF2B5EF4-FFF2-40B4-BE49-F238E27FC236}">
                <a16:creationId xmlns:a16="http://schemas.microsoft.com/office/drawing/2014/main" id="{9DA3898F-A94E-66F8-29E4-4FD979102C56}"/>
              </a:ext>
            </a:extLst>
          </p:cNvPr>
          <p:cNvSpPr/>
          <p:nvPr/>
        </p:nvSpPr>
        <p:spPr>
          <a:xfrm>
            <a:off x="631294" y="2675190"/>
            <a:ext cx="957943" cy="258458"/>
          </a:xfrm>
          <a:prstGeom prst="rect">
            <a:avLst/>
          </a:prstGeom>
          <a:solidFill>
            <a:srgbClr val="F0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solidFill>
                  <a:schemeClr val="tx1"/>
                </a:solidFill>
                <a:latin typeface="+mn-ea"/>
              </a:rPr>
              <a:t>S3</a:t>
            </a:r>
            <a:endParaRPr lang="zh-TW" altLang="en-US" sz="1600">
              <a:solidFill>
                <a:schemeClr val="tx1"/>
              </a:solidFill>
              <a:latin typeface="+mn-ea"/>
            </a:endParaRPr>
          </a:p>
        </p:txBody>
      </p:sp>
      <p:sp>
        <p:nvSpPr>
          <p:cNvPr id="6" name="文字方塊 5">
            <a:extLst>
              <a:ext uri="{FF2B5EF4-FFF2-40B4-BE49-F238E27FC236}">
                <a16:creationId xmlns:a16="http://schemas.microsoft.com/office/drawing/2014/main" id="{2F53C460-8737-5F3D-04A6-6DD680C3728A}"/>
              </a:ext>
            </a:extLst>
          </p:cNvPr>
          <p:cNvSpPr txBox="1"/>
          <p:nvPr/>
        </p:nvSpPr>
        <p:spPr>
          <a:xfrm>
            <a:off x="10075662" y="1826000"/>
            <a:ext cx="1537600" cy="307777"/>
          </a:xfrm>
          <a:prstGeom prst="rect">
            <a:avLst/>
          </a:prstGeom>
          <a:noFill/>
        </p:spPr>
        <p:txBody>
          <a:bodyPr wrap="none" rtlCol="0">
            <a:spAutoFit/>
          </a:bodyPr>
          <a:lstStyle/>
          <a:p>
            <a:r>
              <a:rPr lang="en-US" altLang="zh-TW" sz="1400"/>
              <a:t>Ref. Master Data</a:t>
            </a:r>
            <a:endParaRPr lang="zh-TW" altLang="en-US" sz="1400"/>
          </a:p>
        </p:txBody>
      </p:sp>
      <p:sp>
        <p:nvSpPr>
          <p:cNvPr id="7" name="文字方塊 6">
            <a:extLst>
              <a:ext uri="{FF2B5EF4-FFF2-40B4-BE49-F238E27FC236}">
                <a16:creationId xmlns:a16="http://schemas.microsoft.com/office/drawing/2014/main" id="{E66BCEC9-EF67-6FD7-1D62-885524E89130}"/>
              </a:ext>
            </a:extLst>
          </p:cNvPr>
          <p:cNvSpPr txBox="1"/>
          <p:nvPr/>
        </p:nvSpPr>
        <p:spPr>
          <a:xfrm>
            <a:off x="4164544" y="5505378"/>
            <a:ext cx="4682692" cy="646331"/>
          </a:xfrm>
          <a:prstGeom prst="rect">
            <a:avLst/>
          </a:prstGeom>
          <a:noFill/>
        </p:spPr>
        <p:txBody>
          <a:bodyPr wrap="none" rtlCol="0">
            <a:spAutoFit/>
          </a:bodyPr>
          <a:lstStyle/>
          <a:p>
            <a:r>
              <a:rPr lang="zh-TW" altLang="en-US" sz="1200"/>
              <a:t>在公司尚未有大數據解決方案前</a:t>
            </a:r>
            <a:endParaRPr lang="en-US" altLang="zh-TW" sz="1200"/>
          </a:p>
          <a:p>
            <a:r>
              <a:rPr lang="zh-TW" altLang="en-US" sz="1200"/>
              <a:t>暫時使用</a:t>
            </a:r>
            <a:r>
              <a:rPr lang="en-US" altLang="zh-TW" sz="1200"/>
              <a:t>Apache Doris ODS</a:t>
            </a:r>
            <a:r>
              <a:rPr lang="zh-TW" altLang="en-US" sz="1200"/>
              <a:t>層存放</a:t>
            </a:r>
            <a:r>
              <a:rPr lang="en-US" altLang="zh-TW" sz="1200"/>
              <a:t>CFX</a:t>
            </a:r>
            <a:r>
              <a:rPr lang="zh-TW" altLang="en-US" sz="1200"/>
              <a:t>轉換後相關數據</a:t>
            </a:r>
            <a:endParaRPr lang="en-US" altLang="zh-TW" sz="1200"/>
          </a:p>
          <a:p>
            <a:r>
              <a:rPr lang="en-US" altLang="zh-TW" sz="1200"/>
              <a:t>CFX</a:t>
            </a:r>
            <a:r>
              <a:rPr lang="zh-TW" altLang="en-US" sz="1200"/>
              <a:t>原始數據暫時存放至</a:t>
            </a:r>
            <a:r>
              <a:rPr lang="en-US" altLang="zh-TW" sz="1200"/>
              <a:t>S3</a:t>
            </a:r>
            <a:r>
              <a:rPr lang="zh-TW" altLang="en-US" sz="1200"/>
              <a:t> </a:t>
            </a:r>
            <a:r>
              <a:rPr lang="en-US" altLang="zh-TW" sz="1200"/>
              <a:t>(</a:t>
            </a:r>
            <a:r>
              <a:rPr lang="zh-TW" altLang="en-US" sz="1200"/>
              <a:t> </a:t>
            </a:r>
            <a:r>
              <a:rPr lang="en-US" altLang="zh-TW" sz="1200"/>
              <a:t>MINIO) </a:t>
            </a:r>
            <a:r>
              <a:rPr lang="en-US" altLang="zh-TW" sz="1200">
                <a:sym typeface="Wingdings" panose="05000000000000000000" pitchFamily="2" charset="2"/>
              </a:rPr>
              <a:t> </a:t>
            </a:r>
            <a:r>
              <a:rPr lang="zh-TW" altLang="en-US" sz="1200">
                <a:sym typeface="Wingdings" panose="05000000000000000000" pitchFamily="2" charset="2"/>
              </a:rPr>
              <a:t>待與</a:t>
            </a:r>
            <a:r>
              <a:rPr lang="en-US" altLang="zh-TW" sz="1200">
                <a:sym typeface="Wingdings" panose="05000000000000000000" pitchFamily="2" charset="2"/>
              </a:rPr>
              <a:t>AIOT</a:t>
            </a:r>
            <a:r>
              <a:rPr lang="zh-TW" altLang="en-US" sz="1200">
                <a:sym typeface="Wingdings" panose="05000000000000000000" pitchFamily="2" charset="2"/>
              </a:rPr>
              <a:t>團隊討論架構</a:t>
            </a:r>
            <a:endParaRPr lang="en-US" altLang="zh-TW" sz="1200"/>
          </a:p>
        </p:txBody>
      </p:sp>
    </p:spTree>
    <p:extLst>
      <p:ext uri="{BB962C8B-B14F-4D97-AF65-F5344CB8AC3E}">
        <p14:creationId xmlns:p14="http://schemas.microsoft.com/office/powerpoint/2010/main" val="1490844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6D7E63-D39C-B599-867D-FD988C967B68}"/>
              </a:ext>
            </a:extLst>
          </p:cNvPr>
          <p:cNvSpPr>
            <a:spLocks noGrp="1"/>
          </p:cNvSpPr>
          <p:nvPr>
            <p:ph type="title"/>
          </p:nvPr>
        </p:nvSpPr>
        <p:spPr>
          <a:xfrm>
            <a:off x="406400" y="186384"/>
            <a:ext cx="11379200" cy="679396"/>
          </a:xfrm>
        </p:spPr>
        <p:txBody>
          <a:bodyPr/>
          <a:lstStyle/>
          <a:p>
            <a:r>
              <a:rPr lang="zh-TW" altLang="en-US"/>
              <a:t>長期規劃</a:t>
            </a:r>
            <a:r>
              <a:rPr lang="en-US" altLang="zh-TW"/>
              <a:t>Apache Doris</a:t>
            </a:r>
            <a:r>
              <a:rPr lang="zh-TW" altLang="en-US"/>
              <a:t>的湖倉一體架構</a:t>
            </a:r>
          </a:p>
        </p:txBody>
      </p:sp>
      <p:pic>
        <p:nvPicPr>
          <p:cNvPr id="3" name="圖片 2">
            <a:extLst>
              <a:ext uri="{FF2B5EF4-FFF2-40B4-BE49-F238E27FC236}">
                <a16:creationId xmlns:a16="http://schemas.microsoft.com/office/drawing/2014/main" id="{8797FFFA-EE9B-2523-9A35-BF3A5B05A989}"/>
              </a:ext>
            </a:extLst>
          </p:cNvPr>
          <p:cNvPicPr>
            <a:picLocks noChangeAspect="1"/>
          </p:cNvPicPr>
          <p:nvPr/>
        </p:nvPicPr>
        <p:blipFill rotWithShape="1">
          <a:blip r:embed="rId2"/>
          <a:srcRect t="7882"/>
          <a:stretch/>
        </p:blipFill>
        <p:spPr>
          <a:xfrm>
            <a:off x="57150" y="982979"/>
            <a:ext cx="11991230" cy="5210889"/>
          </a:xfrm>
          <a:prstGeom prst="rect">
            <a:avLst/>
          </a:prstGeom>
        </p:spPr>
      </p:pic>
      <p:sp>
        <p:nvSpPr>
          <p:cNvPr id="4" name="矩形 3">
            <a:extLst>
              <a:ext uri="{FF2B5EF4-FFF2-40B4-BE49-F238E27FC236}">
                <a16:creationId xmlns:a16="http://schemas.microsoft.com/office/drawing/2014/main" id="{87D58BAF-61B9-61DE-2076-401D47A56D9D}"/>
              </a:ext>
            </a:extLst>
          </p:cNvPr>
          <p:cNvSpPr/>
          <p:nvPr/>
        </p:nvSpPr>
        <p:spPr>
          <a:xfrm>
            <a:off x="6052765" y="5335658"/>
            <a:ext cx="2170145" cy="3945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dirty="0">
                <a:solidFill>
                  <a:schemeClr val="tx1"/>
                </a:solidFill>
                <a:latin typeface="+mn-ea"/>
              </a:rPr>
              <a:t>Iceberg / Hudi / Delta Lake</a:t>
            </a:r>
          </a:p>
          <a:p>
            <a:pPr algn="ctr"/>
            <a:r>
              <a:rPr lang="en-US" altLang="zh-TW" sz="1100" b="1" dirty="0">
                <a:solidFill>
                  <a:schemeClr val="tx1"/>
                </a:solidFill>
                <a:latin typeface="+mn-ea"/>
              </a:rPr>
              <a:t>(</a:t>
            </a:r>
            <a:r>
              <a:rPr lang="zh-TW" altLang="en-US" sz="1100" b="1" dirty="0">
                <a:solidFill>
                  <a:schemeClr val="tx1"/>
                </a:solidFill>
                <a:latin typeface="+mn-ea"/>
              </a:rPr>
              <a:t> 大數據解決方案 </a:t>
            </a:r>
            <a:r>
              <a:rPr lang="en-US" altLang="zh-TW" sz="1100" b="1" dirty="0">
                <a:solidFill>
                  <a:schemeClr val="tx1"/>
                </a:solidFill>
                <a:latin typeface="+mn-ea"/>
              </a:rPr>
              <a:t>)</a:t>
            </a:r>
            <a:endParaRPr lang="zh-TW" altLang="en-US" sz="1100" b="1" dirty="0">
              <a:solidFill>
                <a:schemeClr val="tx1"/>
              </a:solidFill>
              <a:latin typeface="+mn-ea"/>
            </a:endParaRPr>
          </a:p>
        </p:txBody>
      </p:sp>
      <p:sp>
        <p:nvSpPr>
          <p:cNvPr id="5" name="矩形 4">
            <a:extLst>
              <a:ext uri="{FF2B5EF4-FFF2-40B4-BE49-F238E27FC236}">
                <a16:creationId xmlns:a16="http://schemas.microsoft.com/office/drawing/2014/main" id="{EC7F0F9A-9F2E-75F3-D4A5-0F9D856D7388}"/>
              </a:ext>
            </a:extLst>
          </p:cNvPr>
          <p:cNvSpPr/>
          <p:nvPr/>
        </p:nvSpPr>
        <p:spPr>
          <a:xfrm>
            <a:off x="751841" y="4886960"/>
            <a:ext cx="1005840" cy="35217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100" b="1" dirty="0">
                <a:solidFill>
                  <a:schemeClr val="tx1"/>
                </a:solidFill>
                <a:latin typeface="+mn-ea"/>
              </a:rPr>
              <a:t>Transaction</a:t>
            </a:r>
          </a:p>
          <a:p>
            <a:pPr algn="ctr"/>
            <a:r>
              <a:rPr lang="en-US" altLang="zh-TW" sz="1100" b="1" dirty="0">
                <a:solidFill>
                  <a:schemeClr val="tx1"/>
                </a:solidFill>
                <a:latin typeface="+mn-ea"/>
              </a:rPr>
              <a:t> Log</a:t>
            </a:r>
            <a:endParaRPr lang="zh-TW" altLang="en-US" sz="1100" b="1" dirty="0">
              <a:solidFill>
                <a:schemeClr val="tx1"/>
              </a:solidFill>
              <a:latin typeface="+mn-ea"/>
            </a:endParaRPr>
          </a:p>
        </p:txBody>
      </p:sp>
    </p:spTree>
    <p:extLst>
      <p:ext uri="{BB962C8B-B14F-4D97-AF65-F5344CB8AC3E}">
        <p14:creationId xmlns:p14="http://schemas.microsoft.com/office/powerpoint/2010/main" val="3577595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02741E0D-37AA-BF1C-BB54-F5B2100A960E}"/>
              </a:ext>
            </a:extLst>
          </p:cNvPr>
          <p:cNvSpPr>
            <a:spLocks noGrp="1"/>
          </p:cNvSpPr>
          <p:nvPr>
            <p:ph type="title"/>
          </p:nvPr>
        </p:nvSpPr>
        <p:spPr/>
        <p:txBody>
          <a:bodyPr/>
          <a:lstStyle/>
          <a:p>
            <a:r>
              <a:rPr lang="en-US" altLang="zh-TW"/>
              <a:t>Modern Data Stack </a:t>
            </a:r>
            <a:r>
              <a:rPr lang="zh-TW" altLang="en-US"/>
              <a:t>架構 </a:t>
            </a:r>
            <a:r>
              <a:rPr lang="en-US" altLang="zh-TW"/>
              <a:t>( MDS )</a:t>
            </a:r>
            <a:endParaRPr lang="zh-TW" altLang="en-US"/>
          </a:p>
        </p:txBody>
      </p:sp>
      <p:sp>
        <p:nvSpPr>
          <p:cNvPr id="4" name="投影片編號版面配置區 3">
            <a:extLst>
              <a:ext uri="{FF2B5EF4-FFF2-40B4-BE49-F238E27FC236}">
                <a16:creationId xmlns:a16="http://schemas.microsoft.com/office/drawing/2014/main" id="{608CB50B-DAAA-2FF3-7DB9-FAA342D49ECD}"/>
              </a:ext>
            </a:extLst>
          </p:cNvPr>
          <p:cNvSpPr>
            <a:spLocks noGrp="1"/>
          </p:cNvSpPr>
          <p:nvPr>
            <p:ph type="sldNum" sz="quarter" idx="4294967295"/>
          </p:nvPr>
        </p:nvSpPr>
        <p:spPr>
          <a:xfrm>
            <a:off x="0" y="6191250"/>
            <a:ext cx="401638" cy="423863"/>
          </a:xfrm>
        </p:spPr>
        <p:txBody>
          <a:bodyPr/>
          <a:lstStyle/>
          <a:p>
            <a:fld id="{320C0BB4-95A4-497D-9D8D-0F64D8AEAD65}" type="slidenum">
              <a:rPr lang="zh-TW" altLang="en-US" smtClean="0"/>
              <a:t>13</a:t>
            </a:fld>
            <a:endParaRPr lang="zh-TW" altLang="en-US"/>
          </a:p>
        </p:txBody>
      </p:sp>
      <p:pic>
        <p:nvPicPr>
          <p:cNvPr id="10" name="圖片 9">
            <a:extLst>
              <a:ext uri="{FF2B5EF4-FFF2-40B4-BE49-F238E27FC236}">
                <a16:creationId xmlns:a16="http://schemas.microsoft.com/office/drawing/2014/main" id="{E343804C-BDF3-EE23-F4A3-F1C21F70BEE1}"/>
              </a:ext>
            </a:extLst>
          </p:cNvPr>
          <p:cNvPicPr>
            <a:picLocks noChangeAspect="1"/>
          </p:cNvPicPr>
          <p:nvPr/>
        </p:nvPicPr>
        <p:blipFill>
          <a:blip r:embed="rId2"/>
          <a:stretch>
            <a:fillRect/>
          </a:stretch>
        </p:blipFill>
        <p:spPr>
          <a:xfrm>
            <a:off x="163107" y="760017"/>
            <a:ext cx="11865786" cy="5755113"/>
          </a:xfrm>
          <a:prstGeom prst="rect">
            <a:avLst/>
          </a:prstGeom>
        </p:spPr>
      </p:pic>
      <p:sp>
        <p:nvSpPr>
          <p:cNvPr id="11" name="文字方塊 10">
            <a:extLst>
              <a:ext uri="{FF2B5EF4-FFF2-40B4-BE49-F238E27FC236}">
                <a16:creationId xmlns:a16="http://schemas.microsoft.com/office/drawing/2014/main" id="{3F61BEBC-BABC-7CA0-8CEA-CEFE881DEFF2}"/>
              </a:ext>
            </a:extLst>
          </p:cNvPr>
          <p:cNvSpPr txBox="1"/>
          <p:nvPr/>
        </p:nvSpPr>
        <p:spPr>
          <a:xfrm>
            <a:off x="1209316" y="3314699"/>
            <a:ext cx="1244251" cy="646331"/>
          </a:xfrm>
          <a:prstGeom prst="rect">
            <a:avLst/>
          </a:prstGeom>
          <a:noFill/>
        </p:spPr>
        <p:txBody>
          <a:bodyPr wrap="none" rtlCol="0">
            <a:spAutoFit/>
          </a:bodyPr>
          <a:lstStyle/>
          <a:p>
            <a:r>
              <a:rPr lang="en-US" altLang="zh-TW" sz="3600" b="1">
                <a:solidFill>
                  <a:srgbClr val="FF0000"/>
                </a:solidFill>
              </a:rPr>
              <a:t>E</a:t>
            </a:r>
            <a:r>
              <a:rPr lang="en-US" altLang="zh-TW"/>
              <a:t>xtract</a:t>
            </a:r>
            <a:endParaRPr lang="zh-TW" altLang="en-US"/>
          </a:p>
        </p:txBody>
      </p:sp>
      <p:sp>
        <p:nvSpPr>
          <p:cNvPr id="12" name="文字方塊 11">
            <a:extLst>
              <a:ext uri="{FF2B5EF4-FFF2-40B4-BE49-F238E27FC236}">
                <a16:creationId xmlns:a16="http://schemas.microsoft.com/office/drawing/2014/main" id="{D5E6CCA1-3AA9-C4A8-3B9B-620CDD373AB0}"/>
              </a:ext>
            </a:extLst>
          </p:cNvPr>
          <p:cNvSpPr txBox="1"/>
          <p:nvPr/>
        </p:nvSpPr>
        <p:spPr>
          <a:xfrm>
            <a:off x="4744028" y="3314407"/>
            <a:ext cx="981359" cy="646331"/>
          </a:xfrm>
          <a:prstGeom prst="rect">
            <a:avLst/>
          </a:prstGeom>
          <a:noFill/>
        </p:spPr>
        <p:txBody>
          <a:bodyPr wrap="none" rtlCol="0">
            <a:spAutoFit/>
          </a:bodyPr>
          <a:lstStyle/>
          <a:p>
            <a:r>
              <a:rPr lang="en-US" altLang="zh-TW" sz="3600" b="1">
                <a:solidFill>
                  <a:srgbClr val="FF0000"/>
                </a:solidFill>
              </a:rPr>
              <a:t>L</a:t>
            </a:r>
            <a:r>
              <a:rPr lang="en-US" altLang="zh-TW"/>
              <a:t>oad</a:t>
            </a:r>
            <a:endParaRPr lang="zh-TW" altLang="en-US"/>
          </a:p>
        </p:txBody>
      </p:sp>
      <p:sp>
        <p:nvSpPr>
          <p:cNvPr id="14" name="文字方塊 13">
            <a:extLst>
              <a:ext uri="{FF2B5EF4-FFF2-40B4-BE49-F238E27FC236}">
                <a16:creationId xmlns:a16="http://schemas.microsoft.com/office/drawing/2014/main" id="{59F25DAA-21F0-68D3-84E0-52BDA04228B6}"/>
              </a:ext>
            </a:extLst>
          </p:cNvPr>
          <p:cNvSpPr txBox="1"/>
          <p:nvPr/>
        </p:nvSpPr>
        <p:spPr>
          <a:xfrm>
            <a:off x="5891712" y="4845771"/>
            <a:ext cx="2457961" cy="307777"/>
          </a:xfrm>
          <a:prstGeom prst="rect">
            <a:avLst/>
          </a:prstGeom>
          <a:solidFill>
            <a:srgbClr val="E1E0F3"/>
          </a:solidFill>
        </p:spPr>
        <p:txBody>
          <a:bodyPr wrap="square" rtlCol="0">
            <a:spAutoFit/>
          </a:bodyPr>
          <a:lstStyle/>
          <a:p>
            <a:endParaRPr lang="zh-TW" altLang="en-US" sz="1400"/>
          </a:p>
        </p:txBody>
      </p:sp>
      <p:sp>
        <p:nvSpPr>
          <p:cNvPr id="13" name="文字方塊 12">
            <a:extLst>
              <a:ext uri="{FF2B5EF4-FFF2-40B4-BE49-F238E27FC236}">
                <a16:creationId xmlns:a16="http://schemas.microsoft.com/office/drawing/2014/main" id="{CC528ACA-A8AF-6217-A541-49623512E625}"/>
              </a:ext>
            </a:extLst>
          </p:cNvPr>
          <p:cNvSpPr txBox="1"/>
          <p:nvPr/>
        </p:nvSpPr>
        <p:spPr>
          <a:xfrm>
            <a:off x="6279756" y="4625693"/>
            <a:ext cx="1681871" cy="646331"/>
          </a:xfrm>
          <a:prstGeom prst="rect">
            <a:avLst/>
          </a:prstGeom>
          <a:noFill/>
        </p:spPr>
        <p:txBody>
          <a:bodyPr wrap="none" rtlCol="0">
            <a:spAutoFit/>
          </a:bodyPr>
          <a:lstStyle/>
          <a:p>
            <a:r>
              <a:rPr lang="en-US" altLang="zh-TW" sz="3600" b="1">
                <a:solidFill>
                  <a:srgbClr val="FF0000"/>
                </a:solidFill>
              </a:rPr>
              <a:t>T</a:t>
            </a:r>
            <a:r>
              <a:rPr lang="en-US" altLang="zh-TW"/>
              <a:t>ransform</a:t>
            </a:r>
            <a:endParaRPr lang="zh-TW" altLang="en-US"/>
          </a:p>
        </p:txBody>
      </p:sp>
    </p:spTree>
    <p:extLst>
      <p:ext uri="{BB962C8B-B14F-4D97-AF65-F5344CB8AC3E}">
        <p14:creationId xmlns:p14="http://schemas.microsoft.com/office/powerpoint/2010/main" val="2860854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79">
            <a:extLst>
              <a:ext uri="{FF2B5EF4-FFF2-40B4-BE49-F238E27FC236}">
                <a16:creationId xmlns:a16="http://schemas.microsoft.com/office/drawing/2014/main" id="{22200821-910A-4C7B-B196-B433AEC1B692}"/>
              </a:ext>
            </a:extLst>
          </p:cNvPr>
          <p:cNvSpPr>
            <a:spLocks noChangeArrowheads="1"/>
          </p:cNvSpPr>
          <p:nvPr/>
        </p:nvSpPr>
        <p:spPr bwMode="auto">
          <a:xfrm>
            <a:off x="1657350" y="577850"/>
            <a:ext cx="8877300" cy="62611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chemeClr val="tx1"/>
              </a:solidFill>
            </a:endParaRPr>
          </a:p>
        </p:txBody>
      </p:sp>
      <p:sp>
        <p:nvSpPr>
          <p:cNvPr id="29699" name="TextBox 63">
            <a:extLst>
              <a:ext uri="{FF2B5EF4-FFF2-40B4-BE49-F238E27FC236}">
                <a16:creationId xmlns:a16="http://schemas.microsoft.com/office/drawing/2014/main" id="{15F3DA8C-5D9C-4A1F-8775-D948DBF79774}"/>
              </a:ext>
            </a:extLst>
          </p:cNvPr>
          <p:cNvSpPr txBox="1">
            <a:spLocks noChangeArrowheads="1"/>
          </p:cNvSpPr>
          <p:nvPr/>
        </p:nvSpPr>
        <p:spPr bwMode="auto">
          <a:xfrm>
            <a:off x="1643064" y="85725"/>
            <a:ext cx="8912225" cy="457200"/>
          </a:xfrm>
          <a:prstGeom prst="rect">
            <a:avLst/>
          </a:prstGeom>
          <a:solidFill>
            <a:schemeClr val="accent1"/>
          </a:solidFill>
          <a:ln w="9525" algn="ctr">
            <a:solidFill>
              <a:srgbClr val="CCCCFF"/>
            </a:solidFill>
            <a:miter lim="800000"/>
            <a:headEnd/>
            <a:tailEnd/>
          </a:ln>
        </p:spPr>
        <p:txBody>
          <a:bodyPr wrap="none" anchor="ct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1600">
                <a:solidFill>
                  <a:schemeClr val="bg1"/>
                </a:solidFill>
              </a:rPr>
              <a:t>Big Data and Analytics Reference  Architecture –Detailed Capabilities</a:t>
            </a:r>
          </a:p>
        </p:txBody>
      </p:sp>
      <p:grpSp>
        <p:nvGrpSpPr>
          <p:cNvPr id="29700" name="Group 116">
            <a:extLst>
              <a:ext uri="{FF2B5EF4-FFF2-40B4-BE49-F238E27FC236}">
                <a16:creationId xmlns:a16="http://schemas.microsoft.com/office/drawing/2014/main" id="{A53AD77F-7AF8-4BCA-A4A1-4CCEEA778E08}"/>
              </a:ext>
            </a:extLst>
          </p:cNvPr>
          <p:cNvGrpSpPr>
            <a:grpSpLocks/>
          </p:cNvGrpSpPr>
          <p:nvPr/>
        </p:nvGrpSpPr>
        <p:grpSpPr bwMode="auto">
          <a:xfrm>
            <a:off x="3505201" y="4765675"/>
            <a:ext cx="3211513" cy="698500"/>
            <a:chOff x="1310" y="3064"/>
            <a:chExt cx="1872" cy="488"/>
          </a:xfrm>
        </p:grpSpPr>
        <p:sp>
          <p:nvSpPr>
            <p:cNvPr id="29835" name="Rounded Rectangle 115">
              <a:extLst>
                <a:ext uri="{FF2B5EF4-FFF2-40B4-BE49-F238E27FC236}">
                  <a16:creationId xmlns:a16="http://schemas.microsoft.com/office/drawing/2014/main" id="{5DDE0A1F-5A31-4106-B61D-6E1D652F68DA}"/>
                </a:ext>
              </a:extLst>
            </p:cNvPr>
            <p:cNvSpPr>
              <a:spLocks noChangeArrowheads="1"/>
            </p:cNvSpPr>
            <p:nvPr/>
          </p:nvSpPr>
          <p:spPr bwMode="auto">
            <a:xfrm>
              <a:off x="1310" y="3064"/>
              <a:ext cx="1872" cy="488"/>
            </a:xfrm>
            <a:prstGeom prst="roundRect">
              <a:avLst>
                <a:gd name="adj" fmla="val 16667"/>
              </a:avLst>
            </a:prstGeom>
            <a:solidFill>
              <a:srgbClr val="00649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chemeClr val="bg1"/>
                  </a:solidFill>
                </a:rPr>
                <a:t>Shared Operational Information</a:t>
              </a:r>
            </a:p>
          </p:txBody>
        </p:sp>
        <p:sp>
          <p:nvSpPr>
            <p:cNvPr id="29836" name="Rounded Rectangle 146">
              <a:extLst>
                <a:ext uri="{FF2B5EF4-FFF2-40B4-BE49-F238E27FC236}">
                  <a16:creationId xmlns:a16="http://schemas.microsoft.com/office/drawing/2014/main" id="{E98B7869-EF89-4F13-95F4-5462E4CFC32C}"/>
                </a:ext>
              </a:extLst>
            </p:cNvPr>
            <p:cNvSpPr>
              <a:spLocks noChangeArrowheads="1"/>
            </p:cNvSpPr>
            <p:nvPr/>
          </p:nvSpPr>
          <p:spPr bwMode="auto">
            <a:xfrm>
              <a:off x="1378" y="3271"/>
              <a:ext cx="384" cy="214"/>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Master &amp; Reference</a:t>
              </a:r>
            </a:p>
          </p:txBody>
        </p:sp>
        <p:sp>
          <p:nvSpPr>
            <p:cNvPr id="29837" name="Rounded Rectangle 151">
              <a:extLst>
                <a:ext uri="{FF2B5EF4-FFF2-40B4-BE49-F238E27FC236}">
                  <a16:creationId xmlns:a16="http://schemas.microsoft.com/office/drawing/2014/main" id="{3A236A20-E749-4B76-B3F1-5C8091940265}"/>
                </a:ext>
              </a:extLst>
            </p:cNvPr>
            <p:cNvSpPr>
              <a:spLocks noChangeArrowheads="1"/>
            </p:cNvSpPr>
            <p:nvPr/>
          </p:nvSpPr>
          <p:spPr bwMode="auto">
            <a:xfrm>
              <a:off x="1833" y="3271"/>
              <a:ext cx="384" cy="214"/>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Content</a:t>
              </a:r>
            </a:p>
            <a:p>
              <a:pPr algn="ctr" eaLnBrk="1" hangingPunct="1">
                <a:lnSpc>
                  <a:spcPct val="97000"/>
                </a:lnSpc>
                <a:spcBef>
                  <a:spcPct val="0"/>
                </a:spcBef>
                <a:buClr>
                  <a:srgbClr val="000600"/>
                </a:buClr>
                <a:buFont typeface="Arial" panose="020B0604020202020204" pitchFamily="34" charset="0"/>
                <a:buNone/>
              </a:pPr>
              <a:r>
                <a:rPr lang="en-US" altLang="en-US" sz="800" b="0"/>
                <a:t>Hub</a:t>
              </a:r>
            </a:p>
          </p:txBody>
        </p:sp>
        <p:sp>
          <p:nvSpPr>
            <p:cNvPr id="29838" name="Rounded Rectangle 155">
              <a:extLst>
                <a:ext uri="{FF2B5EF4-FFF2-40B4-BE49-F238E27FC236}">
                  <a16:creationId xmlns:a16="http://schemas.microsoft.com/office/drawing/2014/main" id="{3F1BBDB8-B32F-44B4-BA52-C66BC9B93E18}"/>
                </a:ext>
              </a:extLst>
            </p:cNvPr>
            <p:cNvSpPr>
              <a:spLocks noChangeArrowheads="1"/>
            </p:cNvSpPr>
            <p:nvPr/>
          </p:nvSpPr>
          <p:spPr bwMode="auto">
            <a:xfrm>
              <a:off x="2288" y="3271"/>
              <a:ext cx="384" cy="214"/>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Activity </a:t>
              </a:r>
            </a:p>
            <a:p>
              <a:pPr algn="ctr" eaLnBrk="1" hangingPunct="1">
                <a:lnSpc>
                  <a:spcPct val="97000"/>
                </a:lnSpc>
                <a:spcBef>
                  <a:spcPct val="0"/>
                </a:spcBef>
                <a:buClr>
                  <a:srgbClr val="000600"/>
                </a:buClr>
                <a:buFont typeface="Arial" panose="020B0604020202020204" pitchFamily="34" charset="0"/>
                <a:buNone/>
              </a:pPr>
              <a:r>
                <a:rPr lang="en-US" altLang="en-US" sz="800" b="0"/>
                <a:t>Hub</a:t>
              </a:r>
            </a:p>
          </p:txBody>
        </p:sp>
        <p:sp>
          <p:nvSpPr>
            <p:cNvPr id="29839" name="Rounded Rectangle 155">
              <a:extLst>
                <a:ext uri="{FF2B5EF4-FFF2-40B4-BE49-F238E27FC236}">
                  <a16:creationId xmlns:a16="http://schemas.microsoft.com/office/drawing/2014/main" id="{58C17802-EB3F-4A5C-9143-2D9E92B21719}"/>
                </a:ext>
              </a:extLst>
            </p:cNvPr>
            <p:cNvSpPr>
              <a:spLocks noChangeArrowheads="1"/>
            </p:cNvSpPr>
            <p:nvPr/>
          </p:nvSpPr>
          <p:spPr bwMode="auto">
            <a:xfrm>
              <a:off x="2743" y="3271"/>
              <a:ext cx="384" cy="214"/>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Metadata </a:t>
              </a:r>
            </a:p>
            <a:p>
              <a:pPr algn="ctr" eaLnBrk="1" hangingPunct="1">
                <a:lnSpc>
                  <a:spcPct val="97000"/>
                </a:lnSpc>
                <a:spcBef>
                  <a:spcPct val="0"/>
                </a:spcBef>
                <a:buClr>
                  <a:srgbClr val="000600"/>
                </a:buClr>
                <a:buFont typeface="Arial" panose="020B0604020202020204" pitchFamily="34" charset="0"/>
                <a:buNone/>
              </a:pPr>
              <a:r>
                <a:rPr lang="en-US" altLang="en-US" sz="800" b="0"/>
                <a:t>Catalog</a:t>
              </a:r>
            </a:p>
          </p:txBody>
        </p:sp>
      </p:grpSp>
      <p:grpSp>
        <p:nvGrpSpPr>
          <p:cNvPr id="29701" name="Group 123">
            <a:extLst>
              <a:ext uri="{FF2B5EF4-FFF2-40B4-BE49-F238E27FC236}">
                <a16:creationId xmlns:a16="http://schemas.microsoft.com/office/drawing/2014/main" id="{C70997CC-DFA6-48D1-9919-747CC48AD220}"/>
              </a:ext>
            </a:extLst>
          </p:cNvPr>
          <p:cNvGrpSpPr>
            <a:grpSpLocks/>
          </p:cNvGrpSpPr>
          <p:nvPr/>
        </p:nvGrpSpPr>
        <p:grpSpPr bwMode="auto">
          <a:xfrm>
            <a:off x="3516313" y="1597025"/>
            <a:ext cx="990600" cy="2819400"/>
            <a:chOff x="1248" y="1083"/>
            <a:chExt cx="624" cy="1776"/>
          </a:xfrm>
        </p:grpSpPr>
        <p:sp>
          <p:nvSpPr>
            <p:cNvPr id="29826" name="Rounded Rectangle 115">
              <a:extLst>
                <a:ext uri="{FF2B5EF4-FFF2-40B4-BE49-F238E27FC236}">
                  <a16:creationId xmlns:a16="http://schemas.microsoft.com/office/drawing/2014/main" id="{F1BA9DD5-7428-4E90-AD58-09A01CE52A49}"/>
                </a:ext>
              </a:extLst>
            </p:cNvPr>
            <p:cNvSpPr>
              <a:spLocks noChangeArrowheads="1"/>
            </p:cNvSpPr>
            <p:nvPr/>
          </p:nvSpPr>
          <p:spPr bwMode="auto">
            <a:xfrm>
              <a:off x="1248" y="1083"/>
              <a:ext cx="624" cy="1776"/>
            </a:xfrm>
            <a:prstGeom prst="roundRect">
              <a:avLst>
                <a:gd name="adj" fmla="val 16667"/>
              </a:avLst>
            </a:prstGeom>
            <a:solidFill>
              <a:srgbClr val="00649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chemeClr val="bg1"/>
                  </a:solidFill>
                </a:rPr>
                <a:t>Data Integration</a:t>
              </a:r>
            </a:p>
          </p:txBody>
        </p:sp>
        <p:sp>
          <p:nvSpPr>
            <p:cNvPr id="29827" name="Rounded Rectangle 116">
              <a:extLst>
                <a:ext uri="{FF2B5EF4-FFF2-40B4-BE49-F238E27FC236}">
                  <a16:creationId xmlns:a16="http://schemas.microsoft.com/office/drawing/2014/main" id="{BBED95AE-1FF3-41EE-8067-3471EE1D5B4E}"/>
                </a:ext>
              </a:extLst>
            </p:cNvPr>
            <p:cNvSpPr>
              <a:spLocks noChangeArrowheads="1"/>
            </p:cNvSpPr>
            <p:nvPr/>
          </p:nvSpPr>
          <p:spPr bwMode="auto">
            <a:xfrm>
              <a:off x="1291" y="1560"/>
              <a:ext cx="524" cy="155"/>
            </a:xfrm>
            <a:prstGeom prst="roundRect">
              <a:avLst>
                <a:gd name="adj" fmla="val 16667"/>
              </a:avLst>
            </a:prstGeom>
            <a:solidFill>
              <a:schemeClr val="bg1"/>
            </a:solidFill>
            <a:ln w="12700" algn="ctr">
              <a:solidFill>
                <a:srgbClr val="595959"/>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Extract &amp; Subscribe</a:t>
              </a:r>
            </a:p>
          </p:txBody>
        </p:sp>
        <p:sp>
          <p:nvSpPr>
            <p:cNvPr id="29828" name="Rounded Rectangle 118">
              <a:extLst>
                <a:ext uri="{FF2B5EF4-FFF2-40B4-BE49-F238E27FC236}">
                  <a16:creationId xmlns:a16="http://schemas.microsoft.com/office/drawing/2014/main" id="{3E7AEE0E-B159-47E1-9D80-3E2CCEE4CA10}"/>
                </a:ext>
              </a:extLst>
            </p:cNvPr>
            <p:cNvSpPr>
              <a:spLocks noChangeArrowheads="1"/>
            </p:cNvSpPr>
            <p:nvPr/>
          </p:nvSpPr>
          <p:spPr bwMode="auto">
            <a:xfrm>
              <a:off x="1298" y="1916"/>
              <a:ext cx="524" cy="155"/>
            </a:xfrm>
            <a:prstGeom prst="roundRect">
              <a:avLst>
                <a:gd name="adj" fmla="val 16667"/>
              </a:avLst>
            </a:prstGeom>
            <a:solidFill>
              <a:schemeClr val="bg1"/>
            </a:solidFill>
            <a:ln w="12700" algn="ctr">
              <a:solidFill>
                <a:srgbClr val="595959"/>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Quality</a:t>
              </a:r>
            </a:p>
          </p:txBody>
        </p:sp>
        <p:sp>
          <p:nvSpPr>
            <p:cNvPr id="29829" name="Rounded Rectangle 119">
              <a:extLst>
                <a:ext uri="{FF2B5EF4-FFF2-40B4-BE49-F238E27FC236}">
                  <a16:creationId xmlns:a16="http://schemas.microsoft.com/office/drawing/2014/main" id="{CBB1AC49-91D3-45BF-9178-8DDB0C49D0E3}"/>
                </a:ext>
              </a:extLst>
            </p:cNvPr>
            <p:cNvSpPr>
              <a:spLocks noChangeArrowheads="1"/>
            </p:cNvSpPr>
            <p:nvPr/>
          </p:nvSpPr>
          <p:spPr bwMode="auto">
            <a:xfrm>
              <a:off x="1296" y="2094"/>
              <a:ext cx="524" cy="155"/>
            </a:xfrm>
            <a:prstGeom prst="roundRect">
              <a:avLst>
                <a:gd name="adj" fmla="val 16667"/>
              </a:avLst>
            </a:prstGeom>
            <a:solidFill>
              <a:schemeClr val="bg1"/>
            </a:solidFill>
            <a:ln w="12700" algn="ctr">
              <a:solidFill>
                <a:srgbClr val="595959"/>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Clean Staging</a:t>
              </a:r>
            </a:p>
          </p:txBody>
        </p:sp>
        <p:sp>
          <p:nvSpPr>
            <p:cNvPr id="29830" name="Rounded Rectangle 120">
              <a:extLst>
                <a:ext uri="{FF2B5EF4-FFF2-40B4-BE49-F238E27FC236}">
                  <a16:creationId xmlns:a16="http://schemas.microsoft.com/office/drawing/2014/main" id="{EF27412E-8097-4C46-B2AA-83ABBC7310CB}"/>
                </a:ext>
              </a:extLst>
            </p:cNvPr>
            <p:cNvSpPr>
              <a:spLocks noChangeArrowheads="1"/>
            </p:cNvSpPr>
            <p:nvPr/>
          </p:nvSpPr>
          <p:spPr bwMode="auto">
            <a:xfrm>
              <a:off x="1297" y="2272"/>
              <a:ext cx="524" cy="155"/>
            </a:xfrm>
            <a:prstGeom prst="roundRect">
              <a:avLst>
                <a:gd name="adj" fmla="val 16667"/>
              </a:avLst>
            </a:prstGeom>
            <a:solidFill>
              <a:schemeClr val="bg1"/>
            </a:solidFill>
            <a:ln w="12700" algn="ctr">
              <a:solidFill>
                <a:srgbClr val="595959"/>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Transformation</a:t>
              </a:r>
            </a:p>
          </p:txBody>
        </p:sp>
        <p:sp>
          <p:nvSpPr>
            <p:cNvPr id="29831" name="Rounded Rectangle 121">
              <a:extLst>
                <a:ext uri="{FF2B5EF4-FFF2-40B4-BE49-F238E27FC236}">
                  <a16:creationId xmlns:a16="http://schemas.microsoft.com/office/drawing/2014/main" id="{5CEF79E1-6C81-469D-B53A-B042AABC5F89}"/>
                </a:ext>
              </a:extLst>
            </p:cNvPr>
            <p:cNvSpPr>
              <a:spLocks noChangeArrowheads="1"/>
            </p:cNvSpPr>
            <p:nvPr/>
          </p:nvSpPr>
          <p:spPr bwMode="auto">
            <a:xfrm>
              <a:off x="1294" y="2450"/>
              <a:ext cx="524" cy="155"/>
            </a:xfrm>
            <a:prstGeom prst="roundRect">
              <a:avLst>
                <a:gd name="adj" fmla="val 16667"/>
              </a:avLst>
            </a:prstGeom>
            <a:solidFill>
              <a:schemeClr val="bg1"/>
            </a:solidFill>
            <a:ln w="12700" algn="ctr">
              <a:solidFill>
                <a:srgbClr val="595959"/>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Load Ready</a:t>
              </a:r>
            </a:p>
          </p:txBody>
        </p:sp>
        <p:sp>
          <p:nvSpPr>
            <p:cNvPr id="29832" name="Rounded Rectangle 121">
              <a:extLst>
                <a:ext uri="{FF2B5EF4-FFF2-40B4-BE49-F238E27FC236}">
                  <a16:creationId xmlns:a16="http://schemas.microsoft.com/office/drawing/2014/main" id="{E4B45013-0D2E-40E2-9AC9-798DC7A9D137}"/>
                </a:ext>
              </a:extLst>
            </p:cNvPr>
            <p:cNvSpPr>
              <a:spLocks noChangeArrowheads="1"/>
            </p:cNvSpPr>
            <p:nvPr/>
          </p:nvSpPr>
          <p:spPr bwMode="auto">
            <a:xfrm>
              <a:off x="1296" y="2628"/>
              <a:ext cx="524" cy="155"/>
            </a:xfrm>
            <a:prstGeom prst="roundRect">
              <a:avLst>
                <a:gd name="adj" fmla="val 16667"/>
              </a:avLst>
            </a:prstGeom>
            <a:solidFill>
              <a:schemeClr val="bg1"/>
            </a:solidFill>
            <a:ln w="12700" algn="ctr">
              <a:solidFill>
                <a:srgbClr val="595959"/>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Load</a:t>
              </a:r>
            </a:p>
          </p:txBody>
        </p:sp>
        <p:sp>
          <p:nvSpPr>
            <p:cNvPr id="29833" name="Rounded Rectangle 117">
              <a:extLst>
                <a:ext uri="{FF2B5EF4-FFF2-40B4-BE49-F238E27FC236}">
                  <a16:creationId xmlns:a16="http://schemas.microsoft.com/office/drawing/2014/main" id="{702403DB-2311-4F45-BFDD-95D7ED0FACB0}"/>
                </a:ext>
              </a:extLst>
            </p:cNvPr>
            <p:cNvSpPr>
              <a:spLocks noChangeArrowheads="1"/>
            </p:cNvSpPr>
            <p:nvPr/>
          </p:nvSpPr>
          <p:spPr bwMode="auto">
            <a:xfrm>
              <a:off x="1294" y="1738"/>
              <a:ext cx="524" cy="155"/>
            </a:xfrm>
            <a:prstGeom prst="roundRect">
              <a:avLst>
                <a:gd name="adj" fmla="val 16667"/>
              </a:avLst>
            </a:prstGeom>
            <a:solidFill>
              <a:schemeClr val="bg1"/>
            </a:solidFill>
            <a:ln w="12700" algn="ctr">
              <a:solidFill>
                <a:srgbClr val="595959"/>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Initial Stage</a:t>
              </a:r>
            </a:p>
          </p:txBody>
        </p:sp>
        <p:sp>
          <p:nvSpPr>
            <p:cNvPr id="29834" name="Rounded Rectangle 117">
              <a:extLst>
                <a:ext uri="{FF2B5EF4-FFF2-40B4-BE49-F238E27FC236}">
                  <a16:creationId xmlns:a16="http://schemas.microsoft.com/office/drawing/2014/main" id="{C90BB108-C13F-4DEF-B06F-274C514A88F0}"/>
                </a:ext>
              </a:extLst>
            </p:cNvPr>
            <p:cNvSpPr>
              <a:spLocks noChangeArrowheads="1"/>
            </p:cNvSpPr>
            <p:nvPr/>
          </p:nvSpPr>
          <p:spPr bwMode="auto">
            <a:xfrm>
              <a:off x="1296" y="1382"/>
              <a:ext cx="524" cy="155"/>
            </a:xfrm>
            <a:prstGeom prst="roundRect">
              <a:avLst>
                <a:gd name="adj" fmla="val 16667"/>
              </a:avLst>
            </a:prstGeom>
            <a:solidFill>
              <a:schemeClr val="bg1"/>
            </a:solidFill>
            <a:ln w="25400" algn="ctr">
              <a:solidFill>
                <a:srgbClr val="FF0000"/>
              </a:solidFill>
              <a:prstDash val="sysDot"/>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Ingestion</a:t>
              </a:r>
            </a:p>
          </p:txBody>
        </p:sp>
      </p:grpSp>
      <p:sp>
        <p:nvSpPr>
          <p:cNvPr id="29702" name="Rounded Rectangle 115">
            <a:extLst>
              <a:ext uri="{FF2B5EF4-FFF2-40B4-BE49-F238E27FC236}">
                <a16:creationId xmlns:a16="http://schemas.microsoft.com/office/drawing/2014/main" id="{BA51C120-D8A3-4894-B45B-22E87A43E2E3}"/>
              </a:ext>
            </a:extLst>
          </p:cNvPr>
          <p:cNvSpPr>
            <a:spLocks noChangeArrowheads="1"/>
          </p:cNvSpPr>
          <p:nvPr/>
        </p:nvSpPr>
        <p:spPr bwMode="auto">
          <a:xfrm>
            <a:off x="1752600" y="639764"/>
            <a:ext cx="1371600" cy="4846637"/>
          </a:xfrm>
          <a:prstGeom prst="roundRect">
            <a:avLst>
              <a:gd name="adj" fmla="val 16667"/>
            </a:avLst>
          </a:prstGeom>
          <a:solidFill>
            <a:srgbClr val="00649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chemeClr val="bg1"/>
                </a:solidFill>
              </a:rPr>
              <a:t>Data Sources</a:t>
            </a:r>
          </a:p>
        </p:txBody>
      </p:sp>
      <p:sp>
        <p:nvSpPr>
          <p:cNvPr id="29703" name="Rounded Rectangle 115">
            <a:extLst>
              <a:ext uri="{FF2B5EF4-FFF2-40B4-BE49-F238E27FC236}">
                <a16:creationId xmlns:a16="http://schemas.microsoft.com/office/drawing/2014/main" id="{18DAD524-C0D8-4BCD-82A9-AB9A3D40B930}"/>
              </a:ext>
            </a:extLst>
          </p:cNvPr>
          <p:cNvSpPr>
            <a:spLocks noChangeArrowheads="1"/>
          </p:cNvSpPr>
          <p:nvPr/>
        </p:nvSpPr>
        <p:spPr bwMode="auto">
          <a:xfrm>
            <a:off x="1795464" y="993775"/>
            <a:ext cx="960437" cy="2465388"/>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1100">
                <a:solidFill>
                  <a:schemeClr val="tx1"/>
                </a:solidFill>
                <a:latin typeface="Calibri" panose="020F0502020204030204" pitchFamily="34" charset="0"/>
              </a:rPr>
              <a:t>New</a:t>
            </a:r>
          </a:p>
          <a:p>
            <a:pPr algn="ctr" eaLnBrk="1" hangingPunct="1">
              <a:lnSpc>
                <a:spcPct val="85000"/>
              </a:lnSpc>
              <a:spcBef>
                <a:spcPct val="0"/>
              </a:spcBef>
              <a:buFontTx/>
              <a:buNone/>
            </a:pPr>
            <a:r>
              <a:rPr lang="en-US" altLang="en-US" sz="1100">
                <a:solidFill>
                  <a:schemeClr val="tx1"/>
                </a:solidFill>
                <a:latin typeface="Calibri" panose="020F0502020204030204" pitchFamily="34" charset="0"/>
              </a:rPr>
              <a:t>Data Sources</a:t>
            </a:r>
          </a:p>
        </p:txBody>
      </p:sp>
      <p:grpSp>
        <p:nvGrpSpPr>
          <p:cNvPr id="29704" name="Group 138">
            <a:extLst>
              <a:ext uri="{FF2B5EF4-FFF2-40B4-BE49-F238E27FC236}">
                <a16:creationId xmlns:a16="http://schemas.microsoft.com/office/drawing/2014/main" id="{41800110-D9BE-4342-9439-6CFF0D813F07}"/>
              </a:ext>
            </a:extLst>
          </p:cNvPr>
          <p:cNvGrpSpPr>
            <a:grpSpLocks/>
          </p:cNvGrpSpPr>
          <p:nvPr/>
        </p:nvGrpSpPr>
        <p:grpSpPr bwMode="auto">
          <a:xfrm>
            <a:off x="1830388" y="1371600"/>
            <a:ext cx="849312" cy="304800"/>
            <a:chOff x="165" y="1083"/>
            <a:chExt cx="535" cy="240"/>
          </a:xfrm>
        </p:grpSpPr>
        <p:sp>
          <p:nvSpPr>
            <p:cNvPr id="29824" name="Rounded Rectangle 143">
              <a:extLst>
                <a:ext uri="{FF2B5EF4-FFF2-40B4-BE49-F238E27FC236}">
                  <a16:creationId xmlns:a16="http://schemas.microsoft.com/office/drawing/2014/main" id="{18C1C6F8-7CE1-49FC-A3C4-42E835954F6C}"/>
                </a:ext>
              </a:extLst>
            </p:cNvPr>
            <p:cNvSpPr>
              <a:spLocks noChangeArrowheads="1"/>
            </p:cNvSpPr>
            <p:nvPr/>
          </p:nvSpPr>
          <p:spPr bwMode="auto">
            <a:xfrm>
              <a:off x="165" y="1083"/>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r" eaLnBrk="1" hangingPunct="1">
                <a:lnSpc>
                  <a:spcPct val="97000"/>
                </a:lnSpc>
                <a:spcBef>
                  <a:spcPct val="0"/>
                </a:spcBef>
                <a:buClr>
                  <a:srgbClr val="000600"/>
                </a:buClr>
                <a:buFont typeface="Arial" panose="020B0604020202020204" pitchFamily="34" charset="0"/>
                <a:buNone/>
              </a:pPr>
              <a:r>
                <a:rPr lang="en-US" altLang="en-US" sz="800" b="0"/>
                <a:t>        Machine &amp;</a:t>
              </a:r>
            </a:p>
            <a:p>
              <a:pPr algn="r" eaLnBrk="1" hangingPunct="1">
                <a:lnSpc>
                  <a:spcPct val="97000"/>
                </a:lnSpc>
                <a:spcBef>
                  <a:spcPct val="0"/>
                </a:spcBef>
                <a:buClr>
                  <a:srgbClr val="000600"/>
                </a:buClr>
                <a:buFont typeface="Arial" panose="020B0604020202020204" pitchFamily="34" charset="0"/>
                <a:buNone/>
              </a:pPr>
              <a:r>
                <a:rPr lang="en-US" altLang="en-US" sz="800" b="0"/>
                <a:t> Sensor Data </a:t>
              </a:r>
            </a:p>
          </p:txBody>
        </p:sp>
        <p:pic>
          <p:nvPicPr>
            <p:cNvPr id="29825" name="Picture 117" descr="18b.png">
              <a:extLst>
                <a:ext uri="{FF2B5EF4-FFF2-40B4-BE49-F238E27FC236}">
                  <a16:creationId xmlns:a16="http://schemas.microsoft.com/office/drawing/2014/main" id="{E0CC0F1C-8D76-4225-95D8-0F7AB0E074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0" y="1131"/>
              <a:ext cx="118"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5" name="Group 141">
            <a:extLst>
              <a:ext uri="{FF2B5EF4-FFF2-40B4-BE49-F238E27FC236}">
                <a16:creationId xmlns:a16="http://schemas.microsoft.com/office/drawing/2014/main" id="{883C0CBC-DE87-4C4C-8BCB-F7AD4CF2CF5A}"/>
              </a:ext>
            </a:extLst>
          </p:cNvPr>
          <p:cNvGrpSpPr>
            <a:grpSpLocks/>
          </p:cNvGrpSpPr>
          <p:nvPr/>
        </p:nvGrpSpPr>
        <p:grpSpPr bwMode="auto">
          <a:xfrm>
            <a:off x="1830388" y="1784350"/>
            <a:ext cx="849312" cy="304800"/>
            <a:chOff x="165" y="1371"/>
            <a:chExt cx="535" cy="240"/>
          </a:xfrm>
        </p:grpSpPr>
        <p:sp>
          <p:nvSpPr>
            <p:cNvPr id="29822" name="Rounded Rectangle 143">
              <a:extLst>
                <a:ext uri="{FF2B5EF4-FFF2-40B4-BE49-F238E27FC236}">
                  <a16:creationId xmlns:a16="http://schemas.microsoft.com/office/drawing/2014/main" id="{ED6576AD-52D8-4A16-AC30-43D634651360}"/>
                </a:ext>
              </a:extLst>
            </p:cNvPr>
            <p:cNvSpPr>
              <a:spLocks noChangeArrowheads="1"/>
            </p:cNvSpPr>
            <p:nvPr/>
          </p:nvSpPr>
          <p:spPr bwMode="auto">
            <a:xfrm>
              <a:off x="165" y="1371"/>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  Image &amp;     Video </a:t>
              </a:r>
            </a:p>
          </p:txBody>
        </p:sp>
        <p:pic>
          <p:nvPicPr>
            <p:cNvPr id="29823" name="Picture 108" descr="16b.png">
              <a:extLst>
                <a:ext uri="{FF2B5EF4-FFF2-40B4-BE49-F238E27FC236}">
                  <a16:creationId xmlns:a16="http://schemas.microsoft.com/office/drawing/2014/main" id="{3C72C9EB-62B4-40F0-B7F5-54712106362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2" y="1433"/>
              <a:ext cx="11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6" name="Group 144">
            <a:extLst>
              <a:ext uri="{FF2B5EF4-FFF2-40B4-BE49-F238E27FC236}">
                <a16:creationId xmlns:a16="http://schemas.microsoft.com/office/drawing/2014/main" id="{12BDBB92-DF25-4F53-A7FA-F569859E202E}"/>
              </a:ext>
            </a:extLst>
          </p:cNvPr>
          <p:cNvGrpSpPr>
            <a:grpSpLocks/>
          </p:cNvGrpSpPr>
          <p:nvPr/>
        </p:nvGrpSpPr>
        <p:grpSpPr bwMode="auto">
          <a:xfrm>
            <a:off x="1830388" y="2198688"/>
            <a:ext cx="849312" cy="304800"/>
            <a:chOff x="165" y="1659"/>
            <a:chExt cx="535" cy="240"/>
          </a:xfrm>
        </p:grpSpPr>
        <p:sp>
          <p:nvSpPr>
            <p:cNvPr id="29820" name="Rounded Rectangle 143">
              <a:extLst>
                <a:ext uri="{FF2B5EF4-FFF2-40B4-BE49-F238E27FC236}">
                  <a16:creationId xmlns:a16="http://schemas.microsoft.com/office/drawing/2014/main" id="{4000E9C2-0646-4174-AF1D-25B73FA5EE88}"/>
                </a:ext>
              </a:extLst>
            </p:cNvPr>
            <p:cNvSpPr>
              <a:spLocks noChangeArrowheads="1"/>
            </p:cNvSpPr>
            <p:nvPr/>
          </p:nvSpPr>
          <p:spPr bwMode="auto">
            <a:xfrm>
              <a:off x="165" y="1659"/>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    Enterprise</a:t>
              </a:r>
            </a:p>
            <a:p>
              <a:pPr algn="ctr" eaLnBrk="1" hangingPunct="1">
                <a:lnSpc>
                  <a:spcPct val="97000"/>
                </a:lnSpc>
                <a:spcBef>
                  <a:spcPct val="0"/>
                </a:spcBef>
                <a:buClr>
                  <a:srgbClr val="000600"/>
                </a:buClr>
                <a:buFont typeface="Arial" panose="020B0604020202020204" pitchFamily="34" charset="0"/>
                <a:buNone/>
              </a:pPr>
              <a:r>
                <a:rPr lang="en-US" altLang="en-US" sz="800" b="0"/>
                <a:t>    Content Data</a:t>
              </a:r>
            </a:p>
          </p:txBody>
        </p:sp>
        <p:pic>
          <p:nvPicPr>
            <p:cNvPr id="29821" name="Picture 109" descr="16c.png">
              <a:extLst>
                <a:ext uri="{FF2B5EF4-FFF2-40B4-BE49-F238E27FC236}">
                  <a16:creationId xmlns:a16="http://schemas.microsoft.com/office/drawing/2014/main" id="{F902C540-BAF5-4499-ACE0-8E773B41161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1" y="1721"/>
              <a:ext cx="7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7" name="Group 147">
            <a:extLst>
              <a:ext uri="{FF2B5EF4-FFF2-40B4-BE49-F238E27FC236}">
                <a16:creationId xmlns:a16="http://schemas.microsoft.com/office/drawing/2014/main" id="{0D6E364E-2E9A-4A38-9F4F-4ABA03EE53CF}"/>
              </a:ext>
            </a:extLst>
          </p:cNvPr>
          <p:cNvGrpSpPr>
            <a:grpSpLocks/>
          </p:cNvGrpSpPr>
          <p:nvPr/>
        </p:nvGrpSpPr>
        <p:grpSpPr bwMode="auto">
          <a:xfrm>
            <a:off x="1828800" y="2613025"/>
            <a:ext cx="850900" cy="304800"/>
            <a:chOff x="164" y="1995"/>
            <a:chExt cx="536" cy="240"/>
          </a:xfrm>
        </p:grpSpPr>
        <p:sp>
          <p:nvSpPr>
            <p:cNvPr id="29818" name="Rounded Rectangle 143">
              <a:extLst>
                <a:ext uri="{FF2B5EF4-FFF2-40B4-BE49-F238E27FC236}">
                  <a16:creationId xmlns:a16="http://schemas.microsoft.com/office/drawing/2014/main" id="{12EF27C4-CE04-4FAC-9506-DD30407BFBEA}"/>
                </a:ext>
              </a:extLst>
            </p:cNvPr>
            <p:cNvSpPr>
              <a:spLocks noChangeArrowheads="1"/>
            </p:cNvSpPr>
            <p:nvPr/>
          </p:nvSpPr>
          <p:spPr bwMode="auto">
            <a:xfrm>
              <a:off x="165" y="1995"/>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eaLnBrk="1" hangingPunct="1">
                <a:lnSpc>
                  <a:spcPct val="97000"/>
                </a:lnSpc>
                <a:spcBef>
                  <a:spcPct val="0"/>
                </a:spcBef>
                <a:buClr>
                  <a:srgbClr val="000600"/>
                </a:buClr>
                <a:buFont typeface="Arial" panose="020B0604020202020204" pitchFamily="34" charset="0"/>
                <a:buNone/>
              </a:pPr>
              <a:r>
                <a:rPr lang="en-US" altLang="en-US" sz="800" b="0"/>
                <a:t>      Social Data </a:t>
              </a:r>
            </a:p>
          </p:txBody>
        </p:sp>
        <p:pic>
          <p:nvPicPr>
            <p:cNvPr id="29819" name="Picture 110" descr="16d.png">
              <a:extLst>
                <a:ext uri="{FF2B5EF4-FFF2-40B4-BE49-F238E27FC236}">
                  <a16:creationId xmlns:a16="http://schemas.microsoft.com/office/drawing/2014/main" id="{CBEA6E97-CEC9-4B28-985C-70A8258F8F2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4" y="2043"/>
              <a:ext cx="13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08" name="Rounded Rectangle 115">
            <a:extLst>
              <a:ext uri="{FF2B5EF4-FFF2-40B4-BE49-F238E27FC236}">
                <a16:creationId xmlns:a16="http://schemas.microsoft.com/office/drawing/2014/main" id="{645BD086-2592-4768-A89B-4F69CC23D1C7}"/>
              </a:ext>
            </a:extLst>
          </p:cNvPr>
          <p:cNvSpPr>
            <a:spLocks noChangeArrowheads="1"/>
          </p:cNvSpPr>
          <p:nvPr/>
        </p:nvSpPr>
        <p:spPr bwMode="auto">
          <a:xfrm rot="10800000">
            <a:off x="2792414" y="1020764"/>
            <a:ext cx="274637" cy="4389437"/>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vert="eaVert" lIns="0" tIns="0" r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1200" b="0">
                <a:solidFill>
                  <a:schemeClr val="tx1"/>
                </a:solidFill>
                <a:latin typeface="Calibri" panose="020F0502020204030204" pitchFamily="34" charset="0"/>
              </a:rPr>
              <a:t>Data Acquisition ( Extract, Replicate, Copy)  &amp; Application Access</a:t>
            </a:r>
          </a:p>
        </p:txBody>
      </p:sp>
      <p:grpSp>
        <p:nvGrpSpPr>
          <p:cNvPr id="29709" name="Group 142">
            <a:extLst>
              <a:ext uri="{FF2B5EF4-FFF2-40B4-BE49-F238E27FC236}">
                <a16:creationId xmlns:a16="http://schemas.microsoft.com/office/drawing/2014/main" id="{C6B10E8E-060B-4BF0-8273-1736602BD669}"/>
              </a:ext>
            </a:extLst>
          </p:cNvPr>
          <p:cNvGrpSpPr>
            <a:grpSpLocks/>
          </p:cNvGrpSpPr>
          <p:nvPr/>
        </p:nvGrpSpPr>
        <p:grpSpPr bwMode="auto">
          <a:xfrm>
            <a:off x="1795464" y="3568701"/>
            <a:ext cx="960437" cy="1833563"/>
            <a:chOff x="171" y="2320"/>
            <a:chExt cx="605" cy="1155"/>
          </a:xfrm>
        </p:grpSpPr>
        <p:sp>
          <p:nvSpPr>
            <p:cNvPr id="29814" name="Rounded Rectangle 115">
              <a:extLst>
                <a:ext uri="{FF2B5EF4-FFF2-40B4-BE49-F238E27FC236}">
                  <a16:creationId xmlns:a16="http://schemas.microsoft.com/office/drawing/2014/main" id="{769CE9FB-2B09-46DC-A726-727AD5463486}"/>
                </a:ext>
              </a:extLst>
            </p:cNvPr>
            <p:cNvSpPr>
              <a:spLocks noChangeArrowheads="1"/>
            </p:cNvSpPr>
            <p:nvPr/>
          </p:nvSpPr>
          <p:spPr bwMode="auto">
            <a:xfrm>
              <a:off x="171" y="2320"/>
              <a:ext cx="605" cy="1155"/>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1100">
                  <a:solidFill>
                    <a:schemeClr val="tx1"/>
                  </a:solidFill>
                  <a:latin typeface="Calibri" panose="020F0502020204030204" pitchFamily="34" charset="0"/>
                </a:rPr>
                <a:t>Traditional</a:t>
              </a:r>
            </a:p>
            <a:p>
              <a:pPr algn="ctr" eaLnBrk="1" hangingPunct="1">
                <a:lnSpc>
                  <a:spcPct val="85000"/>
                </a:lnSpc>
                <a:spcBef>
                  <a:spcPct val="0"/>
                </a:spcBef>
                <a:buFontTx/>
                <a:buNone/>
              </a:pPr>
              <a:r>
                <a:rPr lang="en-US" altLang="en-US" sz="1100">
                  <a:solidFill>
                    <a:schemeClr val="tx1"/>
                  </a:solidFill>
                  <a:latin typeface="Calibri" panose="020F0502020204030204" pitchFamily="34" charset="0"/>
                </a:rPr>
                <a:t>Data Sources</a:t>
              </a:r>
            </a:p>
          </p:txBody>
        </p:sp>
        <p:sp>
          <p:nvSpPr>
            <p:cNvPr id="29815" name="Rounded Rectangle 143">
              <a:extLst>
                <a:ext uri="{FF2B5EF4-FFF2-40B4-BE49-F238E27FC236}">
                  <a16:creationId xmlns:a16="http://schemas.microsoft.com/office/drawing/2014/main" id="{EFFA0CE0-EB7E-43BD-8182-8D7EA4B28E17}"/>
                </a:ext>
              </a:extLst>
            </p:cNvPr>
            <p:cNvSpPr>
              <a:spLocks noChangeArrowheads="1"/>
            </p:cNvSpPr>
            <p:nvPr/>
          </p:nvSpPr>
          <p:spPr bwMode="auto">
            <a:xfrm>
              <a:off x="206" y="2608"/>
              <a:ext cx="535"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Third-Party</a:t>
              </a:r>
            </a:p>
            <a:p>
              <a:pPr algn="ctr" eaLnBrk="1" hangingPunct="1">
                <a:lnSpc>
                  <a:spcPct val="97000"/>
                </a:lnSpc>
                <a:spcBef>
                  <a:spcPct val="0"/>
                </a:spcBef>
                <a:buClr>
                  <a:srgbClr val="000600"/>
                </a:buClr>
                <a:buFont typeface="Arial" panose="020B0604020202020204" pitchFamily="34" charset="0"/>
                <a:buNone/>
              </a:pPr>
              <a:r>
                <a:rPr lang="en-US" altLang="en-US" sz="800" b="0"/>
                <a:t> Data</a:t>
              </a:r>
            </a:p>
          </p:txBody>
        </p:sp>
        <p:sp>
          <p:nvSpPr>
            <p:cNvPr id="29816" name="Rounded Rectangle 143">
              <a:extLst>
                <a:ext uri="{FF2B5EF4-FFF2-40B4-BE49-F238E27FC236}">
                  <a16:creationId xmlns:a16="http://schemas.microsoft.com/office/drawing/2014/main" id="{9B68C839-7839-4B3A-B945-FF8FC8BA7B49}"/>
                </a:ext>
              </a:extLst>
            </p:cNvPr>
            <p:cNvSpPr>
              <a:spLocks noChangeArrowheads="1"/>
            </p:cNvSpPr>
            <p:nvPr/>
          </p:nvSpPr>
          <p:spPr bwMode="auto">
            <a:xfrm>
              <a:off x="193" y="2870"/>
              <a:ext cx="535"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   Transactional Data</a:t>
              </a:r>
            </a:p>
          </p:txBody>
        </p:sp>
        <p:sp>
          <p:nvSpPr>
            <p:cNvPr id="29817" name="Rounded Rectangle 143">
              <a:extLst>
                <a:ext uri="{FF2B5EF4-FFF2-40B4-BE49-F238E27FC236}">
                  <a16:creationId xmlns:a16="http://schemas.microsoft.com/office/drawing/2014/main" id="{663BC412-7C6A-48B7-8F37-2AA8C2BDF169}"/>
                </a:ext>
              </a:extLst>
            </p:cNvPr>
            <p:cNvSpPr>
              <a:spLocks noChangeArrowheads="1"/>
            </p:cNvSpPr>
            <p:nvPr/>
          </p:nvSpPr>
          <p:spPr bwMode="auto">
            <a:xfrm>
              <a:off x="192" y="3136"/>
              <a:ext cx="535"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   Application Data</a:t>
              </a:r>
            </a:p>
          </p:txBody>
        </p:sp>
      </p:grpSp>
      <p:grpSp>
        <p:nvGrpSpPr>
          <p:cNvPr id="29710" name="Group 167">
            <a:extLst>
              <a:ext uri="{FF2B5EF4-FFF2-40B4-BE49-F238E27FC236}">
                <a16:creationId xmlns:a16="http://schemas.microsoft.com/office/drawing/2014/main" id="{17C56EAE-4C96-4EFA-A8B3-93C9F319A715}"/>
              </a:ext>
            </a:extLst>
          </p:cNvPr>
          <p:cNvGrpSpPr>
            <a:grpSpLocks/>
          </p:cNvGrpSpPr>
          <p:nvPr/>
        </p:nvGrpSpPr>
        <p:grpSpPr bwMode="auto">
          <a:xfrm>
            <a:off x="1830388" y="3013075"/>
            <a:ext cx="849312" cy="304800"/>
            <a:chOff x="193" y="1975"/>
            <a:chExt cx="535" cy="192"/>
          </a:xfrm>
        </p:grpSpPr>
        <p:sp>
          <p:nvSpPr>
            <p:cNvPr id="29812" name="Rounded Rectangle 143">
              <a:extLst>
                <a:ext uri="{FF2B5EF4-FFF2-40B4-BE49-F238E27FC236}">
                  <a16:creationId xmlns:a16="http://schemas.microsoft.com/office/drawing/2014/main" id="{09C4C5AC-1A74-4EC8-AACB-9340C5244BA1}"/>
                </a:ext>
              </a:extLst>
            </p:cNvPr>
            <p:cNvSpPr>
              <a:spLocks noChangeArrowheads="1"/>
            </p:cNvSpPr>
            <p:nvPr/>
          </p:nvSpPr>
          <p:spPr bwMode="auto">
            <a:xfrm>
              <a:off x="193" y="1975"/>
              <a:ext cx="535"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Internet</a:t>
              </a:r>
            </a:p>
            <a:p>
              <a:pPr algn="ctr" eaLnBrk="1" hangingPunct="1">
                <a:lnSpc>
                  <a:spcPct val="97000"/>
                </a:lnSpc>
                <a:spcBef>
                  <a:spcPct val="0"/>
                </a:spcBef>
                <a:buClr>
                  <a:srgbClr val="000600"/>
                </a:buClr>
                <a:buFont typeface="Arial" panose="020B0604020202020204" pitchFamily="34" charset="0"/>
                <a:buNone/>
              </a:pPr>
              <a:r>
                <a:rPr lang="en-US" altLang="en-US" sz="800" b="0"/>
                <a:t> Data </a:t>
              </a:r>
            </a:p>
          </p:txBody>
        </p:sp>
        <p:pic>
          <p:nvPicPr>
            <p:cNvPr id="29813" name="Picture 111" descr="16e.png">
              <a:extLst>
                <a:ext uri="{FF2B5EF4-FFF2-40B4-BE49-F238E27FC236}">
                  <a16:creationId xmlns:a16="http://schemas.microsoft.com/office/drawing/2014/main" id="{5D21B2AB-3777-46A6-9E4C-18C8FC96549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05" y="1989"/>
              <a:ext cx="13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11" name="Rounded Rectangle 115">
            <a:extLst>
              <a:ext uri="{FF2B5EF4-FFF2-40B4-BE49-F238E27FC236}">
                <a16:creationId xmlns:a16="http://schemas.microsoft.com/office/drawing/2014/main" id="{D551C781-838D-41A6-9D03-86D0224ACF55}"/>
              </a:ext>
            </a:extLst>
          </p:cNvPr>
          <p:cNvSpPr>
            <a:spLocks noChangeArrowheads="1"/>
          </p:cNvSpPr>
          <p:nvPr/>
        </p:nvSpPr>
        <p:spPr bwMode="auto">
          <a:xfrm>
            <a:off x="3527425" y="639763"/>
            <a:ext cx="3200400" cy="762000"/>
          </a:xfrm>
          <a:prstGeom prst="roundRect">
            <a:avLst>
              <a:gd name="adj" fmla="val 16667"/>
            </a:avLst>
          </a:prstGeom>
          <a:solidFill>
            <a:srgbClr val="00649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chemeClr val="bg1"/>
                </a:solidFill>
              </a:rPr>
              <a:t>Streaming Computing</a:t>
            </a:r>
          </a:p>
          <a:p>
            <a:pPr algn="ctr" eaLnBrk="1" hangingPunct="1">
              <a:spcBef>
                <a:spcPct val="0"/>
              </a:spcBef>
              <a:buFontTx/>
              <a:buNone/>
            </a:pPr>
            <a:endParaRPr lang="en-US" altLang="en-US" sz="1200">
              <a:solidFill>
                <a:schemeClr val="bg1"/>
              </a:solidFill>
            </a:endParaRPr>
          </a:p>
        </p:txBody>
      </p:sp>
      <p:sp>
        <p:nvSpPr>
          <p:cNvPr id="29712" name="Rounded Rectangle 115">
            <a:extLst>
              <a:ext uri="{FF2B5EF4-FFF2-40B4-BE49-F238E27FC236}">
                <a16:creationId xmlns:a16="http://schemas.microsoft.com/office/drawing/2014/main" id="{484D0608-7F3D-492E-83FC-229DA8D8F772}"/>
              </a:ext>
            </a:extLst>
          </p:cNvPr>
          <p:cNvSpPr>
            <a:spLocks noChangeArrowheads="1"/>
          </p:cNvSpPr>
          <p:nvPr/>
        </p:nvSpPr>
        <p:spPr bwMode="auto">
          <a:xfrm>
            <a:off x="7131050" y="639763"/>
            <a:ext cx="1174750" cy="4837112"/>
          </a:xfrm>
          <a:prstGeom prst="roundRect">
            <a:avLst>
              <a:gd name="adj" fmla="val 16667"/>
            </a:avLst>
          </a:prstGeom>
          <a:solidFill>
            <a:srgbClr val="00649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chemeClr val="bg1"/>
                </a:solidFill>
              </a:rPr>
              <a:t>Information Access</a:t>
            </a:r>
          </a:p>
        </p:txBody>
      </p:sp>
      <p:sp>
        <p:nvSpPr>
          <p:cNvPr id="29713" name="Rounded Rectangle 115">
            <a:extLst>
              <a:ext uri="{FF2B5EF4-FFF2-40B4-BE49-F238E27FC236}">
                <a16:creationId xmlns:a16="http://schemas.microsoft.com/office/drawing/2014/main" id="{91BCB10F-FCB2-49BA-B3D3-BBFF21457AA8}"/>
              </a:ext>
            </a:extLst>
          </p:cNvPr>
          <p:cNvSpPr>
            <a:spLocks noChangeArrowheads="1"/>
          </p:cNvSpPr>
          <p:nvPr/>
        </p:nvSpPr>
        <p:spPr bwMode="auto">
          <a:xfrm>
            <a:off x="7239000" y="1173163"/>
            <a:ext cx="990600" cy="4114800"/>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900">
                <a:solidFill>
                  <a:schemeClr val="tx1"/>
                </a:solidFill>
              </a:rPr>
              <a:t>Delivery &amp; Visualization</a:t>
            </a:r>
          </a:p>
        </p:txBody>
      </p:sp>
      <p:sp>
        <p:nvSpPr>
          <p:cNvPr id="29714" name="Rounded Rectangle 169">
            <a:extLst>
              <a:ext uri="{FF2B5EF4-FFF2-40B4-BE49-F238E27FC236}">
                <a16:creationId xmlns:a16="http://schemas.microsoft.com/office/drawing/2014/main" id="{ECA16176-61D0-4165-A370-E19A6AC7EEE4}"/>
              </a:ext>
            </a:extLst>
          </p:cNvPr>
          <p:cNvSpPr>
            <a:spLocks noChangeArrowheads="1"/>
          </p:cNvSpPr>
          <p:nvPr/>
        </p:nvSpPr>
        <p:spPr bwMode="auto">
          <a:xfrm>
            <a:off x="7423150" y="2570163"/>
            <a:ext cx="730250" cy="26511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Access</a:t>
            </a:r>
          </a:p>
        </p:txBody>
      </p:sp>
      <p:sp>
        <p:nvSpPr>
          <p:cNvPr id="29715" name="Rounded Rectangle 172">
            <a:extLst>
              <a:ext uri="{FF2B5EF4-FFF2-40B4-BE49-F238E27FC236}">
                <a16:creationId xmlns:a16="http://schemas.microsoft.com/office/drawing/2014/main" id="{40AAB5EA-60B8-4D60-9C15-74CB9BDE3B1C}"/>
              </a:ext>
            </a:extLst>
          </p:cNvPr>
          <p:cNvSpPr>
            <a:spLocks noChangeArrowheads="1"/>
          </p:cNvSpPr>
          <p:nvPr/>
        </p:nvSpPr>
        <p:spPr bwMode="auto">
          <a:xfrm>
            <a:off x="7426325" y="3498851"/>
            <a:ext cx="731838" cy="26511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Delivery</a:t>
            </a:r>
          </a:p>
        </p:txBody>
      </p:sp>
      <p:sp>
        <p:nvSpPr>
          <p:cNvPr id="29716" name="Rounded Rectangle 179">
            <a:extLst>
              <a:ext uri="{FF2B5EF4-FFF2-40B4-BE49-F238E27FC236}">
                <a16:creationId xmlns:a16="http://schemas.microsoft.com/office/drawing/2014/main" id="{E9795266-05F9-4C85-BF75-FD40790BB627}"/>
              </a:ext>
            </a:extLst>
          </p:cNvPr>
          <p:cNvSpPr>
            <a:spLocks noChangeArrowheads="1"/>
          </p:cNvSpPr>
          <p:nvPr/>
        </p:nvSpPr>
        <p:spPr bwMode="auto">
          <a:xfrm>
            <a:off x="7434264" y="4429126"/>
            <a:ext cx="731837" cy="26511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Federation</a:t>
            </a:r>
          </a:p>
        </p:txBody>
      </p:sp>
      <p:sp>
        <p:nvSpPr>
          <p:cNvPr id="29717" name="Rounded Rectangle 191">
            <a:extLst>
              <a:ext uri="{FF2B5EF4-FFF2-40B4-BE49-F238E27FC236}">
                <a16:creationId xmlns:a16="http://schemas.microsoft.com/office/drawing/2014/main" id="{02AE425D-57E7-4B89-9ED7-C88B0373A548}"/>
              </a:ext>
            </a:extLst>
          </p:cNvPr>
          <p:cNvSpPr>
            <a:spLocks noChangeArrowheads="1"/>
          </p:cNvSpPr>
          <p:nvPr/>
        </p:nvSpPr>
        <p:spPr bwMode="auto">
          <a:xfrm>
            <a:off x="7423150" y="3963988"/>
            <a:ext cx="731838" cy="26511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Virtualization</a:t>
            </a:r>
          </a:p>
        </p:txBody>
      </p:sp>
      <p:sp>
        <p:nvSpPr>
          <p:cNvPr id="29718" name="Rounded Rectangle 195">
            <a:extLst>
              <a:ext uri="{FF2B5EF4-FFF2-40B4-BE49-F238E27FC236}">
                <a16:creationId xmlns:a16="http://schemas.microsoft.com/office/drawing/2014/main" id="{17D688ED-30B6-4782-A4DD-961A3C6B6660}"/>
              </a:ext>
            </a:extLst>
          </p:cNvPr>
          <p:cNvSpPr>
            <a:spLocks noChangeArrowheads="1"/>
          </p:cNvSpPr>
          <p:nvPr/>
        </p:nvSpPr>
        <p:spPr bwMode="auto">
          <a:xfrm>
            <a:off x="7429500" y="3035301"/>
            <a:ext cx="731838" cy="26511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Caching</a:t>
            </a:r>
          </a:p>
        </p:txBody>
      </p:sp>
      <p:sp>
        <p:nvSpPr>
          <p:cNvPr id="29719" name="Rounded Rectangle 197">
            <a:extLst>
              <a:ext uri="{FF2B5EF4-FFF2-40B4-BE49-F238E27FC236}">
                <a16:creationId xmlns:a16="http://schemas.microsoft.com/office/drawing/2014/main" id="{ECCB1331-DCBF-49F6-9FD8-E4F01127CD09}"/>
              </a:ext>
            </a:extLst>
          </p:cNvPr>
          <p:cNvSpPr>
            <a:spLocks noChangeArrowheads="1"/>
          </p:cNvSpPr>
          <p:nvPr/>
        </p:nvSpPr>
        <p:spPr bwMode="auto">
          <a:xfrm>
            <a:off x="7424739" y="1641476"/>
            <a:ext cx="731837" cy="26511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Services</a:t>
            </a:r>
          </a:p>
        </p:txBody>
      </p:sp>
      <p:sp>
        <p:nvSpPr>
          <p:cNvPr id="29720" name="Rounded Rectangle 197">
            <a:extLst>
              <a:ext uri="{FF2B5EF4-FFF2-40B4-BE49-F238E27FC236}">
                <a16:creationId xmlns:a16="http://schemas.microsoft.com/office/drawing/2014/main" id="{E010E15C-2BD9-4B70-915A-0219EEDB8C66}"/>
              </a:ext>
            </a:extLst>
          </p:cNvPr>
          <p:cNvSpPr>
            <a:spLocks noChangeArrowheads="1"/>
          </p:cNvSpPr>
          <p:nvPr/>
        </p:nvSpPr>
        <p:spPr bwMode="auto">
          <a:xfrm>
            <a:off x="7432675" y="2105026"/>
            <a:ext cx="731838" cy="26511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Publish</a:t>
            </a:r>
          </a:p>
        </p:txBody>
      </p:sp>
      <p:sp>
        <p:nvSpPr>
          <p:cNvPr id="29721" name="Rounded Rectangle 179">
            <a:extLst>
              <a:ext uri="{FF2B5EF4-FFF2-40B4-BE49-F238E27FC236}">
                <a16:creationId xmlns:a16="http://schemas.microsoft.com/office/drawing/2014/main" id="{A94614B8-7889-4BD8-B6AA-7DF0D70AB064}"/>
              </a:ext>
            </a:extLst>
          </p:cNvPr>
          <p:cNvSpPr>
            <a:spLocks noChangeArrowheads="1"/>
          </p:cNvSpPr>
          <p:nvPr/>
        </p:nvSpPr>
        <p:spPr bwMode="auto">
          <a:xfrm>
            <a:off x="7446964" y="4894263"/>
            <a:ext cx="731837" cy="26511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Link</a:t>
            </a:r>
          </a:p>
        </p:txBody>
      </p:sp>
      <p:sp>
        <p:nvSpPr>
          <p:cNvPr id="29722" name="Text Box 185">
            <a:extLst>
              <a:ext uri="{FF2B5EF4-FFF2-40B4-BE49-F238E27FC236}">
                <a16:creationId xmlns:a16="http://schemas.microsoft.com/office/drawing/2014/main" id="{72B3F200-7152-4BD3-90D0-0B92B1FF13D5}"/>
              </a:ext>
            </a:extLst>
          </p:cNvPr>
          <p:cNvSpPr txBox="1">
            <a:spLocks noChangeArrowheads="1"/>
          </p:cNvSpPr>
          <p:nvPr/>
        </p:nvSpPr>
        <p:spPr bwMode="auto">
          <a:xfrm rot="16200000">
            <a:off x="6765926" y="3203576"/>
            <a:ext cx="1117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000">
                <a:solidFill>
                  <a:schemeClr val="tx1"/>
                </a:solidFill>
              </a:rPr>
              <a:t>Semantic Layer</a:t>
            </a:r>
          </a:p>
        </p:txBody>
      </p:sp>
      <p:grpSp>
        <p:nvGrpSpPr>
          <p:cNvPr id="29723" name="Group 186">
            <a:extLst>
              <a:ext uri="{FF2B5EF4-FFF2-40B4-BE49-F238E27FC236}">
                <a16:creationId xmlns:a16="http://schemas.microsoft.com/office/drawing/2014/main" id="{F4451959-B4E4-4CBA-99EF-827C87C82E3A}"/>
              </a:ext>
            </a:extLst>
          </p:cNvPr>
          <p:cNvGrpSpPr>
            <a:grpSpLocks/>
          </p:cNvGrpSpPr>
          <p:nvPr/>
        </p:nvGrpSpPr>
        <p:grpSpPr bwMode="auto">
          <a:xfrm>
            <a:off x="8612188" y="639763"/>
            <a:ext cx="1860550" cy="4876800"/>
            <a:chOff x="4472" y="446"/>
            <a:chExt cx="1172" cy="3154"/>
          </a:xfrm>
        </p:grpSpPr>
        <p:sp>
          <p:nvSpPr>
            <p:cNvPr id="29785" name="Rounded Rectangle 115">
              <a:extLst>
                <a:ext uri="{FF2B5EF4-FFF2-40B4-BE49-F238E27FC236}">
                  <a16:creationId xmlns:a16="http://schemas.microsoft.com/office/drawing/2014/main" id="{9270D30C-B499-40AB-93BE-0D4BE081C330}"/>
                </a:ext>
              </a:extLst>
            </p:cNvPr>
            <p:cNvSpPr>
              <a:spLocks noChangeArrowheads="1"/>
            </p:cNvSpPr>
            <p:nvPr/>
          </p:nvSpPr>
          <p:spPr bwMode="auto">
            <a:xfrm>
              <a:off x="4472" y="446"/>
              <a:ext cx="1172" cy="3154"/>
            </a:xfrm>
            <a:prstGeom prst="roundRect">
              <a:avLst>
                <a:gd name="adj" fmla="val 16667"/>
              </a:avLst>
            </a:prstGeom>
            <a:solidFill>
              <a:srgbClr val="00649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chemeClr val="bg1"/>
                  </a:solidFill>
                </a:rPr>
                <a:t>Actionable Insight</a:t>
              </a:r>
            </a:p>
          </p:txBody>
        </p:sp>
        <p:grpSp>
          <p:nvGrpSpPr>
            <p:cNvPr id="29786" name="Group 188">
              <a:extLst>
                <a:ext uri="{FF2B5EF4-FFF2-40B4-BE49-F238E27FC236}">
                  <a16:creationId xmlns:a16="http://schemas.microsoft.com/office/drawing/2014/main" id="{B70AC56D-7CBB-4052-BA11-5DD61F67C819}"/>
                </a:ext>
              </a:extLst>
            </p:cNvPr>
            <p:cNvGrpSpPr>
              <a:grpSpLocks/>
            </p:cNvGrpSpPr>
            <p:nvPr/>
          </p:nvGrpSpPr>
          <p:grpSpPr bwMode="auto">
            <a:xfrm>
              <a:off x="4526" y="1126"/>
              <a:ext cx="1056" cy="1104"/>
              <a:chOff x="4512" y="1152"/>
              <a:chExt cx="1056" cy="1104"/>
            </a:xfrm>
          </p:grpSpPr>
          <p:sp>
            <p:nvSpPr>
              <p:cNvPr id="29803" name="Rounded Rectangle 115">
                <a:extLst>
                  <a:ext uri="{FF2B5EF4-FFF2-40B4-BE49-F238E27FC236}">
                    <a16:creationId xmlns:a16="http://schemas.microsoft.com/office/drawing/2014/main" id="{0B9AD0FE-BB0A-45F2-AB04-951367FBCA4A}"/>
                  </a:ext>
                </a:extLst>
              </p:cNvPr>
              <p:cNvSpPr>
                <a:spLocks noChangeArrowheads="1"/>
              </p:cNvSpPr>
              <p:nvPr/>
            </p:nvSpPr>
            <p:spPr bwMode="auto">
              <a:xfrm>
                <a:off x="4512" y="1152"/>
                <a:ext cx="1056" cy="1104"/>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Reporting, Analysis </a:t>
                </a:r>
              </a:p>
              <a:p>
                <a:pPr algn="ctr" eaLnBrk="1" hangingPunct="1">
                  <a:spcBef>
                    <a:spcPct val="0"/>
                  </a:spcBef>
                  <a:buFontTx/>
                  <a:buNone/>
                </a:pPr>
                <a:r>
                  <a:rPr lang="en-US" altLang="en-US" sz="900">
                    <a:solidFill>
                      <a:schemeClr val="tx1"/>
                    </a:solidFill>
                  </a:rPr>
                  <a:t>&amp; Content Analytics</a:t>
                </a:r>
              </a:p>
            </p:txBody>
          </p:sp>
          <p:sp>
            <p:nvSpPr>
              <p:cNvPr id="29804" name="Rounded Rectangle 275">
                <a:extLst>
                  <a:ext uri="{FF2B5EF4-FFF2-40B4-BE49-F238E27FC236}">
                    <a16:creationId xmlns:a16="http://schemas.microsoft.com/office/drawing/2014/main" id="{114239FB-4C6E-4ADC-945D-C048B24F51FF}"/>
                  </a:ext>
                </a:extLst>
              </p:cNvPr>
              <p:cNvSpPr>
                <a:spLocks noChangeArrowheads="1"/>
              </p:cNvSpPr>
              <p:nvPr/>
            </p:nvSpPr>
            <p:spPr bwMode="auto">
              <a:xfrm>
                <a:off x="5046" y="1642"/>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Query &amp; Analysis</a:t>
                </a:r>
              </a:p>
            </p:txBody>
          </p:sp>
          <p:sp>
            <p:nvSpPr>
              <p:cNvPr id="29805" name="Rounded Rectangle 264">
                <a:extLst>
                  <a:ext uri="{FF2B5EF4-FFF2-40B4-BE49-F238E27FC236}">
                    <a16:creationId xmlns:a16="http://schemas.microsoft.com/office/drawing/2014/main" id="{0F5BC56B-5B6B-4511-B862-55F94BDD619B}"/>
                  </a:ext>
                </a:extLst>
              </p:cNvPr>
              <p:cNvSpPr>
                <a:spLocks noChangeArrowheads="1"/>
              </p:cNvSpPr>
              <p:nvPr/>
            </p:nvSpPr>
            <p:spPr bwMode="auto">
              <a:xfrm>
                <a:off x="4560" y="1401"/>
                <a:ext cx="461" cy="211"/>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Planning, Forecasting </a:t>
                </a:r>
              </a:p>
            </p:txBody>
          </p:sp>
          <p:sp>
            <p:nvSpPr>
              <p:cNvPr id="29806" name="Rounded Rectangle 269">
                <a:extLst>
                  <a:ext uri="{FF2B5EF4-FFF2-40B4-BE49-F238E27FC236}">
                    <a16:creationId xmlns:a16="http://schemas.microsoft.com/office/drawing/2014/main" id="{9D34209E-6BF1-48B9-BAA3-39D65F594899}"/>
                  </a:ext>
                </a:extLst>
              </p:cNvPr>
              <p:cNvSpPr>
                <a:spLocks noChangeArrowheads="1"/>
              </p:cNvSpPr>
              <p:nvPr/>
            </p:nvSpPr>
            <p:spPr bwMode="auto">
              <a:xfrm>
                <a:off x="5046" y="1403"/>
                <a:ext cx="461" cy="211"/>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Scorecards,</a:t>
                </a:r>
              </a:p>
              <a:p>
                <a:pPr algn="ctr" eaLnBrk="1" hangingPunct="1">
                  <a:lnSpc>
                    <a:spcPct val="97000"/>
                  </a:lnSpc>
                  <a:spcBef>
                    <a:spcPct val="0"/>
                  </a:spcBef>
                  <a:buClr>
                    <a:srgbClr val="000600"/>
                  </a:buClr>
                  <a:buFont typeface="Arial" panose="020B0604020202020204" pitchFamily="34" charset="0"/>
                  <a:buNone/>
                </a:pPr>
                <a:r>
                  <a:rPr lang="en-US" altLang="en-US" sz="800" b="0"/>
                  <a:t>Dashboards</a:t>
                </a:r>
              </a:p>
            </p:txBody>
          </p:sp>
          <p:sp>
            <p:nvSpPr>
              <p:cNvPr id="29807" name="Rounded Rectangle 271">
                <a:extLst>
                  <a:ext uri="{FF2B5EF4-FFF2-40B4-BE49-F238E27FC236}">
                    <a16:creationId xmlns:a16="http://schemas.microsoft.com/office/drawing/2014/main" id="{F271C6A9-52F6-4C94-8955-724DB756D9D7}"/>
                  </a:ext>
                </a:extLst>
              </p:cNvPr>
              <p:cNvSpPr>
                <a:spLocks noChangeArrowheads="1"/>
              </p:cNvSpPr>
              <p:nvPr/>
            </p:nvSpPr>
            <p:spPr bwMode="auto">
              <a:xfrm>
                <a:off x="4560" y="1646"/>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Budgeting</a:t>
                </a:r>
              </a:p>
            </p:txBody>
          </p:sp>
          <p:sp>
            <p:nvSpPr>
              <p:cNvPr id="29808" name="Rounded Rectangle 278">
                <a:extLst>
                  <a:ext uri="{FF2B5EF4-FFF2-40B4-BE49-F238E27FC236}">
                    <a16:creationId xmlns:a16="http://schemas.microsoft.com/office/drawing/2014/main" id="{E9FC31DB-44CF-4750-8B9E-E1329892D4C5}"/>
                  </a:ext>
                </a:extLst>
              </p:cNvPr>
              <p:cNvSpPr>
                <a:spLocks noChangeArrowheads="1"/>
              </p:cNvSpPr>
              <p:nvPr/>
            </p:nvSpPr>
            <p:spPr bwMode="auto">
              <a:xfrm>
                <a:off x="4560" y="1843"/>
                <a:ext cx="461" cy="17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Reporting</a:t>
                </a:r>
              </a:p>
            </p:txBody>
          </p:sp>
          <p:sp>
            <p:nvSpPr>
              <p:cNvPr id="29809" name="Rounded Rectangle 280">
                <a:extLst>
                  <a:ext uri="{FF2B5EF4-FFF2-40B4-BE49-F238E27FC236}">
                    <a16:creationId xmlns:a16="http://schemas.microsoft.com/office/drawing/2014/main" id="{1005987C-098B-4860-9850-D196C3EE31F8}"/>
                  </a:ext>
                </a:extLst>
              </p:cNvPr>
              <p:cNvSpPr>
                <a:spLocks noChangeArrowheads="1"/>
              </p:cNvSpPr>
              <p:nvPr/>
            </p:nvSpPr>
            <p:spPr bwMode="auto">
              <a:xfrm>
                <a:off x="5040" y="1822"/>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Storytelling</a:t>
                </a:r>
              </a:p>
            </p:txBody>
          </p:sp>
          <p:sp>
            <p:nvSpPr>
              <p:cNvPr id="29810" name="Rounded Rectangle 273">
                <a:extLst>
                  <a:ext uri="{FF2B5EF4-FFF2-40B4-BE49-F238E27FC236}">
                    <a16:creationId xmlns:a16="http://schemas.microsoft.com/office/drawing/2014/main" id="{B1B4032D-A9FC-4C78-96EF-2E0683109452}"/>
                  </a:ext>
                </a:extLst>
              </p:cNvPr>
              <p:cNvSpPr>
                <a:spLocks noChangeArrowheads="1"/>
              </p:cNvSpPr>
              <p:nvPr/>
            </p:nvSpPr>
            <p:spPr bwMode="auto">
              <a:xfrm>
                <a:off x="4560" y="2023"/>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Collaboration</a:t>
                </a:r>
              </a:p>
            </p:txBody>
          </p:sp>
          <p:sp>
            <p:nvSpPr>
              <p:cNvPr id="29811" name="Rounded Rectangle 270">
                <a:extLst>
                  <a:ext uri="{FF2B5EF4-FFF2-40B4-BE49-F238E27FC236}">
                    <a16:creationId xmlns:a16="http://schemas.microsoft.com/office/drawing/2014/main" id="{692C27C6-ADD4-4A5F-B585-0954D8216F6F}"/>
                  </a:ext>
                </a:extLst>
              </p:cNvPr>
              <p:cNvSpPr>
                <a:spLocks noChangeArrowheads="1"/>
              </p:cNvSpPr>
              <p:nvPr/>
            </p:nvSpPr>
            <p:spPr bwMode="auto">
              <a:xfrm>
                <a:off x="5040" y="2010"/>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Alerting, Monitoring</a:t>
                </a:r>
              </a:p>
            </p:txBody>
          </p:sp>
        </p:grpSp>
        <p:grpSp>
          <p:nvGrpSpPr>
            <p:cNvPr id="29787" name="Group 198">
              <a:extLst>
                <a:ext uri="{FF2B5EF4-FFF2-40B4-BE49-F238E27FC236}">
                  <a16:creationId xmlns:a16="http://schemas.microsoft.com/office/drawing/2014/main" id="{E1FB7A5F-C524-4E7B-AF1E-77D3181E51D9}"/>
                </a:ext>
              </a:extLst>
            </p:cNvPr>
            <p:cNvGrpSpPr>
              <a:grpSpLocks/>
            </p:cNvGrpSpPr>
            <p:nvPr/>
          </p:nvGrpSpPr>
          <p:grpSpPr bwMode="auto">
            <a:xfrm>
              <a:off x="4526" y="686"/>
              <a:ext cx="1056" cy="403"/>
              <a:chOff x="4512" y="686"/>
              <a:chExt cx="1056" cy="403"/>
            </a:xfrm>
          </p:grpSpPr>
          <p:sp>
            <p:nvSpPr>
              <p:cNvPr id="29800" name="Rounded Rectangle 115">
                <a:extLst>
                  <a:ext uri="{FF2B5EF4-FFF2-40B4-BE49-F238E27FC236}">
                    <a16:creationId xmlns:a16="http://schemas.microsoft.com/office/drawing/2014/main" id="{EA84CE26-015B-4E92-8A50-DFD7932FA507}"/>
                  </a:ext>
                </a:extLst>
              </p:cNvPr>
              <p:cNvSpPr>
                <a:spLocks noChangeArrowheads="1"/>
              </p:cNvSpPr>
              <p:nvPr/>
            </p:nvSpPr>
            <p:spPr bwMode="auto">
              <a:xfrm>
                <a:off x="4512" y="686"/>
                <a:ext cx="1056" cy="403"/>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Decision Management</a:t>
                </a:r>
              </a:p>
            </p:txBody>
          </p:sp>
          <p:sp>
            <p:nvSpPr>
              <p:cNvPr id="29801" name="Rounded Rectangle 276">
                <a:extLst>
                  <a:ext uri="{FF2B5EF4-FFF2-40B4-BE49-F238E27FC236}">
                    <a16:creationId xmlns:a16="http://schemas.microsoft.com/office/drawing/2014/main" id="{68EB739B-751C-44E0-B80B-70A1C15FD587}"/>
                  </a:ext>
                </a:extLst>
              </p:cNvPr>
              <p:cNvSpPr>
                <a:spLocks noChangeArrowheads="1"/>
              </p:cNvSpPr>
              <p:nvPr/>
            </p:nvSpPr>
            <p:spPr bwMode="auto">
              <a:xfrm>
                <a:off x="4574" y="808"/>
                <a:ext cx="461"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Rules Management</a:t>
                </a:r>
              </a:p>
            </p:txBody>
          </p:sp>
          <p:sp>
            <p:nvSpPr>
              <p:cNvPr id="29802" name="Rounded Rectangle 281">
                <a:extLst>
                  <a:ext uri="{FF2B5EF4-FFF2-40B4-BE49-F238E27FC236}">
                    <a16:creationId xmlns:a16="http://schemas.microsoft.com/office/drawing/2014/main" id="{F4663F97-FCA2-4815-A03E-EE92E2FFC1AD}"/>
                  </a:ext>
                </a:extLst>
              </p:cNvPr>
              <p:cNvSpPr>
                <a:spLocks noChangeArrowheads="1"/>
              </p:cNvSpPr>
              <p:nvPr/>
            </p:nvSpPr>
            <p:spPr bwMode="auto">
              <a:xfrm>
                <a:off x="5060" y="810"/>
                <a:ext cx="461"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Real Time Decision Management</a:t>
                </a:r>
              </a:p>
            </p:txBody>
          </p:sp>
        </p:grpSp>
        <p:grpSp>
          <p:nvGrpSpPr>
            <p:cNvPr id="29788" name="Group 202">
              <a:extLst>
                <a:ext uri="{FF2B5EF4-FFF2-40B4-BE49-F238E27FC236}">
                  <a16:creationId xmlns:a16="http://schemas.microsoft.com/office/drawing/2014/main" id="{1A43313A-F00C-4E08-B2C0-B39DDC82A5C8}"/>
                </a:ext>
              </a:extLst>
            </p:cNvPr>
            <p:cNvGrpSpPr>
              <a:grpSpLocks/>
            </p:cNvGrpSpPr>
            <p:nvPr/>
          </p:nvGrpSpPr>
          <p:grpSpPr bwMode="auto">
            <a:xfrm>
              <a:off x="4526" y="2267"/>
              <a:ext cx="1056" cy="384"/>
              <a:chOff x="4512" y="2304"/>
              <a:chExt cx="1056" cy="384"/>
            </a:xfrm>
          </p:grpSpPr>
          <p:sp>
            <p:nvSpPr>
              <p:cNvPr id="29797" name="Rounded Rectangle 115">
                <a:extLst>
                  <a:ext uri="{FF2B5EF4-FFF2-40B4-BE49-F238E27FC236}">
                    <a16:creationId xmlns:a16="http://schemas.microsoft.com/office/drawing/2014/main" id="{6FFB1419-0A53-4A35-B01B-D309B145A5EB}"/>
                  </a:ext>
                </a:extLst>
              </p:cNvPr>
              <p:cNvSpPr>
                <a:spLocks noChangeArrowheads="1"/>
              </p:cNvSpPr>
              <p:nvPr/>
            </p:nvSpPr>
            <p:spPr bwMode="auto">
              <a:xfrm>
                <a:off x="4512" y="2304"/>
                <a:ext cx="1056" cy="384"/>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Discovery &amp; Exploration</a:t>
                </a:r>
              </a:p>
            </p:txBody>
          </p:sp>
          <p:sp>
            <p:nvSpPr>
              <p:cNvPr id="29798" name="Rounded Rectangle 277">
                <a:extLst>
                  <a:ext uri="{FF2B5EF4-FFF2-40B4-BE49-F238E27FC236}">
                    <a16:creationId xmlns:a16="http://schemas.microsoft.com/office/drawing/2014/main" id="{6CCAA108-C744-49FA-9BC0-A767F1889330}"/>
                  </a:ext>
                </a:extLst>
              </p:cNvPr>
              <p:cNvSpPr>
                <a:spLocks noChangeArrowheads="1"/>
              </p:cNvSpPr>
              <p:nvPr/>
            </p:nvSpPr>
            <p:spPr bwMode="auto">
              <a:xfrm>
                <a:off x="5046" y="2449"/>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Search</a:t>
                </a:r>
              </a:p>
            </p:txBody>
          </p:sp>
          <p:sp>
            <p:nvSpPr>
              <p:cNvPr id="29799" name="Rounded Rectangle 277">
                <a:extLst>
                  <a:ext uri="{FF2B5EF4-FFF2-40B4-BE49-F238E27FC236}">
                    <a16:creationId xmlns:a16="http://schemas.microsoft.com/office/drawing/2014/main" id="{666C22E8-7CDB-4491-81D9-A71343FAC826}"/>
                  </a:ext>
                </a:extLst>
              </p:cNvPr>
              <p:cNvSpPr>
                <a:spLocks noChangeArrowheads="1"/>
              </p:cNvSpPr>
              <p:nvPr/>
            </p:nvSpPr>
            <p:spPr bwMode="auto">
              <a:xfrm>
                <a:off x="4560" y="2448"/>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Annotation</a:t>
                </a:r>
              </a:p>
            </p:txBody>
          </p:sp>
        </p:grpSp>
        <p:grpSp>
          <p:nvGrpSpPr>
            <p:cNvPr id="29789" name="Group 206">
              <a:extLst>
                <a:ext uri="{FF2B5EF4-FFF2-40B4-BE49-F238E27FC236}">
                  <a16:creationId xmlns:a16="http://schemas.microsoft.com/office/drawing/2014/main" id="{2038121A-3A7A-4403-9ECD-639A06A02872}"/>
                </a:ext>
              </a:extLst>
            </p:cNvPr>
            <p:cNvGrpSpPr>
              <a:grpSpLocks/>
            </p:cNvGrpSpPr>
            <p:nvPr/>
          </p:nvGrpSpPr>
          <p:grpSpPr bwMode="auto">
            <a:xfrm>
              <a:off x="4526" y="2688"/>
              <a:ext cx="1056" cy="864"/>
              <a:chOff x="4512" y="2688"/>
              <a:chExt cx="1056" cy="864"/>
            </a:xfrm>
          </p:grpSpPr>
          <p:sp>
            <p:nvSpPr>
              <p:cNvPr id="29790" name="Rounded Rectangle 115">
                <a:extLst>
                  <a:ext uri="{FF2B5EF4-FFF2-40B4-BE49-F238E27FC236}">
                    <a16:creationId xmlns:a16="http://schemas.microsoft.com/office/drawing/2014/main" id="{67B4445E-841D-4F3E-ADFD-943795367A66}"/>
                  </a:ext>
                </a:extLst>
              </p:cNvPr>
              <p:cNvSpPr>
                <a:spLocks noChangeArrowheads="1"/>
              </p:cNvSpPr>
              <p:nvPr/>
            </p:nvSpPr>
            <p:spPr bwMode="auto">
              <a:xfrm>
                <a:off x="4512" y="2688"/>
                <a:ext cx="1056" cy="864"/>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Predictive Analytics &amp; Modeling</a:t>
                </a:r>
              </a:p>
            </p:txBody>
          </p:sp>
          <p:sp>
            <p:nvSpPr>
              <p:cNvPr id="29791" name="Rounded Rectangle 268">
                <a:extLst>
                  <a:ext uri="{FF2B5EF4-FFF2-40B4-BE49-F238E27FC236}">
                    <a16:creationId xmlns:a16="http://schemas.microsoft.com/office/drawing/2014/main" id="{9C770718-6C3E-4981-93BB-205FB8CC5B21}"/>
                  </a:ext>
                </a:extLst>
              </p:cNvPr>
              <p:cNvSpPr>
                <a:spLocks noChangeArrowheads="1"/>
              </p:cNvSpPr>
              <p:nvPr/>
            </p:nvSpPr>
            <p:spPr bwMode="auto">
              <a:xfrm>
                <a:off x="5046" y="2929"/>
                <a:ext cx="460"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Text Analytics</a:t>
                </a:r>
              </a:p>
            </p:txBody>
          </p:sp>
          <p:sp>
            <p:nvSpPr>
              <p:cNvPr id="29792" name="Rounded Rectangle 266">
                <a:extLst>
                  <a:ext uri="{FF2B5EF4-FFF2-40B4-BE49-F238E27FC236}">
                    <a16:creationId xmlns:a16="http://schemas.microsoft.com/office/drawing/2014/main" id="{F8DF2F30-C4A6-4C32-A459-211017878F4F}"/>
                  </a:ext>
                </a:extLst>
              </p:cNvPr>
              <p:cNvSpPr>
                <a:spLocks noChangeArrowheads="1"/>
              </p:cNvSpPr>
              <p:nvPr/>
            </p:nvSpPr>
            <p:spPr bwMode="auto">
              <a:xfrm>
                <a:off x="4559" y="2915"/>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Predictive Analytics</a:t>
                </a:r>
              </a:p>
            </p:txBody>
          </p:sp>
          <p:sp>
            <p:nvSpPr>
              <p:cNvPr id="29793" name="Rounded Rectangle 265">
                <a:extLst>
                  <a:ext uri="{FF2B5EF4-FFF2-40B4-BE49-F238E27FC236}">
                    <a16:creationId xmlns:a16="http://schemas.microsoft.com/office/drawing/2014/main" id="{3F7C35E4-6A81-48EB-B8BD-5939827D88E1}"/>
                  </a:ext>
                </a:extLst>
              </p:cNvPr>
              <p:cNvSpPr>
                <a:spLocks noChangeArrowheads="1"/>
              </p:cNvSpPr>
              <p:nvPr/>
            </p:nvSpPr>
            <p:spPr bwMode="auto">
              <a:xfrm>
                <a:off x="4559" y="3306"/>
                <a:ext cx="460"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Mining</a:t>
                </a:r>
              </a:p>
            </p:txBody>
          </p:sp>
          <p:sp>
            <p:nvSpPr>
              <p:cNvPr id="29794" name="Rounded Rectangle 274">
                <a:extLst>
                  <a:ext uri="{FF2B5EF4-FFF2-40B4-BE49-F238E27FC236}">
                    <a16:creationId xmlns:a16="http://schemas.microsoft.com/office/drawing/2014/main" id="{2D2A82F5-D2EE-4D26-918E-C908598CC86C}"/>
                  </a:ext>
                </a:extLst>
              </p:cNvPr>
              <p:cNvSpPr>
                <a:spLocks noChangeArrowheads="1"/>
              </p:cNvSpPr>
              <p:nvPr/>
            </p:nvSpPr>
            <p:spPr bwMode="auto">
              <a:xfrm>
                <a:off x="5045" y="3117"/>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Optimization</a:t>
                </a:r>
              </a:p>
            </p:txBody>
          </p:sp>
          <p:sp>
            <p:nvSpPr>
              <p:cNvPr id="29795" name="Rounded Rectangle 267">
                <a:extLst>
                  <a:ext uri="{FF2B5EF4-FFF2-40B4-BE49-F238E27FC236}">
                    <a16:creationId xmlns:a16="http://schemas.microsoft.com/office/drawing/2014/main" id="{2338DA79-525B-4E27-AF49-29389811E026}"/>
                  </a:ext>
                </a:extLst>
              </p:cNvPr>
              <p:cNvSpPr>
                <a:spLocks noChangeArrowheads="1"/>
              </p:cNvSpPr>
              <p:nvPr/>
            </p:nvSpPr>
            <p:spPr bwMode="auto">
              <a:xfrm>
                <a:off x="4559" y="3110"/>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Simulation</a:t>
                </a:r>
              </a:p>
            </p:txBody>
          </p:sp>
          <p:sp>
            <p:nvSpPr>
              <p:cNvPr id="29796" name="Rounded Rectangle 277">
                <a:extLst>
                  <a:ext uri="{FF2B5EF4-FFF2-40B4-BE49-F238E27FC236}">
                    <a16:creationId xmlns:a16="http://schemas.microsoft.com/office/drawing/2014/main" id="{2C7D928B-67BA-4FB4-8277-5D42E9142255}"/>
                  </a:ext>
                </a:extLst>
              </p:cNvPr>
              <p:cNvSpPr>
                <a:spLocks noChangeArrowheads="1"/>
              </p:cNvSpPr>
              <p:nvPr/>
            </p:nvSpPr>
            <p:spPr bwMode="auto">
              <a:xfrm>
                <a:off x="5045" y="3306"/>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Correlations</a:t>
                </a:r>
              </a:p>
            </p:txBody>
          </p:sp>
        </p:grpSp>
      </p:grpSp>
      <p:grpSp>
        <p:nvGrpSpPr>
          <p:cNvPr id="29724" name="Group 214">
            <a:extLst>
              <a:ext uri="{FF2B5EF4-FFF2-40B4-BE49-F238E27FC236}">
                <a16:creationId xmlns:a16="http://schemas.microsoft.com/office/drawing/2014/main" id="{7AA952D0-EFE1-4DA2-A097-739B82D85D69}"/>
              </a:ext>
            </a:extLst>
          </p:cNvPr>
          <p:cNvGrpSpPr>
            <a:grpSpLocks/>
          </p:cNvGrpSpPr>
          <p:nvPr/>
        </p:nvGrpSpPr>
        <p:grpSpPr bwMode="auto">
          <a:xfrm>
            <a:off x="4891089" y="1563688"/>
            <a:ext cx="1836737" cy="2971800"/>
            <a:chOff x="2107" y="1097"/>
            <a:chExt cx="1215" cy="1872"/>
          </a:xfrm>
        </p:grpSpPr>
        <p:sp>
          <p:nvSpPr>
            <p:cNvPr id="29766" name="Rounded Rectangle 115">
              <a:extLst>
                <a:ext uri="{FF2B5EF4-FFF2-40B4-BE49-F238E27FC236}">
                  <a16:creationId xmlns:a16="http://schemas.microsoft.com/office/drawing/2014/main" id="{66ACE898-6281-412F-8F2C-4F0DD3896293}"/>
                </a:ext>
              </a:extLst>
            </p:cNvPr>
            <p:cNvSpPr>
              <a:spLocks noChangeArrowheads="1"/>
            </p:cNvSpPr>
            <p:nvPr/>
          </p:nvSpPr>
          <p:spPr bwMode="auto">
            <a:xfrm>
              <a:off x="2107" y="1097"/>
              <a:ext cx="1215" cy="1872"/>
            </a:xfrm>
            <a:prstGeom prst="roundRect">
              <a:avLst>
                <a:gd name="adj" fmla="val 16667"/>
              </a:avLst>
            </a:prstGeom>
            <a:solidFill>
              <a:srgbClr val="00649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chemeClr val="bg1"/>
                  </a:solidFill>
                </a:rPr>
                <a:t>Analytical Sources</a:t>
              </a:r>
            </a:p>
          </p:txBody>
        </p:sp>
        <p:grpSp>
          <p:nvGrpSpPr>
            <p:cNvPr id="29767" name="Group 216">
              <a:extLst>
                <a:ext uri="{FF2B5EF4-FFF2-40B4-BE49-F238E27FC236}">
                  <a16:creationId xmlns:a16="http://schemas.microsoft.com/office/drawing/2014/main" id="{8BB6BEFA-4F4C-4C1F-8608-A7E12FE4C958}"/>
                </a:ext>
              </a:extLst>
            </p:cNvPr>
            <p:cNvGrpSpPr>
              <a:grpSpLocks/>
            </p:cNvGrpSpPr>
            <p:nvPr/>
          </p:nvGrpSpPr>
          <p:grpSpPr bwMode="auto">
            <a:xfrm>
              <a:off x="2208" y="1908"/>
              <a:ext cx="1008" cy="1008"/>
              <a:chOff x="2187" y="1776"/>
              <a:chExt cx="1008" cy="1104"/>
            </a:xfrm>
          </p:grpSpPr>
          <p:sp>
            <p:nvSpPr>
              <p:cNvPr id="29776" name="Rounded Rectangle 115">
                <a:extLst>
                  <a:ext uri="{FF2B5EF4-FFF2-40B4-BE49-F238E27FC236}">
                    <a16:creationId xmlns:a16="http://schemas.microsoft.com/office/drawing/2014/main" id="{5445E5B9-13AE-45AE-ABB1-AC22EA2FD157}"/>
                  </a:ext>
                </a:extLst>
              </p:cNvPr>
              <p:cNvSpPr>
                <a:spLocks noChangeArrowheads="1"/>
              </p:cNvSpPr>
              <p:nvPr/>
            </p:nvSpPr>
            <p:spPr bwMode="auto">
              <a:xfrm>
                <a:off x="2187" y="1776"/>
                <a:ext cx="1008" cy="1104"/>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9144"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Data Warehousing</a:t>
                </a:r>
              </a:p>
            </p:txBody>
          </p:sp>
          <p:sp>
            <p:nvSpPr>
              <p:cNvPr id="29777" name="Rounded Rectangle 133">
                <a:extLst>
                  <a:ext uri="{FF2B5EF4-FFF2-40B4-BE49-F238E27FC236}">
                    <a16:creationId xmlns:a16="http://schemas.microsoft.com/office/drawing/2014/main" id="{BF5C160E-C9EA-4B53-8379-EED471CAF8E9}"/>
                  </a:ext>
                </a:extLst>
              </p:cNvPr>
              <p:cNvSpPr>
                <a:spLocks noChangeArrowheads="1"/>
              </p:cNvSpPr>
              <p:nvPr/>
            </p:nvSpPr>
            <p:spPr bwMode="auto">
              <a:xfrm>
                <a:off x="2703" y="1962"/>
                <a:ext cx="438" cy="185"/>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Accelerators</a:t>
                </a:r>
              </a:p>
              <a:p>
                <a:pPr algn="ctr" eaLnBrk="1" hangingPunct="1">
                  <a:lnSpc>
                    <a:spcPct val="97000"/>
                  </a:lnSpc>
                  <a:spcBef>
                    <a:spcPct val="0"/>
                  </a:spcBef>
                  <a:buClr>
                    <a:srgbClr val="000600"/>
                  </a:buClr>
                  <a:buFont typeface="Arial" panose="020B0604020202020204" pitchFamily="34" charset="0"/>
                  <a:buNone/>
                </a:pPr>
                <a:r>
                  <a:rPr lang="en-US" altLang="en-US" sz="800" b="0"/>
                  <a:t>(In-Memory) </a:t>
                </a:r>
              </a:p>
            </p:txBody>
          </p:sp>
          <p:sp>
            <p:nvSpPr>
              <p:cNvPr id="29778" name="Rounded Rectangle 133">
                <a:extLst>
                  <a:ext uri="{FF2B5EF4-FFF2-40B4-BE49-F238E27FC236}">
                    <a16:creationId xmlns:a16="http://schemas.microsoft.com/office/drawing/2014/main" id="{0B212236-4430-48F5-8A47-B46BE2C30A44}"/>
                  </a:ext>
                </a:extLst>
              </p:cNvPr>
              <p:cNvSpPr>
                <a:spLocks noChangeArrowheads="1"/>
              </p:cNvSpPr>
              <p:nvPr/>
            </p:nvSpPr>
            <p:spPr bwMode="auto">
              <a:xfrm>
                <a:off x="2703" y="2175"/>
                <a:ext cx="438" cy="186"/>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Analytical</a:t>
                </a:r>
              </a:p>
              <a:p>
                <a:pPr algn="ctr" eaLnBrk="1" hangingPunct="1">
                  <a:lnSpc>
                    <a:spcPct val="97000"/>
                  </a:lnSpc>
                  <a:spcBef>
                    <a:spcPct val="0"/>
                  </a:spcBef>
                  <a:buClr>
                    <a:srgbClr val="000600"/>
                  </a:buClr>
                  <a:buFont typeface="Arial" panose="020B0604020202020204" pitchFamily="34" charset="0"/>
                  <a:buNone/>
                </a:pPr>
                <a:r>
                  <a:rPr lang="en-US" altLang="en-US" sz="800" b="0"/>
                  <a:t>Appliances </a:t>
                </a:r>
              </a:p>
            </p:txBody>
          </p:sp>
          <p:sp>
            <p:nvSpPr>
              <p:cNvPr id="29779" name="Rounded Rectangle 133">
                <a:extLst>
                  <a:ext uri="{FF2B5EF4-FFF2-40B4-BE49-F238E27FC236}">
                    <a16:creationId xmlns:a16="http://schemas.microsoft.com/office/drawing/2014/main" id="{649714A4-D255-49F5-B84F-B7CF70B828A3}"/>
                  </a:ext>
                </a:extLst>
              </p:cNvPr>
              <p:cNvSpPr>
                <a:spLocks noChangeArrowheads="1"/>
              </p:cNvSpPr>
              <p:nvPr/>
            </p:nvSpPr>
            <p:spPr bwMode="auto">
              <a:xfrm>
                <a:off x="2236" y="1962"/>
                <a:ext cx="438" cy="185"/>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a:t>
                </a:r>
              </a:p>
              <a:p>
                <a:pPr algn="ctr" eaLnBrk="1" hangingPunct="1">
                  <a:lnSpc>
                    <a:spcPct val="97000"/>
                  </a:lnSpc>
                  <a:spcBef>
                    <a:spcPct val="0"/>
                  </a:spcBef>
                  <a:buClr>
                    <a:srgbClr val="000600"/>
                  </a:buClr>
                  <a:buFont typeface="Arial" panose="020B0604020202020204" pitchFamily="34" charset="0"/>
                  <a:buNone/>
                </a:pPr>
                <a:r>
                  <a:rPr lang="en-US" altLang="en-US" sz="800" b="0"/>
                  <a:t>Warehouse </a:t>
                </a:r>
              </a:p>
            </p:txBody>
          </p:sp>
          <p:sp>
            <p:nvSpPr>
              <p:cNvPr id="29780" name="Rounded Rectangle 133">
                <a:extLst>
                  <a:ext uri="{FF2B5EF4-FFF2-40B4-BE49-F238E27FC236}">
                    <a16:creationId xmlns:a16="http://schemas.microsoft.com/office/drawing/2014/main" id="{185AD5F3-234C-4D18-B132-632066DFED15}"/>
                  </a:ext>
                </a:extLst>
              </p:cNvPr>
              <p:cNvSpPr>
                <a:spLocks noChangeArrowheads="1"/>
              </p:cNvSpPr>
              <p:nvPr/>
            </p:nvSpPr>
            <p:spPr bwMode="auto">
              <a:xfrm>
                <a:off x="2236" y="2175"/>
                <a:ext cx="438" cy="186"/>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Marts </a:t>
                </a:r>
              </a:p>
            </p:txBody>
          </p:sp>
          <p:sp>
            <p:nvSpPr>
              <p:cNvPr id="29781" name="Rounded Rectangle 133">
                <a:extLst>
                  <a:ext uri="{FF2B5EF4-FFF2-40B4-BE49-F238E27FC236}">
                    <a16:creationId xmlns:a16="http://schemas.microsoft.com/office/drawing/2014/main" id="{8B5A8CA9-E7F3-4E5D-9708-3A88AAE76C2F}"/>
                  </a:ext>
                </a:extLst>
              </p:cNvPr>
              <p:cNvSpPr>
                <a:spLocks noChangeArrowheads="1"/>
              </p:cNvSpPr>
              <p:nvPr/>
            </p:nvSpPr>
            <p:spPr bwMode="auto">
              <a:xfrm>
                <a:off x="2703" y="2390"/>
                <a:ext cx="438" cy="186"/>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Cubes </a:t>
                </a:r>
              </a:p>
            </p:txBody>
          </p:sp>
          <p:sp>
            <p:nvSpPr>
              <p:cNvPr id="29782" name="Rounded Rectangle 133">
                <a:extLst>
                  <a:ext uri="{FF2B5EF4-FFF2-40B4-BE49-F238E27FC236}">
                    <a16:creationId xmlns:a16="http://schemas.microsoft.com/office/drawing/2014/main" id="{F3065D59-80B5-47E5-9C7D-F3251CD7E796}"/>
                  </a:ext>
                </a:extLst>
              </p:cNvPr>
              <p:cNvSpPr>
                <a:spLocks noChangeArrowheads="1"/>
              </p:cNvSpPr>
              <p:nvPr/>
            </p:nvSpPr>
            <p:spPr bwMode="auto">
              <a:xfrm>
                <a:off x="2236" y="2390"/>
                <a:ext cx="438" cy="186"/>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ODS </a:t>
                </a:r>
              </a:p>
            </p:txBody>
          </p:sp>
          <p:sp>
            <p:nvSpPr>
              <p:cNvPr id="29783" name="Rounded Rectangle 133">
                <a:extLst>
                  <a:ext uri="{FF2B5EF4-FFF2-40B4-BE49-F238E27FC236}">
                    <a16:creationId xmlns:a16="http://schemas.microsoft.com/office/drawing/2014/main" id="{066B3D8F-7714-4E52-B052-67563EDEEEDD}"/>
                  </a:ext>
                </a:extLst>
              </p:cNvPr>
              <p:cNvSpPr>
                <a:spLocks noChangeArrowheads="1"/>
              </p:cNvSpPr>
              <p:nvPr/>
            </p:nvSpPr>
            <p:spPr bwMode="auto">
              <a:xfrm>
                <a:off x="2236" y="2605"/>
                <a:ext cx="438" cy="185"/>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Time Persistent</a:t>
                </a:r>
              </a:p>
            </p:txBody>
          </p:sp>
          <p:sp>
            <p:nvSpPr>
              <p:cNvPr id="29784" name="Rounded Rectangle 133">
                <a:extLst>
                  <a:ext uri="{FF2B5EF4-FFF2-40B4-BE49-F238E27FC236}">
                    <a16:creationId xmlns:a16="http://schemas.microsoft.com/office/drawing/2014/main" id="{F1584A7F-8B3B-44A9-B91C-18C69CA060BC}"/>
                  </a:ext>
                </a:extLst>
              </p:cNvPr>
              <p:cNvSpPr>
                <a:spLocks noChangeArrowheads="1"/>
              </p:cNvSpPr>
              <p:nvPr/>
            </p:nvSpPr>
            <p:spPr bwMode="auto">
              <a:xfrm>
                <a:off x="2703" y="2605"/>
                <a:ext cx="438" cy="185"/>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Sandbox</a:t>
                </a:r>
              </a:p>
            </p:txBody>
          </p:sp>
        </p:grpSp>
        <p:grpSp>
          <p:nvGrpSpPr>
            <p:cNvPr id="29768" name="Group 226">
              <a:extLst>
                <a:ext uri="{FF2B5EF4-FFF2-40B4-BE49-F238E27FC236}">
                  <a16:creationId xmlns:a16="http://schemas.microsoft.com/office/drawing/2014/main" id="{CD6BBC75-EFF9-4888-BDDA-C65CE8367150}"/>
                </a:ext>
              </a:extLst>
            </p:cNvPr>
            <p:cNvGrpSpPr>
              <a:grpSpLocks/>
            </p:cNvGrpSpPr>
            <p:nvPr/>
          </p:nvGrpSpPr>
          <p:grpSpPr bwMode="auto">
            <a:xfrm>
              <a:off x="2208" y="1296"/>
              <a:ext cx="1008" cy="480"/>
              <a:chOff x="2208" y="1296"/>
              <a:chExt cx="1008" cy="480"/>
            </a:xfrm>
          </p:grpSpPr>
          <p:sp>
            <p:nvSpPr>
              <p:cNvPr id="29769" name="Rounded Rectangle 115">
                <a:extLst>
                  <a:ext uri="{FF2B5EF4-FFF2-40B4-BE49-F238E27FC236}">
                    <a16:creationId xmlns:a16="http://schemas.microsoft.com/office/drawing/2014/main" id="{3D3FC310-E6E0-423B-A5C1-E9DE39BB4D5D}"/>
                  </a:ext>
                </a:extLst>
              </p:cNvPr>
              <p:cNvSpPr>
                <a:spLocks noChangeArrowheads="1"/>
              </p:cNvSpPr>
              <p:nvPr/>
            </p:nvSpPr>
            <p:spPr bwMode="auto">
              <a:xfrm>
                <a:off x="2208" y="1296"/>
                <a:ext cx="1008" cy="480"/>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9144"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Hadoop &amp; Exploration</a:t>
                </a:r>
              </a:p>
            </p:txBody>
          </p:sp>
          <p:grpSp>
            <p:nvGrpSpPr>
              <p:cNvPr id="29770" name="Group 228">
                <a:extLst>
                  <a:ext uri="{FF2B5EF4-FFF2-40B4-BE49-F238E27FC236}">
                    <a16:creationId xmlns:a16="http://schemas.microsoft.com/office/drawing/2014/main" id="{F5F8CF00-2771-43FC-B982-68B782ADFF73}"/>
                  </a:ext>
                </a:extLst>
              </p:cNvPr>
              <p:cNvGrpSpPr>
                <a:grpSpLocks/>
              </p:cNvGrpSpPr>
              <p:nvPr/>
            </p:nvGrpSpPr>
            <p:grpSpPr bwMode="auto">
              <a:xfrm>
                <a:off x="2729" y="1433"/>
                <a:ext cx="439" cy="315"/>
                <a:chOff x="2729" y="1989"/>
                <a:chExt cx="384" cy="315"/>
              </a:xfrm>
            </p:grpSpPr>
            <p:sp>
              <p:nvSpPr>
                <p:cNvPr id="29774" name="Rounded Rectangle 133">
                  <a:extLst>
                    <a:ext uri="{FF2B5EF4-FFF2-40B4-BE49-F238E27FC236}">
                      <a16:creationId xmlns:a16="http://schemas.microsoft.com/office/drawing/2014/main" id="{41F12734-BE9C-483A-B680-688DB7BFEA3A}"/>
                    </a:ext>
                  </a:extLst>
                </p:cNvPr>
                <p:cNvSpPr>
                  <a:spLocks noChangeArrowheads="1"/>
                </p:cNvSpPr>
                <p:nvPr/>
              </p:nvSpPr>
              <p:spPr bwMode="auto">
                <a:xfrm>
                  <a:off x="2729" y="1989"/>
                  <a:ext cx="384" cy="144"/>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Exploration </a:t>
                  </a:r>
                </a:p>
              </p:txBody>
            </p:sp>
            <p:sp>
              <p:nvSpPr>
                <p:cNvPr id="29775" name="Rounded Rectangle 133">
                  <a:extLst>
                    <a:ext uri="{FF2B5EF4-FFF2-40B4-BE49-F238E27FC236}">
                      <a16:creationId xmlns:a16="http://schemas.microsoft.com/office/drawing/2014/main" id="{A569EA99-E634-4A5F-9A39-9AD82B5A1210}"/>
                    </a:ext>
                  </a:extLst>
                </p:cNvPr>
                <p:cNvSpPr>
                  <a:spLocks noChangeArrowheads="1"/>
                </p:cNvSpPr>
                <p:nvPr/>
              </p:nvSpPr>
              <p:spPr bwMode="auto">
                <a:xfrm>
                  <a:off x="2729" y="2160"/>
                  <a:ext cx="384" cy="144"/>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Indexing </a:t>
                  </a:r>
                </a:p>
              </p:txBody>
            </p:sp>
          </p:grpSp>
          <p:grpSp>
            <p:nvGrpSpPr>
              <p:cNvPr id="29771" name="Group 231">
                <a:extLst>
                  <a:ext uri="{FF2B5EF4-FFF2-40B4-BE49-F238E27FC236}">
                    <a16:creationId xmlns:a16="http://schemas.microsoft.com/office/drawing/2014/main" id="{14A7BD99-1F85-44B0-810C-195D8DDF1B46}"/>
                  </a:ext>
                </a:extLst>
              </p:cNvPr>
              <p:cNvGrpSpPr>
                <a:grpSpLocks/>
              </p:cNvGrpSpPr>
              <p:nvPr/>
            </p:nvGrpSpPr>
            <p:grpSpPr bwMode="auto">
              <a:xfrm>
                <a:off x="2256" y="1440"/>
                <a:ext cx="439" cy="315"/>
                <a:chOff x="2729" y="1989"/>
                <a:chExt cx="384" cy="315"/>
              </a:xfrm>
            </p:grpSpPr>
            <p:sp>
              <p:nvSpPr>
                <p:cNvPr id="29772" name="Rounded Rectangle 133">
                  <a:extLst>
                    <a:ext uri="{FF2B5EF4-FFF2-40B4-BE49-F238E27FC236}">
                      <a16:creationId xmlns:a16="http://schemas.microsoft.com/office/drawing/2014/main" id="{60D844C2-1D7A-45DC-A67D-6D8363B4DFAF}"/>
                    </a:ext>
                  </a:extLst>
                </p:cNvPr>
                <p:cNvSpPr>
                  <a:spLocks noChangeArrowheads="1"/>
                </p:cNvSpPr>
                <p:nvPr/>
              </p:nvSpPr>
              <p:spPr bwMode="auto">
                <a:xfrm>
                  <a:off x="2729" y="1989"/>
                  <a:ext cx="384" cy="144"/>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Landing</a:t>
                  </a:r>
                </a:p>
              </p:txBody>
            </p:sp>
            <p:sp>
              <p:nvSpPr>
                <p:cNvPr id="29773" name="Rounded Rectangle 133">
                  <a:extLst>
                    <a:ext uri="{FF2B5EF4-FFF2-40B4-BE49-F238E27FC236}">
                      <a16:creationId xmlns:a16="http://schemas.microsoft.com/office/drawing/2014/main" id="{50734ED0-D83C-4F51-85C2-24AAAB3D0187}"/>
                    </a:ext>
                  </a:extLst>
                </p:cNvPr>
                <p:cNvSpPr>
                  <a:spLocks noChangeArrowheads="1"/>
                </p:cNvSpPr>
                <p:nvPr/>
              </p:nvSpPr>
              <p:spPr bwMode="auto">
                <a:xfrm>
                  <a:off x="2729" y="2160"/>
                  <a:ext cx="384" cy="144"/>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Archive </a:t>
                  </a:r>
                </a:p>
              </p:txBody>
            </p:sp>
          </p:grpSp>
        </p:grpSp>
      </p:grpSp>
      <p:sp>
        <p:nvSpPr>
          <p:cNvPr id="29725" name="AutoShape 2">
            <a:extLst>
              <a:ext uri="{FF2B5EF4-FFF2-40B4-BE49-F238E27FC236}">
                <a16:creationId xmlns:a16="http://schemas.microsoft.com/office/drawing/2014/main" id="{0AAFDDD8-7D71-4765-837E-05C78447325B}"/>
              </a:ext>
            </a:extLst>
          </p:cNvPr>
          <p:cNvSpPr>
            <a:spLocks noChangeArrowheads="1"/>
          </p:cNvSpPr>
          <p:nvPr/>
        </p:nvSpPr>
        <p:spPr bwMode="auto">
          <a:xfrm rot="5400000">
            <a:off x="3158333" y="2817020"/>
            <a:ext cx="280987" cy="434975"/>
          </a:xfrm>
          <a:prstGeom prst="upArrow">
            <a:avLst>
              <a:gd name="adj1" fmla="val 45056"/>
              <a:gd name="adj2" fmla="val 61914"/>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26" name="AutoShape 2">
            <a:extLst>
              <a:ext uri="{FF2B5EF4-FFF2-40B4-BE49-F238E27FC236}">
                <a16:creationId xmlns:a16="http://schemas.microsoft.com/office/drawing/2014/main" id="{CB76EF93-5583-4F6F-8E97-3A92A1323028}"/>
              </a:ext>
            </a:extLst>
          </p:cNvPr>
          <p:cNvSpPr>
            <a:spLocks noChangeArrowheads="1"/>
          </p:cNvSpPr>
          <p:nvPr/>
        </p:nvSpPr>
        <p:spPr bwMode="auto">
          <a:xfrm rot="5400000">
            <a:off x="3147219" y="910432"/>
            <a:ext cx="280988" cy="434975"/>
          </a:xfrm>
          <a:prstGeom prst="upArrow">
            <a:avLst>
              <a:gd name="adj1" fmla="val 45056"/>
              <a:gd name="adj2" fmla="val 61914"/>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27" name="AutoShape 2">
            <a:extLst>
              <a:ext uri="{FF2B5EF4-FFF2-40B4-BE49-F238E27FC236}">
                <a16:creationId xmlns:a16="http://schemas.microsoft.com/office/drawing/2014/main" id="{C848E713-3B7C-4C5E-9499-C05A880479A6}"/>
              </a:ext>
            </a:extLst>
          </p:cNvPr>
          <p:cNvSpPr>
            <a:spLocks noChangeArrowheads="1"/>
          </p:cNvSpPr>
          <p:nvPr/>
        </p:nvSpPr>
        <p:spPr bwMode="auto">
          <a:xfrm rot="5400000">
            <a:off x="3158333" y="4687095"/>
            <a:ext cx="280987" cy="434975"/>
          </a:xfrm>
          <a:prstGeom prst="upArrow">
            <a:avLst>
              <a:gd name="adj1" fmla="val 45056"/>
              <a:gd name="adj2" fmla="val 61914"/>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28" name="AutoShape 2">
            <a:extLst>
              <a:ext uri="{FF2B5EF4-FFF2-40B4-BE49-F238E27FC236}">
                <a16:creationId xmlns:a16="http://schemas.microsoft.com/office/drawing/2014/main" id="{0F1EB315-CF5F-4C7A-A0DE-F5CC2DB094C6}"/>
              </a:ext>
            </a:extLst>
          </p:cNvPr>
          <p:cNvSpPr>
            <a:spLocks noChangeArrowheads="1"/>
          </p:cNvSpPr>
          <p:nvPr/>
        </p:nvSpPr>
        <p:spPr bwMode="auto">
          <a:xfrm rot="5400000">
            <a:off x="4545807" y="2866232"/>
            <a:ext cx="280987" cy="381000"/>
          </a:xfrm>
          <a:prstGeom prst="upArrow">
            <a:avLst>
              <a:gd name="adj1" fmla="val 45056"/>
              <a:gd name="adj2" fmla="val 54231"/>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grpSp>
        <p:nvGrpSpPr>
          <p:cNvPr id="29729" name="Group 256">
            <a:extLst>
              <a:ext uri="{FF2B5EF4-FFF2-40B4-BE49-F238E27FC236}">
                <a16:creationId xmlns:a16="http://schemas.microsoft.com/office/drawing/2014/main" id="{9170AD40-AACB-46C0-A120-36AFE204E9BF}"/>
              </a:ext>
            </a:extLst>
          </p:cNvPr>
          <p:cNvGrpSpPr>
            <a:grpSpLocks/>
          </p:cNvGrpSpPr>
          <p:nvPr/>
        </p:nvGrpSpPr>
        <p:grpSpPr bwMode="auto">
          <a:xfrm>
            <a:off x="6761163" y="944563"/>
            <a:ext cx="381000" cy="4267200"/>
            <a:chOff x="3299" y="658"/>
            <a:chExt cx="240" cy="2719"/>
          </a:xfrm>
        </p:grpSpPr>
        <p:sp>
          <p:nvSpPr>
            <p:cNvPr id="29763" name="AutoShape 2">
              <a:extLst>
                <a:ext uri="{FF2B5EF4-FFF2-40B4-BE49-F238E27FC236}">
                  <a16:creationId xmlns:a16="http://schemas.microsoft.com/office/drawing/2014/main" id="{D918393A-B892-4ABB-A989-0CE98188381B}"/>
                </a:ext>
              </a:extLst>
            </p:cNvPr>
            <p:cNvSpPr>
              <a:spLocks noChangeArrowheads="1"/>
            </p:cNvSpPr>
            <p:nvPr/>
          </p:nvSpPr>
          <p:spPr bwMode="auto">
            <a:xfrm rot="5400000">
              <a:off x="3338" y="1731"/>
              <a:ext cx="161" cy="240"/>
            </a:xfrm>
            <a:prstGeom prst="upArrow">
              <a:avLst>
                <a:gd name="adj1" fmla="val 45056"/>
                <a:gd name="adj2" fmla="val 5962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64" name="AutoShape 2">
              <a:extLst>
                <a:ext uri="{FF2B5EF4-FFF2-40B4-BE49-F238E27FC236}">
                  <a16:creationId xmlns:a16="http://schemas.microsoft.com/office/drawing/2014/main" id="{D8E87FC3-6BFB-4762-AB0F-11AEE7CEBF88}"/>
                </a:ext>
              </a:extLst>
            </p:cNvPr>
            <p:cNvSpPr>
              <a:spLocks noChangeArrowheads="1"/>
            </p:cNvSpPr>
            <p:nvPr/>
          </p:nvSpPr>
          <p:spPr bwMode="auto">
            <a:xfrm rot="5400000">
              <a:off x="3338" y="3177"/>
              <a:ext cx="161" cy="240"/>
            </a:xfrm>
            <a:prstGeom prst="upArrow">
              <a:avLst>
                <a:gd name="adj1" fmla="val 45056"/>
                <a:gd name="adj2" fmla="val 5962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65" name="AutoShape 2">
              <a:extLst>
                <a:ext uri="{FF2B5EF4-FFF2-40B4-BE49-F238E27FC236}">
                  <a16:creationId xmlns:a16="http://schemas.microsoft.com/office/drawing/2014/main" id="{CE606CC9-3C9E-4BF7-9DA0-7434ACDA47CD}"/>
                </a:ext>
              </a:extLst>
            </p:cNvPr>
            <p:cNvSpPr>
              <a:spLocks noChangeArrowheads="1"/>
            </p:cNvSpPr>
            <p:nvPr/>
          </p:nvSpPr>
          <p:spPr bwMode="auto">
            <a:xfrm rot="5400000">
              <a:off x="3338" y="619"/>
              <a:ext cx="161" cy="240"/>
            </a:xfrm>
            <a:prstGeom prst="upArrow">
              <a:avLst>
                <a:gd name="adj1" fmla="val 45056"/>
                <a:gd name="adj2" fmla="val 5962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grpSp>
      <p:grpSp>
        <p:nvGrpSpPr>
          <p:cNvPr id="29730" name="Group 259">
            <a:extLst>
              <a:ext uri="{FF2B5EF4-FFF2-40B4-BE49-F238E27FC236}">
                <a16:creationId xmlns:a16="http://schemas.microsoft.com/office/drawing/2014/main" id="{62A740ED-34AF-4DF8-9729-2697AD96D778}"/>
              </a:ext>
            </a:extLst>
          </p:cNvPr>
          <p:cNvGrpSpPr>
            <a:grpSpLocks/>
          </p:cNvGrpSpPr>
          <p:nvPr/>
        </p:nvGrpSpPr>
        <p:grpSpPr bwMode="auto">
          <a:xfrm>
            <a:off x="3059114" y="2174875"/>
            <a:ext cx="1970087" cy="0"/>
            <a:chOff x="967" y="1447"/>
            <a:chExt cx="1241" cy="0"/>
          </a:xfrm>
        </p:grpSpPr>
        <p:sp>
          <p:nvSpPr>
            <p:cNvPr id="29761" name="Line 234">
              <a:extLst>
                <a:ext uri="{FF2B5EF4-FFF2-40B4-BE49-F238E27FC236}">
                  <a16:creationId xmlns:a16="http://schemas.microsoft.com/office/drawing/2014/main" id="{A923D7E1-F67B-4EA9-B203-AD5B8F8DEB1B}"/>
                </a:ext>
              </a:extLst>
            </p:cNvPr>
            <p:cNvSpPr>
              <a:spLocks noChangeShapeType="1"/>
            </p:cNvSpPr>
            <p:nvPr/>
          </p:nvSpPr>
          <p:spPr bwMode="auto">
            <a:xfrm>
              <a:off x="1831" y="1447"/>
              <a:ext cx="377" cy="0"/>
            </a:xfrm>
            <a:prstGeom prst="line">
              <a:avLst/>
            </a:prstGeom>
            <a:noFill/>
            <a:ln w="38100">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9762" name="Line 258">
              <a:extLst>
                <a:ext uri="{FF2B5EF4-FFF2-40B4-BE49-F238E27FC236}">
                  <a16:creationId xmlns:a16="http://schemas.microsoft.com/office/drawing/2014/main" id="{7325E3C9-7140-46A2-AF3C-880461E65043}"/>
                </a:ext>
              </a:extLst>
            </p:cNvPr>
            <p:cNvSpPr>
              <a:spLocks noChangeShapeType="1"/>
            </p:cNvSpPr>
            <p:nvPr/>
          </p:nvSpPr>
          <p:spPr bwMode="auto">
            <a:xfrm>
              <a:off x="967" y="1447"/>
              <a:ext cx="345" cy="0"/>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TW" altLang="en-US"/>
            </a:p>
          </p:txBody>
        </p:sp>
      </p:grpSp>
      <p:sp>
        <p:nvSpPr>
          <p:cNvPr id="29731" name="AutoShape 2">
            <a:extLst>
              <a:ext uri="{FF2B5EF4-FFF2-40B4-BE49-F238E27FC236}">
                <a16:creationId xmlns:a16="http://schemas.microsoft.com/office/drawing/2014/main" id="{EFBB91A4-CE8E-4CF6-8CF5-4F4DD16E2B13}"/>
              </a:ext>
            </a:extLst>
          </p:cNvPr>
          <p:cNvSpPr>
            <a:spLocks noChangeArrowheads="1"/>
          </p:cNvSpPr>
          <p:nvPr/>
        </p:nvSpPr>
        <p:spPr bwMode="auto">
          <a:xfrm rot="10800000">
            <a:off x="5410200" y="2649538"/>
            <a:ext cx="228600" cy="209550"/>
          </a:xfrm>
          <a:prstGeom prst="upArrow">
            <a:avLst>
              <a:gd name="adj1" fmla="val 50000"/>
              <a:gd name="adj2" fmla="val 2500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32" name="AutoShape 2">
            <a:extLst>
              <a:ext uri="{FF2B5EF4-FFF2-40B4-BE49-F238E27FC236}">
                <a16:creationId xmlns:a16="http://schemas.microsoft.com/office/drawing/2014/main" id="{09654FE8-5CD3-470C-86D8-CEF18BD9D37F}"/>
              </a:ext>
            </a:extLst>
          </p:cNvPr>
          <p:cNvSpPr>
            <a:spLocks noChangeArrowheads="1"/>
          </p:cNvSpPr>
          <p:nvPr/>
        </p:nvSpPr>
        <p:spPr bwMode="auto">
          <a:xfrm rot="21466932">
            <a:off x="5967413" y="2641600"/>
            <a:ext cx="228600" cy="209550"/>
          </a:xfrm>
          <a:prstGeom prst="upArrow">
            <a:avLst>
              <a:gd name="adj1" fmla="val 50000"/>
              <a:gd name="adj2" fmla="val 2500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grpSp>
        <p:nvGrpSpPr>
          <p:cNvPr id="29733" name="Group 309">
            <a:extLst>
              <a:ext uri="{FF2B5EF4-FFF2-40B4-BE49-F238E27FC236}">
                <a16:creationId xmlns:a16="http://schemas.microsoft.com/office/drawing/2014/main" id="{6A3EB825-36F9-4FD8-9C62-B402C3E795D2}"/>
              </a:ext>
            </a:extLst>
          </p:cNvPr>
          <p:cNvGrpSpPr>
            <a:grpSpLocks/>
          </p:cNvGrpSpPr>
          <p:nvPr/>
        </p:nvGrpSpPr>
        <p:grpSpPr bwMode="auto">
          <a:xfrm>
            <a:off x="3719513" y="1401763"/>
            <a:ext cx="577850" cy="196850"/>
            <a:chOff x="1383" y="905"/>
            <a:chExt cx="364" cy="179"/>
          </a:xfrm>
        </p:grpSpPr>
        <p:sp>
          <p:nvSpPr>
            <p:cNvPr id="29759" name="AutoShape 2">
              <a:extLst>
                <a:ext uri="{FF2B5EF4-FFF2-40B4-BE49-F238E27FC236}">
                  <a16:creationId xmlns:a16="http://schemas.microsoft.com/office/drawing/2014/main" id="{52ECCE4E-8848-406E-BA92-AFACB3334FA6}"/>
                </a:ext>
              </a:extLst>
            </p:cNvPr>
            <p:cNvSpPr>
              <a:spLocks noChangeArrowheads="1"/>
            </p:cNvSpPr>
            <p:nvPr/>
          </p:nvSpPr>
          <p:spPr bwMode="auto">
            <a:xfrm rot="10800000">
              <a:off x="1383" y="905"/>
              <a:ext cx="177" cy="178"/>
            </a:xfrm>
            <a:prstGeom prst="upArrow">
              <a:avLst>
                <a:gd name="adj1" fmla="val 50000"/>
                <a:gd name="adj2" fmla="val 25141"/>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60" name="AutoShape 2">
              <a:extLst>
                <a:ext uri="{FF2B5EF4-FFF2-40B4-BE49-F238E27FC236}">
                  <a16:creationId xmlns:a16="http://schemas.microsoft.com/office/drawing/2014/main" id="{7F2D3AE4-5282-470D-B731-DF1821A0D6B9}"/>
                </a:ext>
              </a:extLst>
            </p:cNvPr>
            <p:cNvSpPr>
              <a:spLocks noChangeArrowheads="1"/>
            </p:cNvSpPr>
            <p:nvPr/>
          </p:nvSpPr>
          <p:spPr bwMode="auto">
            <a:xfrm>
              <a:off x="1570" y="905"/>
              <a:ext cx="177" cy="179"/>
            </a:xfrm>
            <a:prstGeom prst="upArrow">
              <a:avLst>
                <a:gd name="adj1" fmla="val 50000"/>
                <a:gd name="adj2" fmla="val 25282"/>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grpSp>
      <p:grpSp>
        <p:nvGrpSpPr>
          <p:cNvPr id="29734" name="Group 273">
            <a:extLst>
              <a:ext uri="{FF2B5EF4-FFF2-40B4-BE49-F238E27FC236}">
                <a16:creationId xmlns:a16="http://schemas.microsoft.com/office/drawing/2014/main" id="{3C76F357-AB53-483C-97AD-9CEE3A5ADFFA}"/>
              </a:ext>
            </a:extLst>
          </p:cNvPr>
          <p:cNvGrpSpPr>
            <a:grpSpLocks/>
          </p:cNvGrpSpPr>
          <p:nvPr/>
        </p:nvGrpSpPr>
        <p:grpSpPr bwMode="auto">
          <a:xfrm>
            <a:off x="3722688" y="4427538"/>
            <a:ext cx="577850" cy="336550"/>
            <a:chOff x="1385" y="2913"/>
            <a:chExt cx="364" cy="179"/>
          </a:xfrm>
        </p:grpSpPr>
        <p:sp>
          <p:nvSpPr>
            <p:cNvPr id="29757" name="AutoShape 2">
              <a:extLst>
                <a:ext uri="{FF2B5EF4-FFF2-40B4-BE49-F238E27FC236}">
                  <a16:creationId xmlns:a16="http://schemas.microsoft.com/office/drawing/2014/main" id="{FEBE7739-F161-464C-BBE4-6BF7FD86C73B}"/>
                </a:ext>
              </a:extLst>
            </p:cNvPr>
            <p:cNvSpPr>
              <a:spLocks noChangeArrowheads="1"/>
            </p:cNvSpPr>
            <p:nvPr/>
          </p:nvSpPr>
          <p:spPr bwMode="auto">
            <a:xfrm rot="10800000">
              <a:off x="1385" y="2913"/>
              <a:ext cx="177" cy="178"/>
            </a:xfrm>
            <a:prstGeom prst="upArrow">
              <a:avLst>
                <a:gd name="adj1" fmla="val 50000"/>
                <a:gd name="adj2" fmla="val 25141"/>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58" name="AutoShape 2">
              <a:extLst>
                <a:ext uri="{FF2B5EF4-FFF2-40B4-BE49-F238E27FC236}">
                  <a16:creationId xmlns:a16="http://schemas.microsoft.com/office/drawing/2014/main" id="{F812B76D-9539-49A3-9782-1314821D50E8}"/>
                </a:ext>
              </a:extLst>
            </p:cNvPr>
            <p:cNvSpPr>
              <a:spLocks noChangeArrowheads="1"/>
            </p:cNvSpPr>
            <p:nvPr/>
          </p:nvSpPr>
          <p:spPr bwMode="auto">
            <a:xfrm>
              <a:off x="1572" y="2913"/>
              <a:ext cx="177" cy="179"/>
            </a:xfrm>
            <a:prstGeom prst="upArrow">
              <a:avLst>
                <a:gd name="adj1" fmla="val 50000"/>
                <a:gd name="adj2" fmla="val 25282"/>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grpSp>
      <p:grpSp>
        <p:nvGrpSpPr>
          <p:cNvPr id="29735" name="Group 274">
            <a:extLst>
              <a:ext uri="{FF2B5EF4-FFF2-40B4-BE49-F238E27FC236}">
                <a16:creationId xmlns:a16="http://schemas.microsoft.com/office/drawing/2014/main" id="{87B9C811-9DAF-45EE-A4FE-37202C869FEC}"/>
              </a:ext>
            </a:extLst>
          </p:cNvPr>
          <p:cNvGrpSpPr>
            <a:grpSpLocks/>
          </p:cNvGrpSpPr>
          <p:nvPr/>
        </p:nvGrpSpPr>
        <p:grpSpPr bwMode="auto">
          <a:xfrm>
            <a:off x="8305800" y="1173163"/>
            <a:ext cx="381000" cy="3835400"/>
            <a:chOff x="4272" y="816"/>
            <a:chExt cx="240" cy="2416"/>
          </a:xfrm>
        </p:grpSpPr>
        <p:sp>
          <p:nvSpPr>
            <p:cNvPr id="29753" name="AutoShape 2">
              <a:extLst>
                <a:ext uri="{FF2B5EF4-FFF2-40B4-BE49-F238E27FC236}">
                  <a16:creationId xmlns:a16="http://schemas.microsoft.com/office/drawing/2014/main" id="{25942838-34E2-4CD9-8298-DCB778EB5A2C}"/>
                </a:ext>
              </a:extLst>
            </p:cNvPr>
            <p:cNvSpPr>
              <a:spLocks noChangeArrowheads="1"/>
            </p:cNvSpPr>
            <p:nvPr/>
          </p:nvSpPr>
          <p:spPr bwMode="auto">
            <a:xfrm rot="5400000">
              <a:off x="4312" y="1668"/>
              <a:ext cx="159" cy="240"/>
            </a:xfrm>
            <a:prstGeom prst="upArrow">
              <a:avLst>
                <a:gd name="adj1" fmla="val 45056"/>
                <a:gd name="adj2" fmla="val 6037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54" name="AutoShape 2">
              <a:extLst>
                <a:ext uri="{FF2B5EF4-FFF2-40B4-BE49-F238E27FC236}">
                  <a16:creationId xmlns:a16="http://schemas.microsoft.com/office/drawing/2014/main" id="{9C5B71D4-61A0-4C9D-85F4-3B4DBE6069C5}"/>
                </a:ext>
              </a:extLst>
            </p:cNvPr>
            <p:cNvSpPr>
              <a:spLocks noChangeArrowheads="1"/>
            </p:cNvSpPr>
            <p:nvPr/>
          </p:nvSpPr>
          <p:spPr bwMode="auto">
            <a:xfrm rot="5400000">
              <a:off x="4312" y="3033"/>
              <a:ext cx="159" cy="240"/>
            </a:xfrm>
            <a:prstGeom prst="upArrow">
              <a:avLst>
                <a:gd name="adj1" fmla="val 45056"/>
                <a:gd name="adj2" fmla="val 6037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55" name="AutoShape 2">
              <a:extLst>
                <a:ext uri="{FF2B5EF4-FFF2-40B4-BE49-F238E27FC236}">
                  <a16:creationId xmlns:a16="http://schemas.microsoft.com/office/drawing/2014/main" id="{3B8EC848-9398-45DC-AE78-A2316DF5C03C}"/>
                </a:ext>
              </a:extLst>
            </p:cNvPr>
            <p:cNvSpPr>
              <a:spLocks noChangeArrowheads="1"/>
            </p:cNvSpPr>
            <p:nvPr/>
          </p:nvSpPr>
          <p:spPr bwMode="auto">
            <a:xfrm rot="5400000">
              <a:off x="4312" y="776"/>
              <a:ext cx="159" cy="240"/>
            </a:xfrm>
            <a:prstGeom prst="upArrow">
              <a:avLst>
                <a:gd name="adj1" fmla="val 45056"/>
                <a:gd name="adj2" fmla="val 6037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56" name="AutoShape 2">
              <a:extLst>
                <a:ext uri="{FF2B5EF4-FFF2-40B4-BE49-F238E27FC236}">
                  <a16:creationId xmlns:a16="http://schemas.microsoft.com/office/drawing/2014/main" id="{36BDBEFC-3195-4A2B-AEF7-414CD48B2A3E}"/>
                </a:ext>
              </a:extLst>
            </p:cNvPr>
            <p:cNvSpPr>
              <a:spLocks noChangeArrowheads="1"/>
            </p:cNvSpPr>
            <p:nvPr/>
          </p:nvSpPr>
          <p:spPr bwMode="auto">
            <a:xfrm rot="5400000">
              <a:off x="4312" y="2345"/>
              <a:ext cx="159" cy="240"/>
            </a:xfrm>
            <a:prstGeom prst="upArrow">
              <a:avLst>
                <a:gd name="adj1" fmla="val 45056"/>
                <a:gd name="adj2" fmla="val 60370"/>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grpSp>
      <p:grpSp>
        <p:nvGrpSpPr>
          <p:cNvPr id="29736" name="Group 315">
            <a:extLst>
              <a:ext uri="{FF2B5EF4-FFF2-40B4-BE49-F238E27FC236}">
                <a16:creationId xmlns:a16="http://schemas.microsoft.com/office/drawing/2014/main" id="{B1181469-0F93-4DEB-A161-33835B876C4D}"/>
              </a:ext>
            </a:extLst>
          </p:cNvPr>
          <p:cNvGrpSpPr>
            <a:grpSpLocks/>
          </p:cNvGrpSpPr>
          <p:nvPr/>
        </p:nvGrpSpPr>
        <p:grpSpPr bwMode="auto">
          <a:xfrm>
            <a:off x="3632200" y="881064"/>
            <a:ext cx="2895600" cy="484187"/>
            <a:chOff x="1328" y="632"/>
            <a:chExt cx="1824" cy="305"/>
          </a:xfrm>
        </p:grpSpPr>
        <p:sp>
          <p:nvSpPr>
            <p:cNvPr id="29748" name="Rounded Rectangle 115">
              <a:extLst>
                <a:ext uri="{FF2B5EF4-FFF2-40B4-BE49-F238E27FC236}">
                  <a16:creationId xmlns:a16="http://schemas.microsoft.com/office/drawing/2014/main" id="{15048B85-E694-4D4B-B893-425B13DF976A}"/>
                </a:ext>
              </a:extLst>
            </p:cNvPr>
            <p:cNvSpPr>
              <a:spLocks noChangeArrowheads="1"/>
            </p:cNvSpPr>
            <p:nvPr/>
          </p:nvSpPr>
          <p:spPr bwMode="auto">
            <a:xfrm>
              <a:off x="1328" y="632"/>
              <a:ext cx="1824" cy="305"/>
            </a:xfrm>
            <a:prstGeom prst="roundRect">
              <a:avLst>
                <a:gd name="adj" fmla="val 16667"/>
              </a:avLst>
            </a:pr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  Real-Time Analytical Processing</a:t>
              </a:r>
            </a:p>
          </p:txBody>
        </p:sp>
        <p:grpSp>
          <p:nvGrpSpPr>
            <p:cNvPr id="29749" name="Group 311">
              <a:extLst>
                <a:ext uri="{FF2B5EF4-FFF2-40B4-BE49-F238E27FC236}">
                  <a16:creationId xmlns:a16="http://schemas.microsoft.com/office/drawing/2014/main" id="{4B3AF231-8259-4361-9132-5A86E3EE969A}"/>
                </a:ext>
              </a:extLst>
            </p:cNvPr>
            <p:cNvGrpSpPr>
              <a:grpSpLocks/>
            </p:cNvGrpSpPr>
            <p:nvPr/>
          </p:nvGrpSpPr>
          <p:grpSpPr bwMode="auto">
            <a:xfrm>
              <a:off x="1384" y="752"/>
              <a:ext cx="1732" cy="152"/>
              <a:chOff x="2139" y="711"/>
              <a:chExt cx="1064" cy="192"/>
            </a:xfrm>
          </p:grpSpPr>
          <p:sp>
            <p:nvSpPr>
              <p:cNvPr id="29750" name="Rounded Rectangle 26">
                <a:extLst>
                  <a:ext uri="{FF2B5EF4-FFF2-40B4-BE49-F238E27FC236}">
                    <a16:creationId xmlns:a16="http://schemas.microsoft.com/office/drawing/2014/main" id="{20E06287-94EE-42C7-A3B7-5FEC0D38733D}"/>
                  </a:ext>
                </a:extLst>
              </p:cNvPr>
              <p:cNvSpPr>
                <a:spLocks noChangeArrowheads="1"/>
              </p:cNvSpPr>
              <p:nvPr/>
            </p:nvSpPr>
            <p:spPr bwMode="auto">
              <a:xfrm>
                <a:off x="2876" y="711"/>
                <a:ext cx="327"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Real-Time Insights </a:t>
                </a:r>
              </a:p>
            </p:txBody>
          </p:sp>
          <p:sp>
            <p:nvSpPr>
              <p:cNvPr id="29751" name="Rounded Rectangle 26">
                <a:extLst>
                  <a:ext uri="{FF2B5EF4-FFF2-40B4-BE49-F238E27FC236}">
                    <a16:creationId xmlns:a16="http://schemas.microsoft.com/office/drawing/2014/main" id="{B58B7BCA-B6D1-411E-BD2F-4ABE51924ED0}"/>
                  </a:ext>
                </a:extLst>
              </p:cNvPr>
              <p:cNvSpPr>
                <a:spLocks noChangeArrowheads="1"/>
              </p:cNvSpPr>
              <p:nvPr/>
            </p:nvSpPr>
            <p:spPr bwMode="auto">
              <a:xfrm>
                <a:off x="2507" y="711"/>
                <a:ext cx="347"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Predictive Analytics</a:t>
                </a:r>
              </a:p>
            </p:txBody>
          </p:sp>
          <p:sp>
            <p:nvSpPr>
              <p:cNvPr id="29752" name="Rounded Rectangle 26">
                <a:extLst>
                  <a:ext uri="{FF2B5EF4-FFF2-40B4-BE49-F238E27FC236}">
                    <a16:creationId xmlns:a16="http://schemas.microsoft.com/office/drawing/2014/main" id="{F6B2AE38-8AB0-40B8-A938-55763A72BB66}"/>
                  </a:ext>
                </a:extLst>
              </p:cNvPr>
              <p:cNvSpPr>
                <a:spLocks noChangeArrowheads="1"/>
              </p:cNvSpPr>
              <p:nvPr/>
            </p:nvSpPr>
            <p:spPr bwMode="auto">
              <a:xfrm>
                <a:off x="2139" y="711"/>
                <a:ext cx="347"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Integration</a:t>
                </a:r>
              </a:p>
            </p:txBody>
          </p:sp>
        </p:grpSp>
      </p:grpSp>
      <p:sp>
        <p:nvSpPr>
          <p:cNvPr id="29737" name="Rounded Rectangle 63">
            <a:extLst>
              <a:ext uri="{FF2B5EF4-FFF2-40B4-BE49-F238E27FC236}">
                <a16:creationId xmlns:a16="http://schemas.microsoft.com/office/drawing/2014/main" id="{0EC1BFA8-0DE1-4C7C-B4AF-4A18F57D5C66}"/>
              </a:ext>
            </a:extLst>
          </p:cNvPr>
          <p:cNvSpPr>
            <a:spLocks noChangeArrowheads="1"/>
          </p:cNvSpPr>
          <p:nvPr/>
        </p:nvSpPr>
        <p:spPr bwMode="auto">
          <a:xfrm>
            <a:off x="1712913" y="6192839"/>
            <a:ext cx="8724900" cy="255587"/>
          </a:xfrm>
          <a:prstGeom prst="roundRect">
            <a:avLst>
              <a:gd name="adj" fmla="val 16667"/>
            </a:avLst>
          </a:prstGeom>
          <a:solidFill>
            <a:srgbClr val="56B4F6"/>
          </a:soli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nchor="ct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r" eaLnBrk="1" hangingPunct="1">
              <a:lnSpc>
                <a:spcPct val="85000"/>
              </a:lnSpc>
              <a:spcBef>
                <a:spcPct val="0"/>
              </a:spcBef>
              <a:buFontTx/>
              <a:buNone/>
            </a:pPr>
            <a:r>
              <a:rPr lang="en-US" altLang="en-US" sz="1400">
                <a:solidFill>
                  <a:schemeClr val="bg1"/>
                </a:solidFill>
                <a:latin typeface="Calibri" panose="020F0502020204030204" pitchFamily="34" charset="0"/>
              </a:rPr>
              <a:t>Security &amp; Business Continuity Management</a:t>
            </a:r>
          </a:p>
        </p:txBody>
      </p:sp>
      <p:sp>
        <p:nvSpPr>
          <p:cNvPr id="29738" name="Rounded Rectangle 219">
            <a:extLst>
              <a:ext uri="{FF2B5EF4-FFF2-40B4-BE49-F238E27FC236}">
                <a16:creationId xmlns:a16="http://schemas.microsoft.com/office/drawing/2014/main" id="{D66DFA37-EA69-41DA-A473-24443ED06DA1}"/>
              </a:ext>
            </a:extLst>
          </p:cNvPr>
          <p:cNvSpPr>
            <a:spLocks noChangeArrowheads="1"/>
          </p:cNvSpPr>
          <p:nvPr/>
        </p:nvSpPr>
        <p:spPr bwMode="auto">
          <a:xfrm>
            <a:off x="1714500" y="5870575"/>
            <a:ext cx="8724900" cy="255588"/>
          </a:xfrm>
          <a:prstGeom prst="roundRect">
            <a:avLst>
              <a:gd name="adj" fmla="val 16667"/>
            </a:avLst>
          </a:prstGeom>
          <a:solidFill>
            <a:srgbClr val="56B4F6"/>
          </a:soli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nchor="ct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r" eaLnBrk="1" hangingPunct="1">
              <a:lnSpc>
                <a:spcPct val="85000"/>
              </a:lnSpc>
              <a:spcBef>
                <a:spcPct val="0"/>
              </a:spcBef>
              <a:buFontTx/>
              <a:buNone/>
            </a:pPr>
            <a:r>
              <a:rPr lang="en-US" altLang="en-US" sz="1400">
                <a:solidFill>
                  <a:schemeClr val="bg1"/>
                </a:solidFill>
                <a:latin typeface="Calibri" panose="020F0502020204030204" pitchFamily="34" charset="0"/>
              </a:rPr>
              <a:t>Event Detection and Action</a:t>
            </a:r>
          </a:p>
        </p:txBody>
      </p:sp>
      <p:sp>
        <p:nvSpPr>
          <p:cNvPr id="29739" name="Rounded Rectangle 63">
            <a:extLst>
              <a:ext uri="{FF2B5EF4-FFF2-40B4-BE49-F238E27FC236}">
                <a16:creationId xmlns:a16="http://schemas.microsoft.com/office/drawing/2014/main" id="{46903238-27C1-4502-B7D8-D8FD2730E379}"/>
              </a:ext>
            </a:extLst>
          </p:cNvPr>
          <p:cNvSpPr>
            <a:spLocks noChangeArrowheads="1"/>
          </p:cNvSpPr>
          <p:nvPr/>
        </p:nvSpPr>
        <p:spPr bwMode="auto">
          <a:xfrm>
            <a:off x="1714500" y="6515100"/>
            <a:ext cx="8724900" cy="255588"/>
          </a:xfrm>
          <a:prstGeom prst="roundRect">
            <a:avLst>
              <a:gd name="adj" fmla="val 16667"/>
            </a:avLst>
          </a:prstGeom>
          <a:solidFill>
            <a:srgbClr val="56B4F6"/>
          </a:soli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nchor="ct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r" eaLnBrk="1" hangingPunct="1">
              <a:lnSpc>
                <a:spcPct val="85000"/>
              </a:lnSpc>
              <a:spcBef>
                <a:spcPct val="0"/>
              </a:spcBef>
              <a:buFontTx/>
              <a:buNone/>
            </a:pPr>
            <a:r>
              <a:rPr lang="en-US" altLang="en-US" sz="1400">
                <a:solidFill>
                  <a:schemeClr val="bg1"/>
                </a:solidFill>
                <a:latin typeface="Calibri" panose="020F0502020204030204" pitchFamily="34" charset="0"/>
              </a:rPr>
              <a:t>Platforms</a:t>
            </a:r>
          </a:p>
        </p:txBody>
      </p:sp>
      <p:sp>
        <p:nvSpPr>
          <p:cNvPr id="29740" name="Rounded Rectangle 57">
            <a:extLst>
              <a:ext uri="{FF2B5EF4-FFF2-40B4-BE49-F238E27FC236}">
                <a16:creationId xmlns:a16="http://schemas.microsoft.com/office/drawing/2014/main" id="{85045E24-0F2C-41E0-A9A7-15391FAA079B}"/>
              </a:ext>
            </a:extLst>
          </p:cNvPr>
          <p:cNvSpPr>
            <a:spLocks noChangeArrowheads="1"/>
          </p:cNvSpPr>
          <p:nvPr/>
        </p:nvSpPr>
        <p:spPr bwMode="auto">
          <a:xfrm>
            <a:off x="1714500" y="5549900"/>
            <a:ext cx="8720138" cy="255588"/>
          </a:xfrm>
          <a:prstGeom prst="roundRect">
            <a:avLst>
              <a:gd name="adj" fmla="val 16667"/>
            </a:avLst>
          </a:prstGeom>
          <a:solidFill>
            <a:srgbClr val="56B4F6"/>
          </a:soli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nchor="ctr"/>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r" eaLnBrk="1" hangingPunct="1">
              <a:lnSpc>
                <a:spcPct val="85000"/>
              </a:lnSpc>
              <a:spcBef>
                <a:spcPct val="0"/>
              </a:spcBef>
              <a:buFontTx/>
              <a:buNone/>
            </a:pPr>
            <a:r>
              <a:rPr lang="en-US" altLang="en-US" sz="1400">
                <a:solidFill>
                  <a:schemeClr val="bg1"/>
                </a:solidFill>
                <a:latin typeface="Calibri" panose="020F0502020204030204" pitchFamily="34" charset="0"/>
              </a:rPr>
              <a:t>Governance</a:t>
            </a:r>
          </a:p>
        </p:txBody>
      </p:sp>
      <p:sp>
        <p:nvSpPr>
          <p:cNvPr id="29741" name="AutoShape 2">
            <a:extLst>
              <a:ext uri="{FF2B5EF4-FFF2-40B4-BE49-F238E27FC236}">
                <a16:creationId xmlns:a16="http://schemas.microsoft.com/office/drawing/2014/main" id="{EA606B9C-E86B-41CD-9F27-FA0C0B6F638C}"/>
              </a:ext>
            </a:extLst>
          </p:cNvPr>
          <p:cNvSpPr>
            <a:spLocks noChangeArrowheads="1"/>
          </p:cNvSpPr>
          <p:nvPr/>
        </p:nvSpPr>
        <p:spPr bwMode="auto">
          <a:xfrm rot="16200000">
            <a:off x="3136108" y="4995070"/>
            <a:ext cx="280987" cy="434975"/>
          </a:xfrm>
          <a:prstGeom prst="upArrow">
            <a:avLst>
              <a:gd name="adj1" fmla="val 45056"/>
              <a:gd name="adj2" fmla="val 61914"/>
            </a:avLst>
          </a:prstGeom>
          <a:solidFill>
            <a:srgbClr val="E4E7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29742" name="Rounded Rectangle 57">
            <a:extLst>
              <a:ext uri="{FF2B5EF4-FFF2-40B4-BE49-F238E27FC236}">
                <a16:creationId xmlns:a16="http://schemas.microsoft.com/office/drawing/2014/main" id="{BA6E81D2-7DC1-4AED-9E7E-41AE9F28C0A7}"/>
              </a:ext>
            </a:extLst>
          </p:cNvPr>
          <p:cNvSpPr>
            <a:spLocks noChangeArrowheads="1"/>
          </p:cNvSpPr>
          <p:nvPr/>
        </p:nvSpPr>
        <p:spPr bwMode="auto">
          <a:xfrm>
            <a:off x="1752600" y="5575300"/>
            <a:ext cx="2590800" cy="228600"/>
          </a:xfrm>
          <a:prstGeom prst="roundRect">
            <a:avLst>
              <a:gd name="adj" fmla="val 16667"/>
            </a:avLst>
          </a:prstGeom>
          <a:solidFill>
            <a:schemeClr val="bg1"/>
          </a:solidFill>
          <a:ln w="12700" algn="ctr">
            <a:solidFill>
              <a:srgbClr val="595959"/>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1000" b="0"/>
              <a:t>Corporate Governance</a:t>
            </a:r>
          </a:p>
        </p:txBody>
      </p:sp>
      <p:sp>
        <p:nvSpPr>
          <p:cNvPr id="29743" name="Rounded Rectangle 57">
            <a:extLst>
              <a:ext uri="{FF2B5EF4-FFF2-40B4-BE49-F238E27FC236}">
                <a16:creationId xmlns:a16="http://schemas.microsoft.com/office/drawing/2014/main" id="{A97DFFE3-B40A-47AC-9B30-1BA3162BEBBC}"/>
              </a:ext>
            </a:extLst>
          </p:cNvPr>
          <p:cNvSpPr>
            <a:spLocks noChangeArrowheads="1"/>
          </p:cNvSpPr>
          <p:nvPr/>
        </p:nvSpPr>
        <p:spPr bwMode="auto">
          <a:xfrm>
            <a:off x="4800600" y="5575300"/>
            <a:ext cx="2590800" cy="228600"/>
          </a:xfrm>
          <a:prstGeom prst="roundRect">
            <a:avLst>
              <a:gd name="adj" fmla="val 16667"/>
            </a:avLst>
          </a:prstGeom>
          <a:solidFill>
            <a:schemeClr val="bg1"/>
          </a:solidFill>
          <a:ln w="12700" algn="ctr">
            <a:solidFill>
              <a:srgbClr val="595959"/>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1000" b="0"/>
              <a:t>Information Governance</a:t>
            </a:r>
          </a:p>
        </p:txBody>
      </p:sp>
      <p:sp>
        <p:nvSpPr>
          <p:cNvPr id="29744" name="Rounded Rectangle 57">
            <a:extLst>
              <a:ext uri="{FF2B5EF4-FFF2-40B4-BE49-F238E27FC236}">
                <a16:creationId xmlns:a16="http://schemas.microsoft.com/office/drawing/2014/main" id="{D0E2C6BC-D1DC-4FB1-AAE8-0971BB6AC3D9}"/>
              </a:ext>
            </a:extLst>
          </p:cNvPr>
          <p:cNvSpPr>
            <a:spLocks noChangeArrowheads="1"/>
          </p:cNvSpPr>
          <p:nvPr/>
        </p:nvSpPr>
        <p:spPr bwMode="auto">
          <a:xfrm>
            <a:off x="1905001" y="6515100"/>
            <a:ext cx="1609725" cy="228600"/>
          </a:xfrm>
          <a:prstGeom prst="roundRect">
            <a:avLst>
              <a:gd name="adj" fmla="val 16667"/>
            </a:avLst>
          </a:prstGeom>
          <a:solidFill>
            <a:schemeClr val="bg1"/>
          </a:solidFill>
          <a:ln w="12700" algn="ctr">
            <a:solidFill>
              <a:srgbClr val="595959"/>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1000" b="0"/>
              <a:t>Private Clouds</a:t>
            </a:r>
          </a:p>
        </p:txBody>
      </p:sp>
      <p:sp>
        <p:nvSpPr>
          <p:cNvPr id="29745" name="Rounded Rectangle 57">
            <a:extLst>
              <a:ext uri="{FF2B5EF4-FFF2-40B4-BE49-F238E27FC236}">
                <a16:creationId xmlns:a16="http://schemas.microsoft.com/office/drawing/2014/main" id="{285CF6C0-8FF1-4DFE-B79D-A6D1B108A2AA}"/>
              </a:ext>
            </a:extLst>
          </p:cNvPr>
          <p:cNvSpPr>
            <a:spLocks noChangeArrowheads="1"/>
          </p:cNvSpPr>
          <p:nvPr/>
        </p:nvSpPr>
        <p:spPr bwMode="auto">
          <a:xfrm>
            <a:off x="3800476" y="6515100"/>
            <a:ext cx="1609725" cy="228600"/>
          </a:xfrm>
          <a:prstGeom prst="roundRect">
            <a:avLst>
              <a:gd name="adj" fmla="val 16667"/>
            </a:avLst>
          </a:prstGeom>
          <a:solidFill>
            <a:schemeClr val="bg1"/>
          </a:solidFill>
          <a:ln w="12700" algn="ctr">
            <a:solidFill>
              <a:srgbClr val="595959"/>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1000" b="0"/>
              <a:t>Public Clouds</a:t>
            </a:r>
          </a:p>
        </p:txBody>
      </p:sp>
      <p:sp>
        <p:nvSpPr>
          <p:cNvPr id="29746" name="Rounded Rectangle 57">
            <a:extLst>
              <a:ext uri="{FF2B5EF4-FFF2-40B4-BE49-F238E27FC236}">
                <a16:creationId xmlns:a16="http://schemas.microsoft.com/office/drawing/2014/main" id="{D328BAB9-8D4F-4EC1-A565-4A179D60EDE4}"/>
              </a:ext>
            </a:extLst>
          </p:cNvPr>
          <p:cNvSpPr>
            <a:spLocks noChangeArrowheads="1"/>
          </p:cNvSpPr>
          <p:nvPr/>
        </p:nvSpPr>
        <p:spPr bwMode="auto">
          <a:xfrm>
            <a:off x="5486401" y="6515100"/>
            <a:ext cx="1609725" cy="228600"/>
          </a:xfrm>
          <a:prstGeom prst="roundRect">
            <a:avLst>
              <a:gd name="adj" fmla="val 16667"/>
            </a:avLst>
          </a:prstGeom>
          <a:solidFill>
            <a:schemeClr val="bg1"/>
          </a:solidFill>
          <a:ln w="12700" algn="ctr">
            <a:solidFill>
              <a:srgbClr val="595959"/>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1000" b="0"/>
              <a:t>Appliances</a:t>
            </a:r>
          </a:p>
        </p:txBody>
      </p:sp>
      <p:sp>
        <p:nvSpPr>
          <p:cNvPr id="29747" name="Rounded Rectangle 57">
            <a:extLst>
              <a:ext uri="{FF2B5EF4-FFF2-40B4-BE49-F238E27FC236}">
                <a16:creationId xmlns:a16="http://schemas.microsoft.com/office/drawing/2014/main" id="{450FAF19-2706-4B66-A31A-12046EA682AE}"/>
              </a:ext>
            </a:extLst>
          </p:cNvPr>
          <p:cNvSpPr>
            <a:spLocks noChangeArrowheads="1"/>
          </p:cNvSpPr>
          <p:nvPr/>
        </p:nvSpPr>
        <p:spPr bwMode="auto">
          <a:xfrm>
            <a:off x="7381876" y="6515100"/>
            <a:ext cx="1609725" cy="228600"/>
          </a:xfrm>
          <a:prstGeom prst="roundRect">
            <a:avLst>
              <a:gd name="adj" fmla="val 16667"/>
            </a:avLst>
          </a:prstGeom>
          <a:solidFill>
            <a:schemeClr val="bg1"/>
          </a:solidFill>
          <a:ln w="12700" algn="ctr">
            <a:solidFill>
              <a:srgbClr val="595959"/>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1000" b="0"/>
              <a:t>Custom HW Solutions</a:t>
            </a:r>
          </a:p>
        </p:txBody>
      </p:sp>
    </p:spTree>
    <p:extLst>
      <p:ext uri="{BB962C8B-B14F-4D97-AF65-F5344CB8AC3E}">
        <p14:creationId xmlns:p14="http://schemas.microsoft.com/office/powerpoint/2010/main" val="239432576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圖片 22">
            <a:extLst>
              <a:ext uri="{FF2B5EF4-FFF2-40B4-BE49-F238E27FC236}">
                <a16:creationId xmlns:a16="http://schemas.microsoft.com/office/drawing/2014/main" id="{D149FD4B-EF7F-2560-A3DC-ED5B90A1A5C8}"/>
              </a:ext>
            </a:extLst>
          </p:cNvPr>
          <p:cNvPicPr>
            <a:picLocks noChangeAspect="1"/>
          </p:cNvPicPr>
          <p:nvPr/>
        </p:nvPicPr>
        <p:blipFill>
          <a:blip r:embed="rId2"/>
          <a:stretch>
            <a:fillRect/>
          </a:stretch>
        </p:blipFill>
        <p:spPr>
          <a:xfrm>
            <a:off x="7464152" y="2701163"/>
            <a:ext cx="2248836" cy="704057"/>
          </a:xfrm>
          <a:prstGeom prst="rect">
            <a:avLst/>
          </a:prstGeom>
        </p:spPr>
      </p:pic>
      <p:pic>
        <p:nvPicPr>
          <p:cNvPr id="30" name="圖片 29">
            <a:extLst>
              <a:ext uri="{FF2B5EF4-FFF2-40B4-BE49-F238E27FC236}">
                <a16:creationId xmlns:a16="http://schemas.microsoft.com/office/drawing/2014/main" id="{6EB2B83E-00BF-11CC-163A-39922E561286}"/>
              </a:ext>
            </a:extLst>
          </p:cNvPr>
          <p:cNvPicPr>
            <a:picLocks noChangeAspect="1"/>
          </p:cNvPicPr>
          <p:nvPr/>
        </p:nvPicPr>
        <p:blipFill>
          <a:blip r:embed="rId3"/>
          <a:stretch>
            <a:fillRect/>
          </a:stretch>
        </p:blipFill>
        <p:spPr>
          <a:xfrm>
            <a:off x="2986211" y="879898"/>
            <a:ext cx="1012817" cy="500632"/>
          </a:xfrm>
          <a:prstGeom prst="rect">
            <a:avLst/>
          </a:prstGeom>
          <a:noFill/>
          <a:ln>
            <a:solidFill>
              <a:schemeClr val="tx1"/>
            </a:solidFill>
          </a:ln>
        </p:spPr>
      </p:pic>
      <p:sp>
        <p:nvSpPr>
          <p:cNvPr id="2" name="標題 1">
            <a:extLst>
              <a:ext uri="{FF2B5EF4-FFF2-40B4-BE49-F238E27FC236}">
                <a16:creationId xmlns:a16="http://schemas.microsoft.com/office/drawing/2014/main" id="{87F1E01F-3EC8-FCEE-F835-B467469F8B8D}"/>
              </a:ext>
            </a:extLst>
          </p:cNvPr>
          <p:cNvSpPr>
            <a:spLocks noGrp="1"/>
          </p:cNvSpPr>
          <p:nvPr>
            <p:ph type="title"/>
          </p:nvPr>
        </p:nvSpPr>
        <p:spPr/>
        <p:txBody>
          <a:bodyPr/>
          <a:lstStyle/>
          <a:p>
            <a:r>
              <a:rPr lang="en-US" altLang="zh-TW"/>
              <a:t>MFG</a:t>
            </a:r>
            <a:r>
              <a:rPr lang="zh-TW" altLang="en-US"/>
              <a:t>數據中台</a:t>
            </a:r>
          </a:p>
        </p:txBody>
      </p:sp>
      <p:pic>
        <p:nvPicPr>
          <p:cNvPr id="15" name="圖片 14">
            <a:extLst>
              <a:ext uri="{FF2B5EF4-FFF2-40B4-BE49-F238E27FC236}">
                <a16:creationId xmlns:a16="http://schemas.microsoft.com/office/drawing/2014/main" id="{781404FC-CF94-AC83-443A-AB4E498BCF58}"/>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2962125" y="5467387"/>
            <a:ext cx="650814" cy="392421"/>
          </a:xfrm>
          <a:prstGeom prst="rect">
            <a:avLst/>
          </a:prstGeom>
        </p:spPr>
      </p:pic>
      <p:pic>
        <p:nvPicPr>
          <p:cNvPr id="21" name="圖片 20">
            <a:extLst>
              <a:ext uri="{FF2B5EF4-FFF2-40B4-BE49-F238E27FC236}">
                <a16:creationId xmlns:a16="http://schemas.microsoft.com/office/drawing/2014/main" id="{E9BF85FF-0F82-2DE2-E497-44C8BCB24DA9}"/>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2498328" y="5431920"/>
            <a:ext cx="650814" cy="392421"/>
          </a:xfrm>
          <a:prstGeom prst="rect">
            <a:avLst/>
          </a:prstGeom>
        </p:spPr>
      </p:pic>
      <p:pic>
        <p:nvPicPr>
          <p:cNvPr id="20" name="圖片 19">
            <a:extLst>
              <a:ext uri="{FF2B5EF4-FFF2-40B4-BE49-F238E27FC236}">
                <a16:creationId xmlns:a16="http://schemas.microsoft.com/office/drawing/2014/main" id="{8EFF45BC-2805-8733-F00B-80C75F0928C4}"/>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1735475" y="5274405"/>
            <a:ext cx="449580" cy="577430"/>
          </a:xfrm>
          <a:prstGeom prst="rect">
            <a:avLst/>
          </a:prstGeom>
        </p:spPr>
      </p:pic>
      <p:pic>
        <p:nvPicPr>
          <p:cNvPr id="19" name="圖片 18">
            <a:extLst>
              <a:ext uri="{FF2B5EF4-FFF2-40B4-BE49-F238E27FC236}">
                <a16:creationId xmlns:a16="http://schemas.microsoft.com/office/drawing/2014/main" id="{0C9D14A4-2435-2A7B-CD84-1080A591FD26}"/>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1279407" y="5268925"/>
            <a:ext cx="449580" cy="577430"/>
          </a:xfrm>
          <a:prstGeom prst="rect">
            <a:avLst/>
          </a:prstGeom>
        </p:spPr>
      </p:pic>
      <p:pic>
        <p:nvPicPr>
          <p:cNvPr id="18" name="圖片 17">
            <a:extLst>
              <a:ext uri="{FF2B5EF4-FFF2-40B4-BE49-F238E27FC236}">
                <a16:creationId xmlns:a16="http://schemas.microsoft.com/office/drawing/2014/main" id="{799EE09D-D9A1-D8E9-E353-FE51BD06CCDA}"/>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800575" y="5252241"/>
            <a:ext cx="449580" cy="577430"/>
          </a:xfrm>
          <a:prstGeom prst="rect">
            <a:avLst/>
          </a:prstGeom>
        </p:spPr>
      </p:pic>
      <p:pic>
        <p:nvPicPr>
          <p:cNvPr id="16" name="圖片 15">
            <a:extLst>
              <a:ext uri="{FF2B5EF4-FFF2-40B4-BE49-F238E27FC236}">
                <a16:creationId xmlns:a16="http://schemas.microsoft.com/office/drawing/2014/main" id="{44BBF98E-B75A-61A8-192A-0C3461D587B5}"/>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397829" y="5265884"/>
            <a:ext cx="449580" cy="577430"/>
          </a:xfrm>
          <a:prstGeom prst="rect">
            <a:avLst/>
          </a:prstGeom>
        </p:spPr>
      </p:pic>
      <p:pic>
        <p:nvPicPr>
          <p:cNvPr id="10" name="圖片 9">
            <a:extLst>
              <a:ext uri="{FF2B5EF4-FFF2-40B4-BE49-F238E27FC236}">
                <a16:creationId xmlns:a16="http://schemas.microsoft.com/office/drawing/2014/main" id="{18787586-8415-9FB9-BB9E-A6F262CF6880}"/>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1917730" y="5666832"/>
            <a:ext cx="449580" cy="577430"/>
          </a:xfrm>
          <a:prstGeom prst="rect">
            <a:avLst/>
          </a:prstGeom>
        </p:spPr>
      </p:pic>
      <p:pic>
        <p:nvPicPr>
          <p:cNvPr id="5" name="圖片 4">
            <a:extLst>
              <a:ext uri="{FF2B5EF4-FFF2-40B4-BE49-F238E27FC236}">
                <a16:creationId xmlns:a16="http://schemas.microsoft.com/office/drawing/2014/main" id="{255A3D8F-9C88-9750-7006-8D8EFBB113B5}"/>
              </a:ext>
            </a:extLst>
          </p:cNvPr>
          <p:cNvPicPr>
            <a:picLocks noChangeAspect="1"/>
          </p:cNvPicPr>
          <p:nvPr/>
        </p:nvPicPr>
        <p:blipFill rotWithShape="1">
          <a:blip r:embed="rId6">
            <a:clrChange>
              <a:clrFrom>
                <a:srgbClr val="FFFFFF"/>
              </a:clrFrom>
              <a:clrTo>
                <a:srgbClr val="FFFFFF">
                  <a:alpha val="0"/>
                </a:srgbClr>
              </a:clrTo>
            </a:clrChange>
          </a:blip>
          <a:srcRect t="3729" r="13838"/>
          <a:stretch/>
        </p:blipFill>
        <p:spPr>
          <a:xfrm>
            <a:off x="4598559" y="5385091"/>
            <a:ext cx="617029" cy="640181"/>
          </a:xfrm>
          <a:prstGeom prst="rect">
            <a:avLst/>
          </a:prstGeom>
        </p:spPr>
      </p:pic>
      <p:pic>
        <p:nvPicPr>
          <p:cNvPr id="6" name="圖片 5">
            <a:extLst>
              <a:ext uri="{FF2B5EF4-FFF2-40B4-BE49-F238E27FC236}">
                <a16:creationId xmlns:a16="http://schemas.microsoft.com/office/drawing/2014/main" id="{5CF25B3A-433C-520B-7D7E-37B5F1ED95E3}"/>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2314794" y="5675779"/>
            <a:ext cx="650814" cy="392421"/>
          </a:xfrm>
          <a:prstGeom prst="rect">
            <a:avLst/>
          </a:prstGeom>
        </p:spPr>
      </p:pic>
      <p:pic>
        <p:nvPicPr>
          <p:cNvPr id="7" name="圖片 6">
            <a:extLst>
              <a:ext uri="{FF2B5EF4-FFF2-40B4-BE49-F238E27FC236}">
                <a16:creationId xmlns:a16="http://schemas.microsoft.com/office/drawing/2014/main" id="{FF051646-3743-D922-2477-A464B70FD174}"/>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1467203" y="5654681"/>
            <a:ext cx="449580" cy="577430"/>
          </a:xfrm>
          <a:prstGeom prst="rect">
            <a:avLst/>
          </a:prstGeom>
        </p:spPr>
      </p:pic>
      <p:pic>
        <p:nvPicPr>
          <p:cNvPr id="8" name="圖片 7">
            <a:extLst>
              <a:ext uri="{FF2B5EF4-FFF2-40B4-BE49-F238E27FC236}">
                <a16:creationId xmlns:a16="http://schemas.microsoft.com/office/drawing/2014/main" id="{5C2FA4A6-BCA1-8DCE-2E79-E20C3AC06DCA}"/>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1042228" y="5650857"/>
            <a:ext cx="449580" cy="577430"/>
          </a:xfrm>
          <a:prstGeom prst="rect">
            <a:avLst/>
          </a:prstGeom>
        </p:spPr>
      </p:pic>
      <p:pic>
        <p:nvPicPr>
          <p:cNvPr id="9" name="圖片 8">
            <a:extLst>
              <a:ext uri="{FF2B5EF4-FFF2-40B4-BE49-F238E27FC236}">
                <a16:creationId xmlns:a16="http://schemas.microsoft.com/office/drawing/2014/main" id="{C0107AFC-EABB-0FA7-F9AF-D04B5470473D}"/>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3078411" y="5777947"/>
            <a:ext cx="650814" cy="392421"/>
          </a:xfrm>
          <a:prstGeom prst="rect">
            <a:avLst/>
          </a:prstGeom>
        </p:spPr>
      </p:pic>
      <p:pic>
        <p:nvPicPr>
          <p:cNvPr id="11" name="圖片 10">
            <a:extLst>
              <a:ext uri="{FF2B5EF4-FFF2-40B4-BE49-F238E27FC236}">
                <a16:creationId xmlns:a16="http://schemas.microsoft.com/office/drawing/2014/main" id="{9B1B873D-5F59-9187-8802-475A9791A122}"/>
              </a:ext>
            </a:extLst>
          </p:cNvPr>
          <p:cNvPicPr>
            <a:picLocks noChangeAspect="1"/>
          </p:cNvPicPr>
          <p:nvPr/>
        </p:nvPicPr>
        <p:blipFill rotWithShape="1">
          <a:blip r:embed="rId6">
            <a:clrChange>
              <a:clrFrom>
                <a:srgbClr val="FFFFFF"/>
              </a:clrFrom>
              <a:clrTo>
                <a:srgbClr val="FFFFFF">
                  <a:alpha val="0"/>
                </a:srgbClr>
              </a:clrTo>
            </a:clrChange>
          </a:blip>
          <a:srcRect t="3729" r="13838"/>
          <a:stretch/>
        </p:blipFill>
        <p:spPr>
          <a:xfrm>
            <a:off x="4294996" y="5701208"/>
            <a:ext cx="617029" cy="640181"/>
          </a:xfrm>
          <a:prstGeom prst="rect">
            <a:avLst/>
          </a:prstGeom>
        </p:spPr>
      </p:pic>
      <p:pic>
        <p:nvPicPr>
          <p:cNvPr id="12" name="圖片 11">
            <a:extLst>
              <a:ext uri="{FF2B5EF4-FFF2-40B4-BE49-F238E27FC236}">
                <a16:creationId xmlns:a16="http://schemas.microsoft.com/office/drawing/2014/main" id="{A7C72C3B-652D-EF39-4789-EB09B5A27BD8}"/>
              </a:ext>
            </a:extLst>
          </p:cNvPr>
          <p:cNvPicPr>
            <a:picLocks noChangeAspect="1"/>
          </p:cNvPicPr>
          <p:nvPr/>
        </p:nvPicPr>
        <p:blipFill rotWithShape="1">
          <a:blip r:embed="rId6">
            <a:clrChange>
              <a:clrFrom>
                <a:srgbClr val="FFFFFF"/>
              </a:clrFrom>
              <a:clrTo>
                <a:srgbClr val="FFFFFF">
                  <a:alpha val="0"/>
                </a:srgbClr>
              </a:clrTo>
            </a:clrChange>
          </a:blip>
          <a:srcRect t="3729" r="13838"/>
          <a:stretch/>
        </p:blipFill>
        <p:spPr>
          <a:xfrm>
            <a:off x="4013114" y="5426219"/>
            <a:ext cx="617029" cy="640181"/>
          </a:xfrm>
          <a:prstGeom prst="rect">
            <a:avLst/>
          </a:prstGeom>
        </p:spPr>
      </p:pic>
      <p:pic>
        <p:nvPicPr>
          <p:cNvPr id="13" name="圖片 12">
            <a:extLst>
              <a:ext uri="{FF2B5EF4-FFF2-40B4-BE49-F238E27FC236}">
                <a16:creationId xmlns:a16="http://schemas.microsoft.com/office/drawing/2014/main" id="{4572BDF2-34B2-DCB4-D379-9EC244DA783B}"/>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2612111" y="5819660"/>
            <a:ext cx="650814" cy="392421"/>
          </a:xfrm>
          <a:prstGeom prst="rect">
            <a:avLst/>
          </a:prstGeom>
        </p:spPr>
      </p:pic>
      <p:pic>
        <p:nvPicPr>
          <p:cNvPr id="14" name="圖片 13">
            <a:extLst>
              <a:ext uri="{FF2B5EF4-FFF2-40B4-BE49-F238E27FC236}">
                <a16:creationId xmlns:a16="http://schemas.microsoft.com/office/drawing/2014/main" id="{2CC2BB58-0C27-A865-599C-516D11A35F5E}"/>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3450474" y="5779453"/>
            <a:ext cx="650814" cy="392421"/>
          </a:xfrm>
          <a:prstGeom prst="rect">
            <a:avLst/>
          </a:prstGeom>
        </p:spPr>
      </p:pic>
      <p:pic>
        <p:nvPicPr>
          <p:cNvPr id="17" name="圖片 16">
            <a:extLst>
              <a:ext uri="{FF2B5EF4-FFF2-40B4-BE49-F238E27FC236}">
                <a16:creationId xmlns:a16="http://schemas.microsoft.com/office/drawing/2014/main" id="{C19A35EC-A8F2-30E3-FC7A-BEC1D503BD0E}"/>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563482" y="5647032"/>
            <a:ext cx="449580" cy="577430"/>
          </a:xfrm>
          <a:prstGeom prst="rect">
            <a:avLst/>
          </a:prstGeom>
        </p:spPr>
      </p:pic>
      <p:pic>
        <p:nvPicPr>
          <p:cNvPr id="22" name="圖片 21">
            <a:extLst>
              <a:ext uri="{FF2B5EF4-FFF2-40B4-BE49-F238E27FC236}">
                <a16:creationId xmlns:a16="http://schemas.microsoft.com/office/drawing/2014/main" id="{498BD34D-CD7B-C7C9-D960-81071A6FBC20}"/>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3417861" y="5461315"/>
            <a:ext cx="650814" cy="392421"/>
          </a:xfrm>
          <a:prstGeom prst="rect">
            <a:avLst/>
          </a:prstGeom>
        </p:spPr>
      </p:pic>
      <p:pic>
        <p:nvPicPr>
          <p:cNvPr id="24" name="圖片 23">
            <a:extLst>
              <a:ext uri="{FF2B5EF4-FFF2-40B4-BE49-F238E27FC236}">
                <a16:creationId xmlns:a16="http://schemas.microsoft.com/office/drawing/2014/main" id="{045A7D67-AFAE-33FA-8A9E-F06E02BF4539}"/>
              </a:ext>
            </a:extLst>
          </p:cNvPr>
          <p:cNvPicPr>
            <a:picLocks noChangeAspect="1"/>
          </p:cNvPicPr>
          <p:nvPr/>
        </p:nvPicPr>
        <p:blipFill rotWithShape="1">
          <a:blip r:embed="rId6">
            <a:clrChange>
              <a:clrFrom>
                <a:srgbClr val="FFFFFF"/>
              </a:clrFrom>
              <a:clrTo>
                <a:srgbClr val="FFFFFF">
                  <a:alpha val="0"/>
                </a:srgbClr>
              </a:clrTo>
            </a:clrChange>
          </a:blip>
          <a:srcRect t="3729" r="13838"/>
          <a:stretch/>
        </p:blipFill>
        <p:spPr>
          <a:xfrm>
            <a:off x="4877496" y="5746309"/>
            <a:ext cx="617029" cy="640181"/>
          </a:xfrm>
          <a:prstGeom prst="rect">
            <a:avLst/>
          </a:prstGeom>
        </p:spPr>
      </p:pic>
      <p:pic>
        <p:nvPicPr>
          <p:cNvPr id="26" name="圖片 25">
            <a:extLst>
              <a:ext uri="{FF2B5EF4-FFF2-40B4-BE49-F238E27FC236}">
                <a16:creationId xmlns:a16="http://schemas.microsoft.com/office/drawing/2014/main" id="{A1BF37E7-4B21-0443-0C98-62E2A452FEFE}"/>
              </a:ext>
            </a:extLst>
          </p:cNvPr>
          <p:cNvPicPr>
            <a:picLocks noChangeAspect="1"/>
          </p:cNvPicPr>
          <p:nvPr/>
        </p:nvPicPr>
        <p:blipFill rotWithShape="1">
          <a:blip r:embed="rId7">
            <a:duotone>
              <a:schemeClr val="accent4">
                <a:shade val="45000"/>
                <a:satMod val="135000"/>
              </a:schemeClr>
              <a:prstClr val="white"/>
            </a:duotone>
          </a:blip>
          <a:srcRect t="16706" b="15158"/>
          <a:stretch/>
        </p:blipFill>
        <p:spPr>
          <a:xfrm>
            <a:off x="716306" y="879898"/>
            <a:ext cx="1253997" cy="503896"/>
          </a:xfrm>
          <a:prstGeom prst="rect">
            <a:avLst/>
          </a:prstGeom>
          <a:ln>
            <a:solidFill>
              <a:schemeClr val="tx1"/>
            </a:solidFill>
          </a:ln>
        </p:spPr>
      </p:pic>
      <p:sp>
        <p:nvSpPr>
          <p:cNvPr id="27" name="文字方塊 26">
            <a:extLst>
              <a:ext uri="{FF2B5EF4-FFF2-40B4-BE49-F238E27FC236}">
                <a16:creationId xmlns:a16="http://schemas.microsoft.com/office/drawing/2014/main" id="{91247946-834E-0404-70BF-F94D8AD847D0}"/>
              </a:ext>
            </a:extLst>
          </p:cNvPr>
          <p:cNvSpPr txBox="1"/>
          <p:nvPr/>
        </p:nvSpPr>
        <p:spPr>
          <a:xfrm>
            <a:off x="798842" y="1083475"/>
            <a:ext cx="1141659" cy="307777"/>
          </a:xfrm>
          <a:prstGeom prst="rect">
            <a:avLst/>
          </a:prstGeom>
          <a:noFill/>
        </p:spPr>
        <p:txBody>
          <a:bodyPr wrap="none" rtlCol="0">
            <a:spAutoFit/>
          </a:bodyPr>
          <a:lstStyle/>
          <a:p>
            <a:r>
              <a:rPr lang="en-US" altLang="zh-TW" sz="1400" b="1">
                <a:solidFill>
                  <a:schemeClr val="bg1"/>
                </a:solidFill>
                <a:effectLst>
                  <a:glow rad="203200">
                    <a:schemeClr val="tx1">
                      <a:lumMod val="95000"/>
                      <a:lumOff val="5000"/>
                      <a:alpha val="75000"/>
                    </a:schemeClr>
                  </a:glow>
                </a:effectLst>
              </a:rPr>
              <a:t>AI Platform</a:t>
            </a:r>
            <a:endParaRPr lang="zh-TW" altLang="en-US" sz="1400" b="1">
              <a:solidFill>
                <a:schemeClr val="bg1"/>
              </a:solidFill>
              <a:effectLst>
                <a:glow rad="203200">
                  <a:schemeClr val="tx1">
                    <a:lumMod val="95000"/>
                    <a:lumOff val="5000"/>
                    <a:alpha val="75000"/>
                  </a:schemeClr>
                </a:glow>
              </a:effectLst>
            </a:endParaRPr>
          </a:p>
        </p:txBody>
      </p:sp>
      <p:pic>
        <p:nvPicPr>
          <p:cNvPr id="1028" name="Picture 4" descr="當Excel不能勝任財務分析的需求，需要使用BI報表的解決方案| 帆軟軟體">
            <a:extLst>
              <a:ext uri="{FF2B5EF4-FFF2-40B4-BE49-F238E27FC236}">
                <a16:creationId xmlns:a16="http://schemas.microsoft.com/office/drawing/2014/main" id="{B9A3E1D3-96DE-27E6-F273-DB7771B6EC0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938" t="25927" r="11253" b="2975"/>
          <a:stretch/>
        </p:blipFill>
        <p:spPr bwMode="auto">
          <a:xfrm>
            <a:off x="2026255" y="879898"/>
            <a:ext cx="921198" cy="49768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9" name="文字方塊 28">
            <a:extLst>
              <a:ext uri="{FF2B5EF4-FFF2-40B4-BE49-F238E27FC236}">
                <a16:creationId xmlns:a16="http://schemas.microsoft.com/office/drawing/2014/main" id="{90C7609E-7148-5885-3213-251174A99A9D}"/>
              </a:ext>
            </a:extLst>
          </p:cNvPr>
          <p:cNvSpPr txBox="1"/>
          <p:nvPr/>
        </p:nvSpPr>
        <p:spPr>
          <a:xfrm>
            <a:off x="2189177" y="1090849"/>
            <a:ext cx="543739" cy="307777"/>
          </a:xfrm>
          <a:prstGeom prst="rect">
            <a:avLst/>
          </a:prstGeom>
          <a:noFill/>
        </p:spPr>
        <p:txBody>
          <a:bodyPr wrap="none" rtlCol="0">
            <a:spAutoFit/>
          </a:bodyPr>
          <a:lstStyle/>
          <a:p>
            <a:r>
              <a:rPr lang="zh-TW" altLang="en-US" sz="1400" b="1">
                <a:solidFill>
                  <a:schemeClr val="bg1"/>
                </a:solidFill>
                <a:effectLst>
                  <a:glow rad="203200">
                    <a:schemeClr val="tx1">
                      <a:lumMod val="95000"/>
                      <a:lumOff val="5000"/>
                      <a:alpha val="75000"/>
                    </a:schemeClr>
                  </a:glow>
                </a:effectLst>
                <a:latin typeface="+mj-lt"/>
                <a:ea typeface="+mj-ea"/>
              </a:rPr>
              <a:t>報表</a:t>
            </a:r>
          </a:p>
        </p:txBody>
      </p:sp>
      <p:pic>
        <p:nvPicPr>
          <p:cNvPr id="33" name="圖片 32">
            <a:extLst>
              <a:ext uri="{FF2B5EF4-FFF2-40B4-BE49-F238E27FC236}">
                <a16:creationId xmlns:a16="http://schemas.microsoft.com/office/drawing/2014/main" id="{6F84E2CE-CF85-EBD6-3278-2F2CFF157CDF}"/>
              </a:ext>
            </a:extLst>
          </p:cNvPr>
          <p:cNvPicPr>
            <a:picLocks noChangeAspect="1"/>
          </p:cNvPicPr>
          <p:nvPr/>
        </p:nvPicPr>
        <p:blipFill rotWithShape="1">
          <a:blip r:embed="rId9"/>
          <a:srcRect t="1925" b="17349"/>
          <a:stretch/>
        </p:blipFill>
        <p:spPr>
          <a:xfrm>
            <a:off x="4030845" y="877123"/>
            <a:ext cx="1069127" cy="508758"/>
          </a:xfrm>
          <a:prstGeom prst="rect">
            <a:avLst/>
          </a:prstGeom>
          <a:noFill/>
          <a:ln>
            <a:solidFill>
              <a:schemeClr val="tx1"/>
            </a:solidFill>
          </a:ln>
        </p:spPr>
      </p:pic>
      <p:sp>
        <p:nvSpPr>
          <p:cNvPr id="34" name="文字方塊 33">
            <a:extLst>
              <a:ext uri="{FF2B5EF4-FFF2-40B4-BE49-F238E27FC236}">
                <a16:creationId xmlns:a16="http://schemas.microsoft.com/office/drawing/2014/main" id="{AE6CF83E-F788-0853-14A9-C54D8412C0CA}"/>
              </a:ext>
            </a:extLst>
          </p:cNvPr>
          <p:cNvSpPr txBox="1"/>
          <p:nvPr/>
        </p:nvSpPr>
        <p:spPr>
          <a:xfrm>
            <a:off x="4029793" y="1108903"/>
            <a:ext cx="1082348" cy="307777"/>
          </a:xfrm>
          <a:prstGeom prst="rect">
            <a:avLst/>
          </a:prstGeom>
          <a:noFill/>
        </p:spPr>
        <p:txBody>
          <a:bodyPr wrap="none" rtlCol="0">
            <a:spAutoFit/>
          </a:bodyPr>
          <a:lstStyle/>
          <a:p>
            <a:r>
              <a:rPr lang="zh-TW" altLang="en-US" sz="1400" b="1">
                <a:solidFill>
                  <a:schemeClr val="bg1"/>
                </a:solidFill>
                <a:effectLst>
                  <a:glow rad="203200">
                    <a:schemeClr val="tx1">
                      <a:lumMod val="95000"/>
                      <a:lumOff val="5000"/>
                      <a:alpha val="50000"/>
                    </a:schemeClr>
                  </a:glow>
                </a:effectLst>
                <a:latin typeface="+mj-lt"/>
                <a:ea typeface="+mj-ea"/>
              </a:rPr>
              <a:t>資料科學家</a:t>
            </a:r>
          </a:p>
        </p:txBody>
      </p:sp>
      <p:cxnSp>
        <p:nvCxnSpPr>
          <p:cNvPr id="37" name="接點: 弧形 36">
            <a:extLst>
              <a:ext uri="{FF2B5EF4-FFF2-40B4-BE49-F238E27FC236}">
                <a16:creationId xmlns:a16="http://schemas.microsoft.com/office/drawing/2014/main" id="{995F0A61-AD23-18A9-0313-24353AE1AC86}"/>
              </a:ext>
            </a:extLst>
          </p:cNvPr>
          <p:cNvCxnSpPr>
            <a:stCxn id="16" idx="0"/>
            <a:endCxn id="27" idx="2"/>
          </p:cNvCxnSpPr>
          <p:nvPr/>
        </p:nvCxnSpPr>
        <p:spPr>
          <a:xfrm rot="5400000" flipH="1" flipV="1">
            <a:off x="-941171" y="2955042"/>
            <a:ext cx="3874632" cy="747053"/>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接點: 弧形 37">
            <a:extLst>
              <a:ext uri="{FF2B5EF4-FFF2-40B4-BE49-F238E27FC236}">
                <a16:creationId xmlns:a16="http://schemas.microsoft.com/office/drawing/2014/main" id="{2F7173AA-029E-AEC9-3569-73166BF78B9A}"/>
              </a:ext>
            </a:extLst>
          </p:cNvPr>
          <p:cNvCxnSpPr>
            <a:cxnSpLocks/>
            <a:stCxn id="17" idx="0"/>
            <a:endCxn id="27" idx="2"/>
          </p:cNvCxnSpPr>
          <p:nvPr/>
        </p:nvCxnSpPr>
        <p:spPr>
          <a:xfrm rot="5400000" flipH="1" flipV="1">
            <a:off x="-1048918" y="3228442"/>
            <a:ext cx="4255780" cy="581400"/>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接點: 弧形 40">
            <a:extLst>
              <a:ext uri="{FF2B5EF4-FFF2-40B4-BE49-F238E27FC236}">
                <a16:creationId xmlns:a16="http://schemas.microsoft.com/office/drawing/2014/main" id="{D7A35ACB-2AE9-5107-32E1-D96D2214B955}"/>
              </a:ext>
            </a:extLst>
          </p:cNvPr>
          <p:cNvCxnSpPr>
            <a:cxnSpLocks/>
            <a:stCxn id="8" idx="0"/>
            <a:endCxn id="27" idx="2"/>
          </p:cNvCxnSpPr>
          <p:nvPr/>
        </p:nvCxnSpPr>
        <p:spPr>
          <a:xfrm rot="5400000" flipH="1" flipV="1">
            <a:off x="-811457" y="3469728"/>
            <a:ext cx="4259605" cy="102654"/>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接點: 弧形 43">
            <a:extLst>
              <a:ext uri="{FF2B5EF4-FFF2-40B4-BE49-F238E27FC236}">
                <a16:creationId xmlns:a16="http://schemas.microsoft.com/office/drawing/2014/main" id="{19311516-F6A0-899C-40F0-6073CCF666F2}"/>
              </a:ext>
            </a:extLst>
          </p:cNvPr>
          <p:cNvCxnSpPr>
            <a:cxnSpLocks/>
            <a:stCxn id="18" idx="0"/>
            <a:endCxn id="27" idx="2"/>
          </p:cNvCxnSpPr>
          <p:nvPr/>
        </p:nvCxnSpPr>
        <p:spPr>
          <a:xfrm rot="5400000" flipH="1" flipV="1">
            <a:off x="-732976" y="3149594"/>
            <a:ext cx="3860989" cy="344307"/>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接點: 弧形 46">
            <a:extLst>
              <a:ext uri="{FF2B5EF4-FFF2-40B4-BE49-F238E27FC236}">
                <a16:creationId xmlns:a16="http://schemas.microsoft.com/office/drawing/2014/main" id="{7AEE9668-6CF6-3D57-EE21-A0E34BBBB715}"/>
              </a:ext>
            </a:extLst>
          </p:cNvPr>
          <p:cNvCxnSpPr>
            <a:cxnSpLocks/>
            <a:stCxn id="7" idx="0"/>
            <a:endCxn id="27" idx="2"/>
          </p:cNvCxnSpPr>
          <p:nvPr/>
        </p:nvCxnSpPr>
        <p:spPr>
          <a:xfrm rot="16200000" flipV="1">
            <a:off x="-600881" y="3361806"/>
            <a:ext cx="4263429" cy="322321"/>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接點: 弧形 48">
            <a:extLst>
              <a:ext uri="{FF2B5EF4-FFF2-40B4-BE49-F238E27FC236}">
                <a16:creationId xmlns:a16="http://schemas.microsoft.com/office/drawing/2014/main" id="{73D39227-B74E-C1A5-C561-5670FB0F0444}"/>
              </a:ext>
            </a:extLst>
          </p:cNvPr>
          <p:cNvCxnSpPr>
            <a:cxnSpLocks/>
            <a:stCxn id="19" idx="0"/>
            <a:endCxn id="27" idx="2"/>
          </p:cNvCxnSpPr>
          <p:nvPr/>
        </p:nvCxnSpPr>
        <p:spPr>
          <a:xfrm rot="16200000" flipV="1">
            <a:off x="-501901" y="3262826"/>
            <a:ext cx="3877673" cy="134525"/>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接點: 弧形 52">
            <a:extLst>
              <a:ext uri="{FF2B5EF4-FFF2-40B4-BE49-F238E27FC236}">
                <a16:creationId xmlns:a16="http://schemas.microsoft.com/office/drawing/2014/main" id="{373CAF88-A82E-9777-BD2A-5FD43BDF7C4A}"/>
              </a:ext>
            </a:extLst>
          </p:cNvPr>
          <p:cNvCxnSpPr>
            <a:cxnSpLocks/>
            <a:stCxn id="20" idx="0"/>
            <a:endCxn id="27" idx="2"/>
          </p:cNvCxnSpPr>
          <p:nvPr/>
        </p:nvCxnSpPr>
        <p:spPr>
          <a:xfrm rot="16200000" flipV="1">
            <a:off x="-276607" y="3037532"/>
            <a:ext cx="3883153" cy="590593"/>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接點: 弧形 55">
            <a:extLst>
              <a:ext uri="{FF2B5EF4-FFF2-40B4-BE49-F238E27FC236}">
                <a16:creationId xmlns:a16="http://schemas.microsoft.com/office/drawing/2014/main" id="{0719688E-E066-2838-5B19-B6BB08963256}"/>
              </a:ext>
            </a:extLst>
          </p:cNvPr>
          <p:cNvCxnSpPr>
            <a:cxnSpLocks/>
            <a:stCxn id="10" idx="0"/>
            <a:endCxn id="27" idx="2"/>
          </p:cNvCxnSpPr>
          <p:nvPr/>
        </p:nvCxnSpPr>
        <p:spPr>
          <a:xfrm rot="16200000" flipV="1">
            <a:off x="-381694" y="3142618"/>
            <a:ext cx="4275580" cy="772848"/>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接點: 弧形 58">
            <a:extLst>
              <a:ext uri="{FF2B5EF4-FFF2-40B4-BE49-F238E27FC236}">
                <a16:creationId xmlns:a16="http://schemas.microsoft.com/office/drawing/2014/main" id="{657B6E38-B62C-4A9F-0A57-D6ED05C046A7}"/>
              </a:ext>
            </a:extLst>
          </p:cNvPr>
          <p:cNvCxnSpPr>
            <a:cxnSpLocks/>
            <a:stCxn id="15" idx="0"/>
            <a:endCxn id="27" idx="2"/>
          </p:cNvCxnSpPr>
          <p:nvPr/>
        </p:nvCxnSpPr>
        <p:spPr>
          <a:xfrm rot="16200000" flipV="1">
            <a:off x="290535" y="2470390"/>
            <a:ext cx="4076135" cy="1917860"/>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接點: 弧形 60">
            <a:extLst>
              <a:ext uri="{FF2B5EF4-FFF2-40B4-BE49-F238E27FC236}">
                <a16:creationId xmlns:a16="http://schemas.microsoft.com/office/drawing/2014/main" id="{D159FF36-BD1C-07EF-1D71-2C627613A0F1}"/>
              </a:ext>
            </a:extLst>
          </p:cNvPr>
          <p:cNvCxnSpPr>
            <a:cxnSpLocks/>
            <a:stCxn id="21" idx="0"/>
            <a:endCxn id="27" idx="2"/>
          </p:cNvCxnSpPr>
          <p:nvPr/>
        </p:nvCxnSpPr>
        <p:spPr>
          <a:xfrm rot="16200000" flipV="1">
            <a:off x="76370" y="2684554"/>
            <a:ext cx="4040668" cy="1454063"/>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7" name="接點: 弧形 1026">
            <a:extLst>
              <a:ext uri="{FF2B5EF4-FFF2-40B4-BE49-F238E27FC236}">
                <a16:creationId xmlns:a16="http://schemas.microsoft.com/office/drawing/2014/main" id="{F211BDE4-5804-56E4-4945-6D9AD42B9416}"/>
              </a:ext>
            </a:extLst>
          </p:cNvPr>
          <p:cNvCxnSpPr>
            <a:cxnSpLocks/>
            <a:stCxn id="13" idx="0"/>
            <a:endCxn id="27" idx="2"/>
          </p:cNvCxnSpPr>
          <p:nvPr/>
        </p:nvCxnSpPr>
        <p:spPr>
          <a:xfrm rot="16200000" flipV="1">
            <a:off x="-60609" y="2821533"/>
            <a:ext cx="4428408" cy="1567846"/>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2" name="接點: 弧形 1031">
            <a:extLst>
              <a:ext uri="{FF2B5EF4-FFF2-40B4-BE49-F238E27FC236}">
                <a16:creationId xmlns:a16="http://schemas.microsoft.com/office/drawing/2014/main" id="{C59F82E6-D0A8-FF8E-FE88-3A3E8A57D792}"/>
              </a:ext>
            </a:extLst>
          </p:cNvPr>
          <p:cNvCxnSpPr>
            <a:cxnSpLocks/>
            <a:stCxn id="6" idx="0"/>
            <a:endCxn id="27" idx="2"/>
          </p:cNvCxnSpPr>
          <p:nvPr/>
        </p:nvCxnSpPr>
        <p:spPr>
          <a:xfrm rot="16200000" flipV="1">
            <a:off x="-137326" y="2898251"/>
            <a:ext cx="4284527" cy="1270529"/>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4" name="接點: 弧形 1033">
            <a:extLst>
              <a:ext uri="{FF2B5EF4-FFF2-40B4-BE49-F238E27FC236}">
                <a16:creationId xmlns:a16="http://schemas.microsoft.com/office/drawing/2014/main" id="{C7520E3B-E4BC-DDFE-BA1F-57237EF1FCC0}"/>
              </a:ext>
            </a:extLst>
          </p:cNvPr>
          <p:cNvCxnSpPr>
            <a:cxnSpLocks/>
            <a:endCxn id="27" idx="2"/>
          </p:cNvCxnSpPr>
          <p:nvPr/>
        </p:nvCxnSpPr>
        <p:spPr>
          <a:xfrm rot="16200000" flipV="1">
            <a:off x="78394" y="2682530"/>
            <a:ext cx="4278478" cy="1695922"/>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7" name="接點: 弧形 1036">
            <a:extLst>
              <a:ext uri="{FF2B5EF4-FFF2-40B4-BE49-F238E27FC236}">
                <a16:creationId xmlns:a16="http://schemas.microsoft.com/office/drawing/2014/main" id="{7012C31D-C606-AA14-11B7-8BCBBC6F62E3}"/>
              </a:ext>
            </a:extLst>
          </p:cNvPr>
          <p:cNvCxnSpPr>
            <a:cxnSpLocks/>
            <a:stCxn id="9" idx="0"/>
            <a:endCxn id="27" idx="2"/>
          </p:cNvCxnSpPr>
          <p:nvPr/>
        </p:nvCxnSpPr>
        <p:spPr>
          <a:xfrm rot="16200000" flipV="1">
            <a:off x="193398" y="2567527"/>
            <a:ext cx="4386695" cy="2034146"/>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0" name="接點: 弧形 1039">
            <a:extLst>
              <a:ext uri="{FF2B5EF4-FFF2-40B4-BE49-F238E27FC236}">
                <a16:creationId xmlns:a16="http://schemas.microsoft.com/office/drawing/2014/main" id="{BF83C9BD-CCB7-A86B-6A57-8ADA08E53DF1}"/>
              </a:ext>
            </a:extLst>
          </p:cNvPr>
          <p:cNvCxnSpPr>
            <a:cxnSpLocks/>
            <a:stCxn id="14" idx="0"/>
            <a:endCxn id="27" idx="2"/>
          </p:cNvCxnSpPr>
          <p:nvPr/>
        </p:nvCxnSpPr>
        <p:spPr>
          <a:xfrm rot="16200000" flipV="1">
            <a:off x="378677" y="2382248"/>
            <a:ext cx="4388201" cy="2406209"/>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3" name="接點: 弧形 1042">
            <a:extLst>
              <a:ext uri="{FF2B5EF4-FFF2-40B4-BE49-F238E27FC236}">
                <a16:creationId xmlns:a16="http://schemas.microsoft.com/office/drawing/2014/main" id="{6C70315D-2C34-D3B5-6EE2-E30095197DA1}"/>
              </a:ext>
            </a:extLst>
          </p:cNvPr>
          <p:cNvCxnSpPr>
            <a:cxnSpLocks/>
            <a:stCxn id="22" idx="0"/>
            <a:endCxn id="27" idx="2"/>
          </p:cNvCxnSpPr>
          <p:nvPr/>
        </p:nvCxnSpPr>
        <p:spPr>
          <a:xfrm rot="16200000" flipV="1">
            <a:off x="521439" y="2239486"/>
            <a:ext cx="4070063" cy="2373596"/>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9" name="接點: 弧形 1048">
            <a:extLst>
              <a:ext uri="{FF2B5EF4-FFF2-40B4-BE49-F238E27FC236}">
                <a16:creationId xmlns:a16="http://schemas.microsoft.com/office/drawing/2014/main" id="{40EBB06A-F1AC-2F5F-04D8-9C4C95B78737}"/>
              </a:ext>
            </a:extLst>
          </p:cNvPr>
          <p:cNvCxnSpPr>
            <a:cxnSpLocks/>
            <a:stCxn id="1030" idx="0"/>
            <a:endCxn id="29" idx="2"/>
          </p:cNvCxnSpPr>
          <p:nvPr/>
        </p:nvCxnSpPr>
        <p:spPr>
          <a:xfrm rot="5400000" flipH="1" flipV="1">
            <a:off x="859861" y="2201934"/>
            <a:ext cx="2404493" cy="797879"/>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2" name="接點: 弧形 1051">
            <a:extLst>
              <a:ext uri="{FF2B5EF4-FFF2-40B4-BE49-F238E27FC236}">
                <a16:creationId xmlns:a16="http://schemas.microsoft.com/office/drawing/2014/main" id="{5A4D9231-43FC-B129-1FA8-0384C3376831}"/>
              </a:ext>
            </a:extLst>
          </p:cNvPr>
          <p:cNvCxnSpPr>
            <a:cxnSpLocks/>
            <a:stCxn id="16" idx="0"/>
            <a:endCxn id="34" idx="2"/>
          </p:cNvCxnSpPr>
          <p:nvPr/>
        </p:nvCxnSpPr>
        <p:spPr>
          <a:xfrm rot="5400000" flipH="1" flipV="1">
            <a:off x="672191" y="1367108"/>
            <a:ext cx="3849204" cy="3948348"/>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5" name="接點: 弧形 1054">
            <a:extLst>
              <a:ext uri="{FF2B5EF4-FFF2-40B4-BE49-F238E27FC236}">
                <a16:creationId xmlns:a16="http://schemas.microsoft.com/office/drawing/2014/main" id="{893C104C-7AF3-73ED-3E2A-0D5A4E469D4E}"/>
              </a:ext>
            </a:extLst>
          </p:cNvPr>
          <p:cNvCxnSpPr>
            <a:cxnSpLocks/>
            <a:stCxn id="8" idx="0"/>
            <a:endCxn id="34" idx="2"/>
          </p:cNvCxnSpPr>
          <p:nvPr/>
        </p:nvCxnSpPr>
        <p:spPr>
          <a:xfrm rot="5400000" flipH="1" flipV="1">
            <a:off x="801904" y="1881795"/>
            <a:ext cx="4234177" cy="3303949"/>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8" name="接點: 弧形 1057">
            <a:extLst>
              <a:ext uri="{FF2B5EF4-FFF2-40B4-BE49-F238E27FC236}">
                <a16:creationId xmlns:a16="http://schemas.microsoft.com/office/drawing/2014/main" id="{C5B2AB1D-EE43-523A-E1BF-63DE0714D3FA}"/>
              </a:ext>
            </a:extLst>
          </p:cNvPr>
          <p:cNvCxnSpPr>
            <a:cxnSpLocks/>
            <a:stCxn id="17" idx="0"/>
            <a:endCxn id="34" idx="2"/>
          </p:cNvCxnSpPr>
          <p:nvPr/>
        </p:nvCxnSpPr>
        <p:spPr>
          <a:xfrm rot="5400000" flipH="1" flipV="1">
            <a:off x="564443" y="1640509"/>
            <a:ext cx="4230352" cy="3782695"/>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1" name="接點: 弧形 1060">
            <a:extLst>
              <a:ext uri="{FF2B5EF4-FFF2-40B4-BE49-F238E27FC236}">
                <a16:creationId xmlns:a16="http://schemas.microsoft.com/office/drawing/2014/main" id="{6983F174-DA13-3A41-AF29-7C665ABA5BD6}"/>
              </a:ext>
            </a:extLst>
          </p:cNvPr>
          <p:cNvCxnSpPr>
            <a:cxnSpLocks/>
            <a:stCxn id="10" idx="0"/>
            <a:endCxn id="34" idx="2"/>
          </p:cNvCxnSpPr>
          <p:nvPr/>
        </p:nvCxnSpPr>
        <p:spPr>
          <a:xfrm rot="5400000" flipH="1" flipV="1">
            <a:off x="1231667" y="2327533"/>
            <a:ext cx="4250152" cy="2428447"/>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4" name="接點: 弧形 1063">
            <a:extLst>
              <a:ext uri="{FF2B5EF4-FFF2-40B4-BE49-F238E27FC236}">
                <a16:creationId xmlns:a16="http://schemas.microsoft.com/office/drawing/2014/main" id="{89814C72-D64C-27A6-C751-6BAA31862E1C}"/>
              </a:ext>
            </a:extLst>
          </p:cNvPr>
          <p:cNvCxnSpPr>
            <a:cxnSpLocks/>
            <a:stCxn id="7" idx="0"/>
            <a:endCxn id="34" idx="2"/>
          </p:cNvCxnSpPr>
          <p:nvPr/>
        </p:nvCxnSpPr>
        <p:spPr>
          <a:xfrm rot="5400000" flipH="1" flipV="1">
            <a:off x="1012480" y="2096194"/>
            <a:ext cx="4238001" cy="2878974"/>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7" name="接點: 弧形 1066">
            <a:extLst>
              <a:ext uri="{FF2B5EF4-FFF2-40B4-BE49-F238E27FC236}">
                <a16:creationId xmlns:a16="http://schemas.microsoft.com/office/drawing/2014/main" id="{185142E9-B08C-D658-35FC-730D7AEDCD19}"/>
              </a:ext>
            </a:extLst>
          </p:cNvPr>
          <p:cNvCxnSpPr>
            <a:cxnSpLocks/>
            <a:stCxn id="12" idx="0"/>
            <a:endCxn id="34" idx="2"/>
          </p:cNvCxnSpPr>
          <p:nvPr/>
        </p:nvCxnSpPr>
        <p:spPr>
          <a:xfrm rot="5400000" flipH="1" flipV="1">
            <a:off x="2441529" y="3296781"/>
            <a:ext cx="4009539" cy="249338"/>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0" name="接點: 弧形 1069">
            <a:extLst>
              <a:ext uri="{FF2B5EF4-FFF2-40B4-BE49-F238E27FC236}">
                <a16:creationId xmlns:a16="http://schemas.microsoft.com/office/drawing/2014/main" id="{9C04383E-C994-F39D-E3D3-A4091127B16F}"/>
              </a:ext>
            </a:extLst>
          </p:cNvPr>
          <p:cNvCxnSpPr>
            <a:cxnSpLocks/>
            <a:stCxn id="24" idx="0"/>
            <a:endCxn id="34" idx="2"/>
          </p:cNvCxnSpPr>
          <p:nvPr/>
        </p:nvCxnSpPr>
        <p:spPr>
          <a:xfrm rot="16200000" flipV="1">
            <a:off x="2713675" y="3273973"/>
            <a:ext cx="4329629" cy="615044"/>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3" name="接點: 弧形 1072">
            <a:extLst>
              <a:ext uri="{FF2B5EF4-FFF2-40B4-BE49-F238E27FC236}">
                <a16:creationId xmlns:a16="http://schemas.microsoft.com/office/drawing/2014/main" id="{25758AA1-FC43-E1EA-DDD2-4988D5D5CC08}"/>
              </a:ext>
            </a:extLst>
          </p:cNvPr>
          <p:cNvCxnSpPr>
            <a:cxnSpLocks/>
            <a:stCxn id="5" idx="0"/>
            <a:endCxn id="34" idx="2"/>
          </p:cNvCxnSpPr>
          <p:nvPr/>
        </p:nvCxnSpPr>
        <p:spPr>
          <a:xfrm rot="16200000" flipV="1">
            <a:off x="2754816" y="3232832"/>
            <a:ext cx="3968411" cy="336107"/>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7" name="接點: 弧形 1076">
            <a:extLst>
              <a:ext uri="{FF2B5EF4-FFF2-40B4-BE49-F238E27FC236}">
                <a16:creationId xmlns:a16="http://schemas.microsoft.com/office/drawing/2014/main" id="{E57CA19B-8F99-E7BC-54BF-4F851F6B219D}"/>
              </a:ext>
            </a:extLst>
          </p:cNvPr>
          <p:cNvCxnSpPr>
            <a:cxnSpLocks/>
            <a:stCxn id="11" idx="0"/>
            <a:endCxn id="34" idx="2"/>
          </p:cNvCxnSpPr>
          <p:nvPr/>
        </p:nvCxnSpPr>
        <p:spPr>
          <a:xfrm rot="16200000" flipV="1">
            <a:off x="2444975" y="3542672"/>
            <a:ext cx="4284528" cy="32544"/>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1" name="接點: 弧形 1080">
            <a:extLst>
              <a:ext uri="{FF2B5EF4-FFF2-40B4-BE49-F238E27FC236}">
                <a16:creationId xmlns:a16="http://schemas.microsoft.com/office/drawing/2014/main" id="{B860B002-71D9-5FAA-3BD4-0174851183B0}"/>
              </a:ext>
            </a:extLst>
          </p:cNvPr>
          <p:cNvCxnSpPr>
            <a:cxnSpLocks/>
            <a:stCxn id="12" idx="0"/>
            <a:endCxn id="29" idx="2"/>
          </p:cNvCxnSpPr>
          <p:nvPr/>
        </p:nvCxnSpPr>
        <p:spPr>
          <a:xfrm rot="16200000" flipV="1">
            <a:off x="1377542" y="2482132"/>
            <a:ext cx="4027593" cy="1860582"/>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4" name="接點: 弧形 1083">
            <a:extLst>
              <a:ext uri="{FF2B5EF4-FFF2-40B4-BE49-F238E27FC236}">
                <a16:creationId xmlns:a16="http://schemas.microsoft.com/office/drawing/2014/main" id="{3ACD846B-FED0-95F8-F848-2EE0C330D31C}"/>
              </a:ext>
            </a:extLst>
          </p:cNvPr>
          <p:cNvCxnSpPr>
            <a:cxnSpLocks/>
            <a:stCxn id="11" idx="0"/>
            <a:endCxn id="29" idx="2"/>
          </p:cNvCxnSpPr>
          <p:nvPr/>
        </p:nvCxnSpPr>
        <p:spPr>
          <a:xfrm rot="16200000" flipV="1">
            <a:off x="1380988" y="2478685"/>
            <a:ext cx="4302582" cy="2142464"/>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6" name="接點: 弧形 1085">
            <a:extLst>
              <a:ext uri="{FF2B5EF4-FFF2-40B4-BE49-F238E27FC236}">
                <a16:creationId xmlns:a16="http://schemas.microsoft.com/office/drawing/2014/main" id="{55E55977-C013-AA4B-6113-20B2B22D662E}"/>
              </a:ext>
            </a:extLst>
          </p:cNvPr>
          <p:cNvCxnSpPr>
            <a:cxnSpLocks/>
            <a:stCxn id="22" idx="0"/>
            <a:endCxn id="29" idx="2"/>
          </p:cNvCxnSpPr>
          <p:nvPr/>
        </p:nvCxnSpPr>
        <p:spPr>
          <a:xfrm rot="16200000" flipV="1">
            <a:off x="1070814" y="2788860"/>
            <a:ext cx="4062689" cy="1282221"/>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8" name="接點: 弧形 1087">
            <a:extLst>
              <a:ext uri="{FF2B5EF4-FFF2-40B4-BE49-F238E27FC236}">
                <a16:creationId xmlns:a16="http://schemas.microsoft.com/office/drawing/2014/main" id="{8FBC320C-9C8A-7CE2-4ADD-73ADCE56061D}"/>
              </a:ext>
            </a:extLst>
          </p:cNvPr>
          <p:cNvCxnSpPr>
            <a:cxnSpLocks/>
            <a:stCxn id="24" idx="0"/>
            <a:endCxn id="29" idx="2"/>
          </p:cNvCxnSpPr>
          <p:nvPr/>
        </p:nvCxnSpPr>
        <p:spPr>
          <a:xfrm rot="16200000" flipV="1">
            <a:off x="1649688" y="2209986"/>
            <a:ext cx="4347683" cy="2724964"/>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2" name="接點: 弧形 1091">
            <a:extLst>
              <a:ext uri="{FF2B5EF4-FFF2-40B4-BE49-F238E27FC236}">
                <a16:creationId xmlns:a16="http://schemas.microsoft.com/office/drawing/2014/main" id="{5B060210-4658-CA0E-7CC3-5E8646E0831F}"/>
              </a:ext>
            </a:extLst>
          </p:cNvPr>
          <p:cNvCxnSpPr>
            <a:cxnSpLocks/>
            <a:stCxn id="13" idx="0"/>
            <a:endCxn id="29" idx="2"/>
          </p:cNvCxnSpPr>
          <p:nvPr/>
        </p:nvCxnSpPr>
        <p:spPr>
          <a:xfrm rot="16200000" flipV="1">
            <a:off x="488766" y="3370907"/>
            <a:ext cx="4421034" cy="476471"/>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5" name="接點: 弧形 1094">
            <a:extLst>
              <a:ext uri="{FF2B5EF4-FFF2-40B4-BE49-F238E27FC236}">
                <a16:creationId xmlns:a16="http://schemas.microsoft.com/office/drawing/2014/main" id="{AF5D2AA2-BFF8-403B-19D7-C57605EB5C04}"/>
              </a:ext>
            </a:extLst>
          </p:cNvPr>
          <p:cNvCxnSpPr>
            <a:cxnSpLocks/>
            <a:stCxn id="12" idx="0"/>
            <a:endCxn id="27" idx="2"/>
          </p:cNvCxnSpPr>
          <p:nvPr/>
        </p:nvCxnSpPr>
        <p:spPr>
          <a:xfrm rot="16200000" flipV="1">
            <a:off x="828168" y="1932757"/>
            <a:ext cx="4034967" cy="2951957"/>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8" name="接點: 弧形 1097">
            <a:extLst>
              <a:ext uri="{FF2B5EF4-FFF2-40B4-BE49-F238E27FC236}">
                <a16:creationId xmlns:a16="http://schemas.microsoft.com/office/drawing/2014/main" id="{379FE4EC-E2BB-272B-E8D4-57C6E226BC9D}"/>
              </a:ext>
            </a:extLst>
          </p:cNvPr>
          <p:cNvCxnSpPr>
            <a:cxnSpLocks/>
            <a:stCxn id="24" idx="0"/>
            <a:endCxn id="27" idx="2"/>
          </p:cNvCxnSpPr>
          <p:nvPr/>
        </p:nvCxnSpPr>
        <p:spPr>
          <a:xfrm rot="16200000" flipV="1">
            <a:off x="1100314" y="1660611"/>
            <a:ext cx="4355057" cy="3816339"/>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1" name="接點: 弧形 1240">
            <a:extLst>
              <a:ext uri="{FF2B5EF4-FFF2-40B4-BE49-F238E27FC236}">
                <a16:creationId xmlns:a16="http://schemas.microsoft.com/office/drawing/2014/main" id="{CB520272-AD49-B49E-6ACA-6D5AED543F62}"/>
              </a:ext>
            </a:extLst>
          </p:cNvPr>
          <p:cNvCxnSpPr>
            <a:cxnSpLocks/>
            <a:stCxn id="6" idx="0"/>
            <a:endCxn id="34" idx="2"/>
          </p:cNvCxnSpPr>
          <p:nvPr/>
        </p:nvCxnSpPr>
        <p:spPr>
          <a:xfrm rot="5400000" flipH="1" flipV="1">
            <a:off x="1476035" y="2580847"/>
            <a:ext cx="4259099" cy="1930766"/>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4" name="接點: 弧形 1243">
            <a:extLst>
              <a:ext uri="{FF2B5EF4-FFF2-40B4-BE49-F238E27FC236}">
                <a16:creationId xmlns:a16="http://schemas.microsoft.com/office/drawing/2014/main" id="{85535769-A944-2C59-2F95-EAFC0CD8E1A8}"/>
              </a:ext>
            </a:extLst>
          </p:cNvPr>
          <p:cNvCxnSpPr>
            <a:cxnSpLocks/>
            <a:stCxn id="5" idx="0"/>
            <a:endCxn id="29" idx="2"/>
          </p:cNvCxnSpPr>
          <p:nvPr/>
        </p:nvCxnSpPr>
        <p:spPr>
          <a:xfrm rot="16200000" flipV="1">
            <a:off x="1690829" y="2168845"/>
            <a:ext cx="3986465" cy="2446027"/>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38" name="接點: 弧形 1237">
            <a:extLst>
              <a:ext uri="{FF2B5EF4-FFF2-40B4-BE49-F238E27FC236}">
                <a16:creationId xmlns:a16="http://schemas.microsoft.com/office/drawing/2014/main" id="{B4EE1C54-9215-6301-878B-D3071F0C0E9E}"/>
              </a:ext>
            </a:extLst>
          </p:cNvPr>
          <p:cNvCxnSpPr>
            <a:cxnSpLocks/>
            <a:stCxn id="9" idx="0"/>
            <a:endCxn id="34" idx="2"/>
          </p:cNvCxnSpPr>
          <p:nvPr/>
        </p:nvCxnSpPr>
        <p:spPr>
          <a:xfrm rot="5400000" flipH="1" flipV="1">
            <a:off x="1806759" y="3013740"/>
            <a:ext cx="4361267" cy="1167149"/>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82" name="接點: 弧形 1281">
            <a:extLst>
              <a:ext uri="{FF2B5EF4-FFF2-40B4-BE49-F238E27FC236}">
                <a16:creationId xmlns:a16="http://schemas.microsoft.com/office/drawing/2014/main" id="{D2C7C76C-981C-20B3-8EAB-4E9D21DD25AE}"/>
              </a:ext>
            </a:extLst>
          </p:cNvPr>
          <p:cNvCxnSpPr>
            <a:cxnSpLocks/>
            <a:stCxn id="14" idx="0"/>
            <a:endCxn id="34" idx="2"/>
          </p:cNvCxnSpPr>
          <p:nvPr/>
        </p:nvCxnSpPr>
        <p:spPr>
          <a:xfrm rot="5400000" flipH="1" flipV="1">
            <a:off x="1992038" y="3200524"/>
            <a:ext cx="4362773" cy="795086"/>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機台數據連網整合至內部系統">
            <a:extLst>
              <a:ext uri="{FF2B5EF4-FFF2-40B4-BE49-F238E27FC236}">
                <a16:creationId xmlns:a16="http://schemas.microsoft.com/office/drawing/2014/main" id="{18AF0DDE-428C-52F6-1548-C3CE4EAFEC23}"/>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159" t="4801" r="3192" b="33457"/>
          <a:stretch/>
        </p:blipFill>
        <p:spPr bwMode="auto">
          <a:xfrm>
            <a:off x="838468" y="3803119"/>
            <a:ext cx="1649399" cy="6878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5" name="文字方塊 34">
            <a:extLst>
              <a:ext uri="{FF2B5EF4-FFF2-40B4-BE49-F238E27FC236}">
                <a16:creationId xmlns:a16="http://schemas.microsoft.com/office/drawing/2014/main" id="{083DD6FF-7105-4751-FD82-55343E7F2166}"/>
              </a:ext>
            </a:extLst>
          </p:cNvPr>
          <p:cNvSpPr txBox="1"/>
          <p:nvPr/>
        </p:nvSpPr>
        <p:spPr>
          <a:xfrm>
            <a:off x="990242" y="4093759"/>
            <a:ext cx="1324402" cy="400110"/>
          </a:xfrm>
          <a:prstGeom prst="rect">
            <a:avLst/>
          </a:prstGeom>
          <a:noFill/>
        </p:spPr>
        <p:txBody>
          <a:bodyPr wrap="none" rtlCol="0">
            <a:spAutoFit/>
          </a:bodyPr>
          <a:lstStyle/>
          <a:p>
            <a:r>
              <a:rPr lang="en-US" altLang="zh-TW" sz="2000" b="1">
                <a:solidFill>
                  <a:schemeClr val="bg1"/>
                </a:solidFill>
                <a:effectLst>
                  <a:glow rad="203200">
                    <a:schemeClr val="tx1">
                      <a:lumMod val="95000"/>
                      <a:lumOff val="5000"/>
                      <a:alpha val="75000"/>
                    </a:schemeClr>
                  </a:glow>
                </a:effectLst>
                <a:latin typeface="+mj-lt"/>
                <a:ea typeface="+mj-ea"/>
              </a:rPr>
              <a:t>MES </a:t>
            </a:r>
            <a:r>
              <a:rPr lang="zh-TW" altLang="en-US" sz="2000" b="1">
                <a:solidFill>
                  <a:schemeClr val="bg1"/>
                </a:solidFill>
                <a:effectLst>
                  <a:glow rad="203200">
                    <a:schemeClr val="tx1">
                      <a:lumMod val="95000"/>
                      <a:lumOff val="5000"/>
                      <a:alpha val="75000"/>
                    </a:schemeClr>
                  </a:glow>
                </a:effectLst>
                <a:latin typeface="+mj-lt"/>
                <a:ea typeface="+mj-ea"/>
              </a:rPr>
              <a:t>系統</a:t>
            </a:r>
          </a:p>
        </p:txBody>
      </p:sp>
      <p:sp>
        <p:nvSpPr>
          <p:cNvPr id="1424" name="箭號: 向右 1423">
            <a:extLst>
              <a:ext uri="{FF2B5EF4-FFF2-40B4-BE49-F238E27FC236}">
                <a16:creationId xmlns:a16="http://schemas.microsoft.com/office/drawing/2014/main" id="{AD1572FB-26E6-D87E-5345-48465F55B4D6}"/>
              </a:ext>
            </a:extLst>
          </p:cNvPr>
          <p:cNvSpPr/>
          <p:nvPr/>
        </p:nvSpPr>
        <p:spPr>
          <a:xfrm>
            <a:off x="5461010" y="3603674"/>
            <a:ext cx="510449" cy="490085"/>
          </a:xfrm>
          <a:prstGeom prst="rightArrow">
            <a:avLst/>
          </a:prstGeom>
          <a:gradFill flip="none" rotWithShape="1">
            <a:gsLst>
              <a:gs pos="0">
                <a:schemeClr val="tx2">
                  <a:lumMod val="60000"/>
                  <a:lumOff val="40000"/>
                </a:schemeClr>
              </a:gs>
              <a:gs pos="50000">
                <a:schemeClr val="tx2">
                  <a:lumMod val="40000"/>
                  <a:lumOff val="60000"/>
                </a:schemeClr>
              </a:gs>
              <a:gs pos="100000">
                <a:schemeClr val="tx2">
                  <a:lumMod val="20000"/>
                  <a:lumOff val="8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30" name="圖片 1429">
            <a:extLst>
              <a:ext uri="{FF2B5EF4-FFF2-40B4-BE49-F238E27FC236}">
                <a16:creationId xmlns:a16="http://schemas.microsoft.com/office/drawing/2014/main" id="{A951D745-B87E-439B-562E-234D10021A21}"/>
              </a:ext>
            </a:extLst>
          </p:cNvPr>
          <p:cNvPicPr>
            <a:picLocks noChangeAspect="1"/>
          </p:cNvPicPr>
          <p:nvPr/>
        </p:nvPicPr>
        <p:blipFill>
          <a:blip r:embed="rId11">
            <a:clrChange>
              <a:clrFrom>
                <a:srgbClr val="FFFFFF"/>
              </a:clrFrom>
              <a:clrTo>
                <a:srgbClr val="FFFFFF">
                  <a:alpha val="0"/>
                </a:srgbClr>
              </a:clrTo>
            </a:clrChange>
            <a:duotone>
              <a:schemeClr val="accent1">
                <a:shade val="45000"/>
                <a:satMod val="135000"/>
              </a:schemeClr>
              <a:prstClr val="white"/>
            </a:duotone>
          </a:blip>
          <a:stretch>
            <a:fillRect/>
          </a:stretch>
        </p:blipFill>
        <p:spPr>
          <a:xfrm>
            <a:off x="4649731" y="1403992"/>
            <a:ext cx="345210" cy="528276"/>
          </a:xfrm>
          <a:prstGeom prst="rect">
            <a:avLst/>
          </a:prstGeom>
        </p:spPr>
      </p:pic>
      <p:sp>
        <p:nvSpPr>
          <p:cNvPr id="4" name="文字方塊 3">
            <a:extLst>
              <a:ext uri="{FF2B5EF4-FFF2-40B4-BE49-F238E27FC236}">
                <a16:creationId xmlns:a16="http://schemas.microsoft.com/office/drawing/2014/main" id="{AEC248DC-1C12-55DF-9471-0A7103E27443}"/>
              </a:ext>
            </a:extLst>
          </p:cNvPr>
          <p:cNvSpPr txBox="1"/>
          <p:nvPr/>
        </p:nvSpPr>
        <p:spPr>
          <a:xfrm>
            <a:off x="2960811" y="1101600"/>
            <a:ext cx="1082348" cy="307777"/>
          </a:xfrm>
          <a:prstGeom prst="rect">
            <a:avLst/>
          </a:prstGeom>
          <a:noFill/>
        </p:spPr>
        <p:txBody>
          <a:bodyPr wrap="none" rtlCol="0">
            <a:spAutoFit/>
          </a:bodyPr>
          <a:lstStyle/>
          <a:p>
            <a:r>
              <a:rPr lang="zh-TW" altLang="en-US" sz="1400" b="1">
                <a:solidFill>
                  <a:schemeClr val="bg1"/>
                </a:solidFill>
                <a:effectLst>
                  <a:glow rad="203200">
                    <a:schemeClr val="tx1">
                      <a:lumMod val="95000"/>
                      <a:lumOff val="5000"/>
                      <a:alpha val="50000"/>
                    </a:schemeClr>
                  </a:glow>
                </a:effectLst>
                <a:latin typeface="+mj-lt"/>
                <a:ea typeface="+mj-ea"/>
              </a:rPr>
              <a:t>品質分析師</a:t>
            </a:r>
          </a:p>
        </p:txBody>
      </p:sp>
      <p:cxnSp>
        <p:nvCxnSpPr>
          <p:cNvPr id="1378" name="接點: 弧形 1377">
            <a:extLst>
              <a:ext uri="{FF2B5EF4-FFF2-40B4-BE49-F238E27FC236}">
                <a16:creationId xmlns:a16="http://schemas.microsoft.com/office/drawing/2014/main" id="{51C9FD12-9E94-BCD6-24D3-FFCC19960D95}"/>
              </a:ext>
            </a:extLst>
          </p:cNvPr>
          <p:cNvCxnSpPr>
            <a:cxnSpLocks/>
            <a:stCxn id="18" idx="0"/>
            <a:endCxn id="4" idx="2"/>
          </p:cNvCxnSpPr>
          <p:nvPr/>
        </p:nvCxnSpPr>
        <p:spPr>
          <a:xfrm rot="5400000" flipH="1" flipV="1">
            <a:off x="342243" y="2092499"/>
            <a:ext cx="3842864" cy="2476620"/>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86" name="接點: 弧形 1385">
            <a:extLst>
              <a:ext uri="{FF2B5EF4-FFF2-40B4-BE49-F238E27FC236}">
                <a16:creationId xmlns:a16="http://schemas.microsoft.com/office/drawing/2014/main" id="{BF9C6832-B06C-D948-10AD-86959DE6D958}"/>
              </a:ext>
            </a:extLst>
          </p:cNvPr>
          <p:cNvCxnSpPr>
            <a:cxnSpLocks/>
            <a:stCxn id="8" idx="0"/>
            <a:endCxn id="4" idx="2"/>
          </p:cNvCxnSpPr>
          <p:nvPr/>
        </p:nvCxnSpPr>
        <p:spPr>
          <a:xfrm rot="5400000" flipH="1" flipV="1">
            <a:off x="263761" y="2412634"/>
            <a:ext cx="4241480" cy="2234967"/>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89" name="接點: 弧形 1388">
            <a:extLst>
              <a:ext uri="{FF2B5EF4-FFF2-40B4-BE49-F238E27FC236}">
                <a16:creationId xmlns:a16="http://schemas.microsoft.com/office/drawing/2014/main" id="{4E93FDA3-4B31-62D0-E315-685F76876918}"/>
              </a:ext>
            </a:extLst>
          </p:cNvPr>
          <p:cNvCxnSpPr>
            <a:cxnSpLocks/>
            <a:stCxn id="10" idx="0"/>
            <a:endCxn id="4" idx="2"/>
          </p:cNvCxnSpPr>
          <p:nvPr/>
        </p:nvCxnSpPr>
        <p:spPr>
          <a:xfrm rot="5400000" flipH="1" flipV="1">
            <a:off x="693525" y="2858373"/>
            <a:ext cx="4257455" cy="1359465"/>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2" name="接點: 弧形 1391">
            <a:extLst>
              <a:ext uri="{FF2B5EF4-FFF2-40B4-BE49-F238E27FC236}">
                <a16:creationId xmlns:a16="http://schemas.microsoft.com/office/drawing/2014/main" id="{93095E69-5C3A-C61D-08DC-B680CB7F21C5}"/>
              </a:ext>
            </a:extLst>
          </p:cNvPr>
          <p:cNvCxnSpPr>
            <a:cxnSpLocks/>
            <a:stCxn id="16" idx="0"/>
            <a:endCxn id="4" idx="2"/>
          </p:cNvCxnSpPr>
          <p:nvPr/>
        </p:nvCxnSpPr>
        <p:spPr>
          <a:xfrm rot="5400000" flipH="1" flipV="1">
            <a:off x="134049" y="1897948"/>
            <a:ext cx="3856507" cy="2879366"/>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5" name="接點: 弧形 1394">
            <a:extLst>
              <a:ext uri="{FF2B5EF4-FFF2-40B4-BE49-F238E27FC236}">
                <a16:creationId xmlns:a16="http://schemas.microsoft.com/office/drawing/2014/main" id="{A09D37DB-CBF2-B572-8F65-26BDD76EB312}"/>
              </a:ext>
            </a:extLst>
          </p:cNvPr>
          <p:cNvCxnSpPr>
            <a:cxnSpLocks/>
            <a:stCxn id="19" idx="0"/>
            <a:endCxn id="4" idx="2"/>
          </p:cNvCxnSpPr>
          <p:nvPr/>
        </p:nvCxnSpPr>
        <p:spPr>
          <a:xfrm rot="5400000" flipH="1" flipV="1">
            <a:off x="573317" y="2340257"/>
            <a:ext cx="3859548" cy="1997788"/>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8" name="接點: 弧形 1397">
            <a:extLst>
              <a:ext uri="{FF2B5EF4-FFF2-40B4-BE49-F238E27FC236}">
                <a16:creationId xmlns:a16="http://schemas.microsoft.com/office/drawing/2014/main" id="{F23DF3D7-E796-028C-1364-668B7B0A6987}"/>
              </a:ext>
            </a:extLst>
          </p:cNvPr>
          <p:cNvCxnSpPr>
            <a:cxnSpLocks/>
            <a:stCxn id="12" idx="0"/>
            <a:endCxn id="4" idx="2"/>
          </p:cNvCxnSpPr>
          <p:nvPr/>
        </p:nvCxnSpPr>
        <p:spPr>
          <a:xfrm rot="16200000" flipV="1">
            <a:off x="1903386" y="3007976"/>
            <a:ext cx="4016842" cy="819644"/>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01" name="接點: 弧形 1400">
            <a:extLst>
              <a:ext uri="{FF2B5EF4-FFF2-40B4-BE49-F238E27FC236}">
                <a16:creationId xmlns:a16="http://schemas.microsoft.com/office/drawing/2014/main" id="{5D341D16-C3F1-5414-B8D3-185500DB412C}"/>
              </a:ext>
            </a:extLst>
          </p:cNvPr>
          <p:cNvCxnSpPr>
            <a:cxnSpLocks/>
            <a:stCxn id="5" idx="0"/>
            <a:endCxn id="4" idx="2"/>
          </p:cNvCxnSpPr>
          <p:nvPr/>
        </p:nvCxnSpPr>
        <p:spPr>
          <a:xfrm rot="16200000" flipV="1">
            <a:off x="2216673" y="2694689"/>
            <a:ext cx="3975714" cy="1405089"/>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04" name="接點: 弧形 1403">
            <a:extLst>
              <a:ext uri="{FF2B5EF4-FFF2-40B4-BE49-F238E27FC236}">
                <a16:creationId xmlns:a16="http://schemas.microsoft.com/office/drawing/2014/main" id="{B41A557F-D3AE-D974-8FF0-5FCE10596316}"/>
              </a:ext>
            </a:extLst>
          </p:cNvPr>
          <p:cNvCxnSpPr>
            <a:cxnSpLocks/>
            <a:stCxn id="9" idx="0"/>
            <a:endCxn id="4" idx="2"/>
          </p:cNvCxnSpPr>
          <p:nvPr/>
        </p:nvCxnSpPr>
        <p:spPr>
          <a:xfrm rot="5400000" flipH="1" flipV="1">
            <a:off x="1268616" y="3544579"/>
            <a:ext cx="4368570" cy="98167"/>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07" name="接點: 弧形 1406">
            <a:extLst>
              <a:ext uri="{FF2B5EF4-FFF2-40B4-BE49-F238E27FC236}">
                <a16:creationId xmlns:a16="http://schemas.microsoft.com/office/drawing/2014/main" id="{C18F06AE-CB6F-779A-E9A7-34F6C5D14A3F}"/>
              </a:ext>
            </a:extLst>
          </p:cNvPr>
          <p:cNvCxnSpPr>
            <a:cxnSpLocks/>
            <a:stCxn id="21" idx="0"/>
            <a:endCxn id="4" idx="2"/>
          </p:cNvCxnSpPr>
          <p:nvPr/>
        </p:nvCxnSpPr>
        <p:spPr>
          <a:xfrm rot="5400000" flipH="1" flipV="1">
            <a:off x="1151589" y="3081524"/>
            <a:ext cx="4022543" cy="678250"/>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1" name="接點: 弧形 1410">
            <a:extLst>
              <a:ext uri="{FF2B5EF4-FFF2-40B4-BE49-F238E27FC236}">
                <a16:creationId xmlns:a16="http://schemas.microsoft.com/office/drawing/2014/main" id="{D1D09095-CC48-373D-A1BA-C7DD9D998467}"/>
              </a:ext>
            </a:extLst>
          </p:cNvPr>
          <p:cNvCxnSpPr>
            <a:cxnSpLocks/>
            <a:stCxn id="14" idx="0"/>
            <a:endCxn id="4" idx="2"/>
          </p:cNvCxnSpPr>
          <p:nvPr/>
        </p:nvCxnSpPr>
        <p:spPr>
          <a:xfrm rot="16200000" flipV="1">
            <a:off x="1453895" y="3457467"/>
            <a:ext cx="4370076" cy="273896"/>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5" name="接點: 弧形 1414">
            <a:extLst>
              <a:ext uri="{FF2B5EF4-FFF2-40B4-BE49-F238E27FC236}">
                <a16:creationId xmlns:a16="http://schemas.microsoft.com/office/drawing/2014/main" id="{AC2C1883-D01B-D8DF-4902-C4F145DC4F82}"/>
              </a:ext>
            </a:extLst>
          </p:cNvPr>
          <p:cNvCxnSpPr>
            <a:cxnSpLocks/>
            <a:stCxn id="5" idx="0"/>
            <a:endCxn id="4" idx="2"/>
          </p:cNvCxnSpPr>
          <p:nvPr/>
        </p:nvCxnSpPr>
        <p:spPr>
          <a:xfrm rot="16200000" flipV="1">
            <a:off x="2216673" y="2694689"/>
            <a:ext cx="3975714" cy="1405089"/>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9" name="接點: 弧形 1418">
            <a:extLst>
              <a:ext uri="{FF2B5EF4-FFF2-40B4-BE49-F238E27FC236}">
                <a16:creationId xmlns:a16="http://schemas.microsoft.com/office/drawing/2014/main" id="{A453F479-E138-D51F-4B55-34AC751A47E9}"/>
              </a:ext>
            </a:extLst>
          </p:cNvPr>
          <p:cNvCxnSpPr>
            <a:cxnSpLocks/>
            <a:stCxn id="9" idx="0"/>
            <a:endCxn id="4" idx="2"/>
          </p:cNvCxnSpPr>
          <p:nvPr/>
        </p:nvCxnSpPr>
        <p:spPr>
          <a:xfrm rot="5400000" flipH="1" flipV="1">
            <a:off x="1268616" y="3544579"/>
            <a:ext cx="4368570" cy="98167"/>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422" name="圖片 1421">
            <a:extLst>
              <a:ext uri="{FF2B5EF4-FFF2-40B4-BE49-F238E27FC236}">
                <a16:creationId xmlns:a16="http://schemas.microsoft.com/office/drawing/2014/main" id="{9C925235-5966-5972-3731-0CF67B87B8DA}"/>
              </a:ext>
            </a:extLst>
          </p:cNvPr>
          <p:cNvPicPr>
            <a:picLocks noChangeAspect="1"/>
          </p:cNvPicPr>
          <p:nvPr/>
        </p:nvPicPr>
        <p:blipFill>
          <a:blip r:embed="rId11">
            <a:clrChange>
              <a:clrFrom>
                <a:srgbClr val="FFFFFF"/>
              </a:clrFrom>
              <a:clrTo>
                <a:srgbClr val="FFFFFF">
                  <a:alpha val="0"/>
                </a:srgbClr>
              </a:clrTo>
            </a:clrChange>
            <a:duotone>
              <a:schemeClr val="accent1">
                <a:shade val="45000"/>
                <a:satMod val="135000"/>
              </a:schemeClr>
              <a:prstClr val="white"/>
            </a:duotone>
          </a:blip>
          <a:stretch>
            <a:fillRect/>
          </a:stretch>
        </p:blipFill>
        <p:spPr>
          <a:xfrm>
            <a:off x="3659400" y="1437860"/>
            <a:ext cx="345210" cy="528276"/>
          </a:xfrm>
          <a:prstGeom prst="rect">
            <a:avLst/>
          </a:prstGeom>
        </p:spPr>
      </p:pic>
      <p:pic>
        <p:nvPicPr>
          <p:cNvPr id="1427" name="圖片 1426">
            <a:extLst>
              <a:ext uri="{FF2B5EF4-FFF2-40B4-BE49-F238E27FC236}">
                <a16:creationId xmlns:a16="http://schemas.microsoft.com/office/drawing/2014/main" id="{4C1CEEAC-A1D4-02B6-79DF-18B8160F00E3}"/>
              </a:ext>
            </a:extLst>
          </p:cNvPr>
          <p:cNvPicPr>
            <a:picLocks noChangeAspect="1"/>
          </p:cNvPicPr>
          <p:nvPr/>
        </p:nvPicPr>
        <p:blipFill>
          <a:blip r:embed="rId11">
            <a:clrChange>
              <a:clrFrom>
                <a:srgbClr val="FFFFFF"/>
              </a:clrFrom>
              <a:clrTo>
                <a:srgbClr val="FFFFFF">
                  <a:alpha val="0"/>
                </a:srgbClr>
              </a:clrTo>
            </a:clrChange>
            <a:duotone>
              <a:schemeClr val="accent1">
                <a:shade val="45000"/>
                <a:satMod val="135000"/>
              </a:schemeClr>
              <a:prstClr val="white"/>
            </a:duotone>
          </a:blip>
          <a:stretch>
            <a:fillRect/>
          </a:stretch>
        </p:blipFill>
        <p:spPr>
          <a:xfrm>
            <a:off x="2549271" y="1411801"/>
            <a:ext cx="345210" cy="528276"/>
          </a:xfrm>
          <a:prstGeom prst="rect">
            <a:avLst/>
          </a:prstGeom>
        </p:spPr>
      </p:pic>
      <p:pic>
        <p:nvPicPr>
          <p:cNvPr id="1431" name="圖片 1430">
            <a:extLst>
              <a:ext uri="{FF2B5EF4-FFF2-40B4-BE49-F238E27FC236}">
                <a16:creationId xmlns:a16="http://schemas.microsoft.com/office/drawing/2014/main" id="{FB0FF529-4BAA-42B2-E6AA-6EE9941F07AE}"/>
              </a:ext>
            </a:extLst>
          </p:cNvPr>
          <p:cNvPicPr>
            <a:picLocks noChangeAspect="1"/>
          </p:cNvPicPr>
          <p:nvPr/>
        </p:nvPicPr>
        <p:blipFill>
          <a:blip r:embed="rId11">
            <a:clrChange>
              <a:clrFrom>
                <a:srgbClr val="FFFFFF"/>
              </a:clrFrom>
              <a:clrTo>
                <a:srgbClr val="FFFFFF">
                  <a:alpha val="0"/>
                </a:srgbClr>
              </a:clrTo>
            </a:clrChange>
            <a:duotone>
              <a:schemeClr val="accent1">
                <a:shade val="45000"/>
                <a:satMod val="135000"/>
              </a:schemeClr>
              <a:prstClr val="white"/>
            </a:duotone>
          </a:blip>
          <a:stretch>
            <a:fillRect/>
          </a:stretch>
        </p:blipFill>
        <p:spPr>
          <a:xfrm>
            <a:off x="941286" y="1411801"/>
            <a:ext cx="345210" cy="528276"/>
          </a:xfrm>
          <a:prstGeom prst="rect">
            <a:avLst/>
          </a:prstGeom>
        </p:spPr>
      </p:pic>
      <p:pic>
        <p:nvPicPr>
          <p:cNvPr id="1141" name="圖片 1140">
            <a:extLst>
              <a:ext uri="{FF2B5EF4-FFF2-40B4-BE49-F238E27FC236}">
                <a16:creationId xmlns:a16="http://schemas.microsoft.com/office/drawing/2014/main" id="{457DBAF4-9141-11D4-60F8-673C5ECA3D74}"/>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8768167" y="5465300"/>
            <a:ext cx="650814" cy="392421"/>
          </a:xfrm>
          <a:prstGeom prst="rect">
            <a:avLst/>
          </a:prstGeom>
        </p:spPr>
      </p:pic>
      <p:pic>
        <p:nvPicPr>
          <p:cNvPr id="1142" name="圖片 1141">
            <a:extLst>
              <a:ext uri="{FF2B5EF4-FFF2-40B4-BE49-F238E27FC236}">
                <a16:creationId xmlns:a16="http://schemas.microsoft.com/office/drawing/2014/main" id="{4A1F1796-1656-9E2C-B697-423D136DA1BA}"/>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8304370" y="5429833"/>
            <a:ext cx="650814" cy="392421"/>
          </a:xfrm>
          <a:prstGeom prst="rect">
            <a:avLst/>
          </a:prstGeom>
        </p:spPr>
      </p:pic>
      <p:pic>
        <p:nvPicPr>
          <p:cNvPr id="1143" name="圖片 1142">
            <a:extLst>
              <a:ext uri="{FF2B5EF4-FFF2-40B4-BE49-F238E27FC236}">
                <a16:creationId xmlns:a16="http://schemas.microsoft.com/office/drawing/2014/main" id="{D18E3D60-8551-2024-45E2-399C648BD863}"/>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7541517" y="5272318"/>
            <a:ext cx="449580" cy="577430"/>
          </a:xfrm>
          <a:prstGeom prst="rect">
            <a:avLst/>
          </a:prstGeom>
        </p:spPr>
      </p:pic>
      <p:pic>
        <p:nvPicPr>
          <p:cNvPr id="1144" name="圖片 1143">
            <a:extLst>
              <a:ext uri="{FF2B5EF4-FFF2-40B4-BE49-F238E27FC236}">
                <a16:creationId xmlns:a16="http://schemas.microsoft.com/office/drawing/2014/main" id="{DEA3EA30-9707-D50C-279A-F58068EA0C59}"/>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7085449" y="5266838"/>
            <a:ext cx="449580" cy="577430"/>
          </a:xfrm>
          <a:prstGeom prst="rect">
            <a:avLst/>
          </a:prstGeom>
        </p:spPr>
      </p:pic>
      <p:pic>
        <p:nvPicPr>
          <p:cNvPr id="1145" name="圖片 1144">
            <a:extLst>
              <a:ext uri="{FF2B5EF4-FFF2-40B4-BE49-F238E27FC236}">
                <a16:creationId xmlns:a16="http://schemas.microsoft.com/office/drawing/2014/main" id="{1B29C332-FDB9-9977-621A-1669922BEC56}"/>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6606617" y="5250154"/>
            <a:ext cx="449580" cy="577430"/>
          </a:xfrm>
          <a:prstGeom prst="rect">
            <a:avLst/>
          </a:prstGeom>
        </p:spPr>
      </p:pic>
      <p:pic>
        <p:nvPicPr>
          <p:cNvPr id="1146" name="圖片 1145">
            <a:extLst>
              <a:ext uri="{FF2B5EF4-FFF2-40B4-BE49-F238E27FC236}">
                <a16:creationId xmlns:a16="http://schemas.microsoft.com/office/drawing/2014/main" id="{050E6C15-43EE-507D-BE70-F420F6C20010}"/>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6203871" y="5263797"/>
            <a:ext cx="449580" cy="577430"/>
          </a:xfrm>
          <a:prstGeom prst="rect">
            <a:avLst/>
          </a:prstGeom>
        </p:spPr>
      </p:pic>
      <p:pic>
        <p:nvPicPr>
          <p:cNvPr id="1147" name="圖片 1146">
            <a:extLst>
              <a:ext uri="{FF2B5EF4-FFF2-40B4-BE49-F238E27FC236}">
                <a16:creationId xmlns:a16="http://schemas.microsoft.com/office/drawing/2014/main" id="{90D11998-F967-BFE0-5938-7F2922A66942}"/>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7723772" y="5664745"/>
            <a:ext cx="449580" cy="577430"/>
          </a:xfrm>
          <a:prstGeom prst="rect">
            <a:avLst/>
          </a:prstGeom>
        </p:spPr>
      </p:pic>
      <p:pic>
        <p:nvPicPr>
          <p:cNvPr id="1148" name="圖片 1147">
            <a:extLst>
              <a:ext uri="{FF2B5EF4-FFF2-40B4-BE49-F238E27FC236}">
                <a16:creationId xmlns:a16="http://schemas.microsoft.com/office/drawing/2014/main" id="{CDFCD6FE-915B-7EF7-1E25-014567B6D5BB}"/>
              </a:ext>
            </a:extLst>
          </p:cNvPr>
          <p:cNvPicPr>
            <a:picLocks noChangeAspect="1"/>
          </p:cNvPicPr>
          <p:nvPr/>
        </p:nvPicPr>
        <p:blipFill rotWithShape="1">
          <a:blip r:embed="rId6">
            <a:clrChange>
              <a:clrFrom>
                <a:srgbClr val="FFFFFF"/>
              </a:clrFrom>
              <a:clrTo>
                <a:srgbClr val="FFFFFF">
                  <a:alpha val="0"/>
                </a:srgbClr>
              </a:clrTo>
            </a:clrChange>
          </a:blip>
          <a:srcRect t="3729" r="13838"/>
          <a:stretch/>
        </p:blipFill>
        <p:spPr>
          <a:xfrm>
            <a:off x="10404601" y="5383004"/>
            <a:ext cx="617029" cy="640181"/>
          </a:xfrm>
          <a:prstGeom prst="rect">
            <a:avLst/>
          </a:prstGeom>
        </p:spPr>
      </p:pic>
      <p:pic>
        <p:nvPicPr>
          <p:cNvPr id="1149" name="圖片 1148">
            <a:extLst>
              <a:ext uri="{FF2B5EF4-FFF2-40B4-BE49-F238E27FC236}">
                <a16:creationId xmlns:a16="http://schemas.microsoft.com/office/drawing/2014/main" id="{B5BF213D-13E1-8BE9-74BB-2E94A81B743E}"/>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8120836" y="5673692"/>
            <a:ext cx="650814" cy="392421"/>
          </a:xfrm>
          <a:prstGeom prst="rect">
            <a:avLst/>
          </a:prstGeom>
        </p:spPr>
      </p:pic>
      <p:pic>
        <p:nvPicPr>
          <p:cNvPr id="1150" name="圖片 1149">
            <a:extLst>
              <a:ext uri="{FF2B5EF4-FFF2-40B4-BE49-F238E27FC236}">
                <a16:creationId xmlns:a16="http://schemas.microsoft.com/office/drawing/2014/main" id="{54F474B6-7B2E-0D29-2D66-1ED90F24F723}"/>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7273245" y="5652594"/>
            <a:ext cx="449580" cy="577430"/>
          </a:xfrm>
          <a:prstGeom prst="rect">
            <a:avLst/>
          </a:prstGeom>
        </p:spPr>
      </p:pic>
      <p:pic>
        <p:nvPicPr>
          <p:cNvPr id="1151" name="圖片 1150">
            <a:extLst>
              <a:ext uri="{FF2B5EF4-FFF2-40B4-BE49-F238E27FC236}">
                <a16:creationId xmlns:a16="http://schemas.microsoft.com/office/drawing/2014/main" id="{46E379B6-6C0A-9D4C-26A8-F95EEC090958}"/>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6848270" y="5648770"/>
            <a:ext cx="449580" cy="577430"/>
          </a:xfrm>
          <a:prstGeom prst="rect">
            <a:avLst/>
          </a:prstGeom>
        </p:spPr>
      </p:pic>
      <p:pic>
        <p:nvPicPr>
          <p:cNvPr id="1152" name="圖片 1151">
            <a:extLst>
              <a:ext uri="{FF2B5EF4-FFF2-40B4-BE49-F238E27FC236}">
                <a16:creationId xmlns:a16="http://schemas.microsoft.com/office/drawing/2014/main" id="{94A7CC68-15B3-1A87-A845-1F605D1C6F9B}"/>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8884453" y="5775860"/>
            <a:ext cx="650814" cy="392421"/>
          </a:xfrm>
          <a:prstGeom prst="rect">
            <a:avLst/>
          </a:prstGeom>
        </p:spPr>
      </p:pic>
      <p:pic>
        <p:nvPicPr>
          <p:cNvPr id="1153" name="圖片 1152">
            <a:extLst>
              <a:ext uri="{FF2B5EF4-FFF2-40B4-BE49-F238E27FC236}">
                <a16:creationId xmlns:a16="http://schemas.microsoft.com/office/drawing/2014/main" id="{3E3F9D28-A774-98CB-7838-012A2B9D59C7}"/>
              </a:ext>
            </a:extLst>
          </p:cNvPr>
          <p:cNvPicPr>
            <a:picLocks noChangeAspect="1"/>
          </p:cNvPicPr>
          <p:nvPr/>
        </p:nvPicPr>
        <p:blipFill rotWithShape="1">
          <a:blip r:embed="rId6">
            <a:clrChange>
              <a:clrFrom>
                <a:srgbClr val="FFFFFF"/>
              </a:clrFrom>
              <a:clrTo>
                <a:srgbClr val="FFFFFF">
                  <a:alpha val="0"/>
                </a:srgbClr>
              </a:clrTo>
            </a:clrChange>
          </a:blip>
          <a:srcRect t="3729" r="13838"/>
          <a:stretch/>
        </p:blipFill>
        <p:spPr>
          <a:xfrm>
            <a:off x="10101038" y="5699121"/>
            <a:ext cx="617029" cy="640181"/>
          </a:xfrm>
          <a:prstGeom prst="rect">
            <a:avLst/>
          </a:prstGeom>
        </p:spPr>
      </p:pic>
      <p:pic>
        <p:nvPicPr>
          <p:cNvPr id="1154" name="圖片 1153">
            <a:extLst>
              <a:ext uri="{FF2B5EF4-FFF2-40B4-BE49-F238E27FC236}">
                <a16:creationId xmlns:a16="http://schemas.microsoft.com/office/drawing/2014/main" id="{16F5F249-D4FB-1246-4E74-F0E8EC2D3FB7}"/>
              </a:ext>
            </a:extLst>
          </p:cNvPr>
          <p:cNvPicPr>
            <a:picLocks noChangeAspect="1"/>
          </p:cNvPicPr>
          <p:nvPr/>
        </p:nvPicPr>
        <p:blipFill rotWithShape="1">
          <a:blip r:embed="rId6">
            <a:clrChange>
              <a:clrFrom>
                <a:srgbClr val="FFFFFF"/>
              </a:clrFrom>
              <a:clrTo>
                <a:srgbClr val="FFFFFF">
                  <a:alpha val="0"/>
                </a:srgbClr>
              </a:clrTo>
            </a:clrChange>
          </a:blip>
          <a:srcRect t="3729" r="13838"/>
          <a:stretch/>
        </p:blipFill>
        <p:spPr>
          <a:xfrm>
            <a:off x="9819156" y="5424132"/>
            <a:ext cx="617029" cy="640181"/>
          </a:xfrm>
          <a:prstGeom prst="rect">
            <a:avLst/>
          </a:prstGeom>
        </p:spPr>
      </p:pic>
      <p:pic>
        <p:nvPicPr>
          <p:cNvPr id="1155" name="圖片 1154">
            <a:extLst>
              <a:ext uri="{FF2B5EF4-FFF2-40B4-BE49-F238E27FC236}">
                <a16:creationId xmlns:a16="http://schemas.microsoft.com/office/drawing/2014/main" id="{CB6127D7-03EA-2BCF-E8BA-D7B886E2CCA9}"/>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8418153" y="5817573"/>
            <a:ext cx="650814" cy="392421"/>
          </a:xfrm>
          <a:prstGeom prst="rect">
            <a:avLst/>
          </a:prstGeom>
        </p:spPr>
      </p:pic>
      <p:pic>
        <p:nvPicPr>
          <p:cNvPr id="1156" name="圖片 1155">
            <a:extLst>
              <a:ext uri="{FF2B5EF4-FFF2-40B4-BE49-F238E27FC236}">
                <a16:creationId xmlns:a16="http://schemas.microsoft.com/office/drawing/2014/main" id="{C9270683-AF99-34BA-6834-278821DFFE2B}"/>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9290301" y="5760663"/>
            <a:ext cx="650814" cy="392421"/>
          </a:xfrm>
          <a:prstGeom prst="rect">
            <a:avLst/>
          </a:prstGeom>
        </p:spPr>
      </p:pic>
      <p:pic>
        <p:nvPicPr>
          <p:cNvPr id="1157" name="圖片 1156">
            <a:extLst>
              <a:ext uri="{FF2B5EF4-FFF2-40B4-BE49-F238E27FC236}">
                <a16:creationId xmlns:a16="http://schemas.microsoft.com/office/drawing/2014/main" id="{1A1F91A4-91DA-C69B-8D2C-3907EFCEEA93}"/>
              </a:ext>
            </a:extLst>
          </p:cNvPr>
          <p:cNvPicPr>
            <a:picLocks noChangeAspect="1"/>
          </p:cNvPicPr>
          <p:nvPr/>
        </p:nvPicPr>
        <p:blipFill rotWithShape="1">
          <a:blip r:embed="rId5">
            <a:clrChange>
              <a:clrFrom>
                <a:srgbClr val="FFFFFF"/>
              </a:clrFrom>
              <a:clrTo>
                <a:srgbClr val="FFFFFF">
                  <a:alpha val="0"/>
                </a:srgbClr>
              </a:clrTo>
            </a:clrChange>
          </a:blip>
          <a:srcRect l="16539" t="6725" r="22549" b="9937"/>
          <a:stretch/>
        </p:blipFill>
        <p:spPr>
          <a:xfrm>
            <a:off x="6369524" y="5644945"/>
            <a:ext cx="449580" cy="577430"/>
          </a:xfrm>
          <a:prstGeom prst="rect">
            <a:avLst/>
          </a:prstGeom>
        </p:spPr>
      </p:pic>
      <p:pic>
        <p:nvPicPr>
          <p:cNvPr id="1158" name="圖片 1157">
            <a:extLst>
              <a:ext uri="{FF2B5EF4-FFF2-40B4-BE49-F238E27FC236}">
                <a16:creationId xmlns:a16="http://schemas.microsoft.com/office/drawing/2014/main" id="{8C6BC991-4C12-45A7-6D02-62C2AD3C1FBE}"/>
              </a:ext>
            </a:extLst>
          </p:cNvPr>
          <p:cNvPicPr>
            <a:picLocks noChangeAspect="1"/>
          </p:cNvPicPr>
          <p:nvPr/>
        </p:nvPicPr>
        <p:blipFill rotWithShape="1">
          <a:blip r:embed="rId4">
            <a:clrChange>
              <a:clrFrom>
                <a:srgbClr val="FFFFFF"/>
              </a:clrFrom>
              <a:clrTo>
                <a:srgbClr val="FFFFFF">
                  <a:alpha val="0"/>
                </a:srgbClr>
              </a:clrTo>
            </a:clrChange>
          </a:blip>
          <a:srcRect b="29580"/>
          <a:stretch/>
        </p:blipFill>
        <p:spPr>
          <a:xfrm>
            <a:off x="9223903" y="5459228"/>
            <a:ext cx="650814" cy="392421"/>
          </a:xfrm>
          <a:prstGeom prst="rect">
            <a:avLst/>
          </a:prstGeom>
        </p:spPr>
      </p:pic>
      <p:pic>
        <p:nvPicPr>
          <p:cNvPr id="1159" name="圖片 1158">
            <a:extLst>
              <a:ext uri="{FF2B5EF4-FFF2-40B4-BE49-F238E27FC236}">
                <a16:creationId xmlns:a16="http://schemas.microsoft.com/office/drawing/2014/main" id="{D665EFEE-A12A-7453-046C-87FC656F5A0C}"/>
              </a:ext>
            </a:extLst>
          </p:cNvPr>
          <p:cNvPicPr>
            <a:picLocks noChangeAspect="1"/>
          </p:cNvPicPr>
          <p:nvPr/>
        </p:nvPicPr>
        <p:blipFill rotWithShape="1">
          <a:blip r:embed="rId6">
            <a:clrChange>
              <a:clrFrom>
                <a:srgbClr val="FFFFFF"/>
              </a:clrFrom>
              <a:clrTo>
                <a:srgbClr val="FFFFFF">
                  <a:alpha val="0"/>
                </a:srgbClr>
              </a:clrTo>
            </a:clrChange>
          </a:blip>
          <a:srcRect t="3729" r="13838"/>
          <a:stretch/>
        </p:blipFill>
        <p:spPr>
          <a:xfrm>
            <a:off x="10683538" y="5744222"/>
            <a:ext cx="617029" cy="640181"/>
          </a:xfrm>
          <a:prstGeom prst="rect">
            <a:avLst/>
          </a:prstGeom>
        </p:spPr>
      </p:pic>
      <p:cxnSp>
        <p:nvCxnSpPr>
          <p:cNvPr id="1166" name="接點: 弧形 1165">
            <a:extLst>
              <a:ext uri="{FF2B5EF4-FFF2-40B4-BE49-F238E27FC236}">
                <a16:creationId xmlns:a16="http://schemas.microsoft.com/office/drawing/2014/main" id="{2CB5E372-734C-076E-E872-A5C1FEF21573}"/>
              </a:ext>
            </a:extLst>
          </p:cNvPr>
          <p:cNvCxnSpPr>
            <a:cxnSpLocks/>
            <a:stCxn id="1146" idx="0"/>
          </p:cNvCxnSpPr>
          <p:nvPr/>
        </p:nvCxnSpPr>
        <p:spPr>
          <a:xfrm rot="5400000" flipH="1" flipV="1">
            <a:off x="6580364" y="3244992"/>
            <a:ext cx="1867103" cy="2170508"/>
          </a:xfrm>
          <a:prstGeom prst="curvedConnector3">
            <a:avLst>
              <a:gd name="adj1" fmla="val 39797"/>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67" name="接點: 弧形 1166">
            <a:extLst>
              <a:ext uri="{FF2B5EF4-FFF2-40B4-BE49-F238E27FC236}">
                <a16:creationId xmlns:a16="http://schemas.microsoft.com/office/drawing/2014/main" id="{3AF9C698-4BDB-B18F-12F0-FD9146AE7021}"/>
              </a:ext>
            </a:extLst>
          </p:cNvPr>
          <p:cNvCxnSpPr>
            <a:cxnSpLocks/>
            <a:stCxn id="1157" idx="0"/>
          </p:cNvCxnSpPr>
          <p:nvPr/>
        </p:nvCxnSpPr>
        <p:spPr>
          <a:xfrm rot="5400000" flipH="1" flipV="1">
            <a:off x="6472616" y="3518393"/>
            <a:ext cx="2248251" cy="2004855"/>
          </a:xfrm>
          <a:prstGeom prst="curvedConnector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68" name="接點: 弧形 1167">
            <a:extLst>
              <a:ext uri="{FF2B5EF4-FFF2-40B4-BE49-F238E27FC236}">
                <a16:creationId xmlns:a16="http://schemas.microsoft.com/office/drawing/2014/main" id="{4A35AB05-2BC8-D632-41F0-2B7483BB74DF}"/>
              </a:ext>
            </a:extLst>
          </p:cNvPr>
          <p:cNvCxnSpPr>
            <a:cxnSpLocks/>
            <a:stCxn id="1151" idx="0"/>
          </p:cNvCxnSpPr>
          <p:nvPr/>
        </p:nvCxnSpPr>
        <p:spPr>
          <a:xfrm rot="5400000" flipH="1" flipV="1">
            <a:off x="6710076" y="3759678"/>
            <a:ext cx="2252076" cy="1526109"/>
          </a:xfrm>
          <a:prstGeom prst="curvedConnector3">
            <a:avLst>
              <a:gd name="adj1" fmla="val 5118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69" name="接點: 弧形 1168">
            <a:extLst>
              <a:ext uri="{FF2B5EF4-FFF2-40B4-BE49-F238E27FC236}">
                <a16:creationId xmlns:a16="http://schemas.microsoft.com/office/drawing/2014/main" id="{4B7CCC54-1753-F9AD-95C4-2E04A0071BE4}"/>
              </a:ext>
            </a:extLst>
          </p:cNvPr>
          <p:cNvCxnSpPr>
            <a:cxnSpLocks/>
            <a:stCxn id="1145" idx="0"/>
          </p:cNvCxnSpPr>
          <p:nvPr/>
        </p:nvCxnSpPr>
        <p:spPr>
          <a:xfrm rot="5400000" flipH="1" flipV="1">
            <a:off x="6788558" y="3439543"/>
            <a:ext cx="1853460" cy="1767762"/>
          </a:xfrm>
          <a:prstGeom prst="curvedConnector3">
            <a:avLst>
              <a:gd name="adj1" fmla="val 3996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0" name="接點: 弧形 1169">
            <a:extLst>
              <a:ext uri="{FF2B5EF4-FFF2-40B4-BE49-F238E27FC236}">
                <a16:creationId xmlns:a16="http://schemas.microsoft.com/office/drawing/2014/main" id="{86A7033C-BDE2-5314-CD81-021BD0D23A4E}"/>
              </a:ext>
            </a:extLst>
          </p:cNvPr>
          <p:cNvCxnSpPr>
            <a:cxnSpLocks/>
            <a:stCxn id="1150" idx="0"/>
          </p:cNvCxnSpPr>
          <p:nvPr/>
        </p:nvCxnSpPr>
        <p:spPr>
          <a:xfrm rot="5400000" flipH="1" flipV="1">
            <a:off x="6920652" y="3974077"/>
            <a:ext cx="2255900" cy="1101134"/>
          </a:xfrm>
          <a:prstGeom prst="curvedConnector3">
            <a:avLst>
              <a:gd name="adj1" fmla="val 52357"/>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1" name="接點: 弧形 1170">
            <a:extLst>
              <a:ext uri="{FF2B5EF4-FFF2-40B4-BE49-F238E27FC236}">
                <a16:creationId xmlns:a16="http://schemas.microsoft.com/office/drawing/2014/main" id="{22A1672A-090E-8222-90F7-8006FA00B1BB}"/>
              </a:ext>
            </a:extLst>
          </p:cNvPr>
          <p:cNvCxnSpPr>
            <a:cxnSpLocks/>
            <a:stCxn id="1144" idx="0"/>
          </p:cNvCxnSpPr>
          <p:nvPr/>
        </p:nvCxnSpPr>
        <p:spPr>
          <a:xfrm rot="5400000" flipH="1" flipV="1">
            <a:off x="7019632" y="3687301"/>
            <a:ext cx="1870144" cy="1288930"/>
          </a:xfrm>
          <a:prstGeom prst="curvedConnector3">
            <a:avLst>
              <a:gd name="adj1" fmla="val 4147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2" name="接點: 弧形 1171">
            <a:extLst>
              <a:ext uri="{FF2B5EF4-FFF2-40B4-BE49-F238E27FC236}">
                <a16:creationId xmlns:a16="http://schemas.microsoft.com/office/drawing/2014/main" id="{DD7F9900-9DDE-508E-3465-D49625DC0360}"/>
              </a:ext>
            </a:extLst>
          </p:cNvPr>
          <p:cNvCxnSpPr>
            <a:cxnSpLocks/>
            <a:stCxn id="1143" idx="0"/>
          </p:cNvCxnSpPr>
          <p:nvPr/>
        </p:nvCxnSpPr>
        <p:spPr>
          <a:xfrm rot="5400000" flipH="1" flipV="1">
            <a:off x="7244926" y="3918075"/>
            <a:ext cx="1875624" cy="832862"/>
          </a:xfrm>
          <a:prstGeom prst="curvedConnector3">
            <a:avLst>
              <a:gd name="adj1" fmla="val 44898"/>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3" name="接點: 弧形 1172">
            <a:extLst>
              <a:ext uri="{FF2B5EF4-FFF2-40B4-BE49-F238E27FC236}">
                <a16:creationId xmlns:a16="http://schemas.microsoft.com/office/drawing/2014/main" id="{6B9107B8-CE8A-1005-0956-3E77EAD9E3BF}"/>
              </a:ext>
            </a:extLst>
          </p:cNvPr>
          <p:cNvCxnSpPr>
            <a:cxnSpLocks/>
            <a:stCxn id="1147" idx="0"/>
          </p:cNvCxnSpPr>
          <p:nvPr/>
        </p:nvCxnSpPr>
        <p:spPr>
          <a:xfrm rot="5400000" flipH="1" flipV="1">
            <a:off x="7139840" y="4205417"/>
            <a:ext cx="2268051" cy="650607"/>
          </a:xfrm>
          <a:prstGeom prst="curvedConnector3">
            <a:avLst>
              <a:gd name="adj1" fmla="val 55157"/>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4" name="接點: 弧形 1173">
            <a:extLst>
              <a:ext uri="{FF2B5EF4-FFF2-40B4-BE49-F238E27FC236}">
                <a16:creationId xmlns:a16="http://schemas.microsoft.com/office/drawing/2014/main" id="{915244B0-00B0-6BBD-10D1-713361093D36}"/>
              </a:ext>
            </a:extLst>
          </p:cNvPr>
          <p:cNvCxnSpPr>
            <a:cxnSpLocks/>
            <a:stCxn id="1141" idx="0"/>
          </p:cNvCxnSpPr>
          <p:nvPr/>
        </p:nvCxnSpPr>
        <p:spPr>
          <a:xfrm rot="16200000" flipV="1">
            <a:off x="7812069" y="4183794"/>
            <a:ext cx="2068606" cy="494405"/>
          </a:xfrm>
          <a:prstGeom prst="curvedConnector3">
            <a:avLst>
              <a:gd name="adj1" fmla="val 49743"/>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5" name="接點: 弧形 1174">
            <a:extLst>
              <a:ext uri="{FF2B5EF4-FFF2-40B4-BE49-F238E27FC236}">
                <a16:creationId xmlns:a16="http://schemas.microsoft.com/office/drawing/2014/main" id="{A60CA2D6-F960-4986-54EA-3DD987B695EF}"/>
              </a:ext>
            </a:extLst>
          </p:cNvPr>
          <p:cNvCxnSpPr>
            <a:cxnSpLocks/>
            <a:stCxn id="1142" idx="0"/>
          </p:cNvCxnSpPr>
          <p:nvPr/>
        </p:nvCxnSpPr>
        <p:spPr>
          <a:xfrm rot="16200000" flipV="1">
            <a:off x="7597904" y="4397960"/>
            <a:ext cx="2033139" cy="30608"/>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7" name="接點: 弧形 1176">
            <a:extLst>
              <a:ext uri="{FF2B5EF4-FFF2-40B4-BE49-F238E27FC236}">
                <a16:creationId xmlns:a16="http://schemas.microsoft.com/office/drawing/2014/main" id="{1ADD5181-2D3D-85B5-97BE-D774766E7589}"/>
              </a:ext>
            </a:extLst>
          </p:cNvPr>
          <p:cNvCxnSpPr>
            <a:cxnSpLocks/>
            <a:stCxn id="1149" idx="0"/>
          </p:cNvCxnSpPr>
          <p:nvPr/>
        </p:nvCxnSpPr>
        <p:spPr>
          <a:xfrm rot="5400000" flipH="1" flipV="1">
            <a:off x="7384207" y="4458730"/>
            <a:ext cx="2276998" cy="152926"/>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81" name="接點: 弧形 1180">
            <a:extLst>
              <a:ext uri="{FF2B5EF4-FFF2-40B4-BE49-F238E27FC236}">
                <a16:creationId xmlns:a16="http://schemas.microsoft.com/office/drawing/2014/main" id="{253268E9-0670-3A9C-B361-0B45746CDE03}"/>
              </a:ext>
            </a:extLst>
          </p:cNvPr>
          <p:cNvCxnSpPr>
            <a:cxnSpLocks/>
            <a:stCxn id="1158" idx="0"/>
          </p:cNvCxnSpPr>
          <p:nvPr/>
        </p:nvCxnSpPr>
        <p:spPr>
          <a:xfrm rot="16200000" flipV="1">
            <a:off x="8042973" y="3952890"/>
            <a:ext cx="2062534" cy="950141"/>
          </a:xfrm>
          <a:prstGeom prst="curvedConnector3">
            <a:avLst>
              <a:gd name="adj1" fmla="val 52835"/>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82" name="接點: 弧形 1181">
            <a:extLst>
              <a:ext uri="{FF2B5EF4-FFF2-40B4-BE49-F238E27FC236}">
                <a16:creationId xmlns:a16="http://schemas.microsoft.com/office/drawing/2014/main" id="{FEE01531-34F7-D90E-872B-0ADC91DB8D50}"/>
              </a:ext>
            </a:extLst>
          </p:cNvPr>
          <p:cNvCxnSpPr>
            <a:cxnSpLocks/>
            <a:stCxn id="1155" idx="0"/>
          </p:cNvCxnSpPr>
          <p:nvPr/>
        </p:nvCxnSpPr>
        <p:spPr>
          <a:xfrm rot="16200000" flipV="1">
            <a:off x="7460926" y="4534938"/>
            <a:ext cx="2420879" cy="144391"/>
          </a:xfrm>
          <a:prstGeom prst="curvedConnector3">
            <a:avLst>
              <a:gd name="adj1" fmla="val 54172"/>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2" name="接點: 弧形 1191">
            <a:extLst>
              <a:ext uri="{FF2B5EF4-FFF2-40B4-BE49-F238E27FC236}">
                <a16:creationId xmlns:a16="http://schemas.microsoft.com/office/drawing/2014/main" id="{692CC48C-937A-9947-CDFA-87797505F90C}"/>
              </a:ext>
            </a:extLst>
          </p:cNvPr>
          <p:cNvCxnSpPr>
            <a:cxnSpLocks/>
            <a:stCxn id="1154" idx="0"/>
          </p:cNvCxnSpPr>
          <p:nvPr/>
        </p:nvCxnSpPr>
        <p:spPr>
          <a:xfrm rot="16200000" flipV="1">
            <a:off x="8349701" y="3646162"/>
            <a:ext cx="2027438" cy="1528502"/>
          </a:xfrm>
          <a:prstGeom prst="curvedConnector3">
            <a:avLst>
              <a:gd name="adj1" fmla="val 48689"/>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3" name="接點: 弧形 1192">
            <a:extLst>
              <a:ext uri="{FF2B5EF4-FFF2-40B4-BE49-F238E27FC236}">
                <a16:creationId xmlns:a16="http://schemas.microsoft.com/office/drawing/2014/main" id="{BD205358-4B06-2104-9FCC-3DFB6F0F64FF}"/>
              </a:ext>
            </a:extLst>
          </p:cNvPr>
          <p:cNvCxnSpPr>
            <a:cxnSpLocks/>
            <a:stCxn id="1153" idx="0"/>
          </p:cNvCxnSpPr>
          <p:nvPr/>
        </p:nvCxnSpPr>
        <p:spPr>
          <a:xfrm rot="16200000" flipV="1">
            <a:off x="8353148" y="3642716"/>
            <a:ext cx="2302427" cy="1810384"/>
          </a:xfrm>
          <a:prstGeom prst="curvedConnector3">
            <a:avLst>
              <a:gd name="adj1" fmla="val 54156"/>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19" name="接點: 弧形 1218">
            <a:extLst>
              <a:ext uri="{FF2B5EF4-FFF2-40B4-BE49-F238E27FC236}">
                <a16:creationId xmlns:a16="http://schemas.microsoft.com/office/drawing/2014/main" id="{E0C78C84-98B3-22C5-936D-CBEE550D9F68}"/>
              </a:ext>
            </a:extLst>
          </p:cNvPr>
          <p:cNvCxnSpPr>
            <a:cxnSpLocks/>
            <a:stCxn id="1156" idx="0"/>
          </p:cNvCxnSpPr>
          <p:nvPr/>
        </p:nvCxnSpPr>
        <p:spPr>
          <a:xfrm rot="16200000" flipV="1">
            <a:off x="7925455" y="4070409"/>
            <a:ext cx="2363969" cy="1016539"/>
          </a:xfrm>
          <a:prstGeom prst="curvedConnector3">
            <a:avLst>
              <a:gd name="adj1" fmla="val 58546"/>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22" name="接點: 弧形 1221">
            <a:extLst>
              <a:ext uri="{FF2B5EF4-FFF2-40B4-BE49-F238E27FC236}">
                <a16:creationId xmlns:a16="http://schemas.microsoft.com/office/drawing/2014/main" id="{2AC3B5DA-B0CE-F45E-A2A5-BEC7796CBC12}"/>
              </a:ext>
            </a:extLst>
          </p:cNvPr>
          <p:cNvCxnSpPr>
            <a:cxnSpLocks/>
          </p:cNvCxnSpPr>
          <p:nvPr/>
        </p:nvCxnSpPr>
        <p:spPr>
          <a:xfrm rot="16200000" flipV="1">
            <a:off x="7721756" y="4274107"/>
            <a:ext cx="2366466" cy="611639"/>
          </a:xfrm>
          <a:prstGeom prst="curvedConnector3">
            <a:avLst>
              <a:gd name="adj1" fmla="val 55167"/>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25" name="接點: 弧形 1224">
            <a:extLst>
              <a:ext uri="{FF2B5EF4-FFF2-40B4-BE49-F238E27FC236}">
                <a16:creationId xmlns:a16="http://schemas.microsoft.com/office/drawing/2014/main" id="{3A85E2E9-D81E-AAA0-865C-856BA87D2B56}"/>
              </a:ext>
            </a:extLst>
          </p:cNvPr>
          <p:cNvCxnSpPr>
            <a:cxnSpLocks/>
            <a:stCxn id="1148" idx="0"/>
          </p:cNvCxnSpPr>
          <p:nvPr/>
        </p:nvCxnSpPr>
        <p:spPr>
          <a:xfrm rot="16200000" flipV="1">
            <a:off x="8662988" y="3332875"/>
            <a:ext cx="1986310" cy="2113947"/>
          </a:xfrm>
          <a:prstGeom prst="curvedConnector3">
            <a:avLst>
              <a:gd name="adj1" fmla="val 45985"/>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28" name="接點: 弧形 1227">
            <a:extLst>
              <a:ext uri="{FF2B5EF4-FFF2-40B4-BE49-F238E27FC236}">
                <a16:creationId xmlns:a16="http://schemas.microsoft.com/office/drawing/2014/main" id="{2AECA22E-1BDA-2A40-C37F-B64C8AAB3040}"/>
              </a:ext>
            </a:extLst>
          </p:cNvPr>
          <p:cNvCxnSpPr>
            <a:cxnSpLocks/>
            <a:stCxn id="1153" idx="0"/>
          </p:cNvCxnSpPr>
          <p:nvPr/>
        </p:nvCxnSpPr>
        <p:spPr>
          <a:xfrm rot="16200000" flipV="1">
            <a:off x="8353148" y="3642716"/>
            <a:ext cx="2302427" cy="1810384"/>
          </a:xfrm>
          <a:prstGeom prst="curvedConnector3">
            <a:avLst>
              <a:gd name="adj1" fmla="val 53925"/>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31" name="接點: 弧形 1230">
            <a:extLst>
              <a:ext uri="{FF2B5EF4-FFF2-40B4-BE49-F238E27FC236}">
                <a16:creationId xmlns:a16="http://schemas.microsoft.com/office/drawing/2014/main" id="{B4668632-15C8-2351-0293-23535BA97B98}"/>
              </a:ext>
            </a:extLst>
          </p:cNvPr>
          <p:cNvCxnSpPr>
            <a:cxnSpLocks/>
            <a:stCxn id="1159" idx="0"/>
          </p:cNvCxnSpPr>
          <p:nvPr/>
        </p:nvCxnSpPr>
        <p:spPr>
          <a:xfrm rot="16200000" flipV="1">
            <a:off x="8621847" y="3374016"/>
            <a:ext cx="2347528" cy="2392884"/>
          </a:xfrm>
          <a:prstGeom prst="curvedConnector3">
            <a:avLst>
              <a:gd name="adj1" fmla="val 52944"/>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35" name="接點: 弧形 1234">
            <a:extLst>
              <a:ext uri="{FF2B5EF4-FFF2-40B4-BE49-F238E27FC236}">
                <a16:creationId xmlns:a16="http://schemas.microsoft.com/office/drawing/2014/main" id="{C639C10D-13CF-056B-89CD-6E91A2B880F8}"/>
              </a:ext>
            </a:extLst>
          </p:cNvPr>
          <p:cNvCxnSpPr>
            <a:cxnSpLocks/>
            <a:stCxn id="1199" idx="0"/>
          </p:cNvCxnSpPr>
          <p:nvPr/>
        </p:nvCxnSpPr>
        <p:spPr>
          <a:xfrm rot="5400000" flipH="1" flipV="1">
            <a:off x="7629133" y="2840619"/>
            <a:ext cx="413960" cy="1526111"/>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7" name="接點: 弧形 1246">
            <a:extLst>
              <a:ext uri="{FF2B5EF4-FFF2-40B4-BE49-F238E27FC236}">
                <a16:creationId xmlns:a16="http://schemas.microsoft.com/office/drawing/2014/main" id="{78A028C2-D27A-35E5-B6AF-8D8353E9BDE8}"/>
              </a:ext>
            </a:extLst>
          </p:cNvPr>
          <p:cNvCxnSpPr>
            <a:cxnSpLocks/>
            <a:stCxn id="23" idx="0"/>
            <a:endCxn id="1461" idx="2"/>
          </p:cNvCxnSpPr>
          <p:nvPr/>
        </p:nvCxnSpPr>
        <p:spPr>
          <a:xfrm rot="16200000" flipV="1">
            <a:off x="7317097" y="1429690"/>
            <a:ext cx="1299308" cy="1243638"/>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0" name="接點: 弧形 1249">
            <a:extLst>
              <a:ext uri="{FF2B5EF4-FFF2-40B4-BE49-F238E27FC236}">
                <a16:creationId xmlns:a16="http://schemas.microsoft.com/office/drawing/2014/main" id="{0BBAC4DB-CD60-30F3-AD72-492B8A1C6CA3}"/>
              </a:ext>
            </a:extLst>
          </p:cNvPr>
          <p:cNvCxnSpPr>
            <a:cxnSpLocks/>
            <a:stCxn id="23" idx="0"/>
            <a:endCxn id="1463" idx="2"/>
          </p:cNvCxnSpPr>
          <p:nvPr/>
        </p:nvCxnSpPr>
        <p:spPr>
          <a:xfrm rot="16200000" flipV="1">
            <a:off x="7907568" y="2020160"/>
            <a:ext cx="1267488" cy="94517"/>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3" name="接點: 弧形 1252">
            <a:extLst>
              <a:ext uri="{FF2B5EF4-FFF2-40B4-BE49-F238E27FC236}">
                <a16:creationId xmlns:a16="http://schemas.microsoft.com/office/drawing/2014/main" id="{4C70C3D9-7501-6723-D6B5-D5A8AD130144}"/>
              </a:ext>
            </a:extLst>
          </p:cNvPr>
          <p:cNvCxnSpPr>
            <a:cxnSpLocks/>
          </p:cNvCxnSpPr>
          <p:nvPr/>
        </p:nvCxnSpPr>
        <p:spPr>
          <a:xfrm rot="5400000" flipH="1" flipV="1">
            <a:off x="9056663" y="1220523"/>
            <a:ext cx="1030864" cy="1945852"/>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85" name="文字方塊 1284">
            <a:extLst>
              <a:ext uri="{FF2B5EF4-FFF2-40B4-BE49-F238E27FC236}">
                <a16:creationId xmlns:a16="http://schemas.microsoft.com/office/drawing/2014/main" id="{80AA5A54-9322-199A-336D-E158A35FCDAB}"/>
              </a:ext>
            </a:extLst>
          </p:cNvPr>
          <p:cNvSpPr txBox="1"/>
          <p:nvPr/>
        </p:nvSpPr>
        <p:spPr>
          <a:xfrm>
            <a:off x="7983276" y="2860398"/>
            <a:ext cx="1210588" cy="400110"/>
          </a:xfrm>
          <a:prstGeom prst="rect">
            <a:avLst/>
          </a:prstGeom>
          <a:noFill/>
        </p:spPr>
        <p:txBody>
          <a:bodyPr wrap="none" rtlCol="0">
            <a:spAutoFit/>
          </a:bodyPr>
          <a:lstStyle/>
          <a:p>
            <a:r>
              <a:rPr lang="zh-TW" altLang="en-US" sz="2000" b="1">
                <a:solidFill>
                  <a:schemeClr val="bg1"/>
                </a:solidFill>
                <a:effectLst>
                  <a:glow rad="203200">
                    <a:schemeClr val="tx1">
                      <a:lumMod val="95000"/>
                      <a:lumOff val="5000"/>
                      <a:alpha val="75000"/>
                    </a:schemeClr>
                  </a:glow>
                </a:effectLst>
                <a:latin typeface="+mj-lt"/>
                <a:ea typeface="+mj-ea"/>
              </a:rPr>
              <a:t>數據中台</a:t>
            </a:r>
          </a:p>
        </p:txBody>
      </p:sp>
      <p:pic>
        <p:nvPicPr>
          <p:cNvPr id="1410" name="Picture 24" descr="Data Ingestion Definition, Types And Challenges, 46% OFF">
            <a:extLst>
              <a:ext uri="{FF2B5EF4-FFF2-40B4-BE49-F238E27FC236}">
                <a16:creationId xmlns:a16="http://schemas.microsoft.com/office/drawing/2014/main" id="{3581D511-F5D8-57CF-6E65-25803CBFAC6D}"/>
              </a:ext>
            </a:extLst>
          </p:cNvPr>
          <p:cNvPicPr>
            <a:picLocks noChangeAspect="1" noChangeArrowheads="1"/>
          </p:cNvPicPr>
          <p:nvPr/>
        </p:nvPicPr>
        <p:blipFill rotWithShape="1">
          <a:blip r:embed="rId12">
            <a:biLevel thresh="75000"/>
            <a:extLst>
              <a:ext uri="{28A0092B-C50C-407E-A947-70E740481C1C}">
                <a14:useLocalDpi xmlns:a14="http://schemas.microsoft.com/office/drawing/2010/main" val="0"/>
              </a:ext>
            </a:extLst>
          </a:blip>
          <a:srcRect r="13208"/>
          <a:stretch/>
        </p:blipFill>
        <p:spPr bwMode="auto">
          <a:xfrm>
            <a:off x="7565375" y="2752681"/>
            <a:ext cx="383292" cy="324316"/>
          </a:xfrm>
          <a:prstGeom prst="rect">
            <a:avLst/>
          </a:prstGeom>
          <a:noFill/>
          <a:extLst>
            <a:ext uri="{909E8E84-426E-40DD-AFC4-6F175D3DCCD1}">
              <a14:hiddenFill xmlns:a14="http://schemas.microsoft.com/office/drawing/2010/main">
                <a:solidFill>
                  <a:srgbClr val="FFFFFF"/>
                </a:solidFill>
              </a14:hiddenFill>
            </a:ext>
          </a:extLst>
        </p:spPr>
      </p:pic>
      <p:pic>
        <p:nvPicPr>
          <p:cNvPr id="1413" name="圖片 1412">
            <a:extLst>
              <a:ext uri="{FF2B5EF4-FFF2-40B4-BE49-F238E27FC236}">
                <a16:creationId xmlns:a16="http://schemas.microsoft.com/office/drawing/2014/main" id="{677F57E3-7F1D-442F-505A-4F95B7974F86}"/>
              </a:ext>
            </a:extLst>
          </p:cNvPr>
          <p:cNvPicPr>
            <a:picLocks noChangeAspect="1"/>
          </p:cNvPicPr>
          <p:nvPr/>
        </p:nvPicPr>
        <p:blipFill>
          <a:blip r:embed="rId13">
            <a:clrChange>
              <a:clrFrom>
                <a:srgbClr val="FFFFFF"/>
              </a:clrFrom>
              <a:clrTo>
                <a:srgbClr val="FFFFFF">
                  <a:alpha val="0"/>
                </a:srgbClr>
              </a:clrTo>
            </a:clrChange>
          </a:blip>
          <a:stretch>
            <a:fillRect/>
          </a:stretch>
        </p:blipFill>
        <p:spPr>
          <a:xfrm>
            <a:off x="7596741" y="3141406"/>
            <a:ext cx="333033" cy="205265"/>
          </a:xfrm>
          <a:prstGeom prst="rect">
            <a:avLst/>
          </a:prstGeom>
        </p:spPr>
      </p:pic>
      <p:pic>
        <p:nvPicPr>
          <p:cNvPr id="1418" name="Picture 6" descr="身份驗證圖示簡單的元素插圖認證概念符號設計可用於網路和行動裝置向量圖形及更多互聯網圖片- 互聯網, 人, 使用電話- iStock">
            <a:extLst>
              <a:ext uri="{FF2B5EF4-FFF2-40B4-BE49-F238E27FC236}">
                <a16:creationId xmlns:a16="http://schemas.microsoft.com/office/drawing/2014/main" id="{D4C71E0D-21F9-25F8-07B3-666FA60B35D4}"/>
              </a:ext>
            </a:extLst>
          </p:cNvPr>
          <p:cNvPicPr>
            <a:picLocks noChangeAspect="1" noChangeArrowheads="1"/>
          </p:cNvPicPr>
          <p:nvPr/>
        </p:nvPicPr>
        <p:blipFill rotWithShape="1">
          <a:blip r:embed="rId14">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25794" t="27344" r="25595" b="30484"/>
          <a:stretch/>
        </p:blipFill>
        <p:spPr bwMode="auto">
          <a:xfrm>
            <a:off x="9269346" y="2715408"/>
            <a:ext cx="432867" cy="375547"/>
          </a:xfrm>
          <a:prstGeom prst="rect">
            <a:avLst/>
          </a:prstGeom>
          <a:noFill/>
          <a:extLst>
            <a:ext uri="{909E8E84-426E-40DD-AFC4-6F175D3DCCD1}">
              <a14:hiddenFill xmlns:a14="http://schemas.microsoft.com/office/drawing/2010/main">
                <a:solidFill>
                  <a:srgbClr val="FFFFFF"/>
                </a:solidFill>
              </a14:hiddenFill>
            </a:ext>
          </a:extLst>
        </p:spPr>
      </p:pic>
      <p:pic>
        <p:nvPicPr>
          <p:cNvPr id="1423" name="圖片 1422">
            <a:extLst>
              <a:ext uri="{FF2B5EF4-FFF2-40B4-BE49-F238E27FC236}">
                <a16:creationId xmlns:a16="http://schemas.microsoft.com/office/drawing/2014/main" id="{382E62D0-A537-EFEE-0D0F-1696145282DF}"/>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9334484" y="3090646"/>
            <a:ext cx="299447" cy="289606"/>
          </a:xfrm>
          <a:prstGeom prst="rect">
            <a:avLst/>
          </a:prstGeom>
        </p:spPr>
      </p:pic>
      <p:pic>
        <p:nvPicPr>
          <p:cNvPr id="1199" name="Picture 6" descr="機台數據連網整合至內部系統">
            <a:extLst>
              <a:ext uri="{FF2B5EF4-FFF2-40B4-BE49-F238E27FC236}">
                <a16:creationId xmlns:a16="http://schemas.microsoft.com/office/drawing/2014/main" id="{AD788288-A7CE-9E91-C39F-264FD6AE0D98}"/>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159" t="4801" r="3192" b="33457"/>
          <a:stretch/>
        </p:blipFill>
        <p:spPr bwMode="auto">
          <a:xfrm>
            <a:off x="6248358" y="3810654"/>
            <a:ext cx="1649399" cy="6878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200" name="文字方塊 1199">
            <a:extLst>
              <a:ext uri="{FF2B5EF4-FFF2-40B4-BE49-F238E27FC236}">
                <a16:creationId xmlns:a16="http://schemas.microsoft.com/office/drawing/2014/main" id="{0AF15946-C116-34C5-F5A9-3374E921AD16}"/>
              </a:ext>
            </a:extLst>
          </p:cNvPr>
          <p:cNvSpPr txBox="1"/>
          <p:nvPr/>
        </p:nvSpPr>
        <p:spPr>
          <a:xfrm>
            <a:off x="6459639" y="4098358"/>
            <a:ext cx="1324402" cy="400110"/>
          </a:xfrm>
          <a:prstGeom prst="rect">
            <a:avLst/>
          </a:prstGeom>
          <a:noFill/>
        </p:spPr>
        <p:txBody>
          <a:bodyPr wrap="none" rtlCol="0">
            <a:spAutoFit/>
          </a:bodyPr>
          <a:lstStyle/>
          <a:p>
            <a:r>
              <a:rPr lang="en-US" altLang="zh-TW" sz="2000" b="1">
                <a:solidFill>
                  <a:schemeClr val="bg1"/>
                </a:solidFill>
                <a:effectLst>
                  <a:glow rad="203200">
                    <a:schemeClr val="tx1">
                      <a:lumMod val="95000"/>
                      <a:lumOff val="5000"/>
                      <a:alpha val="75000"/>
                    </a:schemeClr>
                  </a:glow>
                </a:effectLst>
                <a:latin typeface="+mj-lt"/>
                <a:ea typeface="+mj-ea"/>
              </a:rPr>
              <a:t>MES </a:t>
            </a:r>
            <a:r>
              <a:rPr lang="zh-TW" altLang="en-US" sz="2000" b="1">
                <a:solidFill>
                  <a:schemeClr val="bg1"/>
                </a:solidFill>
                <a:effectLst>
                  <a:glow rad="203200">
                    <a:schemeClr val="tx1">
                      <a:lumMod val="95000"/>
                      <a:lumOff val="5000"/>
                      <a:alpha val="75000"/>
                    </a:schemeClr>
                  </a:glow>
                </a:effectLst>
                <a:latin typeface="+mj-lt"/>
                <a:ea typeface="+mj-ea"/>
              </a:rPr>
              <a:t>系統</a:t>
            </a:r>
          </a:p>
        </p:txBody>
      </p:sp>
      <p:pic>
        <p:nvPicPr>
          <p:cNvPr id="1432" name="圖片 1431">
            <a:extLst>
              <a:ext uri="{FF2B5EF4-FFF2-40B4-BE49-F238E27FC236}">
                <a16:creationId xmlns:a16="http://schemas.microsoft.com/office/drawing/2014/main" id="{3FE1E8EB-12D6-EE5C-4C56-3F7D99B895C7}"/>
              </a:ext>
            </a:extLst>
          </p:cNvPr>
          <p:cNvPicPr>
            <a:picLocks noChangeAspect="1"/>
          </p:cNvPicPr>
          <p:nvPr/>
        </p:nvPicPr>
        <p:blipFill>
          <a:blip r:embed="rId16">
            <a:clrChange>
              <a:clrFrom>
                <a:srgbClr val="FFFFFF"/>
              </a:clrFrom>
              <a:clrTo>
                <a:srgbClr val="FFFFFF">
                  <a:alpha val="0"/>
                </a:srgbClr>
              </a:clrTo>
            </a:clrChange>
            <a:duotone>
              <a:schemeClr val="accent1">
                <a:shade val="45000"/>
                <a:satMod val="135000"/>
              </a:schemeClr>
              <a:prstClr val="white"/>
            </a:duotone>
          </a:blip>
          <a:stretch>
            <a:fillRect/>
          </a:stretch>
        </p:blipFill>
        <p:spPr>
          <a:xfrm>
            <a:off x="6852242" y="1422170"/>
            <a:ext cx="323290" cy="624608"/>
          </a:xfrm>
          <a:prstGeom prst="rect">
            <a:avLst/>
          </a:prstGeom>
        </p:spPr>
      </p:pic>
      <p:pic>
        <p:nvPicPr>
          <p:cNvPr id="1459" name="圖片 1458">
            <a:extLst>
              <a:ext uri="{FF2B5EF4-FFF2-40B4-BE49-F238E27FC236}">
                <a16:creationId xmlns:a16="http://schemas.microsoft.com/office/drawing/2014/main" id="{3083CDD1-1273-0BD1-7660-AEE031B0181D}"/>
              </a:ext>
            </a:extLst>
          </p:cNvPr>
          <p:cNvPicPr>
            <a:picLocks noChangeAspect="1"/>
          </p:cNvPicPr>
          <p:nvPr/>
        </p:nvPicPr>
        <p:blipFill>
          <a:blip r:embed="rId3"/>
          <a:stretch>
            <a:fillRect/>
          </a:stretch>
        </p:blipFill>
        <p:spPr>
          <a:xfrm>
            <a:off x="8961471" y="890501"/>
            <a:ext cx="1012817" cy="500632"/>
          </a:xfrm>
          <a:prstGeom prst="rect">
            <a:avLst/>
          </a:prstGeom>
          <a:noFill/>
          <a:ln>
            <a:solidFill>
              <a:schemeClr val="tx1"/>
            </a:solidFill>
          </a:ln>
        </p:spPr>
      </p:pic>
      <p:pic>
        <p:nvPicPr>
          <p:cNvPr id="1460" name="圖片 1459">
            <a:extLst>
              <a:ext uri="{FF2B5EF4-FFF2-40B4-BE49-F238E27FC236}">
                <a16:creationId xmlns:a16="http://schemas.microsoft.com/office/drawing/2014/main" id="{50BA9614-6C48-6B8C-1D7D-720A8B11D594}"/>
              </a:ext>
            </a:extLst>
          </p:cNvPr>
          <p:cNvPicPr>
            <a:picLocks noChangeAspect="1"/>
          </p:cNvPicPr>
          <p:nvPr/>
        </p:nvPicPr>
        <p:blipFill rotWithShape="1">
          <a:blip r:embed="rId7">
            <a:duotone>
              <a:schemeClr val="accent4">
                <a:shade val="45000"/>
                <a:satMod val="135000"/>
              </a:schemeClr>
              <a:prstClr val="white"/>
            </a:duotone>
          </a:blip>
          <a:srcRect t="16706" b="15158"/>
          <a:stretch/>
        </p:blipFill>
        <p:spPr>
          <a:xfrm>
            <a:off x="6691566" y="890501"/>
            <a:ext cx="1253997" cy="503896"/>
          </a:xfrm>
          <a:prstGeom prst="rect">
            <a:avLst/>
          </a:prstGeom>
          <a:ln>
            <a:solidFill>
              <a:schemeClr val="tx1"/>
            </a:solidFill>
          </a:ln>
        </p:spPr>
      </p:pic>
      <p:sp>
        <p:nvSpPr>
          <p:cNvPr id="1461" name="文字方塊 1460">
            <a:extLst>
              <a:ext uri="{FF2B5EF4-FFF2-40B4-BE49-F238E27FC236}">
                <a16:creationId xmlns:a16="http://schemas.microsoft.com/office/drawing/2014/main" id="{37528842-BEE6-36D9-B176-31E6F48DBCD7}"/>
              </a:ext>
            </a:extLst>
          </p:cNvPr>
          <p:cNvSpPr txBox="1"/>
          <p:nvPr/>
        </p:nvSpPr>
        <p:spPr>
          <a:xfrm>
            <a:off x="6774102" y="1094078"/>
            <a:ext cx="1141659" cy="307777"/>
          </a:xfrm>
          <a:prstGeom prst="rect">
            <a:avLst/>
          </a:prstGeom>
          <a:noFill/>
        </p:spPr>
        <p:txBody>
          <a:bodyPr wrap="none" rtlCol="0">
            <a:spAutoFit/>
          </a:bodyPr>
          <a:lstStyle/>
          <a:p>
            <a:r>
              <a:rPr lang="en-US" altLang="zh-TW" sz="1400" b="1">
                <a:solidFill>
                  <a:schemeClr val="bg1"/>
                </a:solidFill>
                <a:effectLst>
                  <a:glow rad="203200">
                    <a:schemeClr val="tx1">
                      <a:lumMod val="95000"/>
                      <a:lumOff val="5000"/>
                      <a:alpha val="75000"/>
                    </a:schemeClr>
                  </a:glow>
                </a:effectLst>
              </a:rPr>
              <a:t>AI Platform</a:t>
            </a:r>
            <a:endParaRPr lang="zh-TW" altLang="en-US" sz="1400" b="1">
              <a:solidFill>
                <a:schemeClr val="bg1"/>
              </a:solidFill>
              <a:effectLst>
                <a:glow rad="203200">
                  <a:schemeClr val="tx1">
                    <a:lumMod val="95000"/>
                    <a:lumOff val="5000"/>
                    <a:alpha val="75000"/>
                  </a:schemeClr>
                </a:glow>
              </a:effectLst>
            </a:endParaRPr>
          </a:p>
        </p:txBody>
      </p:sp>
      <p:pic>
        <p:nvPicPr>
          <p:cNvPr id="1462" name="Picture 4" descr="當Excel不能勝任財務分析的需求，需要使用BI報表的解決方案| 帆軟軟體">
            <a:extLst>
              <a:ext uri="{FF2B5EF4-FFF2-40B4-BE49-F238E27FC236}">
                <a16:creationId xmlns:a16="http://schemas.microsoft.com/office/drawing/2014/main" id="{1B83A66A-F400-B5E9-DCF9-9E68184E732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938" t="25927" r="11253" b="2975"/>
          <a:stretch/>
        </p:blipFill>
        <p:spPr bwMode="auto">
          <a:xfrm>
            <a:off x="8001515" y="890501"/>
            <a:ext cx="921198" cy="49768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463" name="文字方塊 1462">
            <a:extLst>
              <a:ext uri="{FF2B5EF4-FFF2-40B4-BE49-F238E27FC236}">
                <a16:creationId xmlns:a16="http://schemas.microsoft.com/office/drawing/2014/main" id="{C3934F94-08A9-B44A-1B5A-AADD8BA71826}"/>
              </a:ext>
            </a:extLst>
          </p:cNvPr>
          <p:cNvSpPr txBox="1"/>
          <p:nvPr/>
        </p:nvSpPr>
        <p:spPr>
          <a:xfrm>
            <a:off x="8222183" y="1125898"/>
            <a:ext cx="543739" cy="307777"/>
          </a:xfrm>
          <a:prstGeom prst="rect">
            <a:avLst/>
          </a:prstGeom>
          <a:noFill/>
        </p:spPr>
        <p:txBody>
          <a:bodyPr wrap="none" rtlCol="0">
            <a:spAutoFit/>
          </a:bodyPr>
          <a:lstStyle/>
          <a:p>
            <a:r>
              <a:rPr lang="zh-TW" altLang="en-US" sz="1400" b="1">
                <a:solidFill>
                  <a:schemeClr val="bg1"/>
                </a:solidFill>
                <a:effectLst>
                  <a:glow rad="203200">
                    <a:schemeClr val="tx1">
                      <a:lumMod val="95000"/>
                      <a:lumOff val="5000"/>
                      <a:alpha val="75000"/>
                    </a:schemeClr>
                  </a:glow>
                </a:effectLst>
                <a:latin typeface="+mj-lt"/>
                <a:ea typeface="+mj-ea"/>
              </a:rPr>
              <a:t>報表</a:t>
            </a:r>
          </a:p>
        </p:txBody>
      </p:sp>
      <p:pic>
        <p:nvPicPr>
          <p:cNvPr id="1464" name="圖片 1463">
            <a:extLst>
              <a:ext uri="{FF2B5EF4-FFF2-40B4-BE49-F238E27FC236}">
                <a16:creationId xmlns:a16="http://schemas.microsoft.com/office/drawing/2014/main" id="{E93D6CE7-E31A-4E80-1F4D-2CE9F83D406D}"/>
              </a:ext>
            </a:extLst>
          </p:cNvPr>
          <p:cNvPicPr>
            <a:picLocks noChangeAspect="1"/>
          </p:cNvPicPr>
          <p:nvPr/>
        </p:nvPicPr>
        <p:blipFill rotWithShape="1">
          <a:blip r:embed="rId9"/>
          <a:srcRect t="1925" b="17349"/>
          <a:stretch/>
        </p:blipFill>
        <p:spPr>
          <a:xfrm>
            <a:off x="10006105" y="887726"/>
            <a:ext cx="1069127" cy="508758"/>
          </a:xfrm>
          <a:prstGeom prst="rect">
            <a:avLst/>
          </a:prstGeom>
          <a:noFill/>
          <a:ln>
            <a:solidFill>
              <a:schemeClr val="tx1"/>
            </a:solidFill>
          </a:ln>
        </p:spPr>
      </p:pic>
      <p:sp>
        <p:nvSpPr>
          <p:cNvPr id="1465" name="文字方塊 1464">
            <a:extLst>
              <a:ext uri="{FF2B5EF4-FFF2-40B4-BE49-F238E27FC236}">
                <a16:creationId xmlns:a16="http://schemas.microsoft.com/office/drawing/2014/main" id="{5C3C23CF-CF05-A9CB-2F67-1A768CE12E6E}"/>
              </a:ext>
            </a:extLst>
          </p:cNvPr>
          <p:cNvSpPr txBox="1"/>
          <p:nvPr/>
        </p:nvSpPr>
        <p:spPr>
          <a:xfrm>
            <a:off x="10005053" y="1119506"/>
            <a:ext cx="1082348" cy="307777"/>
          </a:xfrm>
          <a:prstGeom prst="rect">
            <a:avLst/>
          </a:prstGeom>
          <a:noFill/>
        </p:spPr>
        <p:txBody>
          <a:bodyPr wrap="none" rtlCol="0">
            <a:spAutoFit/>
          </a:bodyPr>
          <a:lstStyle/>
          <a:p>
            <a:r>
              <a:rPr lang="zh-TW" altLang="en-US" sz="1400" b="1">
                <a:solidFill>
                  <a:schemeClr val="bg1"/>
                </a:solidFill>
                <a:effectLst>
                  <a:glow rad="203200">
                    <a:schemeClr val="tx1">
                      <a:lumMod val="95000"/>
                      <a:lumOff val="5000"/>
                      <a:alpha val="50000"/>
                    </a:schemeClr>
                  </a:glow>
                </a:effectLst>
                <a:latin typeface="+mj-lt"/>
                <a:ea typeface="+mj-ea"/>
              </a:rPr>
              <a:t>資料科學家</a:t>
            </a:r>
          </a:p>
        </p:txBody>
      </p:sp>
      <p:sp>
        <p:nvSpPr>
          <p:cNvPr id="1466" name="文字方塊 1465">
            <a:extLst>
              <a:ext uri="{FF2B5EF4-FFF2-40B4-BE49-F238E27FC236}">
                <a16:creationId xmlns:a16="http://schemas.microsoft.com/office/drawing/2014/main" id="{581BE3A7-B814-E670-C988-EDF78D9D07A0}"/>
              </a:ext>
            </a:extLst>
          </p:cNvPr>
          <p:cNvSpPr txBox="1"/>
          <p:nvPr/>
        </p:nvSpPr>
        <p:spPr>
          <a:xfrm>
            <a:off x="8936071" y="1112203"/>
            <a:ext cx="1082348" cy="307777"/>
          </a:xfrm>
          <a:prstGeom prst="rect">
            <a:avLst/>
          </a:prstGeom>
          <a:noFill/>
        </p:spPr>
        <p:txBody>
          <a:bodyPr wrap="none" rtlCol="0">
            <a:spAutoFit/>
          </a:bodyPr>
          <a:lstStyle/>
          <a:p>
            <a:r>
              <a:rPr lang="zh-TW" altLang="en-US" sz="1400" b="1">
                <a:solidFill>
                  <a:schemeClr val="bg1"/>
                </a:solidFill>
                <a:effectLst>
                  <a:glow rad="203200">
                    <a:schemeClr val="tx1">
                      <a:lumMod val="95000"/>
                      <a:lumOff val="5000"/>
                      <a:alpha val="50000"/>
                    </a:schemeClr>
                  </a:glow>
                </a:effectLst>
                <a:latin typeface="+mj-lt"/>
                <a:ea typeface="+mj-ea"/>
              </a:rPr>
              <a:t>品質分析師</a:t>
            </a:r>
          </a:p>
        </p:txBody>
      </p:sp>
      <p:cxnSp>
        <p:nvCxnSpPr>
          <p:cNvPr id="1470" name="接點: 弧形 1469">
            <a:extLst>
              <a:ext uri="{FF2B5EF4-FFF2-40B4-BE49-F238E27FC236}">
                <a16:creationId xmlns:a16="http://schemas.microsoft.com/office/drawing/2014/main" id="{994F237D-2B1E-3A13-2C76-1653DC0FA6BD}"/>
              </a:ext>
            </a:extLst>
          </p:cNvPr>
          <p:cNvCxnSpPr>
            <a:cxnSpLocks/>
            <a:stCxn id="23" idx="0"/>
            <a:endCxn id="1466" idx="2"/>
          </p:cNvCxnSpPr>
          <p:nvPr/>
        </p:nvCxnSpPr>
        <p:spPr>
          <a:xfrm rot="5400000" flipH="1" flipV="1">
            <a:off x="8392316" y="1616235"/>
            <a:ext cx="1281183" cy="888675"/>
          </a:xfrm>
          <a:prstGeom prst="curvedConnector3">
            <a:avLst>
              <a:gd name="adj1" fmla="val 50000"/>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25" name="圖片 1024">
            <a:extLst>
              <a:ext uri="{FF2B5EF4-FFF2-40B4-BE49-F238E27FC236}">
                <a16:creationId xmlns:a16="http://schemas.microsoft.com/office/drawing/2014/main" id="{4ACB77B0-B05C-CF14-E483-D561A7F12911}"/>
              </a:ext>
            </a:extLst>
          </p:cNvPr>
          <p:cNvPicPr>
            <a:picLocks noChangeAspect="1"/>
          </p:cNvPicPr>
          <p:nvPr/>
        </p:nvPicPr>
        <p:blipFill>
          <a:blip r:embed="rId16">
            <a:clrChange>
              <a:clrFrom>
                <a:srgbClr val="FFFFFF"/>
              </a:clrFrom>
              <a:clrTo>
                <a:srgbClr val="FFFFFF">
                  <a:alpha val="0"/>
                </a:srgbClr>
              </a:clrTo>
            </a:clrChange>
            <a:duotone>
              <a:schemeClr val="accent1">
                <a:shade val="45000"/>
                <a:satMod val="135000"/>
              </a:schemeClr>
              <a:prstClr val="white"/>
            </a:duotone>
          </a:blip>
          <a:stretch>
            <a:fillRect/>
          </a:stretch>
        </p:blipFill>
        <p:spPr>
          <a:xfrm>
            <a:off x="8145483" y="1398436"/>
            <a:ext cx="323290" cy="624608"/>
          </a:xfrm>
          <a:prstGeom prst="rect">
            <a:avLst/>
          </a:prstGeom>
        </p:spPr>
      </p:pic>
      <p:pic>
        <p:nvPicPr>
          <p:cNvPr id="1026" name="圖片 1025">
            <a:extLst>
              <a:ext uri="{FF2B5EF4-FFF2-40B4-BE49-F238E27FC236}">
                <a16:creationId xmlns:a16="http://schemas.microsoft.com/office/drawing/2014/main" id="{1E1391FA-7462-2B54-C4A7-DFC80BFF4EB3}"/>
              </a:ext>
            </a:extLst>
          </p:cNvPr>
          <p:cNvPicPr>
            <a:picLocks noChangeAspect="1"/>
          </p:cNvPicPr>
          <p:nvPr/>
        </p:nvPicPr>
        <p:blipFill>
          <a:blip r:embed="rId16">
            <a:clrChange>
              <a:clrFrom>
                <a:srgbClr val="FFFFFF"/>
              </a:clrFrom>
              <a:clrTo>
                <a:srgbClr val="FFFFFF">
                  <a:alpha val="0"/>
                </a:srgbClr>
              </a:clrTo>
            </a:clrChange>
            <a:duotone>
              <a:schemeClr val="accent1">
                <a:shade val="45000"/>
                <a:satMod val="135000"/>
              </a:schemeClr>
              <a:prstClr val="white"/>
            </a:duotone>
          </a:blip>
          <a:stretch>
            <a:fillRect/>
          </a:stretch>
        </p:blipFill>
        <p:spPr>
          <a:xfrm>
            <a:off x="9479706" y="1425971"/>
            <a:ext cx="323290" cy="624608"/>
          </a:xfrm>
          <a:prstGeom prst="rect">
            <a:avLst/>
          </a:prstGeom>
        </p:spPr>
      </p:pic>
      <p:pic>
        <p:nvPicPr>
          <p:cNvPr id="1029" name="圖片 1028">
            <a:extLst>
              <a:ext uri="{FF2B5EF4-FFF2-40B4-BE49-F238E27FC236}">
                <a16:creationId xmlns:a16="http://schemas.microsoft.com/office/drawing/2014/main" id="{90F0AD0B-C39E-03DB-3654-61D0B665FAE0}"/>
              </a:ext>
            </a:extLst>
          </p:cNvPr>
          <p:cNvPicPr>
            <a:picLocks noChangeAspect="1"/>
          </p:cNvPicPr>
          <p:nvPr/>
        </p:nvPicPr>
        <p:blipFill>
          <a:blip r:embed="rId16">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0568362" y="1416265"/>
            <a:ext cx="323290" cy="624608"/>
          </a:xfrm>
          <a:prstGeom prst="rect">
            <a:avLst/>
          </a:prstGeom>
        </p:spPr>
      </p:pic>
      <p:grpSp>
        <p:nvGrpSpPr>
          <p:cNvPr id="3" name="群組 2">
            <a:extLst>
              <a:ext uri="{FF2B5EF4-FFF2-40B4-BE49-F238E27FC236}">
                <a16:creationId xmlns:a16="http://schemas.microsoft.com/office/drawing/2014/main" id="{F40E8F78-B18B-2975-AD00-92027D0C22E3}"/>
              </a:ext>
            </a:extLst>
          </p:cNvPr>
          <p:cNvGrpSpPr/>
          <p:nvPr/>
        </p:nvGrpSpPr>
        <p:grpSpPr>
          <a:xfrm>
            <a:off x="9809292" y="2193449"/>
            <a:ext cx="2279926" cy="2289010"/>
            <a:chOff x="9871161" y="2370265"/>
            <a:chExt cx="2279926" cy="2289010"/>
          </a:xfrm>
        </p:grpSpPr>
        <p:sp>
          <p:nvSpPr>
            <p:cNvPr id="25" name="Rectangle 195">
              <a:extLst>
                <a:ext uri="{FF2B5EF4-FFF2-40B4-BE49-F238E27FC236}">
                  <a16:creationId xmlns:a16="http://schemas.microsoft.com/office/drawing/2014/main" id="{4EDB0BCC-53CA-E32B-9C69-288EA71C4115}"/>
                </a:ext>
              </a:extLst>
            </p:cNvPr>
            <p:cNvSpPr/>
            <p:nvPr/>
          </p:nvSpPr>
          <p:spPr>
            <a:xfrm>
              <a:off x="9894502" y="2370265"/>
              <a:ext cx="2256585" cy="228901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lt1"/>
                </a:solidFill>
              </a:endParaRPr>
            </a:p>
          </p:txBody>
        </p:sp>
        <p:sp>
          <p:nvSpPr>
            <p:cNvPr id="28" name="Shape 348">
              <a:extLst>
                <a:ext uri="{FF2B5EF4-FFF2-40B4-BE49-F238E27FC236}">
                  <a16:creationId xmlns:a16="http://schemas.microsoft.com/office/drawing/2014/main" id="{15525541-628E-4732-BC1C-1CA399D14345}"/>
                </a:ext>
              </a:extLst>
            </p:cNvPr>
            <p:cNvSpPr/>
            <p:nvPr/>
          </p:nvSpPr>
          <p:spPr>
            <a:xfrm>
              <a:off x="10075778" y="2704894"/>
              <a:ext cx="2015362" cy="1954381"/>
            </a:xfrm>
            <a:prstGeom prst="rect">
              <a:avLst/>
            </a:prstGeom>
            <a:ln w="12700">
              <a:miter lim="400000"/>
            </a:ln>
            <a:extLst>
              <a:ext uri="{C572A759-6A51-4108-AA02-DFA0A04FC94B}">
                <ma14:wrappingTextBoxFlag xmlns:ma14="http://schemas.microsoft.com/office/mac/drawingml/2011/main" xmlns="" val="1"/>
              </a:ext>
            </a:extLst>
          </p:spPr>
          <p:txBody>
            <a:bodyPr wrap="square" lIns="73151" rIns="73151">
              <a:spAutoFit/>
            </a:bodyPr>
            <a:lstStyle>
              <a:lvl1pPr>
                <a:lnSpc>
                  <a:spcPct val="120000"/>
                </a:lnSpc>
                <a:defRPr sz="1400">
                  <a:solidFill>
                    <a:srgbClr val="535353"/>
                  </a:solidFill>
                  <a:latin typeface="Helvetica Light"/>
                  <a:ea typeface="Helvetica Light"/>
                  <a:cs typeface="Helvetica Light"/>
                  <a:sym typeface="Helvetica Light"/>
                </a:defRPr>
              </a:lvl1pPr>
            </a:lstStyle>
            <a:p>
              <a:pPr defTabSz="609523">
                <a:lnSpc>
                  <a:spcPct val="100000"/>
                </a:lnSpc>
              </a:pPr>
              <a:r>
                <a:rPr lang="zh-TW" altLang="en-US" sz="1100">
                  <a:solidFill>
                    <a:prstClr val="black"/>
                  </a:solidFill>
                  <a:latin typeface="Arial"/>
                  <a:ea typeface=""/>
                  <a:cs typeface=""/>
                </a:rPr>
                <a:t>統合所有數據源並精煉</a:t>
              </a:r>
              <a:r>
                <a:rPr lang="en-US" altLang="zh-TW" sz="1100">
                  <a:solidFill>
                    <a:prstClr val="black"/>
                  </a:solidFill>
                  <a:latin typeface="Arial"/>
                  <a:ea typeface=""/>
                  <a:cs typeface=""/>
                </a:rPr>
                <a:t>, </a:t>
              </a:r>
              <a:r>
                <a:rPr lang="zh-TW" altLang="en-US" sz="1100">
                  <a:solidFill>
                    <a:prstClr val="black"/>
                  </a:solidFill>
                  <a:latin typeface="Arial"/>
                  <a:ea typeface=""/>
                  <a:cs typeface=""/>
                </a:rPr>
                <a:t>成為單一數據入口點</a:t>
              </a:r>
              <a:endParaRPr lang="en-US" altLang="zh-TW" sz="1100">
                <a:solidFill>
                  <a:prstClr val="black"/>
                </a:solidFill>
                <a:latin typeface="Arial"/>
                <a:ea typeface=""/>
                <a:cs typeface=""/>
              </a:endParaRPr>
            </a:p>
            <a:p>
              <a:pPr defTabSz="609523">
                <a:lnSpc>
                  <a:spcPct val="100000"/>
                </a:lnSpc>
              </a:pPr>
              <a:endParaRPr lang="en-US" sz="1100">
                <a:solidFill>
                  <a:prstClr val="black"/>
                </a:solidFill>
                <a:latin typeface="Arial"/>
                <a:ea typeface=""/>
                <a:cs typeface=""/>
              </a:endParaRPr>
            </a:p>
            <a:p>
              <a:pPr defTabSz="609523">
                <a:lnSpc>
                  <a:spcPct val="100000"/>
                </a:lnSpc>
              </a:pPr>
              <a:r>
                <a:rPr lang="zh-TW" altLang="en-US" sz="1100">
                  <a:solidFill>
                    <a:prstClr val="black"/>
                  </a:solidFill>
                  <a:latin typeface="Arial"/>
                  <a:ea typeface=""/>
                  <a:cs typeface=""/>
                </a:rPr>
                <a:t>遵循公司數據治理規範</a:t>
              </a:r>
              <a:r>
                <a:rPr lang="en-US" altLang="zh-TW" sz="1100">
                  <a:solidFill>
                    <a:prstClr val="black"/>
                  </a:solidFill>
                  <a:latin typeface="Arial"/>
                  <a:ea typeface=""/>
                  <a:cs typeface=""/>
                </a:rPr>
                <a:t>, </a:t>
              </a:r>
              <a:r>
                <a:rPr lang="zh-TW" altLang="en-US" sz="1100">
                  <a:solidFill>
                    <a:prstClr val="black"/>
                  </a:solidFill>
                  <a:latin typeface="Arial"/>
                  <a:ea typeface=""/>
                  <a:cs typeface=""/>
                </a:rPr>
                <a:t>實行數據管理與數據質量檢測</a:t>
              </a:r>
              <a:endParaRPr lang="en-US" sz="1100">
                <a:solidFill>
                  <a:prstClr val="black"/>
                </a:solidFill>
                <a:latin typeface="Arial"/>
                <a:ea typeface=""/>
                <a:cs typeface=""/>
              </a:endParaRPr>
            </a:p>
            <a:p>
              <a:pPr defTabSz="609523">
                <a:lnSpc>
                  <a:spcPct val="100000"/>
                </a:lnSpc>
              </a:pPr>
              <a:endParaRPr lang="en-US" sz="1100">
                <a:solidFill>
                  <a:prstClr val="black"/>
                </a:solidFill>
                <a:latin typeface="Arial"/>
                <a:ea typeface=""/>
                <a:cs typeface=""/>
              </a:endParaRPr>
            </a:p>
            <a:p>
              <a:pPr defTabSz="609523">
                <a:lnSpc>
                  <a:spcPct val="100000"/>
                </a:lnSpc>
              </a:pPr>
              <a:r>
                <a:rPr lang="zh-TW" altLang="en-US" sz="1100">
                  <a:solidFill>
                    <a:prstClr val="black"/>
                  </a:solidFill>
                  <a:latin typeface="Arial"/>
                  <a:ea typeface=""/>
                  <a:cs typeface=""/>
                </a:rPr>
                <a:t>嚴謹落實數據安全管控</a:t>
              </a:r>
              <a:r>
                <a:rPr lang="en-US" altLang="zh-TW" sz="1100">
                  <a:solidFill>
                    <a:prstClr val="black"/>
                  </a:solidFill>
                  <a:latin typeface="Arial"/>
                  <a:ea typeface=""/>
                  <a:cs typeface=""/>
                </a:rPr>
                <a:t>, </a:t>
              </a:r>
              <a:r>
                <a:rPr lang="zh-TW" altLang="en-US" sz="1100">
                  <a:solidFill>
                    <a:prstClr val="black"/>
                  </a:solidFill>
                  <a:latin typeface="Arial"/>
                  <a:ea typeface=""/>
                  <a:cs typeface=""/>
                </a:rPr>
                <a:t>限制使用者僅能取得權限內之數據</a:t>
              </a:r>
              <a:endParaRPr lang="en-US" sz="1100">
                <a:solidFill>
                  <a:prstClr val="black"/>
                </a:solidFill>
                <a:latin typeface="Arial"/>
                <a:ea typeface=""/>
                <a:cs typeface=""/>
              </a:endParaRPr>
            </a:p>
            <a:p>
              <a:pPr defTabSz="609523">
                <a:lnSpc>
                  <a:spcPct val="100000"/>
                </a:lnSpc>
              </a:pPr>
              <a:endParaRPr lang="en-US" sz="1100">
                <a:solidFill>
                  <a:prstClr val="black"/>
                </a:solidFill>
                <a:latin typeface="Arial"/>
                <a:ea typeface=""/>
                <a:cs typeface=""/>
              </a:endParaRPr>
            </a:p>
            <a:p>
              <a:pPr defTabSz="609523">
                <a:lnSpc>
                  <a:spcPct val="100000"/>
                </a:lnSpc>
              </a:pPr>
              <a:r>
                <a:rPr lang="zh-TW" altLang="en-US" sz="1100">
                  <a:solidFill>
                    <a:prstClr val="black"/>
                  </a:solidFill>
                  <a:latin typeface="Arial"/>
                  <a:ea typeface=""/>
                  <a:cs typeface=""/>
                </a:rPr>
                <a:t>支持多樣數據接口</a:t>
              </a:r>
              <a:r>
                <a:rPr lang="en-US" altLang="zh-TW" sz="1100">
                  <a:solidFill>
                    <a:prstClr val="black"/>
                  </a:solidFill>
                  <a:latin typeface="Arial"/>
                  <a:ea typeface=""/>
                  <a:cs typeface=""/>
                </a:rPr>
                <a:t>, </a:t>
              </a:r>
              <a:r>
                <a:rPr lang="zh-TW" altLang="en-US" sz="1100">
                  <a:solidFill>
                    <a:prstClr val="black"/>
                  </a:solidFill>
                  <a:latin typeface="Arial"/>
                  <a:ea typeface=""/>
                  <a:cs typeface=""/>
                </a:rPr>
                <a:t>滿足各式業務需求</a:t>
              </a:r>
              <a:r>
                <a:rPr lang="en-US" sz="1100">
                  <a:solidFill>
                    <a:prstClr val="black"/>
                  </a:solidFill>
                  <a:latin typeface="Arial"/>
                  <a:ea typeface=""/>
                  <a:cs typeface=""/>
                </a:rPr>
                <a:t> </a:t>
              </a:r>
            </a:p>
          </p:txBody>
        </p:sp>
        <p:pic>
          <p:nvPicPr>
            <p:cNvPr id="31" name="Picture 197">
              <a:extLst>
                <a:ext uri="{FF2B5EF4-FFF2-40B4-BE49-F238E27FC236}">
                  <a16:creationId xmlns:a16="http://schemas.microsoft.com/office/drawing/2014/main" id="{AF3F7A17-9C46-C382-316D-A3F1EE215C36}"/>
                </a:ext>
              </a:extLst>
            </p:cNvPr>
            <p:cNvPicPr>
              <a:picLocks noChangeAspect="1"/>
            </p:cNvPicPr>
            <p:nvPr/>
          </p:nvPicPr>
          <p:blipFill>
            <a:blip r:embed="rId17"/>
            <a:stretch>
              <a:fillRect/>
            </a:stretch>
          </p:blipFill>
          <p:spPr>
            <a:xfrm>
              <a:off x="9932673" y="2803351"/>
              <a:ext cx="195033" cy="195032"/>
            </a:xfrm>
            <a:prstGeom prst="rect">
              <a:avLst/>
            </a:prstGeom>
          </p:spPr>
        </p:pic>
        <p:sp>
          <p:nvSpPr>
            <p:cNvPr id="32" name="TextBox 204">
              <a:extLst>
                <a:ext uri="{FF2B5EF4-FFF2-40B4-BE49-F238E27FC236}">
                  <a16:creationId xmlns:a16="http://schemas.microsoft.com/office/drawing/2014/main" id="{F8D3D6D4-7E48-21B7-87CC-60740BE1A1C7}"/>
                </a:ext>
              </a:extLst>
            </p:cNvPr>
            <p:cNvSpPr txBox="1"/>
            <p:nvPr/>
          </p:nvSpPr>
          <p:spPr>
            <a:xfrm>
              <a:off x="9871161" y="2384793"/>
              <a:ext cx="2151990" cy="338552"/>
            </a:xfrm>
            <a:prstGeom prst="rect">
              <a:avLst/>
            </a:prstGeom>
            <a:noFill/>
            <a:ln w="12700" cap="flat">
              <a:noFill/>
              <a:miter lim="400000"/>
            </a:ln>
            <a:effectLst/>
            <a:sp3d/>
          </p:spPr>
          <p:txBody>
            <a:bodyPr rot="0" spcFirstLastPara="1" vertOverflow="overflow" horzOverflow="overflow" vert="horz" wrap="square" lIns="60959" tIns="60959" rIns="60959" bIns="60959" numCol="1" spcCol="38100" rtlCol="0" anchor="t">
              <a:spAutoFit/>
            </a:bodyPr>
            <a:lstStyle/>
            <a:p>
              <a:pPr defTabSz="1219140" hangingPunct="0">
                <a:defRPr/>
              </a:pPr>
              <a:r>
                <a:rPr lang="zh-TW" altLang="en-US" sz="1400" kern="0">
                  <a:solidFill>
                    <a:prstClr val="black"/>
                  </a:solidFill>
                  <a:latin typeface="Arial"/>
                  <a:ea typeface="Arial"/>
                  <a:cs typeface="Arial"/>
                  <a:sym typeface="Arial"/>
                </a:rPr>
                <a:t>核心目標</a:t>
              </a:r>
              <a:endParaRPr lang="en-US" sz="1400" kern="0">
                <a:solidFill>
                  <a:prstClr val="black"/>
                </a:solidFill>
                <a:latin typeface="Arial"/>
                <a:ea typeface="Arial"/>
                <a:cs typeface="Arial"/>
                <a:sym typeface="Arial"/>
              </a:endParaRPr>
            </a:p>
          </p:txBody>
        </p:sp>
        <p:pic>
          <p:nvPicPr>
            <p:cNvPr id="36" name="Picture 197">
              <a:extLst>
                <a:ext uri="{FF2B5EF4-FFF2-40B4-BE49-F238E27FC236}">
                  <a16:creationId xmlns:a16="http://schemas.microsoft.com/office/drawing/2014/main" id="{D01C721A-60FB-850D-7A1C-377564A9561A}"/>
                </a:ext>
              </a:extLst>
            </p:cNvPr>
            <p:cNvPicPr>
              <a:picLocks noChangeAspect="1"/>
            </p:cNvPicPr>
            <p:nvPr/>
          </p:nvPicPr>
          <p:blipFill>
            <a:blip r:embed="rId17"/>
            <a:stretch>
              <a:fillRect/>
            </a:stretch>
          </p:blipFill>
          <p:spPr>
            <a:xfrm>
              <a:off x="9929075" y="3309750"/>
              <a:ext cx="195033" cy="195032"/>
            </a:xfrm>
            <a:prstGeom prst="rect">
              <a:avLst/>
            </a:prstGeom>
          </p:spPr>
        </p:pic>
        <p:pic>
          <p:nvPicPr>
            <p:cNvPr id="39" name="Picture 197">
              <a:extLst>
                <a:ext uri="{FF2B5EF4-FFF2-40B4-BE49-F238E27FC236}">
                  <a16:creationId xmlns:a16="http://schemas.microsoft.com/office/drawing/2014/main" id="{72D2B247-ABEF-D2A9-0417-252EB289E5D7}"/>
                </a:ext>
              </a:extLst>
            </p:cNvPr>
            <p:cNvPicPr>
              <a:picLocks noChangeAspect="1"/>
            </p:cNvPicPr>
            <p:nvPr/>
          </p:nvPicPr>
          <p:blipFill>
            <a:blip r:embed="rId17"/>
            <a:stretch>
              <a:fillRect/>
            </a:stretch>
          </p:blipFill>
          <p:spPr>
            <a:xfrm>
              <a:off x="9925260" y="3829824"/>
              <a:ext cx="195033" cy="195032"/>
            </a:xfrm>
            <a:prstGeom prst="rect">
              <a:avLst/>
            </a:prstGeom>
          </p:spPr>
        </p:pic>
        <p:pic>
          <p:nvPicPr>
            <p:cNvPr id="40" name="Picture 197">
              <a:extLst>
                <a:ext uri="{FF2B5EF4-FFF2-40B4-BE49-F238E27FC236}">
                  <a16:creationId xmlns:a16="http://schemas.microsoft.com/office/drawing/2014/main" id="{BD69A71A-5C4E-69A5-1E6C-54DCB352A9CA}"/>
                </a:ext>
              </a:extLst>
            </p:cNvPr>
            <p:cNvPicPr>
              <a:picLocks noChangeAspect="1"/>
            </p:cNvPicPr>
            <p:nvPr/>
          </p:nvPicPr>
          <p:blipFill>
            <a:blip r:embed="rId17"/>
            <a:stretch>
              <a:fillRect/>
            </a:stretch>
          </p:blipFill>
          <p:spPr>
            <a:xfrm>
              <a:off x="9936406" y="4339331"/>
              <a:ext cx="195033" cy="195032"/>
            </a:xfrm>
            <a:prstGeom prst="rect">
              <a:avLst/>
            </a:prstGeom>
          </p:spPr>
        </p:pic>
      </p:grpSp>
    </p:spTree>
    <p:extLst>
      <p:ext uri="{BB962C8B-B14F-4D97-AF65-F5344CB8AC3E}">
        <p14:creationId xmlns:p14="http://schemas.microsoft.com/office/powerpoint/2010/main" val="1987478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標題 48">
            <a:extLst>
              <a:ext uri="{FF2B5EF4-FFF2-40B4-BE49-F238E27FC236}">
                <a16:creationId xmlns:a16="http://schemas.microsoft.com/office/drawing/2014/main" id="{07667FA9-4670-4948-9AAD-B6F5932E8697}"/>
              </a:ext>
            </a:extLst>
          </p:cNvPr>
          <p:cNvSpPr>
            <a:spLocks noGrp="1"/>
          </p:cNvSpPr>
          <p:nvPr>
            <p:ph type="title"/>
          </p:nvPr>
        </p:nvSpPr>
        <p:spPr/>
        <p:txBody>
          <a:bodyPr vert="horz" lIns="0" tIns="45720" rIns="0" bIns="45720" rtlCol="0" anchor="t">
            <a:normAutofit/>
          </a:bodyPr>
          <a:lstStyle/>
          <a:p>
            <a:r>
              <a:rPr lang="zh-TW" altLang="en-US">
                <a:sym typeface="+mn-lt"/>
              </a:rPr>
              <a:t>落實</a:t>
            </a:r>
            <a:r>
              <a:rPr lang="zh-TW" altLang="en-US">
                <a:solidFill>
                  <a:srgbClr val="FF0000"/>
                </a:solidFill>
                <a:sym typeface="+mn-lt"/>
              </a:rPr>
              <a:t>數據治理</a:t>
            </a:r>
            <a:r>
              <a:rPr lang="zh-TW" altLang="en-US">
                <a:sym typeface="+mn-lt"/>
              </a:rPr>
              <a:t>的數據上架</a:t>
            </a:r>
            <a:r>
              <a:rPr lang="en-US" altLang="zh-TW">
                <a:sym typeface="+mn-lt"/>
              </a:rPr>
              <a:t>/</a:t>
            </a:r>
            <a:r>
              <a:rPr lang="zh-TW" altLang="en-US">
                <a:sym typeface="+mn-lt"/>
              </a:rPr>
              <a:t>提供流程簡介</a:t>
            </a:r>
          </a:p>
        </p:txBody>
      </p:sp>
      <p:grpSp>
        <p:nvGrpSpPr>
          <p:cNvPr id="51" name="群組 50">
            <a:extLst>
              <a:ext uri="{FF2B5EF4-FFF2-40B4-BE49-F238E27FC236}">
                <a16:creationId xmlns:a16="http://schemas.microsoft.com/office/drawing/2014/main" id="{0E7B7F6C-0842-10B3-2559-CCA5C60267E1}"/>
              </a:ext>
            </a:extLst>
          </p:cNvPr>
          <p:cNvGrpSpPr/>
          <p:nvPr/>
        </p:nvGrpSpPr>
        <p:grpSpPr>
          <a:xfrm>
            <a:off x="6841720" y="970463"/>
            <a:ext cx="4270654" cy="5152897"/>
            <a:chOff x="-335317" y="762910"/>
            <a:chExt cx="4270654" cy="5152897"/>
          </a:xfrm>
        </p:grpSpPr>
        <p:sp>
          <p:nvSpPr>
            <p:cNvPr id="6" name="矩形 5">
              <a:extLst>
                <a:ext uri="{FF2B5EF4-FFF2-40B4-BE49-F238E27FC236}">
                  <a16:creationId xmlns:a16="http://schemas.microsoft.com/office/drawing/2014/main" id="{52EE72E6-0EF5-FFC1-0392-FB7DC7A26A3D}"/>
                </a:ext>
              </a:extLst>
            </p:cNvPr>
            <p:cNvSpPr/>
            <p:nvPr/>
          </p:nvSpPr>
          <p:spPr>
            <a:xfrm>
              <a:off x="-335316" y="762910"/>
              <a:ext cx="1848225" cy="1335084"/>
            </a:xfrm>
            <a:prstGeom prst="rect">
              <a:avLst/>
            </a:prstGeom>
            <a:solidFill>
              <a:srgbClr val="F6BB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000">
                  <a:solidFill>
                    <a:schemeClr val="tx1"/>
                  </a:solidFill>
                  <a:latin typeface="+mj-ea"/>
                  <a:ea typeface="+mj-ea"/>
                </a:rPr>
                <a:t>數據匯流</a:t>
              </a:r>
            </a:p>
          </p:txBody>
        </p:sp>
        <p:sp>
          <p:nvSpPr>
            <p:cNvPr id="9" name="矩形 8">
              <a:extLst>
                <a:ext uri="{FF2B5EF4-FFF2-40B4-BE49-F238E27FC236}">
                  <a16:creationId xmlns:a16="http://schemas.microsoft.com/office/drawing/2014/main" id="{4D6A8DC6-084B-A339-8581-EFFBFAE4C14A}"/>
                </a:ext>
              </a:extLst>
            </p:cNvPr>
            <p:cNvSpPr/>
            <p:nvPr/>
          </p:nvSpPr>
          <p:spPr>
            <a:xfrm>
              <a:off x="-335315" y="2634893"/>
              <a:ext cx="1848225" cy="1794184"/>
            </a:xfrm>
            <a:prstGeom prst="rect">
              <a:avLst/>
            </a:prstGeom>
            <a:solidFill>
              <a:srgbClr val="8BD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000">
                  <a:solidFill>
                    <a:schemeClr val="tx1"/>
                  </a:solidFill>
                  <a:latin typeface="+mj-ea"/>
                  <a:ea typeface="+mj-ea"/>
                </a:rPr>
                <a:t>數據治理</a:t>
              </a:r>
            </a:p>
          </p:txBody>
        </p:sp>
        <p:sp>
          <p:nvSpPr>
            <p:cNvPr id="11" name="矩形 10">
              <a:extLst>
                <a:ext uri="{FF2B5EF4-FFF2-40B4-BE49-F238E27FC236}">
                  <a16:creationId xmlns:a16="http://schemas.microsoft.com/office/drawing/2014/main" id="{6552D2FE-C0E1-1F72-75EB-A638272D4558}"/>
                </a:ext>
              </a:extLst>
            </p:cNvPr>
            <p:cNvSpPr/>
            <p:nvPr/>
          </p:nvSpPr>
          <p:spPr>
            <a:xfrm>
              <a:off x="-335317" y="5037288"/>
              <a:ext cx="1848225" cy="878519"/>
            </a:xfrm>
            <a:prstGeom prst="rect">
              <a:avLst/>
            </a:prstGeom>
            <a:solidFill>
              <a:srgbClr val="F6BB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000">
                  <a:solidFill>
                    <a:schemeClr val="tx1"/>
                  </a:solidFill>
                  <a:latin typeface="+mj-ea"/>
                  <a:ea typeface="+mj-ea"/>
                </a:rPr>
                <a:t>數據市集</a:t>
              </a:r>
            </a:p>
          </p:txBody>
        </p:sp>
        <p:sp>
          <p:nvSpPr>
            <p:cNvPr id="12" name="矩形: 圓角 11">
              <a:extLst>
                <a:ext uri="{FF2B5EF4-FFF2-40B4-BE49-F238E27FC236}">
                  <a16:creationId xmlns:a16="http://schemas.microsoft.com/office/drawing/2014/main" id="{087B3291-22E3-B1E5-D3A0-678812807678}"/>
                </a:ext>
              </a:extLst>
            </p:cNvPr>
            <p:cNvSpPr/>
            <p:nvPr/>
          </p:nvSpPr>
          <p:spPr>
            <a:xfrm>
              <a:off x="1635797" y="1679114"/>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數據匯入</a:t>
              </a:r>
              <a:r>
                <a:rPr lang="en-US" altLang="zh-TW" sz="1600">
                  <a:solidFill>
                    <a:schemeClr val="tx1"/>
                  </a:solidFill>
                  <a:latin typeface="+mj-ea"/>
                  <a:ea typeface="+mj-ea"/>
                </a:rPr>
                <a:t>/</a:t>
              </a:r>
              <a:r>
                <a:rPr lang="zh-TW" altLang="en-US" sz="1600">
                  <a:solidFill>
                    <a:schemeClr val="tx1"/>
                  </a:solidFill>
                  <a:latin typeface="+mj-ea"/>
                  <a:ea typeface="+mj-ea"/>
                </a:rPr>
                <a:t>存儲</a:t>
              </a:r>
              <a:endParaRPr lang="en-US" altLang="zh-TW" sz="1600">
                <a:solidFill>
                  <a:schemeClr val="tx1"/>
                </a:solidFill>
                <a:latin typeface="+mj-ea"/>
                <a:ea typeface="+mj-ea"/>
              </a:endParaRPr>
            </a:p>
          </p:txBody>
        </p:sp>
        <p:sp>
          <p:nvSpPr>
            <p:cNvPr id="13" name="矩形: 圓角 12">
              <a:extLst>
                <a:ext uri="{FF2B5EF4-FFF2-40B4-BE49-F238E27FC236}">
                  <a16:creationId xmlns:a16="http://schemas.microsoft.com/office/drawing/2014/main" id="{0A6D29D8-7E2F-2A20-E696-2C29EC0DAEBA}"/>
                </a:ext>
              </a:extLst>
            </p:cNvPr>
            <p:cNvSpPr/>
            <p:nvPr/>
          </p:nvSpPr>
          <p:spPr>
            <a:xfrm>
              <a:off x="1635797" y="762910"/>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數據表</a:t>
              </a:r>
              <a:r>
                <a:rPr lang="en-US" altLang="zh-TW" sz="1600">
                  <a:solidFill>
                    <a:schemeClr val="tx1"/>
                  </a:solidFill>
                  <a:latin typeface="+mj-ea"/>
                  <a:ea typeface="+mj-ea"/>
                </a:rPr>
                <a:t>/</a:t>
              </a:r>
              <a:r>
                <a:rPr lang="zh-TW" altLang="en-US" sz="1600">
                  <a:solidFill>
                    <a:schemeClr val="tx1"/>
                  </a:solidFill>
                  <a:latin typeface="+mj-ea"/>
                  <a:ea typeface="+mj-ea"/>
                </a:rPr>
                <a:t>檔案範圍確認</a:t>
              </a:r>
              <a:endParaRPr lang="en-US" altLang="zh-TW" sz="1600">
                <a:solidFill>
                  <a:schemeClr val="tx1"/>
                </a:solidFill>
                <a:latin typeface="+mj-ea"/>
                <a:ea typeface="+mj-ea"/>
              </a:endParaRPr>
            </a:p>
          </p:txBody>
        </p:sp>
        <p:sp>
          <p:nvSpPr>
            <p:cNvPr id="14" name="矩形: 圓角 13">
              <a:extLst>
                <a:ext uri="{FF2B5EF4-FFF2-40B4-BE49-F238E27FC236}">
                  <a16:creationId xmlns:a16="http://schemas.microsoft.com/office/drawing/2014/main" id="{048DF993-7D6C-60DD-49BB-875F5593E29E}"/>
                </a:ext>
              </a:extLst>
            </p:cNvPr>
            <p:cNvSpPr/>
            <p:nvPr/>
          </p:nvSpPr>
          <p:spPr>
            <a:xfrm>
              <a:off x="1635797" y="1222133"/>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數據源權限確認</a:t>
              </a:r>
              <a:endParaRPr lang="en-US" altLang="zh-TW" sz="1600">
                <a:solidFill>
                  <a:schemeClr val="tx1"/>
                </a:solidFill>
                <a:latin typeface="+mj-ea"/>
                <a:ea typeface="+mj-ea"/>
              </a:endParaRPr>
            </a:p>
          </p:txBody>
        </p:sp>
        <p:sp>
          <p:nvSpPr>
            <p:cNvPr id="15" name="矩形: 圓角 14">
              <a:extLst>
                <a:ext uri="{FF2B5EF4-FFF2-40B4-BE49-F238E27FC236}">
                  <a16:creationId xmlns:a16="http://schemas.microsoft.com/office/drawing/2014/main" id="{6774A6F3-950A-1DC5-5983-2A078C2364F6}"/>
                </a:ext>
              </a:extLst>
            </p:cNvPr>
            <p:cNvSpPr/>
            <p:nvPr/>
          </p:nvSpPr>
          <p:spPr>
            <a:xfrm>
              <a:off x="1662037" y="2634893"/>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元數據註冊</a:t>
              </a:r>
              <a:endParaRPr lang="en-US" altLang="zh-TW" sz="1600">
                <a:solidFill>
                  <a:schemeClr val="tx1"/>
                </a:solidFill>
                <a:latin typeface="+mj-ea"/>
                <a:ea typeface="+mj-ea"/>
              </a:endParaRPr>
            </a:p>
          </p:txBody>
        </p:sp>
        <p:sp>
          <p:nvSpPr>
            <p:cNvPr id="16" name="矩形: 圓角 15">
              <a:extLst>
                <a:ext uri="{FF2B5EF4-FFF2-40B4-BE49-F238E27FC236}">
                  <a16:creationId xmlns:a16="http://schemas.microsoft.com/office/drawing/2014/main" id="{AB7CB120-301D-7B72-5137-E6A3A3999383}"/>
                </a:ext>
              </a:extLst>
            </p:cNvPr>
            <p:cNvSpPr/>
            <p:nvPr/>
          </p:nvSpPr>
          <p:spPr>
            <a:xfrm>
              <a:off x="1662037" y="3094506"/>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數據字典匯入</a:t>
              </a:r>
              <a:endParaRPr lang="en-US" altLang="zh-TW" sz="1600">
                <a:solidFill>
                  <a:schemeClr val="tx1"/>
                </a:solidFill>
                <a:latin typeface="+mj-ea"/>
                <a:ea typeface="+mj-ea"/>
              </a:endParaRPr>
            </a:p>
          </p:txBody>
        </p:sp>
        <p:sp>
          <p:nvSpPr>
            <p:cNvPr id="18" name="矩形: 圓角 17">
              <a:extLst>
                <a:ext uri="{FF2B5EF4-FFF2-40B4-BE49-F238E27FC236}">
                  <a16:creationId xmlns:a16="http://schemas.microsoft.com/office/drawing/2014/main" id="{8164A868-F42B-A89F-3B95-CA2F59B63B17}"/>
                </a:ext>
              </a:extLst>
            </p:cNvPr>
            <p:cNvSpPr/>
            <p:nvPr/>
          </p:nvSpPr>
          <p:spPr>
            <a:xfrm>
              <a:off x="1662037" y="3557164"/>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數據關係維護</a:t>
              </a:r>
              <a:endParaRPr lang="en-US" altLang="zh-TW" sz="1600">
                <a:solidFill>
                  <a:schemeClr val="tx1"/>
                </a:solidFill>
                <a:latin typeface="+mj-ea"/>
                <a:ea typeface="+mj-ea"/>
              </a:endParaRPr>
            </a:p>
          </p:txBody>
        </p:sp>
        <p:sp>
          <p:nvSpPr>
            <p:cNvPr id="20" name="矩形: 圓角 19">
              <a:extLst>
                <a:ext uri="{FF2B5EF4-FFF2-40B4-BE49-F238E27FC236}">
                  <a16:creationId xmlns:a16="http://schemas.microsoft.com/office/drawing/2014/main" id="{1134B9E4-5EDC-F6E8-DCFA-C27D9483B811}"/>
                </a:ext>
              </a:extLst>
            </p:cNvPr>
            <p:cNvSpPr/>
            <p:nvPr/>
          </p:nvSpPr>
          <p:spPr>
            <a:xfrm>
              <a:off x="1662037" y="4019822"/>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數據質量檢查</a:t>
              </a:r>
              <a:r>
                <a:rPr lang="en-US" altLang="zh-TW" sz="1600">
                  <a:solidFill>
                    <a:schemeClr val="tx1"/>
                  </a:solidFill>
                  <a:latin typeface="+mj-ea"/>
                  <a:ea typeface="+mj-ea"/>
                </a:rPr>
                <a:t>/</a:t>
              </a:r>
              <a:r>
                <a:rPr lang="zh-TW" altLang="en-US" sz="1600">
                  <a:solidFill>
                    <a:schemeClr val="tx1"/>
                  </a:solidFill>
                  <a:latin typeface="+mj-ea"/>
                  <a:ea typeface="+mj-ea"/>
                </a:rPr>
                <a:t>達標</a:t>
              </a:r>
              <a:endParaRPr lang="en-US" altLang="zh-TW" sz="1600">
                <a:solidFill>
                  <a:schemeClr val="tx1"/>
                </a:solidFill>
                <a:latin typeface="+mj-ea"/>
                <a:ea typeface="+mj-ea"/>
              </a:endParaRPr>
            </a:p>
          </p:txBody>
        </p:sp>
        <p:sp>
          <p:nvSpPr>
            <p:cNvPr id="21" name="矩形: 圓角 20">
              <a:extLst>
                <a:ext uri="{FF2B5EF4-FFF2-40B4-BE49-F238E27FC236}">
                  <a16:creationId xmlns:a16="http://schemas.microsoft.com/office/drawing/2014/main" id="{093399E2-7C9C-45EB-D0F0-64304F41D522}"/>
                </a:ext>
              </a:extLst>
            </p:cNvPr>
            <p:cNvSpPr/>
            <p:nvPr/>
          </p:nvSpPr>
          <p:spPr>
            <a:xfrm>
              <a:off x="1635797" y="5046939"/>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數據權限設定</a:t>
              </a:r>
              <a:endParaRPr lang="en-US" altLang="zh-TW" sz="1600">
                <a:solidFill>
                  <a:schemeClr val="tx1"/>
                </a:solidFill>
                <a:latin typeface="+mj-ea"/>
                <a:ea typeface="+mj-ea"/>
              </a:endParaRPr>
            </a:p>
          </p:txBody>
        </p:sp>
        <p:sp>
          <p:nvSpPr>
            <p:cNvPr id="22" name="矩形: 圓角 21">
              <a:extLst>
                <a:ext uri="{FF2B5EF4-FFF2-40B4-BE49-F238E27FC236}">
                  <a16:creationId xmlns:a16="http://schemas.microsoft.com/office/drawing/2014/main" id="{9E04D407-FCE5-F9CF-F284-75336104AD64}"/>
                </a:ext>
              </a:extLst>
            </p:cNvPr>
            <p:cNvSpPr/>
            <p:nvPr/>
          </p:nvSpPr>
          <p:spPr>
            <a:xfrm>
              <a:off x="1635797" y="5506552"/>
              <a:ext cx="2273300" cy="409255"/>
            </a:xfrm>
            <a:prstGeom prst="roundRect">
              <a:avLst>
                <a:gd name="adj" fmla="val 40968"/>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zh-TW" altLang="en-US" sz="1600">
                  <a:solidFill>
                    <a:schemeClr val="tx1"/>
                  </a:solidFill>
                  <a:latin typeface="+mj-ea"/>
                  <a:ea typeface="+mj-ea"/>
                </a:rPr>
                <a:t>數據上架</a:t>
              </a:r>
              <a:endParaRPr lang="en-US" altLang="zh-TW" sz="1600">
                <a:solidFill>
                  <a:schemeClr val="tx1"/>
                </a:solidFill>
                <a:latin typeface="+mj-ea"/>
                <a:ea typeface="+mj-ea"/>
              </a:endParaRPr>
            </a:p>
          </p:txBody>
        </p:sp>
        <p:sp>
          <p:nvSpPr>
            <p:cNvPr id="23" name="箭號: 向下 22">
              <a:extLst>
                <a:ext uri="{FF2B5EF4-FFF2-40B4-BE49-F238E27FC236}">
                  <a16:creationId xmlns:a16="http://schemas.microsoft.com/office/drawing/2014/main" id="{8EF78662-76F3-5C22-6D85-36C14A05E355}"/>
                </a:ext>
              </a:extLst>
            </p:cNvPr>
            <p:cNvSpPr/>
            <p:nvPr/>
          </p:nvSpPr>
          <p:spPr>
            <a:xfrm>
              <a:off x="458679" y="2228239"/>
              <a:ext cx="260231" cy="31444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mj-ea"/>
                <a:ea typeface="+mj-ea"/>
              </a:endParaRPr>
            </a:p>
          </p:txBody>
        </p:sp>
        <p:sp>
          <p:nvSpPr>
            <p:cNvPr id="24" name="箭號: 向下 23">
              <a:extLst>
                <a:ext uri="{FF2B5EF4-FFF2-40B4-BE49-F238E27FC236}">
                  <a16:creationId xmlns:a16="http://schemas.microsoft.com/office/drawing/2014/main" id="{7592BFB5-DB87-23CE-DC33-FD7D02DE273A}"/>
                </a:ext>
              </a:extLst>
            </p:cNvPr>
            <p:cNvSpPr/>
            <p:nvPr/>
          </p:nvSpPr>
          <p:spPr>
            <a:xfrm>
              <a:off x="458679" y="4617706"/>
              <a:ext cx="260231" cy="314442"/>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mj-ea"/>
                <a:ea typeface="+mj-ea"/>
              </a:endParaRPr>
            </a:p>
          </p:txBody>
        </p:sp>
        <p:pic>
          <p:nvPicPr>
            <p:cNvPr id="26" name="圖片 25">
              <a:extLst>
                <a:ext uri="{FF2B5EF4-FFF2-40B4-BE49-F238E27FC236}">
                  <a16:creationId xmlns:a16="http://schemas.microsoft.com/office/drawing/2014/main" id="{BEDE96A4-D8DB-4D56-E8A4-67C39D9B1842}"/>
                </a:ext>
              </a:extLst>
            </p:cNvPr>
            <p:cNvPicPr>
              <a:picLocks noChangeAspect="1"/>
            </p:cNvPicPr>
            <p:nvPr/>
          </p:nvPicPr>
          <p:blipFill>
            <a:blip r:embed="rId3"/>
            <a:stretch>
              <a:fillRect/>
            </a:stretch>
          </p:blipFill>
          <p:spPr>
            <a:xfrm>
              <a:off x="2688387" y="5559592"/>
              <a:ext cx="302374" cy="326629"/>
            </a:xfrm>
            <a:prstGeom prst="rect">
              <a:avLst/>
            </a:prstGeom>
          </p:spPr>
        </p:pic>
        <p:pic>
          <p:nvPicPr>
            <p:cNvPr id="27" name="圖片 26">
              <a:extLst>
                <a:ext uri="{FF2B5EF4-FFF2-40B4-BE49-F238E27FC236}">
                  <a16:creationId xmlns:a16="http://schemas.microsoft.com/office/drawing/2014/main" id="{57A96FC2-00CC-A31B-3D0D-CCDF8E9F3B47}"/>
                </a:ext>
              </a:extLst>
            </p:cNvPr>
            <p:cNvPicPr>
              <a:picLocks noChangeAspect="1"/>
            </p:cNvPicPr>
            <p:nvPr/>
          </p:nvPicPr>
          <p:blipFill>
            <a:blip r:embed="rId4"/>
            <a:stretch>
              <a:fillRect/>
            </a:stretch>
          </p:blipFill>
          <p:spPr>
            <a:xfrm>
              <a:off x="3047484" y="5556787"/>
              <a:ext cx="333195" cy="331545"/>
            </a:xfrm>
            <a:prstGeom prst="rect">
              <a:avLst/>
            </a:prstGeom>
          </p:spPr>
        </p:pic>
        <p:pic>
          <p:nvPicPr>
            <p:cNvPr id="29" name="圖片 28">
              <a:extLst>
                <a:ext uri="{FF2B5EF4-FFF2-40B4-BE49-F238E27FC236}">
                  <a16:creationId xmlns:a16="http://schemas.microsoft.com/office/drawing/2014/main" id="{BCE4A069-8E1E-E543-8818-15019CEEA5C2}"/>
                </a:ext>
              </a:extLst>
            </p:cNvPr>
            <p:cNvPicPr>
              <a:picLocks noChangeAspect="1"/>
            </p:cNvPicPr>
            <p:nvPr/>
          </p:nvPicPr>
          <p:blipFill>
            <a:blip r:embed="rId5"/>
            <a:stretch>
              <a:fillRect/>
            </a:stretch>
          </p:blipFill>
          <p:spPr>
            <a:xfrm>
              <a:off x="3442320" y="5550919"/>
              <a:ext cx="333195" cy="343447"/>
            </a:xfrm>
            <a:prstGeom prst="rect">
              <a:avLst/>
            </a:prstGeom>
          </p:spPr>
        </p:pic>
      </p:grpSp>
      <p:grpSp>
        <p:nvGrpSpPr>
          <p:cNvPr id="50" name="群組 49">
            <a:extLst>
              <a:ext uri="{FF2B5EF4-FFF2-40B4-BE49-F238E27FC236}">
                <a16:creationId xmlns:a16="http://schemas.microsoft.com/office/drawing/2014/main" id="{E6A67489-9DE6-F512-7CA5-AB354769478E}"/>
              </a:ext>
            </a:extLst>
          </p:cNvPr>
          <p:cNvGrpSpPr/>
          <p:nvPr/>
        </p:nvGrpSpPr>
        <p:grpSpPr>
          <a:xfrm>
            <a:off x="1218895" y="884759"/>
            <a:ext cx="5367336" cy="5305581"/>
            <a:chOff x="5724766" y="762910"/>
            <a:chExt cx="5367336" cy="5305581"/>
          </a:xfrm>
        </p:grpSpPr>
        <p:sp>
          <p:nvSpPr>
            <p:cNvPr id="7" name="矩形: 圓角 6">
              <a:extLst>
                <a:ext uri="{FF2B5EF4-FFF2-40B4-BE49-F238E27FC236}">
                  <a16:creationId xmlns:a16="http://schemas.microsoft.com/office/drawing/2014/main" id="{0FE6B228-699A-45BE-B878-5800E7D2604B}"/>
                </a:ext>
              </a:extLst>
            </p:cNvPr>
            <p:cNvSpPr/>
            <p:nvPr/>
          </p:nvSpPr>
          <p:spPr>
            <a:xfrm>
              <a:off x="5724766" y="5616360"/>
              <a:ext cx="4269184" cy="45213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r>
                <a:rPr lang="zh-TW" altLang="en-US" b="1">
                  <a:solidFill>
                    <a:schemeClr val="tx1"/>
                  </a:solidFill>
                  <a:latin typeface="+mj-ea"/>
                  <a:ea typeface="+mj-ea"/>
                  <a:cs typeface="+mn-ea"/>
                  <a:sym typeface="+mn-lt"/>
                </a:rPr>
                <a:t>數據治理</a:t>
              </a:r>
            </a:p>
          </p:txBody>
        </p:sp>
        <p:sp>
          <p:nvSpPr>
            <p:cNvPr id="37" name="矩形: 圓角 36">
              <a:extLst>
                <a:ext uri="{FF2B5EF4-FFF2-40B4-BE49-F238E27FC236}">
                  <a16:creationId xmlns:a16="http://schemas.microsoft.com/office/drawing/2014/main" id="{87C434E2-0CE9-4BF0-924B-453FEC11B0A8}"/>
                </a:ext>
              </a:extLst>
            </p:cNvPr>
            <p:cNvSpPr/>
            <p:nvPr/>
          </p:nvSpPr>
          <p:spPr>
            <a:xfrm>
              <a:off x="5759996" y="762910"/>
              <a:ext cx="4233953" cy="478215"/>
            </a:xfrm>
            <a:prstGeom prst="roundRect">
              <a:avLst/>
            </a:prstGeom>
            <a:solidFill>
              <a:srgbClr val="F6BB08"/>
            </a:solidFill>
            <a:ln w="12700" cap="flat" cmpd="sng" algn="ctr">
              <a:noFill/>
              <a:prstDash val="solid"/>
              <a:miter lim="800000"/>
            </a:ln>
            <a:effectLst/>
          </p:spPr>
          <p:txBody>
            <a:bodyPr rtlCol="0" anchor="ctr"/>
            <a:lstStyle/>
            <a:p>
              <a:pPr marL="0" marR="0" lvl="0" indent="0" algn="ctr" defTabSz="380985" eaLnBrk="1" fontAlgn="auto" latinLnBrk="0" hangingPunct="1">
                <a:lnSpc>
                  <a:spcPct val="100000"/>
                </a:lnSpc>
                <a:spcBef>
                  <a:spcPts val="0"/>
                </a:spcBef>
                <a:spcAft>
                  <a:spcPts val="0"/>
                </a:spcAft>
                <a:buClrTx/>
                <a:buSzTx/>
                <a:buFontTx/>
                <a:buNone/>
                <a:tabLst/>
                <a:defRPr/>
              </a:pPr>
              <a:r>
                <a:rPr kumimoji="0" lang="zh-TW" altLang="en-US" b="1" i="0" u="none" strike="noStrike" kern="0" cap="none" spc="0" normalizeH="0" baseline="0" noProof="0">
                  <a:ln>
                    <a:noFill/>
                  </a:ln>
                  <a:effectLst/>
                  <a:uLnTx/>
                  <a:uFillTx/>
                  <a:latin typeface="+mj-ea"/>
                  <a:ea typeface="+mj-ea"/>
                  <a:cs typeface="+mn-ea"/>
                  <a:sym typeface="+mn-lt"/>
                </a:rPr>
                <a:t>數據中台</a:t>
              </a:r>
            </a:p>
          </p:txBody>
        </p:sp>
        <p:grpSp>
          <p:nvGrpSpPr>
            <p:cNvPr id="25" name="群組 24">
              <a:extLst>
                <a:ext uri="{FF2B5EF4-FFF2-40B4-BE49-F238E27FC236}">
                  <a16:creationId xmlns:a16="http://schemas.microsoft.com/office/drawing/2014/main" id="{40B8F632-E0F4-A21A-FF41-F84E692E4BF7}"/>
                </a:ext>
              </a:extLst>
            </p:cNvPr>
            <p:cNvGrpSpPr/>
            <p:nvPr/>
          </p:nvGrpSpPr>
          <p:grpSpPr>
            <a:xfrm>
              <a:off x="7821569" y="4244406"/>
              <a:ext cx="1546468" cy="474338"/>
              <a:chOff x="2612788" y="3354761"/>
              <a:chExt cx="1546468" cy="474338"/>
            </a:xfrm>
          </p:grpSpPr>
          <p:pic>
            <p:nvPicPr>
              <p:cNvPr id="54" name="圖片 53">
                <a:extLst>
                  <a:ext uri="{FF2B5EF4-FFF2-40B4-BE49-F238E27FC236}">
                    <a16:creationId xmlns:a16="http://schemas.microsoft.com/office/drawing/2014/main" id="{9EFBC478-E349-E94C-117E-2F210DD07443}"/>
                  </a:ext>
                </a:extLst>
              </p:cNvPr>
              <p:cNvPicPr>
                <a:picLocks noChangeAspect="1"/>
              </p:cNvPicPr>
              <p:nvPr/>
            </p:nvPicPr>
            <p:blipFill>
              <a:blip r:embed="rId5"/>
              <a:stretch>
                <a:fillRect/>
              </a:stretch>
            </p:blipFill>
            <p:spPr>
              <a:xfrm>
                <a:off x="2612788" y="3354761"/>
                <a:ext cx="438471" cy="451963"/>
              </a:xfrm>
              <a:prstGeom prst="rect">
                <a:avLst/>
              </a:prstGeom>
            </p:spPr>
          </p:pic>
          <p:sp>
            <p:nvSpPr>
              <p:cNvPr id="55" name="文字方塊 54">
                <a:extLst>
                  <a:ext uri="{FF2B5EF4-FFF2-40B4-BE49-F238E27FC236}">
                    <a16:creationId xmlns:a16="http://schemas.microsoft.com/office/drawing/2014/main" id="{F4F2192B-5821-9891-F299-901BD480B480}"/>
                  </a:ext>
                </a:extLst>
              </p:cNvPr>
              <p:cNvSpPr txBox="1"/>
              <p:nvPr/>
            </p:nvSpPr>
            <p:spPr>
              <a:xfrm>
                <a:off x="3051260" y="3367434"/>
                <a:ext cx="1107996" cy="461665"/>
              </a:xfrm>
              <a:prstGeom prst="rect">
                <a:avLst/>
              </a:prstGeom>
              <a:noFill/>
            </p:spPr>
            <p:txBody>
              <a:bodyPr wrap="none" rtlCol="0">
                <a:spAutoFit/>
              </a:bodyPr>
              <a:lstStyle/>
              <a:p>
                <a:r>
                  <a:rPr lang="zh-TW" altLang="en-US">
                    <a:solidFill>
                      <a:srgbClr val="6465FF"/>
                    </a:solidFill>
                    <a:latin typeface="+mj-ea"/>
                    <a:ea typeface="+mj-ea"/>
                  </a:rPr>
                  <a:t>取數據</a:t>
                </a:r>
              </a:p>
            </p:txBody>
          </p:sp>
        </p:grpSp>
        <p:sp>
          <p:nvSpPr>
            <p:cNvPr id="2" name="等腰三角形 4">
              <a:extLst>
                <a:ext uri="{FF2B5EF4-FFF2-40B4-BE49-F238E27FC236}">
                  <a16:creationId xmlns:a16="http://schemas.microsoft.com/office/drawing/2014/main" id="{6B56EFA4-6A5A-6AD2-3BF3-AD44039094DF}"/>
                </a:ext>
              </a:extLst>
            </p:cNvPr>
            <p:cNvSpPr/>
            <p:nvPr/>
          </p:nvSpPr>
          <p:spPr>
            <a:xfrm rot="5400000">
              <a:off x="7875578" y="2851967"/>
              <a:ext cx="5305581" cy="1127467"/>
            </a:xfrm>
            <a:prstGeom prst="triangle">
              <a:avLst>
                <a:gd name="adj" fmla="val 50955"/>
              </a:avLst>
            </a:prstGeom>
            <a:gradFill>
              <a:gsLst>
                <a:gs pos="66000">
                  <a:srgbClr val="8BD2FF"/>
                </a:gs>
                <a:gs pos="0">
                  <a:srgbClr val="F6BB08"/>
                </a:gs>
                <a:gs pos="43000">
                  <a:srgbClr val="F6BB08"/>
                </a:gs>
                <a:gs pos="100000">
                  <a:srgbClr val="8BD2FF"/>
                </a:gs>
              </a:gsLst>
              <a:lin ang="0" scaled="1"/>
            </a:gradFill>
            <a:ln w="12700" cap="flat" cmpd="sng" algn="ctr">
              <a:noFill/>
              <a:prstDash val="solid"/>
              <a:miter lim="800000"/>
            </a:ln>
            <a:effectLst/>
          </p:spPr>
          <p:txBody>
            <a:bodyPr rtlCol="0" anchor="t"/>
            <a:lstStyle/>
            <a:p>
              <a:pPr marL="0" marR="0" lvl="0" indent="0" defTabSz="1097280" eaLnBrk="1" fontAlgn="auto" latinLnBrk="0" hangingPunct="1">
                <a:lnSpc>
                  <a:spcPct val="100000"/>
                </a:lnSpc>
                <a:spcBef>
                  <a:spcPts val="0"/>
                </a:spcBef>
                <a:spcAft>
                  <a:spcPts val="0"/>
                </a:spcAft>
                <a:buClrTx/>
                <a:buSzTx/>
                <a:buFontTx/>
                <a:buNone/>
                <a:tabLst/>
                <a:defRPr/>
              </a:pPr>
              <a:endParaRPr kumimoji="0" lang="zh-TW" altLang="en-US" sz="2000" b="0" i="0" u="none" strike="noStrike" kern="0" cap="none" spc="0" normalizeH="0" baseline="0" noProof="0" err="1">
                <a:ln>
                  <a:noFill/>
                </a:ln>
                <a:solidFill>
                  <a:srgbClr val="000000"/>
                </a:solidFill>
                <a:effectLst/>
                <a:uLnTx/>
                <a:uFillTx/>
                <a:latin typeface="+mj-ea"/>
                <a:ea typeface="+mj-ea"/>
                <a:cs typeface="+mn-ea"/>
                <a:sym typeface="+mn-lt"/>
              </a:endParaRPr>
            </a:p>
          </p:txBody>
        </p:sp>
        <p:grpSp>
          <p:nvGrpSpPr>
            <p:cNvPr id="35" name="群組 34">
              <a:extLst>
                <a:ext uri="{FF2B5EF4-FFF2-40B4-BE49-F238E27FC236}">
                  <a16:creationId xmlns:a16="http://schemas.microsoft.com/office/drawing/2014/main" id="{BB4594BE-CF1F-43BC-EDD3-5EA7E37A3081}"/>
                </a:ext>
              </a:extLst>
            </p:cNvPr>
            <p:cNvGrpSpPr/>
            <p:nvPr/>
          </p:nvGrpSpPr>
          <p:grpSpPr>
            <a:xfrm>
              <a:off x="7934527" y="1253798"/>
              <a:ext cx="1384608" cy="461665"/>
              <a:chOff x="2039395" y="3617633"/>
              <a:chExt cx="1384608" cy="461665"/>
            </a:xfrm>
          </p:grpSpPr>
          <p:pic>
            <p:nvPicPr>
              <p:cNvPr id="33" name="圖片 32">
                <a:extLst>
                  <a:ext uri="{FF2B5EF4-FFF2-40B4-BE49-F238E27FC236}">
                    <a16:creationId xmlns:a16="http://schemas.microsoft.com/office/drawing/2014/main" id="{14E61E65-99D7-C1E9-E612-CA4787CC8BB1}"/>
                  </a:ext>
                </a:extLst>
              </p:cNvPr>
              <p:cNvPicPr>
                <a:picLocks noChangeAspect="1"/>
              </p:cNvPicPr>
              <p:nvPr/>
            </p:nvPicPr>
            <p:blipFill>
              <a:blip r:embed="rId3"/>
              <a:stretch>
                <a:fillRect/>
              </a:stretch>
            </p:blipFill>
            <p:spPr>
              <a:xfrm>
                <a:off x="2039395" y="3652651"/>
                <a:ext cx="344987" cy="372660"/>
              </a:xfrm>
              <a:prstGeom prst="rect">
                <a:avLst/>
              </a:prstGeom>
            </p:spPr>
          </p:pic>
          <p:sp>
            <p:nvSpPr>
              <p:cNvPr id="34" name="文字方塊 33">
                <a:extLst>
                  <a:ext uri="{FF2B5EF4-FFF2-40B4-BE49-F238E27FC236}">
                    <a16:creationId xmlns:a16="http://schemas.microsoft.com/office/drawing/2014/main" id="{67DFD34F-C465-DC5C-A680-B846DD3E7004}"/>
                  </a:ext>
                </a:extLst>
              </p:cNvPr>
              <p:cNvSpPr txBox="1"/>
              <p:nvPr/>
            </p:nvSpPr>
            <p:spPr>
              <a:xfrm>
                <a:off x="2316007" y="3617633"/>
                <a:ext cx="1107996" cy="461665"/>
              </a:xfrm>
              <a:prstGeom prst="rect">
                <a:avLst/>
              </a:prstGeom>
              <a:noFill/>
            </p:spPr>
            <p:txBody>
              <a:bodyPr wrap="none" rtlCol="0">
                <a:spAutoFit/>
              </a:bodyPr>
              <a:lstStyle/>
              <a:p>
                <a:r>
                  <a:rPr lang="zh-TW" altLang="en-US" b="1">
                    <a:solidFill>
                      <a:srgbClr val="549427"/>
                    </a:solidFill>
                    <a:latin typeface="+mj-ea"/>
                    <a:ea typeface="+mj-ea"/>
                  </a:rPr>
                  <a:t>查數據</a:t>
                </a:r>
              </a:p>
            </p:txBody>
          </p:sp>
        </p:grpSp>
        <p:pic>
          <p:nvPicPr>
            <p:cNvPr id="38" name="圖片 37">
              <a:extLst>
                <a:ext uri="{FF2B5EF4-FFF2-40B4-BE49-F238E27FC236}">
                  <a16:creationId xmlns:a16="http://schemas.microsoft.com/office/drawing/2014/main" id="{A53429D1-EFD1-47F6-520D-B7B943F44354}"/>
                </a:ext>
              </a:extLst>
            </p:cNvPr>
            <p:cNvPicPr>
              <a:picLocks noChangeAspect="1"/>
            </p:cNvPicPr>
            <p:nvPr/>
          </p:nvPicPr>
          <p:blipFill>
            <a:blip r:embed="rId6"/>
            <a:stretch>
              <a:fillRect/>
            </a:stretch>
          </p:blipFill>
          <p:spPr>
            <a:xfrm>
              <a:off x="8135919" y="1709191"/>
              <a:ext cx="1075327" cy="815594"/>
            </a:xfrm>
            <a:prstGeom prst="rect">
              <a:avLst/>
            </a:prstGeom>
            <a:ln w="12700">
              <a:solidFill>
                <a:srgbClr val="549427"/>
              </a:solidFill>
            </a:ln>
          </p:spPr>
        </p:pic>
        <p:pic>
          <p:nvPicPr>
            <p:cNvPr id="39" name="圖片 38">
              <a:extLst>
                <a:ext uri="{FF2B5EF4-FFF2-40B4-BE49-F238E27FC236}">
                  <a16:creationId xmlns:a16="http://schemas.microsoft.com/office/drawing/2014/main" id="{6DCCE16B-C5E8-A097-0FAA-31B159A413DB}"/>
                </a:ext>
              </a:extLst>
            </p:cNvPr>
            <p:cNvPicPr>
              <a:picLocks noChangeAspect="1"/>
            </p:cNvPicPr>
            <p:nvPr/>
          </p:nvPicPr>
          <p:blipFill>
            <a:blip r:embed="rId4"/>
            <a:stretch>
              <a:fillRect/>
            </a:stretch>
          </p:blipFill>
          <p:spPr>
            <a:xfrm>
              <a:off x="7936218" y="2798772"/>
              <a:ext cx="380152" cy="378270"/>
            </a:xfrm>
            <a:prstGeom prst="rect">
              <a:avLst/>
            </a:prstGeom>
          </p:spPr>
        </p:pic>
        <p:sp>
          <p:nvSpPr>
            <p:cNvPr id="40" name="文字方塊 39">
              <a:extLst>
                <a:ext uri="{FF2B5EF4-FFF2-40B4-BE49-F238E27FC236}">
                  <a16:creationId xmlns:a16="http://schemas.microsoft.com/office/drawing/2014/main" id="{17C9D70E-F2F8-55D8-F698-C328C9AC0A1B}"/>
                </a:ext>
              </a:extLst>
            </p:cNvPr>
            <p:cNvSpPr txBox="1"/>
            <p:nvPr/>
          </p:nvSpPr>
          <p:spPr>
            <a:xfrm>
              <a:off x="8275749" y="2764125"/>
              <a:ext cx="1107996" cy="461665"/>
            </a:xfrm>
            <a:prstGeom prst="rect">
              <a:avLst/>
            </a:prstGeom>
            <a:noFill/>
          </p:spPr>
          <p:txBody>
            <a:bodyPr wrap="none" rtlCol="0">
              <a:spAutoFit/>
            </a:bodyPr>
            <a:lstStyle/>
            <a:p>
              <a:r>
                <a:rPr lang="zh-TW" altLang="en-US" b="1">
                  <a:solidFill>
                    <a:srgbClr val="23605A"/>
                  </a:solidFill>
                  <a:latin typeface="+mj-ea"/>
                  <a:ea typeface="+mj-ea"/>
                </a:rPr>
                <a:t>看數據</a:t>
              </a:r>
            </a:p>
          </p:txBody>
        </p:sp>
        <p:pic>
          <p:nvPicPr>
            <p:cNvPr id="41" name="Picture 2" descr="Find, prepare, and understand data with Watson Knowledge Catalog - IBM  Developer">
              <a:extLst>
                <a:ext uri="{FF2B5EF4-FFF2-40B4-BE49-F238E27FC236}">
                  <a16:creationId xmlns:a16="http://schemas.microsoft.com/office/drawing/2014/main" id="{AAE747FD-3521-013C-1CE6-D470BADF978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39" t="11442" r="43041" b="4533"/>
            <a:stretch/>
          </p:blipFill>
          <p:spPr bwMode="auto">
            <a:xfrm>
              <a:off x="8135919" y="3223473"/>
              <a:ext cx="1082836" cy="805062"/>
            </a:xfrm>
            <a:prstGeom prst="rect">
              <a:avLst/>
            </a:prstGeom>
            <a:noFill/>
            <a:ln w="12700">
              <a:solidFill>
                <a:srgbClr val="165751"/>
              </a:solidFill>
            </a:ln>
            <a:extLst>
              <a:ext uri="{909E8E84-426E-40DD-AFC4-6F175D3DCCD1}">
                <a14:hiddenFill xmlns:a14="http://schemas.microsoft.com/office/drawing/2010/main">
                  <a:solidFill>
                    <a:srgbClr val="FFFFFF"/>
                  </a:solidFill>
                </a14:hiddenFill>
              </a:ext>
            </a:extLst>
          </p:spPr>
        </p:pic>
        <p:pic>
          <p:nvPicPr>
            <p:cNvPr id="42" name="Picture 16" descr="Get Your Master Data Quality Insight from SAP Anal... - SAP Community">
              <a:extLst>
                <a:ext uri="{FF2B5EF4-FFF2-40B4-BE49-F238E27FC236}">
                  <a16:creationId xmlns:a16="http://schemas.microsoft.com/office/drawing/2014/main" id="{4DDC4CB3-8C5D-4198-D738-C8DB373F7116}"/>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26714" y="3256704"/>
              <a:ext cx="448655" cy="249915"/>
            </a:xfrm>
            <a:prstGeom prst="rect">
              <a:avLst/>
            </a:prstGeom>
            <a:noFill/>
            <a:ln>
              <a:solidFill>
                <a:srgbClr val="175852"/>
              </a:solidFill>
            </a:ln>
            <a:extLst>
              <a:ext uri="{909E8E84-426E-40DD-AFC4-6F175D3DCCD1}">
                <a14:hiddenFill xmlns:a14="http://schemas.microsoft.com/office/drawing/2010/main">
                  <a:solidFill>
                    <a:srgbClr val="FFFFFF"/>
                  </a:solidFill>
                </a14:hiddenFill>
              </a:ext>
            </a:extLst>
          </p:spPr>
        </p:pic>
        <p:pic>
          <p:nvPicPr>
            <p:cNvPr id="43" name="圖片 42">
              <a:extLst>
                <a:ext uri="{FF2B5EF4-FFF2-40B4-BE49-F238E27FC236}">
                  <a16:creationId xmlns:a16="http://schemas.microsoft.com/office/drawing/2014/main" id="{D74ADE74-C31E-AD34-D6B2-468DAF449CAE}"/>
                </a:ext>
              </a:extLst>
            </p:cNvPr>
            <p:cNvPicPr>
              <a:picLocks noChangeAspect="1"/>
            </p:cNvPicPr>
            <p:nvPr/>
          </p:nvPicPr>
          <p:blipFill>
            <a:blip r:embed="rId9"/>
            <a:stretch>
              <a:fillRect/>
            </a:stretch>
          </p:blipFill>
          <p:spPr>
            <a:xfrm>
              <a:off x="8615069" y="3674365"/>
              <a:ext cx="599915" cy="332168"/>
            </a:xfrm>
            <a:prstGeom prst="rect">
              <a:avLst/>
            </a:prstGeom>
            <a:ln>
              <a:solidFill>
                <a:srgbClr val="175852"/>
              </a:solidFill>
            </a:ln>
          </p:spPr>
        </p:pic>
        <p:pic>
          <p:nvPicPr>
            <p:cNvPr id="44" name="Picture 6" descr="在「捷徑」中分析來自API 要求的JSON - Apple 支援(台灣)">
              <a:extLst>
                <a:ext uri="{FF2B5EF4-FFF2-40B4-BE49-F238E27FC236}">
                  <a16:creationId xmlns:a16="http://schemas.microsoft.com/office/drawing/2014/main" id="{540B9E93-41A7-A7A3-20E1-CC6CF74152F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01" t="11075" r="45231"/>
            <a:stretch/>
          </p:blipFill>
          <p:spPr bwMode="auto">
            <a:xfrm>
              <a:off x="8083140" y="4770840"/>
              <a:ext cx="726909" cy="782162"/>
            </a:xfrm>
            <a:prstGeom prst="rect">
              <a:avLst/>
            </a:prstGeom>
            <a:noFill/>
            <a:ln w="12700">
              <a:solidFill>
                <a:srgbClr val="6465FF"/>
              </a:solidFill>
            </a:ln>
            <a:extLst>
              <a:ext uri="{909E8E84-426E-40DD-AFC4-6F175D3DCCD1}">
                <a14:hiddenFill xmlns:a14="http://schemas.microsoft.com/office/drawing/2010/main">
                  <a:solidFill>
                    <a:srgbClr val="FFFFFF"/>
                  </a:solidFill>
                </a14:hiddenFill>
              </a:ext>
            </a:extLst>
          </p:spPr>
        </p:pic>
        <p:pic>
          <p:nvPicPr>
            <p:cNvPr id="45" name="Picture 4" descr="Opinio Documentation">
              <a:extLst>
                <a:ext uri="{FF2B5EF4-FFF2-40B4-BE49-F238E27FC236}">
                  <a16:creationId xmlns:a16="http://schemas.microsoft.com/office/drawing/2014/main" id="{10621B4C-1165-7644-494E-A2FD53807C1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27726"/>
            <a:stretch/>
          </p:blipFill>
          <p:spPr bwMode="auto">
            <a:xfrm>
              <a:off x="8325096" y="4950059"/>
              <a:ext cx="898019" cy="607711"/>
            </a:xfrm>
            <a:prstGeom prst="rect">
              <a:avLst/>
            </a:prstGeom>
            <a:noFill/>
            <a:ln w="12700">
              <a:solidFill>
                <a:srgbClr val="6465FF"/>
              </a:solidFill>
            </a:ln>
            <a:extLst>
              <a:ext uri="{909E8E84-426E-40DD-AFC4-6F175D3DCCD1}">
                <a14:hiddenFill xmlns:a14="http://schemas.microsoft.com/office/drawing/2010/main">
                  <a:solidFill>
                    <a:srgbClr val="FFFFFF"/>
                  </a:solidFill>
                </a14:hiddenFill>
              </a:ext>
            </a:extLst>
          </p:spPr>
        </p:pic>
      </p:grpSp>
      <p:sp>
        <p:nvSpPr>
          <p:cNvPr id="3" name="矩形: 圓角 2">
            <a:extLst>
              <a:ext uri="{FF2B5EF4-FFF2-40B4-BE49-F238E27FC236}">
                <a16:creationId xmlns:a16="http://schemas.microsoft.com/office/drawing/2014/main" id="{7FF213F8-0E69-0792-83CE-B8A34BD0EF3D}"/>
              </a:ext>
            </a:extLst>
          </p:cNvPr>
          <p:cNvSpPr/>
          <p:nvPr/>
        </p:nvSpPr>
        <p:spPr>
          <a:xfrm>
            <a:off x="1286014" y="1532393"/>
            <a:ext cx="1992956" cy="1115733"/>
          </a:xfrm>
          <a:prstGeom prst="roundRect">
            <a:avLst>
              <a:gd name="adj" fmla="val 7472"/>
            </a:avLst>
          </a:prstGeom>
          <a:noFill/>
          <a:ln w="38100">
            <a:solidFill>
              <a:srgbClr val="549427"/>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342900" indent="-342900">
              <a:spcBef>
                <a:spcPts val="1200"/>
              </a:spcBef>
              <a:buFont typeface="Arial" panose="020B0604020202020204" pitchFamily="34" charset="0"/>
              <a:buChar char="•"/>
            </a:pPr>
            <a:r>
              <a:rPr lang="zh-TW" altLang="en-US" sz="1400">
                <a:solidFill>
                  <a:schemeClr val="tx1"/>
                </a:solidFill>
                <a:latin typeface="+mj-ea"/>
                <a:ea typeface="+mj-ea"/>
              </a:rPr>
              <a:t>關鍵字搜尋元數據</a:t>
            </a:r>
            <a:endParaRPr lang="en-US" altLang="zh-TW" sz="1400">
              <a:solidFill>
                <a:schemeClr val="tx1"/>
              </a:solidFill>
              <a:latin typeface="+mj-ea"/>
              <a:ea typeface="+mj-ea"/>
            </a:endParaRPr>
          </a:p>
          <a:p>
            <a:pPr marL="342900" indent="-342900">
              <a:spcBef>
                <a:spcPts val="1200"/>
              </a:spcBef>
              <a:buFont typeface="Arial" panose="020B0604020202020204" pitchFamily="34" charset="0"/>
              <a:buChar char="•"/>
            </a:pPr>
            <a:r>
              <a:rPr lang="zh-TW" altLang="en-US" sz="1400">
                <a:solidFill>
                  <a:schemeClr val="tx1"/>
                </a:solidFill>
                <a:latin typeface="+mj-ea"/>
                <a:ea typeface="+mj-ea"/>
              </a:rPr>
              <a:t>瀏覽數據字典目錄</a:t>
            </a:r>
          </a:p>
        </p:txBody>
      </p:sp>
      <p:sp>
        <p:nvSpPr>
          <p:cNvPr id="4" name="矩形: 圓角 3">
            <a:extLst>
              <a:ext uri="{FF2B5EF4-FFF2-40B4-BE49-F238E27FC236}">
                <a16:creationId xmlns:a16="http://schemas.microsoft.com/office/drawing/2014/main" id="{D227C018-55AD-04DD-D0C6-259D65EA44B9}"/>
              </a:ext>
            </a:extLst>
          </p:cNvPr>
          <p:cNvSpPr/>
          <p:nvPr/>
        </p:nvSpPr>
        <p:spPr>
          <a:xfrm>
            <a:off x="1254125" y="3054809"/>
            <a:ext cx="2030098" cy="1115733"/>
          </a:xfrm>
          <a:prstGeom prst="roundRect">
            <a:avLst>
              <a:gd name="adj" fmla="val 7472"/>
            </a:avLst>
          </a:prstGeom>
          <a:noFill/>
          <a:ln w="38100">
            <a:solidFill>
              <a:srgbClr val="175852"/>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342900" indent="-342900">
              <a:spcBef>
                <a:spcPts val="1200"/>
              </a:spcBef>
              <a:buFont typeface="Arial" panose="020B0604020202020204" pitchFamily="34" charset="0"/>
              <a:buChar char="•"/>
            </a:pPr>
            <a:r>
              <a:rPr lang="zh-TW" altLang="en-US" sz="1400">
                <a:solidFill>
                  <a:schemeClr val="tx1"/>
                </a:solidFill>
                <a:latin typeface="+mj-ea"/>
                <a:ea typeface="+mj-ea"/>
              </a:rPr>
              <a:t>探索數據關係</a:t>
            </a:r>
            <a:endParaRPr lang="en-US" altLang="zh-TW" sz="1400">
              <a:solidFill>
                <a:schemeClr val="tx1"/>
              </a:solidFill>
              <a:latin typeface="+mj-ea"/>
              <a:ea typeface="+mj-ea"/>
            </a:endParaRPr>
          </a:p>
          <a:p>
            <a:pPr marL="342900" indent="-342900">
              <a:spcBef>
                <a:spcPts val="1200"/>
              </a:spcBef>
              <a:buFont typeface="Arial" panose="020B0604020202020204" pitchFamily="34" charset="0"/>
              <a:buChar char="•"/>
            </a:pPr>
            <a:r>
              <a:rPr lang="zh-TW" altLang="en-US" sz="1400">
                <a:solidFill>
                  <a:schemeClr val="tx1"/>
                </a:solidFill>
                <a:latin typeface="+mj-ea"/>
                <a:ea typeface="+mj-ea"/>
              </a:rPr>
              <a:t>檢視數據樣本</a:t>
            </a:r>
            <a:endParaRPr lang="en-US" altLang="zh-TW" sz="1400">
              <a:solidFill>
                <a:schemeClr val="tx1"/>
              </a:solidFill>
              <a:latin typeface="+mj-ea"/>
              <a:ea typeface="+mj-ea"/>
            </a:endParaRPr>
          </a:p>
          <a:p>
            <a:pPr marL="342900" indent="-342900">
              <a:spcBef>
                <a:spcPts val="1200"/>
              </a:spcBef>
              <a:buFont typeface="Arial" panose="020B0604020202020204" pitchFamily="34" charset="0"/>
              <a:buChar char="•"/>
            </a:pPr>
            <a:r>
              <a:rPr lang="zh-TW" altLang="en-US" sz="1400">
                <a:solidFill>
                  <a:schemeClr val="tx1"/>
                </a:solidFill>
                <a:latin typeface="+mj-ea"/>
                <a:ea typeface="+mj-ea"/>
              </a:rPr>
              <a:t>確認數據品質</a:t>
            </a:r>
            <a:endParaRPr lang="en-US" altLang="zh-TW" sz="1400">
              <a:solidFill>
                <a:schemeClr val="tx1"/>
              </a:solidFill>
              <a:latin typeface="+mj-ea"/>
              <a:ea typeface="+mj-ea"/>
            </a:endParaRPr>
          </a:p>
        </p:txBody>
      </p:sp>
      <p:sp>
        <p:nvSpPr>
          <p:cNvPr id="5" name="矩形: 圓角 4">
            <a:extLst>
              <a:ext uri="{FF2B5EF4-FFF2-40B4-BE49-F238E27FC236}">
                <a16:creationId xmlns:a16="http://schemas.microsoft.com/office/drawing/2014/main" id="{B206503A-D853-4042-A27C-6FCB171C53A4}"/>
              </a:ext>
            </a:extLst>
          </p:cNvPr>
          <p:cNvSpPr/>
          <p:nvPr/>
        </p:nvSpPr>
        <p:spPr>
          <a:xfrm>
            <a:off x="1248872" y="4561004"/>
            <a:ext cx="2030098" cy="1115733"/>
          </a:xfrm>
          <a:prstGeom prst="roundRect">
            <a:avLst>
              <a:gd name="adj" fmla="val 7472"/>
            </a:avLst>
          </a:prstGeom>
          <a:noFill/>
          <a:ln w="38100">
            <a:solidFill>
              <a:srgbClr val="6465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342900" indent="-342900">
              <a:spcBef>
                <a:spcPts val="1200"/>
              </a:spcBef>
              <a:buFont typeface="Arial" panose="020B0604020202020204" pitchFamily="34" charset="0"/>
              <a:buChar char="•"/>
            </a:pPr>
            <a:r>
              <a:rPr lang="zh-TW" altLang="en-US" sz="1400">
                <a:solidFill>
                  <a:schemeClr val="tx1"/>
                </a:solidFill>
                <a:latin typeface="+mj-ea"/>
                <a:ea typeface="+mj-ea"/>
              </a:rPr>
              <a:t>各式數據接口</a:t>
            </a:r>
            <a:endParaRPr lang="en-US" altLang="zh-TW" sz="1400">
              <a:solidFill>
                <a:schemeClr val="tx1"/>
              </a:solidFill>
              <a:latin typeface="+mj-ea"/>
              <a:ea typeface="+mj-ea"/>
            </a:endParaRPr>
          </a:p>
          <a:p>
            <a:pPr marL="342900" indent="-342900">
              <a:spcBef>
                <a:spcPts val="1200"/>
              </a:spcBef>
              <a:buFont typeface="Arial" panose="020B0604020202020204" pitchFamily="34" charset="0"/>
              <a:buChar char="•"/>
            </a:pPr>
            <a:r>
              <a:rPr lang="zh-TW" altLang="en-US" sz="1400">
                <a:solidFill>
                  <a:schemeClr val="tx1"/>
                </a:solidFill>
                <a:latin typeface="+mj-ea"/>
                <a:ea typeface="+mj-ea"/>
              </a:rPr>
              <a:t>取得高值量數據</a:t>
            </a:r>
            <a:endParaRPr lang="en-US" altLang="zh-TW" sz="1400">
              <a:solidFill>
                <a:schemeClr val="tx1"/>
              </a:solidFill>
              <a:latin typeface="+mj-ea"/>
              <a:ea typeface="+mj-ea"/>
            </a:endParaRPr>
          </a:p>
        </p:txBody>
      </p:sp>
    </p:spTree>
    <p:extLst>
      <p:ext uri="{BB962C8B-B14F-4D97-AF65-F5344CB8AC3E}">
        <p14:creationId xmlns:p14="http://schemas.microsoft.com/office/powerpoint/2010/main" val="352288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0">
            <a:extLst>
              <a:ext uri="{FF2B5EF4-FFF2-40B4-BE49-F238E27FC236}">
                <a16:creationId xmlns:a16="http://schemas.microsoft.com/office/drawing/2014/main" id="{97271AFD-DD65-B046-0D75-18B21D0D726B}"/>
              </a:ext>
            </a:extLst>
          </p:cNvPr>
          <p:cNvSpPr>
            <a:spLocks noGrp="1"/>
          </p:cNvSpPr>
          <p:nvPr>
            <p:ph type="title"/>
          </p:nvPr>
        </p:nvSpPr>
        <p:spPr/>
        <p:txBody>
          <a:bodyPr>
            <a:normAutofit/>
          </a:bodyPr>
          <a:lstStyle/>
          <a:p>
            <a:r>
              <a:rPr kumimoji="0" lang="en-US" altLang="zh-TW" sz="3200" b="1" i="0" u="none" strike="noStrike" kern="1200" cap="none" spc="0" normalizeH="0" baseline="0" noProof="0">
                <a:ln>
                  <a:noFill/>
                </a:ln>
                <a:solidFill>
                  <a:srgbClr val="0087DC"/>
                </a:solidFill>
                <a:effectLst/>
                <a:uLnTx/>
                <a:uFillTx/>
                <a:latin typeface="Arial"/>
                <a:ea typeface="Microsoft JhengHei"/>
                <a:cs typeface="+mj-cs"/>
              </a:rPr>
              <a:t>MFG</a:t>
            </a:r>
            <a:r>
              <a:rPr kumimoji="0" lang="zh-TW" altLang="en-US" sz="3200" b="1" i="0" u="none" strike="noStrike" kern="1200" cap="none" spc="0" normalizeH="0" baseline="0" noProof="0">
                <a:ln>
                  <a:noFill/>
                </a:ln>
                <a:solidFill>
                  <a:srgbClr val="0087DC"/>
                </a:solidFill>
                <a:effectLst/>
                <a:uLnTx/>
                <a:uFillTx/>
                <a:latin typeface="Arial"/>
                <a:ea typeface="Microsoft JhengHei"/>
                <a:cs typeface="+mj-cs"/>
              </a:rPr>
              <a:t>數據中台數據收集原則</a:t>
            </a:r>
            <a:r>
              <a:rPr kumimoji="0" lang="en-US" altLang="zh-TW" sz="3200" b="1" i="0" u="none" strike="noStrike" kern="1200" cap="none" spc="0" normalizeH="0" baseline="0" noProof="0">
                <a:ln>
                  <a:noFill/>
                </a:ln>
                <a:solidFill>
                  <a:srgbClr val="0087DC"/>
                </a:solidFill>
                <a:effectLst/>
                <a:uLnTx/>
                <a:uFillTx/>
                <a:latin typeface="Arial"/>
                <a:ea typeface="Microsoft JhengHei"/>
                <a:cs typeface="+mj-cs"/>
              </a:rPr>
              <a:t>(</a:t>
            </a:r>
            <a:r>
              <a:rPr kumimoji="0" lang="zh-TW" altLang="en-US" sz="3200" b="1" i="0" u="none" strike="noStrike" kern="1200" cap="none" spc="0" normalizeH="0" baseline="0" noProof="0">
                <a:ln>
                  <a:noFill/>
                </a:ln>
                <a:solidFill>
                  <a:srgbClr val="0087DC"/>
                </a:solidFill>
                <a:effectLst/>
                <a:uLnTx/>
                <a:uFillTx/>
                <a:latin typeface="Arial"/>
                <a:ea typeface="Microsoft JhengHei"/>
                <a:cs typeface="+mj-cs"/>
              </a:rPr>
              <a:t>規劃完善中</a:t>
            </a:r>
            <a:r>
              <a:rPr kumimoji="0" lang="en-US" altLang="zh-TW" sz="3200" b="1" i="0" u="none" strike="noStrike" kern="1200" cap="none" spc="0" normalizeH="0" baseline="0" noProof="0">
                <a:ln>
                  <a:noFill/>
                </a:ln>
                <a:solidFill>
                  <a:srgbClr val="0087DC"/>
                </a:solidFill>
                <a:effectLst/>
                <a:uLnTx/>
                <a:uFillTx/>
                <a:latin typeface="Arial"/>
                <a:ea typeface="Microsoft JhengHei"/>
                <a:cs typeface="+mj-cs"/>
              </a:rPr>
              <a:t>)</a:t>
            </a:r>
            <a:endParaRPr lang="zh-TW" altLang="en-US"/>
          </a:p>
        </p:txBody>
      </p:sp>
      <p:sp>
        <p:nvSpPr>
          <p:cNvPr id="6" name="矩形: 圓角 5">
            <a:extLst>
              <a:ext uri="{FF2B5EF4-FFF2-40B4-BE49-F238E27FC236}">
                <a16:creationId xmlns:a16="http://schemas.microsoft.com/office/drawing/2014/main" id="{12D3E8C0-FC39-17AF-A61B-BC4A50553C8A}"/>
              </a:ext>
            </a:extLst>
          </p:cNvPr>
          <p:cNvSpPr/>
          <p:nvPr/>
        </p:nvSpPr>
        <p:spPr>
          <a:xfrm>
            <a:off x="2354230" y="4198442"/>
            <a:ext cx="1284891" cy="35881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a:ln>
                  <a:noFill/>
                </a:ln>
                <a:solidFill>
                  <a:prstClr val="black"/>
                </a:solidFill>
                <a:effectLst/>
                <a:uLnTx/>
                <a:uFillTx/>
                <a:latin typeface="+mj-ea"/>
                <a:ea typeface="+mj-ea"/>
                <a:cs typeface="+mn-cs"/>
              </a:rPr>
              <a:t>線級機連數據</a:t>
            </a:r>
            <a:endParaRPr kumimoji="0" lang="en-US" altLang="zh-TW" sz="1400" b="1" i="0" u="none" strike="noStrike" kern="1200" cap="none" spc="0" normalizeH="0" baseline="0" noProof="0">
              <a:ln>
                <a:noFill/>
              </a:ln>
              <a:solidFill>
                <a:prstClr val="black"/>
              </a:solidFill>
              <a:effectLst/>
              <a:uLnTx/>
              <a:uFillTx/>
              <a:latin typeface="+mj-ea"/>
              <a:ea typeface="+mj-ea"/>
              <a:cs typeface="+mn-cs"/>
            </a:endParaRPr>
          </a:p>
        </p:txBody>
      </p:sp>
      <p:sp>
        <p:nvSpPr>
          <p:cNvPr id="7" name="矩形: 圓角 6">
            <a:extLst>
              <a:ext uri="{FF2B5EF4-FFF2-40B4-BE49-F238E27FC236}">
                <a16:creationId xmlns:a16="http://schemas.microsoft.com/office/drawing/2014/main" id="{53EFCE3C-D9FB-0CB8-1C90-BB52C2F0C1A6}"/>
              </a:ext>
            </a:extLst>
          </p:cNvPr>
          <p:cNvSpPr/>
          <p:nvPr/>
        </p:nvSpPr>
        <p:spPr>
          <a:xfrm>
            <a:off x="2248983" y="4094317"/>
            <a:ext cx="1284891" cy="35881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a:ln>
                  <a:noFill/>
                </a:ln>
                <a:solidFill>
                  <a:prstClr val="black"/>
                </a:solidFill>
                <a:effectLst/>
                <a:uLnTx/>
                <a:uFillTx/>
                <a:latin typeface="+mj-ea"/>
                <a:ea typeface="+mj-ea"/>
                <a:cs typeface="+mn-cs"/>
              </a:rPr>
              <a:t>線級機連數據</a:t>
            </a:r>
            <a:endParaRPr kumimoji="0" lang="en-US" altLang="zh-TW" sz="1400" b="1" i="0" u="none" strike="noStrike" kern="1200" cap="none" spc="0" normalizeH="0" baseline="0" noProof="0">
              <a:ln>
                <a:noFill/>
              </a:ln>
              <a:solidFill>
                <a:prstClr val="black"/>
              </a:solidFill>
              <a:effectLst/>
              <a:uLnTx/>
              <a:uFillTx/>
              <a:latin typeface="+mj-ea"/>
              <a:ea typeface="+mj-ea"/>
              <a:cs typeface="+mn-cs"/>
            </a:endParaRPr>
          </a:p>
        </p:txBody>
      </p:sp>
      <p:sp>
        <p:nvSpPr>
          <p:cNvPr id="24" name="矩形: 圓角 23">
            <a:extLst>
              <a:ext uri="{FF2B5EF4-FFF2-40B4-BE49-F238E27FC236}">
                <a16:creationId xmlns:a16="http://schemas.microsoft.com/office/drawing/2014/main" id="{A714A241-8FFE-6446-35E5-01589CDEBA5F}"/>
              </a:ext>
            </a:extLst>
          </p:cNvPr>
          <p:cNvSpPr/>
          <p:nvPr/>
        </p:nvSpPr>
        <p:spPr>
          <a:xfrm>
            <a:off x="624307" y="1436175"/>
            <a:ext cx="651252" cy="301126"/>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a:ln>
                  <a:noFill/>
                </a:ln>
                <a:solidFill>
                  <a:prstClr val="black"/>
                </a:solidFill>
                <a:effectLst/>
                <a:uLnTx/>
                <a:uFillTx/>
                <a:latin typeface="+mj-ea"/>
                <a:ea typeface="+mj-ea"/>
                <a:cs typeface="+mn-cs"/>
              </a:rPr>
              <a:t>…</a:t>
            </a:r>
            <a:endParaRPr kumimoji="0" lang="zh-TW" altLang="en-US" sz="1400" b="1" i="0" u="none" strike="noStrike" kern="1200" cap="none" spc="0" normalizeH="0" baseline="0" noProof="0">
              <a:ln>
                <a:noFill/>
              </a:ln>
              <a:solidFill>
                <a:prstClr val="black"/>
              </a:solidFill>
              <a:effectLst/>
              <a:uLnTx/>
              <a:uFillTx/>
              <a:latin typeface="+mj-ea"/>
              <a:ea typeface="+mj-ea"/>
              <a:cs typeface="+mn-cs"/>
            </a:endParaRPr>
          </a:p>
        </p:txBody>
      </p:sp>
      <p:sp>
        <p:nvSpPr>
          <p:cNvPr id="25" name="矩形: 圓角 24">
            <a:extLst>
              <a:ext uri="{FF2B5EF4-FFF2-40B4-BE49-F238E27FC236}">
                <a16:creationId xmlns:a16="http://schemas.microsoft.com/office/drawing/2014/main" id="{818D27F9-A5F9-BCCF-EB92-2CFBC77155C1}"/>
              </a:ext>
            </a:extLst>
          </p:cNvPr>
          <p:cNvSpPr/>
          <p:nvPr/>
        </p:nvSpPr>
        <p:spPr>
          <a:xfrm>
            <a:off x="2047424" y="1780888"/>
            <a:ext cx="3376986" cy="879305"/>
          </a:xfrm>
          <a:prstGeom prst="roundRect">
            <a:avLst/>
          </a:prstGeom>
          <a:solidFill>
            <a:srgbClr val="51B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a:ln>
                  <a:noFill/>
                </a:ln>
                <a:solidFill>
                  <a:prstClr val="black"/>
                </a:solidFill>
                <a:effectLst/>
                <a:uLnTx/>
                <a:uFillTx/>
                <a:latin typeface="+mj-ea"/>
                <a:ea typeface="+mj-ea"/>
                <a:cs typeface="+mn-cs"/>
              </a:rPr>
              <a:t>數據中台</a:t>
            </a:r>
            <a:endParaRPr kumimoji="0" lang="zh-TW" altLang="en-US" sz="2000" b="0" i="0" u="none" strike="noStrike" kern="1200" cap="none" spc="0" normalizeH="0" baseline="0" noProof="0">
              <a:ln>
                <a:noFill/>
              </a:ln>
              <a:solidFill>
                <a:prstClr val="black"/>
              </a:solidFill>
              <a:effectLst/>
              <a:uLnTx/>
              <a:uFillTx/>
              <a:latin typeface="+mj-ea"/>
              <a:ea typeface="+mj-ea"/>
              <a:cs typeface="+mn-cs"/>
            </a:endParaRPr>
          </a:p>
        </p:txBody>
      </p:sp>
      <p:grpSp>
        <p:nvGrpSpPr>
          <p:cNvPr id="26" name="群組 25">
            <a:extLst>
              <a:ext uri="{FF2B5EF4-FFF2-40B4-BE49-F238E27FC236}">
                <a16:creationId xmlns:a16="http://schemas.microsoft.com/office/drawing/2014/main" id="{D2D2E38C-7788-66D1-2924-45861BB24DEC}"/>
              </a:ext>
            </a:extLst>
          </p:cNvPr>
          <p:cNvGrpSpPr/>
          <p:nvPr/>
        </p:nvGrpSpPr>
        <p:grpSpPr>
          <a:xfrm>
            <a:off x="3827049" y="2091056"/>
            <a:ext cx="1302085" cy="472070"/>
            <a:chOff x="4181314" y="5890350"/>
            <a:chExt cx="1002644" cy="363508"/>
          </a:xfrm>
        </p:grpSpPr>
        <p:pic>
          <p:nvPicPr>
            <p:cNvPr id="27" name="圖片 26">
              <a:extLst>
                <a:ext uri="{FF2B5EF4-FFF2-40B4-BE49-F238E27FC236}">
                  <a16:creationId xmlns:a16="http://schemas.microsoft.com/office/drawing/2014/main" id="{E833FB53-791C-06C2-E0D5-C9A46016236A}"/>
                </a:ext>
              </a:extLst>
            </p:cNvPr>
            <p:cNvPicPr>
              <a:picLocks noChangeAspect="1"/>
            </p:cNvPicPr>
            <p:nvPr/>
          </p:nvPicPr>
          <p:blipFill>
            <a:blip r:embed="rId3">
              <a:clrChange>
                <a:clrFrom>
                  <a:srgbClr val="F4F4F6"/>
                </a:clrFrom>
                <a:clrTo>
                  <a:srgbClr val="F4F4F6">
                    <a:alpha val="0"/>
                  </a:srgbClr>
                </a:clrTo>
              </a:clrChange>
              <a:biLevel thresh="75000"/>
            </a:blip>
            <a:stretch>
              <a:fillRect/>
            </a:stretch>
          </p:blipFill>
          <p:spPr>
            <a:xfrm>
              <a:off x="4260146" y="5913006"/>
              <a:ext cx="340852" cy="340852"/>
            </a:xfrm>
            <a:prstGeom prst="rect">
              <a:avLst/>
            </a:prstGeom>
            <a:ln>
              <a:noFill/>
            </a:ln>
          </p:spPr>
        </p:pic>
        <p:sp>
          <p:nvSpPr>
            <p:cNvPr id="28" name="矩形: 圓角 27">
              <a:extLst>
                <a:ext uri="{FF2B5EF4-FFF2-40B4-BE49-F238E27FC236}">
                  <a16:creationId xmlns:a16="http://schemas.microsoft.com/office/drawing/2014/main" id="{24D62BB3-F205-4B77-CAB8-C82292B335DF}"/>
                </a:ext>
              </a:extLst>
            </p:cNvPr>
            <p:cNvSpPr/>
            <p:nvPr/>
          </p:nvSpPr>
          <p:spPr>
            <a:xfrm>
              <a:off x="4181314" y="5890350"/>
              <a:ext cx="1002644" cy="360213"/>
            </a:xfrm>
            <a:prstGeom prst="roundRect">
              <a:avLst>
                <a:gd name="adj" fmla="val 917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18000" bIns="0" rtlCol="0" anchor="ctr" anchorCtr="0"/>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a:ln>
                    <a:noFill/>
                  </a:ln>
                  <a:solidFill>
                    <a:prstClr val="black"/>
                  </a:solidFill>
                  <a:effectLst/>
                  <a:uLnTx/>
                  <a:uFillTx/>
                  <a:latin typeface="+mj-ea"/>
                  <a:ea typeface="+mj-ea"/>
                  <a:cs typeface="+mn-cs"/>
                </a:rPr>
                <a:t>Data lake</a:t>
              </a:r>
              <a:endParaRPr kumimoji="0" lang="zh-TW" altLang="en-US" sz="1000" b="0" i="0" u="none" strike="noStrike" kern="1200" cap="none" spc="0" normalizeH="0" baseline="0" noProof="0">
                <a:ln>
                  <a:noFill/>
                </a:ln>
                <a:solidFill>
                  <a:prstClr val="black"/>
                </a:solidFill>
                <a:effectLst/>
                <a:uLnTx/>
                <a:uFillTx/>
                <a:latin typeface="+mj-ea"/>
                <a:ea typeface="+mj-ea"/>
                <a:cs typeface="+mn-cs"/>
              </a:endParaRPr>
            </a:p>
          </p:txBody>
        </p:sp>
      </p:grpSp>
      <p:sp>
        <p:nvSpPr>
          <p:cNvPr id="29" name="文字方塊 28">
            <a:extLst>
              <a:ext uri="{FF2B5EF4-FFF2-40B4-BE49-F238E27FC236}">
                <a16:creationId xmlns:a16="http://schemas.microsoft.com/office/drawing/2014/main" id="{EB2BE8B8-CB85-0B48-4F6F-6A4FC379F4E6}"/>
              </a:ext>
            </a:extLst>
          </p:cNvPr>
          <p:cNvSpPr txBox="1"/>
          <p:nvPr/>
        </p:nvSpPr>
        <p:spPr>
          <a:xfrm>
            <a:off x="6856330" y="948690"/>
            <a:ext cx="4590017" cy="5632311"/>
          </a:xfrm>
          <a:prstGeom prst="rect">
            <a:avLst/>
          </a:prstGeom>
          <a:noFill/>
        </p:spPr>
        <p:txBody>
          <a:bodyPr wrap="square" rtlCol="0">
            <a:spAutoFit/>
          </a:bodyP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800" b="0" i="0" u="none" strike="noStrike" kern="1200" cap="none" spc="0" normalizeH="0" baseline="0" noProof="0">
                <a:ln>
                  <a:noFill/>
                </a:ln>
                <a:solidFill>
                  <a:prstClr val="black"/>
                </a:solidFill>
                <a:effectLst/>
                <a:uLnTx/>
                <a:uFillTx/>
                <a:latin typeface="+mj-ea"/>
                <a:ea typeface="+mj-ea"/>
                <a:cs typeface="+mn-cs"/>
              </a:rPr>
              <a:t>以</a:t>
            </a:r>
            <a:r>
              <a:rPr kumimoji="0" lang="zh-TW" altLang="en-US" sz="1800" b="1" i="0" u="none" strike="noStrike" kern="1200" cap="none" spc="0" normalizeH="0" baseline="0" noProof="0">
                <a:ln>
                  <a:noFill/>
                </a:ln>
                <a:solidFill>
                  <a:srgbClr val="FF0000"/>
                </a:solidFill>
                <a:effectLst/>
                <a:uLnTx/>
                <a:uFillTx/>
                <a:latin typeface="+mj-ea"/>
                <a:ea typeface="+mj-ea"/>
                <a:cs typeface="+mn-cs"/>
              </a:rPr>
              <a:t>地區畫分</a:t>
            </a:r>
            <a:r>
              <a:rPr kumimoji="0" lang="en-US" altLang="zh-TW" sz="1800" b="0" i="0" u="none" strike="noStrike" kern="1200" cap="none" spc="0" normalizeH="0" baseline="0" noProof="0">
                <a:ln>
                  <a:noFill/>
                </a:ln>
                <a:solidFill>
                  <a:prstClr val="black"/>
                </a:solidFill>
                <a:effectLst/>
                <a:uLnTx/>
                <a:uFillTx/>
                <a:latin typeface="+mj-ea"/>
                <a:ea typeface="+mj-ea"/>
                <a:cs typeface="+mn-cs"/>
              </a:rPr>
              <a:t>, </a:t>
            </a:r>
            <a:r>
              <a:rPr kumimoji="0" lang="zh-TW" altLang="en-US" sz="1800" b="0" i="0" u="none" strike="noStrike" kern="1200" cap="none" spc="0" normalizeH="0" baseline="0" noProof="0">
                <a:ln>
                  <a:noFill/>
                </a:ln>
                <a:solidFill>
                  <a:prstClr val="black"/>
                </a:solidFill>
                <a:effectLst/>
                <a:uLnTx/>
                <a:uFillTx/>
                <a:latin typeface="+mj-ea"/>
                <a:ea typeface="+mj-ea"/>
                <a:cs typeface="+mn-cs"/>
              </a:rPr>
              <a:t>用相同技術架構</a:t>
            </a:r>
            <a:r>
              <a:rPr kumimoji="0" lang="en-US" altLang="zh-TW" sz="1800" b="0" i="0" u="none" strike="noStrike" kern="1200" cap="none" spc="0" normalizeH="0" baseline="0" noProof="0">
                <a:ln>
                  <a:noFill/>
                </a:ln>
                <a:solidFill>
                  <a:prstClr val="black"/>
                </a:solidFill>
                <a:effectLst/>
                <a:uLnTx/>
                <a:uFillTx/>
                <a:latin typeface="+mj-ea"/>
                <a:ea typeface="+mj-ea"/>
                <a:cs typeface="+mn-cs"/>
              </a:rPr>
              <a:t>, </a:t>
            </a:r>
            <a:r>
              <a:rPr kumimoji="0" lang="zh-TW" altLang="en-US" sz="1800" b="1" i="0" u="none" strike="noStrike" kern="1200" cap="none" spc="0" normalizeH="0" baseline="0" noProof="0">
                <a:ln>
                  <a:noFill/>
                </a:ln>
                <a:solidFill>
                  <a:srgbClr val="FF0000"/>
                </a:solidFill>
                <a:effectLst/>
                <a:uLnTx/>
                <a:uFillTx/>
                <a:latin typeface="+mj-ea"/>
                <a:ea typeface="+mj-ea"/>
                <a:cs typeface="+mn-cs"/>
              </a:rPr>
              <a:t>各區建置</a:t>
            </a:r>
            <a:r>
              <a:rPr kumimoji="0" lang="zh-TW" altLang="en-US" sz="1800" b="0" i="0" u="none" strike="noStrike" kern="1200" cap="none" spc="0" normalizeH="0" baseline="0" noProof="0">
                <a:ln>
                  <a:noFill/>
                </a:ln>
                <a:solidFill>
                  <a:prstClr val="black"/>
                </a:solidFill>
                <a:effectLst/>
                <a:uLnTx/>
                <a:uFillTx/>
                <a:latin typeface="+mj-ea"/>
                <a:ea typeface="+mj-ea"/>
                <a:cs typeface="+mn-cs"/>
              </a:rPr>
              <a:t>數據中台</a:t>
            </a: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800" b="0" i="0" u="none" strike="noStrike" kern="1200" cap="none" spc="0" normalizeH="0" baseline="0" noProof="0">
                <a:ln>
                  <a:noFill/>
                </a:ln>
                <a:solidFill>
                  <a:prstClr val="black"/>
                </a:solidFill>
                <a:effectLst/>
                <a:uLnTx/>
                <a:uFillTx/>
                <a:latin typeface="+mj-ea"/>
                <a:ea typeface="+mj-ea"/>
                <a:cs typeface="+mn-cs"/>
              </a:rPr>
              <a:t>收攏現在與未來所有廠級</a:t>
            </a:r>
            <a:r>
              <a:rPr kumimoji="0" lang="en-US" altLang="zh-TW" sz="1800" b="0" i="0" u="none" strike="noStrike" kern="1200" cap="none" spc="0" normalizeH="0" baseline="0" noProof="0">
                <a:ln>
                  <a:noFill/>
                </a:ln>
                <a:solidFill>
                  <a:prstClr val="black"/>
                </a:solidFill>
                <a:effectLst/>
                <a:uLnTx/>
                <a:uFillTx/>
                <a:latin typeface="+mj-ea"/>
                <a:ea typeface="+mj-ea"/>
                <a:cs typeface="+mn-cs"/>
              </a:rPr>
              <a:t>/</a:t>
            </a:r>
            <a:r>
              <a:rPr kumimoji="0" lang="zh-TW" altLang="en-US" sz="1800" b="0" i="0" u="none" strike="noStrike" kern="1200" cap="none" spc="0" normalizeH="0" baseline="0" noProof="0">
                <a:ln>
                  <a:noFill/>
                </a:ln>
                <a:solidFill>
                  <a:prstClr val="black"/>
                </a:solidFill>
                <a:effectLst/>
                <a:uLnTx/>
                <a:uFillTx/>
                <a:latin typeface="+mj-ea"/>
                <a:ea typeface="+mj-ea"/>
                <a:cs typeface="+mn-cs"/>
              </a:rPr>
              <a:t>線級</a:t>
            </a:r>
            <a:r>
              <a:rPr kumimoji="0" lang="zh-TW" altLang="en-US" sz="1800" b="1" i="0" u="none" strike="noStrike" kern="1200" cap="none" spc="0" normalizeH="0" baseline="0" noProof="0">
                <a:ln>
                  <a:noFill/>
                </a:ln>
                <a:solidFill>
                  <a:srgbClr val="FF0000"/>
                </a:solidFill>
                <a:effectLst/>
                <a:uLnTx/>
                <a:uFillTx/>
                <a:latin typeface="+mj-ea"/>
                <a:ea typeface="+mj-ea"/>
                <a:cs typeface="+mn-cs"/>
              </a:rPr>
              <a:t>機聯網數據</a:t>
            </a:r>
            <a:r>
              <a:rPr kumimoji="0" lang="en-US" altLang="zh-TW" sz="1800" b="1" i="0" u="none" strike="noStrike" kern="1200" cap="none" spc="0" normalizeH="0" baseline="0" noProof="0">
                <a:ln>
                  <a:noFill/>
                </a:ln>
                <a:solidFill>
                  <a:srgbClr val="FF0000"/>
                </a:solidFill>
                <a:effectLst/>
                <a:uLnTx/>
                <a:uFillTx/>
                <a:latin typeface="+mj-ea"/>
                <a:ea typeface="+mj-ea"/>
                <a:cs typeface="+mn-cs"/>
              </a:rPr>
              <a:t>,</a:t>
            </a:r>
            <a:r>
              <a:rPr kumimoji="0" lang="en-US" altLang="zh-TW" sz="1800" b="0" i="0" u="none" strike="noStrike" kern="1200" cap="none" spc="0" normalizeH="0" baseline="0" noProof="0">
                <a:ln>
                  <a:noFill/>
                </a:ln>
                <a:solidFill>
                  <a:prstClr val="black"/>
                </a:solidFill>
                <a:effectLst/>
                <a:uLnTx/>
                <a:uFillTx/>
                <a:latin typeface="+mj-ea"/>
                <a:ea typeface="+mj-ea"/>
                <a:cs typeface="+mn-cs"/>
              </a:rPr>
              <a:t> </a:t>
            </a:r>
            <a:r>
              <a:rPr kumimoji="0" lang="zh-TW" altLang="en-US" sz="1800" b="0" i="0" u="none" strike="noStrike" kern="1200" cap="none" spc="0" normalizeH="0" baseline="0" noProof="0">
                <a:ln>
                  <a:noFill/>
                </a:ln>
                <a:solidFill>
                  <a:prstClr val="black"/>
                </a:solidFill>
                <a:effectLst/>
                <a:uLnTx/>
                <a:uFillTx/>
                <a:latin typeface="+mj-ea"/>
                <a:ea typeface="+mj-ea"/>
                <a:cs typeface="+mn-cs"/>
              </a:rPr>
              <a:t>包含邊緣運算後之數據</a:t>
            </a: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800" b="0" i="0" u="none" strike="noStrike" kern="1200" cap="none" spc="0" normalizeH="0" baseline="0" noProof="0">
                <a:ln>
                  <a:noFill/>
                </a:ln>
                <a:solidFill>
                  <a:prstClr val="black"/>
                </a:solidFill>
                <a:effectLst/>
                <a:uLnTx/>
                <a:uFillTx/>
                <a:latin typeface="+mj-ea"/>
                <a:ea typeface="+mj-ea"/>
                <a:cs typeface="+mn-cs"/>
              </a:rPr>
              <a:t>(TBD)</a:t>
            </a:r>
            <a:r>
              <a:rPr kumimoji="0" lang="zh-TW" altLang="en-US" sz="1800" b="0" i="0" u="none" strike="noStrike" kern="1200" cap="none" spc="0" normalizeH="0" baseline="0" noProof="0">
                <a:ln>
                  <a:noFill/>
                </a:ln>
                <a:solidFill>
                  <a:prstClr val="black"/>
                </a:solidFill>
                <a:effectLst/>
                <a:uLnTx/>
                <a:uFillTx/>
                <a:latin typeface="+mj-ea"/>
                <a:ea typeface="+mj-ea"/>
                <a:cs typeface="+mn-cs"/>
              </a:rPr>
              <a:t>其他系統數據</a:t>
            </a:r>
            <a:r>
              <a:rPr kumimoji="0" lang="en-US" altLang="zh-TW" sz="1800" b="0" i="0" u="none" strike="noStrike" kern="1200" cap="none" spc="0" normalizeH="0" baseline="0" noProof="0">
                <a:ln>
                  <a:noFill/>
                </a:ln>
                <a:solidFill>
                  <a:prstClr val="black"/>
                </a:solidFill>
                <a:effectLst/>
                <a:uLnTx/>
                <a:uFillTx/>
                <a:latin typeface="+mj-ea"/>
                <a:ea typeface="+mj-ea"/>
                <a:cs typeface="+mn-cs"/>
              </a:rPr>
              <a:t>, </a:t>
            </a:r>
            <a:r>
              <a:rPr kumimoji="0" lang="zh-TW" altLang="en-US" sz="1800" b="0" i="0" u="none" strike="noStrike" kern="1200" cap="none" spc="0" normalizeH="0" baseline="0" noProof="0">
                <a:ln>
                  <a:noFill/>
                </a:ln>
                <a:solidFill>
                  <a:prstClr val="black"/>
                </a:solidFill>
                <a:effectLst/>
                <a:uLnTx/>
                <a:uFillTx/>
                <a:latin typeface="+mj-ea"/>
                <a:ea typeface="+mj-ea"/>
                <a:cs typeface="+mn-cs"/>
              </a:rPr>
              <a:t>若有</a:t>
            </a:r>
            <a:r>
              <a:rPr kumimoji="0" lang="en-US" altLang="zh-TW" sz="1800" b="0" i="0" u="none" strike="noStrike" kern="1200" cap="none" spc="0" normalizeH="0" baseline="0" noProof="0">
                <a:ln>
                  <a:noFill/>
                </a:ln>
                <a:solidFill>
                  <a:prstClr val="black"/>
                </a:solidFill>
                <a:effectLst/>
                <a:uLnTx/>
                <a:uFillTx/>
                <a:latin typeface="+mj-ea"/>
                <a:ea typeface="+mj-ea"/>
                <a:cs typeface="+mn-cs"/>
              </a:rPr>
              <a:t>OLAP</a:t>
            </a:r>
            <a:r>
              <a:rPr kumimoji="0" lang="zh-TW" altLang="en-US" sz="1800" b="0" i="0" u="none" strike="noStrike" kern="1200" cap="none" spc="0" normalizeH="0" baseline="0" noProof="0">
                <a:ln>
                  <a:noFill/>
                </a:ln>
                <a:solidFill>
                  <a:prstClr val="black"/>
                </a:solidFill>
                <a:effectLst/>
                <a:uLnTx/>
                <a:uFillTx/>
                <a:latin typeface="+mj-ea"/>
                <a:ea typeface="+mj-ea"/>
                <a:cs typeface="+mn-cs"/>
              </a:rPr>
              <a:t>之龐大查詢其他數據源之需求</a:t>
            </a:r>
            <a:r>
              <a:rPr kumimoji="0" lang="en-US" altLang="zh-TW" sz="1800" b="0" i="0" u="none" strike="noStrike" kern="1200" cap="none" spc="0" normalizeH="0" baseline="0" noProof="0">
                <a:ln>
                  <a:noFill/>
                </a:ln>
                <a:solidFill>
                  <a:prstClr val="black"/>
                </a:solidFill>
                <a:effectLst/>
                <a:uLnTx/>
                <a:uFillTx/>
                <a:latin typeface="+mj-ea"/>
                <a:ea typeface="+mj-ea"/>
                <a:cs typeface="+mn-cs"/>
              </a:rPr>
              <a:t>, </a:t>
            </a:r>
            <a:r>
              <a:rPr kumimoji="0" lang="zh-TW" altLang="en-US" sz="1800" b="0" i="0" u="none" strike="noStrike" kern="1200" cap="none" spc="0" normalizeH="0" baseline="0" noProof="0">
                <a:ln>
                  <a:noFill/>
                </a:ln>
                <a:solidFill>
                  <a:prstClr val="black"/>
                </a:solidFill>
                <a:effectLst/>
                <a:uLnTx/>
                <a:uFillTx/>
                <a:latin typeface="+mj-ea"/>
                <a:ea typeface="+mj-ea"/>
                <a:cs typeface="+mn-cs"/>
              </a:rPr>
              <a:t>如</a:t>
            </a:r>
            <a:r>
              <a:rPr kumimoji="0" lang="en-US" altLang="zh-TW" sz="1800" b="0" i="0" u="none" strike="noStrike" kern="1200" cap="none" spc="0" normalizeH="0" baseline="0" noProof="0">
                <a:ln>
                  <a:noFill/>
                </a:ln>
                <a:solidFill>
                  <a:prstClr val="black"/>
                </a:solidFill>
                <a:effectLst/>
                <a:uLnTx/>
                <a:uFillTx/>
                <a:latin typeface="+mj-ea"/>
                <a:ea typeface="+mj-ea"/>
                <a:cs typeface="+mn-cs"/>
              </a:rPr>
              <a:t>MES, </a:t>
            </a:r>
            <a:r>
              <a:rPr kumimoji="0" lang="zh-TW" altLang="en-US" sz="1800" b="0" i="0" u="none" strike="noStrike" kern="1200" cap="none" spc="0" normalizeH="0" baseline="0" noProof="0">
                <a:ln>
                  <a:noFill/>
                </a:ln>
                <a:solidFill>
                  <a:prstClr val="black"/>
                </a:solidFill>
                <a:effectLst/>
                <a:uLnTx/>
                <a:uFillTx/>
                <a:latin typeface="+mj-ea"/>
                <a:ea typeface="+mj-ea"/>
                <a:cs typeface="+mn-cs"/>
              </a:rPr>
              <a:t>視情況使用</a:t>
            </a:r>
            <a:r>
              <a:rPr kumimoji="0" lang="en-US" altLang="zh-TW" sz="1800" b="0" i="0" u="none" strike="noStrike" kern="1200" cap="none" spc="0" normalizeH="0" baseline="0" noProof="0">
                <a:ln>
                  <a:noFill/>
                </a:ln>
                <a:solidFill>
                  <a:prstClr val="black"/>
                </a:solidFill>
                <a:effectLst/>
                <a:uLnTx/>
                <a:uFillTx/>
                <a:latin typeface="+mj-ea"/>
                <a:ea typeface="+mj-ea"/>
                <a:cs typeface="+mn-cs"/>
              </a:rPr>
              <a:t>Daily Shadow Copy, </a:t>
            </a:r>
            <a:r>
              <a:rPr kumimoji="0" lang="zh-TW" altLang="en-US" sz="1800" b="0" i="0" u="none" strike="noStrike" kern="1200" cap="none" spc="0" normalizeH="0" baseline="0" noProof="0">
                <a:ln>
                  <a:noFill/>
                </a:ln>
                <a:solidFill>
                  <a:prstClr val="black"/>
                </a:solidFill>
                <a:effectLst/>
                <a:uLnTx/>
                <a:uFillTx/>
                <a:latin typeface="+mj-ea"/>
                <a:ea typeface="+mj-ea"/>
                <a:cs typeface="+mn-cs"/>
              </a:rPr>
              <a:t>數據即時度將有</a:t>
            </a:r>
            <a:r>
              <a:rPr kumimoji="0" lang="en-US" altLang="zh-TW" sz="1800" b="0" i="0" u="none" strike="noStrike" kern="1200" cap="none" spc="0" normalizeH="0" baseline="0" noProof="0">
                <a:ln>
                  <a:noFill/>
                </a:ln>
                <a:solidFill>
                  <a:prstClr val="black"/>
                </a:solidFill>
                <a:effectLst/>
                <a:uLnTx/>
                <a:uFillTx/>
                <a:latin typeface="+mj-ea"/>
                <a:ea typeface="+mj-ea"/>
                <a:cs typeface="+mn-cs"/>
              </a:rPr>
              <a:t>D-1</a:t>
            </a:r>
            <a:r>
              <a:rPr kumimoji="0" lang="zh-TW" altLang="en-US" sz="1800" b="0" i="0" u="none" strike="noStrike" kern="1200" cap="none" spc="0" normalizeH="0" baseline="0" noProof="0">
                <a:ln>
                  <a:noFill/>
                </a:ln>
                <a:solidFill>
                  <a:prstClr val="black"/>
                </a:solidFill>
                <a:effectLst/>
                <a:uLnTx/>
                <a:uFillTx/>
                <a:latin typeface="+mj-ea"/>
                <a:ea typeface="+mj-ea"/>
                <a:cs typeface="+mn-cs"/>
              </a:rPr>
              <a:t>的時間差</a:t>
            </a: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800" b="0" i="0" u="none" strike="noStrike" kern="1200" cap="none" spc="0" normalizeH="0" baseline="0" noProof="0">
                <a:ln>
                  <a:noFill/>
                </a:ln>
                <a:solidFill>
                  <a:prstClr val="black"/>
                </a:solidFill>
                <a:effectLst/>
                <a:uLnTx/>
                <a:uFillTx/>
                <a:latin typeface="+mj-ea"/>
                <a:ea typeface="+mj-ea"/>
                <a:cs typeface="+mn-cs"/>
              </a:rPr>
              <a:t>外圍數據源以建立數據目錄與數據品質為數據治理準則</a:t>
            </a: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800" b="0" i="0" u="none" strike="noStrike" kern="1200" cap="none" spc="0" normalizeH="0" baseline="0" noProof="0">
                <a:ln>
                  <a:noFill/>
                </a:ln>
                <a:solidFill>
                  <a:prstClr val="black"/>
                </a:solidFill>
                <a:effectLst/>
                <a:uLnTx/>
                <a:uFillTx/>
                <a:latin typeface="+mj-ea"/>
                <a:ea typeface="+mj-ea"/>
                <a:cs typeface="+mn-cs"/>
              </a:rPr>
              <a:t>數據上架</a:t>
            </a:r>
            <a:r>
              <a:rPr kumimoji="0" lang="en-US" altLang="zh-TW" sz="1800" b="0" i="0" u="none" strike="noStrike" kern="1200" cap="none" spc="0" normalizeH="0" baseline="0" noProof="0">
                <a:ln>
                  <a:noFill/>
                </a:ln>
                <a:solidFill>
                  <a:prstClr val="black"/>
                </a:solidFill>
                <a:effectLst/>
                <a:uLnTx/>
                <a:uFillTx/>
                <a:latin typeface="+mj-ea"/>
                <a:ea typeface="+mj-ea"/>
                <a:cs typeface="+mn-cs"/>
              </a:rPr>
              <a:t>: </a:t>
            </a:r>
            <a:r>
              <a:rPr kumimoji="0" lang="zh-TW" altLang="en-US" sz="1800" b="0" i="0" u="none" strike="noStrike" kern="1200" cap="none" spc="0" normalizeH="0" baseline="0" noProof="0">
                <a:ln>
                  <a:noFill/>
                </a:ln>
                <a:solidFill>
                  <a:prstClr val="black"/>
                </a:solidFill>
                <a:effectLst/>
                <a:uLnTx/>
                <a:uFillTx/>
                <a:latin typeface="+mj-ea"/>
                <a:ea typeface="+mj-ea"/>
                <a:cs typeface="+mn-cs"/>
              </a:rPr>
              <a:t>由數據中台提供單一可信數據源</a:t>
            </a:r>
            <a:r>
              <a:rPr kumimoji="0" lang="en-US" altLang="zh-TW" sz="1800" b="0" i="0" u="none" strike="noStrike" kern="1200" cap="none" spc="0" normalizeH="0" baseline="0" noProof="0">
                <a:ln>
                  <a:noFill/>
                </a:ln>
                <a:solidFill>
                  <a:prstClr val="black"/>
                </a:solidFill>
                <a:effectLst/>
                <a:uLnTx/>
                <a:uFillTx/>
                <a:latin typeface="+mj-ea"/>
                <a:ea typeface="+mj-ea"/>
                <a:cs typeface="+mn-cs"/>
              </a:rPr>
              <a:t>, </a:t>
            </a:r>
            <a:r>
              <a:rPr kumimoji="0" lang="zh-TW" altLang="en-US" sz="1800" b="0" i="0" u="none" strike="noStrike" kern="1200" cap="none" spc="0" normalizeH="0" baseline="0" noProof="0">
                <a:ln>
                  <a:noFill/>
                </a:ln>
                <a:solidFill>
                  <a:prstClr val="black"/>
                </a:solidFill>
                <a:effectLst/>
                <a:uLnTx/>
                <a:uFillTx/>
                <a:latin typeface="+mj-ea"/>
                <a:ea typeface="+mj-ea"/>
                <a:cs typeface="+mn-cs"/>
              </a:rPr>
              <a:t>先決條件為經過數據治理流程</a:t>
            </a: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800" b="0" i="0" u="none" strike="noStrike" kern="1200" cap="none" spc="0" normalizeH="0" baseline="0" noProof="0">
                <a:ln>
                  <a:noFill/>
                </a:ln>
                <a:solidFill>
                  <a:prstClr val="black"/>
                </a:solidFill>
                <a:effectLst/>
                <a:uLnTx/>
                <a:uFillTx/>
                <a:latin typeface="+mj-ea"/>
                <a:ea typeface="+mj-ea"/>
                <a:cs typeface="+mn-cs"/>
              </a:rPr>
              <a:t>主數據由各主數據負責人維護與規一</a:t>
            </a:r>
            <a:r>
              <a:rPr kumimoji="0" lang="en-US" altLang="zh-TW" sz="1800" b="0" i="0" u="none" strike="noStrike" kern="1200" cap="none" spc="0" normalizeH="0" baseline="0" noProof="0">
                <a:ln>
                  <a:noFill/>
                </a:ln>
                <a:solidFill>
                  <a:prstClr val="black"/>
                </a:solidFill>
                <a:effectLst/>
                <a:uLnTx/>
                <a:uFillTx/>
                <a:latin typeface="+mj-ea"/>
                <a:ea typeface="+mj-ea"/>
                <a:cs typeface="+mn-cs"/>
              </a:rPr>
              <a:t>, </a:t>
            </a:r>
            <a:r>
              <a:rPr kumimoji="0" lang="zh-TW" altLang="en-US" sz="1800" b="0" i="0" u="none" strike="noStrike" kern="1200" cap="none" spc="0" normalizeH="0" baseline="0" noProof="0">
                <a:ln>
                  <a:noFill/>
                </a:ln>
                <a:solidFill>
                  <a:prstClr val="black"/>
                </a:solidFill>
                <a:effectLst/>
                <a:uLnTx/>
                <a:uFillTx/>
                <a:latin typeface="+mj-ea"/>
                <a:ea typeface="+mj-ea"/>
                <a:cs typeface="+mn-cs"/>
              </a:rPr>
              <a:t>數據中台提供儲存與查詢功能</a:t>
            </a:r>
            <a:endParaRPr kumimoji="0" lang="en-US" altLang="zh-TW" sz="1800" b="0" i="0" u="none" strike="noStrike" kern="1200" cap="none" spc="0" normalizeH="0" baseline="0" noProof="0">
              <a:ln>
                <a:noFill/>
              </a:ln>
              <a:solidFill>
                <a:prstClr val="black"/>
              </a:solidFill>
              <a:effectLst/>
              <a:uLnTx/>
              <a:uFillTx/>
              <a:latin typeface="+mj-ea"/>
              <a:ea typeface="+mj-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mj-ea"/>
              <a:ea typeface="+mj-ea"/>
              <a:cs typeface="+mn-cs"/>
            </a:endParaRPr>
          </a:p>
        </p:txBody>
      </p:sp>
      <p:sp>
        <p:nvSpPr>
          <p:cNvPr id="30" name="TextBox 152">
            <a:extLst>
              <a:ext uri="{FF2B5EF4-FFF2-40B4-BE49-F238E27FC236}">
                <a16:creationId xmlns:a16="http://schemas.microsoft.com/office/drawing/2014/main" id="{3F91D831-6CF3-9A46-10DF-3256A0C5E01A}"/>
              </a:ext>
            </a:extLst>
          </p:cNvPr>
          <p:cNvSpPr txBox="1"/>
          <p:nvPr/>
        </p:nvSpPr>
        <p:spPr>
          <a:xfrm>
            <a:off x="1405473" y="1830053"/>
            <a:ext cx="730313" cy="276999"/>
          </a:xfrm>
          <a:prstGeom prst="rect">
            <a:avLst/>
          </a:prstGeom>
          <a:solidFill>
            <a:schemeClr val="bg1"/>
          </a:solidFill>
          <a:ln w="6350" cap="flat" cmpd="sng" algn="ctr">
            <a:solidFill>
              <a:schemeClr val="tx1"/>
            </a:solidFill>
            <a:prstDash val="solid"/>
            <a:miter lim="800000"/>
          </a:ln>
          <a:effectLst/>
        </p:spPr>
        <p:txBody>
          <a:bodyPr lIns="0" tIns="0" rIns="0" bIns="0" rtlCol="0" anchor="ctr" anchorCtr="0"/>
          <a:lstStyle>
            <a:defPPr>
              <a:defRPr lang="en-US"/>
            </a:defPPr>
            <a:lvl1pPr algn="ctr" defTabSz="685766">
              <a:defRPr sz="1200" kern="0">
                <a:solidFill>
                  <a:prstClr val="black"/>
                </a:solidFill>
                <a:latin typeface="Arial" charset="0"/>
                <a:ea typeface="Arial" charset="0"/>
                <a:cs typeface="Arial" charset="0"/>
              </a:defRPr>
            </a:lvl1pP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zh-TW" altLang="en-US" sz="1200" b="0" i="0" u="none" strike="noStrike" kern="0" cap="none" spc="0" normalizeH="0" baseline="0" noProof="0">
                <a:ln>
                  <a:noFill/>
                </a:ln>
                <a:solidFill>
                  <a:prstClr val="black"/>
                </a:solidFill>
                <a:effectLst/>
                <a:uLnTx/>
                <a:uFillTx/>
                <a:latin typeface="+mj-ea"/>
                <a:ea typeface="+mj-ea"/>
                <a:cs typeface="Arial" charset="0"/>
              </a:rPr>
              <a:t>報表人員</a:t>
            </a:r>
            <a:endParaRPr kumimoji="0" lang="en-US" sz="1200" b="0" i="0" u="none" strike="noStrike" kern="0" cap="none" spc="0" normalizeH="0" baseline="0" noProof="0">
              <a:ln>
                <a:noFill/>
              </a:ln>
              <a:solidFill>
                <a:prstClr val="black"/>
              </a:solidFill>
              <a:effectLst/>
              <a:uLnTx/>
              <a:uFillTx/>
              <a:latin typeface="+mj-ea"/>
              <a:ea typeface="+mj-ea"/>
              <a:cs typeface="Arial" charset="0"/>
            </a:endParaRPr>
          </a:p>
        </p:txBody>
      </p:sp>
      <p:sp>
        <p:nvSpPr>
          <p:cNvPr id="31" name="TextBox 153">
            <a:extLst>
              <a:ext uri="{FF2B5EF4-FFF2-40B4-BE49-F238E27FC236}">
                <a16:creationId xmlns:a16="http://schemas.microsoft.com/office/drawing/2014/main" id="{89F68867-58B7-1880-BDF5-3725B5F7D69B}"/>
              </a:ext>
            </a:extLst>
          </p:cNvPr>
          <p:cNvSpPr txBox="1"/>
          <p:nvPr/>
        </p:nvSpPr>
        <p:spPr>
          <a:xfrm>
            <a:off x="1298741" y="2382920"/>
            <a:ext cx="954107" cy="276999"/>
          </a:xfrm>
          <a:prstGeom prst="rect">
            <a:avLst/>
          </a:prstGeom>
          <a:solidFill>
            <a:schemeClr val="bg1"/>
          </a:solidFill>
          <a:ln w="6350" cap="flat" cmpd="sng" algn="ctr">
            <a:solidFill>
              <a:schemeClr val="tx1"/>
            </a:solidFill>
            <a:prstDash val="solid"/>
            <a:miter lim="800000"/>
          </a:ln>
          <a:effectLst/>
        </p:spPr>
        <p:txBody>
          <a:bodyPr lIns="0" tIns="0" rIns="0" bIns="0" rtlCol="0" anchor="ctr" anchorCtr="0"/>
          <a:lstStyle>
            <a:defPPr>
              <a:defRPr lang="en-US"/>
            </a:defPPr>
            <a:lvl1pPr algn="ctr" defTabSz="685766">
              <a:defRPr sz="1200" kern="0">
                <a:solidFill>
                  <a:prstClr val="black"/>
                </a:solidFill>
                <a:latin typeface="Arial" charset="0"/>
                <a:ea typeface="Arial" charset="0"/>
                <a:cs typeface="Arial" charset="0"/>
              </a:defRPr>
            </a:lvl1pP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zh-TW" altLang="en-US" sz="1200" b="0" i="0" u="none" strike="noStrike" kern="0" cap="none" spc="0" normalizeH="0" baseline="0" noProof="0">
                <a:ln>
                  <a:noFill/>
                </a:ln>
                <a:solidFill>
                  <a:prstClr val="black"/>
                </a:solidFill>
                <a:effectLst/>
                <a:uLnTx/>
                <a:uFillTx/>
                <a:latin typeface="+mj-ea"/>
                <a:ea typeface="+mj-ea"/>
                <a:cs typeface="Arial" charset="0"/>
              </a:rPr>
              <a:t>數據分析師</a:t>
            </a:r>
            <a:endParaRPr kumimoji="0" lang="en-US" sz="1200" b="0" i="0" u="none" strike="noStrike" kern="0" cap="none" spc="0" normalizeH="0" baseline="0" noProof="0">
              <a:ln>
                <a:noFill/>
              </a:ln>
              <a:solidFill>
                <a:prstClr val="black"/>
              </a:solidFill>
              <a:effectLst/>
              <a:uLnTx/>
              <a:uFillTx/>
              <a:latin typeface="+mj-ea"/>
              <a:ea typeface="+mj-ea"/>
              <a:cs typeface="Arial" charset="0"/>
            </a:endParaRPr>
          </a:p>
        </p:txBody>
      </p:sp>
      <p:sp>
        <p:nvSpPr>
          <p:cNvPr id="32" name="TextBox 154">
            <a:extLst>
              <a:ext uri="{FF2B5EF4-FFF2-40B4-BE49-F238E27FC236}">
                <a16:creationId xmlns:a16="http://schemas.microsoft.com/office/drawing/2014/main" id="{C2D0F4C4-CDF5-0F01-D70A-083F0F8E73EC}"/>
              </a:ext>
            </a:extLst>
          </p:cNvPr>
          <p:cNvSpPr txBox="1"/>
          <p:nvPr/>
        </p:nvSpPr>
        <p:spPr>
          <a:xfrm>
            <a:off x="5260149" y="1846119"/>
            <a:ext cx="946093" cy="276999"/>
          </a:xfrm>
          <a:prstGeom prst="rect">
            <a:avLst/>
          </a:prstGeom>
          <a:solidFill>
            <a:schemeClr val="bg1"/>
          </a:solidFill>
          <a:ln w="6350" cap="flat" cmpd="sng" algn="ctr">
            <a:solidFill>
              <a:schemeClr val="tx1"/>
            </a:solidFill>
            <a:prstDash val="solid"/>
            <a:miter lim="800000"/>
          </a:ln>
          <a:effectLst/>
        </p:spPr>
        <p:txBody>
          <a:bodyPr lIns="0" tIns="0" rIns="0" bIns="0" rtlCol="0" anchor="ctr" anchorCtr="0"/>
          <a:lstStyle>
            <a:defPPr>
              <a:defRPr lang="en-US"/>
            </a:defPPr>
            <a:lvl1pPr algn="ctr" defTabSz="685766">
              <a:defRPr sz="1200" kern="0">
                <a:solidFill>
                  <a:prstClr val="black"/>
                </a:solidFill>
                <a:latin typeface="Arial" charset="0"/>
                <a:ea typeface="Arial" charset="0"/>
                <a:cs typeface="Arial" charset="0"/>
              </a:defRPr>
            </a:lvl1pP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en-US" altLang="zh-TW" sz="1200" b="0" i="0" u="none" strike="noStrike" kern="0" cap="none" spc="0" normalizeH="0" baseline="0" noProof="0">
                <a:ln>
                  <a:noFill/>
                </a:ln>
                <a:solidFill>
                  <a:prstClr val="black"/>
                </a:solidFill>
                <a:effectLst/>
                <a:uLnTx/>
                <a:uFillTx/>
                <a:latin typeface="+mj-ea"/>
                <a:ea typeface="+mj-ea"/>
                <a:cs typeface="Arial" charset="0"/>
              </a:rPr>
              <a:t>AI</a:t>
            </a:r>
            <a:r>
              <a:rPr kumimoji="0" lang="zh-TW" altLang="en-US" sz="1200" b="0" i="0" u="none" strike="noStrike" kern="0" cap="none" spc="0" normalizeH="0" baseline="0" noProof="0">
                <a:ln>
                  <a:noFill/>
                </a:ln>
                <a:solidFill>
                  <a:prstClr val="black"/>
                </a:solidFill>
                <a:effectLst/>
                <a:uLnTx/>
                <a:uFillTx/>
                <a:latin typeface="+mj-ea"/>
                <a:ea typeface="+mj-ea"/>
                <a:cs typeface="Arial" charset="0"/>
              </a:rPr>
              <a:t> </a:t>
            </a:r>
            <a:r>
              <a:rPr kumimoji="0" lang="en-US" altLang="zh-TW" sz="1200" b="0" i="0" u="none" strike="noStrike" kern="0" cap="none" spc="0" normalizeH="0" baseline="0" noProof="0">
                <a:ln>
                  <a:noFill/>
                </a:ln>
                <a:solidFill>
                  <a:prstClr val="black"/>
                </a:solidFill>
                <a:effectLst/>
                <a:uLnTx/>
                <a:uFillTx/>
                <a:latin typeface="+mj-ea"/>
                <a:ea typeface="+mj-ea"/>
                <a:cs typeface="Arial" charset="0"/>
              </a:rPr>
              <a:t>Platform</a:t>
            </a:r>
            <a:endParaRPr kumimoji="0" lang="en-US" sz="1200" b="0" i="0" u="none" strike="noStrike" kern="0" cap="none" spc="0" normalizeH="0" baseline="0" noProof="0">
              <a:ln>
                <a:noFill/>
              </a:ln>
              <a:solidFill>
                <a:prstClr val="black"/>
              </a:solidFill>
              <a:effectLst/>
              <a:uLnTx/>
              <a:uFillTx/>
              <a:latin typeface="+mj-ea"/>
              <a:ea typeface="+mj-ea"/>
              <a:cs typeface="Arial" charset="0"/>
            </a:endParaRPr>
          </a:p>
        </p:txBody>
      </p:sp>
      <p:sp>
        <p:nvSpPr>
          <p:cNvPr id="33" name="TextBox 155">
            <a:extLst>
              <a:ext uri="{FF2B5EF4-FFF2-40B4-BE49-F238E27FC236}">
                <a16:creationId xmlns:a16="http://schemas.microsoft.com/office/drawing/2014/main" id="{CD8CC8FF-A8ED-30D1-2484-0232CD71ACE9}"/>
              </a:ext>
            </a:extLst>
          </p:cNvPr>
          <p:cNvSpPr txBox="1"/>
          <p:nvPr/>
        </p:nvSpPr>
        <p:spPr>
          <a:xfrm>
            <a:off x="5195825" y="2379847"/>
            <a:ext cx="1107996" cy="276999"/>
          </a:xfrm>
          <a:prstGeom prst="rect">
            <a:avLst/>
          </a:prstGeom>
          <a:solidFill>
            <a:schemeClr val="bg1"/>
          </a:solidFill>
          <a:ln w="6350" cap="flat" cmpd="sng" algn="ctr">
            <a:solidFill>
              <a:schemeClr val="tx1"/>
            </a:solidFill>
            <a:prstDash val="solid"/>
            <a:miter lim="800000"/>
          </a:ln>
          <a:effectLst/>
        </p:spPr>
        <p:txBody>
          <a:bodyPr lIns="0" tIns="0" rIns="0" bIns="0" rtlCol="0" anchor="ctr" anchorCtr="0"/>
          <a:lstStyle>
            <a:defPPr>
              <a:defRPr lang="en-US"/>
            </a:defPPr>
            <a:lvl1pPr algn="ctr" defTabSz="685766">
              <a:defRPr sz="1200" kern="0">
                <a:solidFill>
                  <a:prstClr val="black"/>
                </a:solidFill>
                <a:latin typeface="Arial" charset="0"/>
                <a:ea typeface="Arial" charset="0"/>
                <a:cs typeface="Arial" charset="0"/>
              </a:defRPr>
            </a:lvl1pP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zh-TW" altLang="en-US" sz="1200" b="0" i="0" u="none" strike="noStrike" kern="0" cap="none" spc="0" normalizeH="0" baseline="0" noProof="0">
                <a:ln>
                  <a:noFill/>
                </a:ln>
                <a:solidFill>
                  <a:prstClr val="black"/>
                </a:solidFill>
                <a:effectLst/>
                <a:uLnTx/>
                <a:uFillTx/>
                <a:latin typeface="+mj-ea"/>
                <a:ea typeface="+mj-ea"/>
                <a:cs typeface="Arial" charset="0"/>
              </a:rPr>
              <a:t>未來周邊系統</a:t>
            </a:r>
            <a:endParaRPr kumimoji="0" lang="en-US" sz="1200" b="0" i="0" u="none" strike="noStrike" kern="0" cap="none" spc="0" normalizeH="0" baseline="0" noProof="0">
              <a:ln>
                <a:noFill/>
              </a:ln>
              <a:solidFill>
                <a:prstClr val="black"/>
              </a:solidFill>
              <a:effectLst/>
              <a:uLnTx/>
              <a:uFillTx/>
              <a:latin typeface="+mj-ea"/>
              <a:ea typeface="+mj-ea"/>
              <a:cs typeface="Arial" charset="0"/>
            </a:endParaRPr>
          </a:p>
        </p:txBody>
      </p:sp>
      <p:pic>
        <p:nvPicPr>
          <p:cNvPr id="34" name="Picture 156" descr="Persona_Eden_BusinessAnalyst_PNG.png">
            <a:extLst>
              <a:ext uri="{FF2B5EF4-FFF2-40B4-BE49-F238E27FC236}">
                <a16:creationId xmlns:a16="http://schemas.microsoft.com/office/drawing/2014/main" id="{EE10A42C-1982-904F-BBA0-4A243F97B51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99525" y="2133639"/>
            <a:ext cx="300595" cy="293771"/>
          </a:xfrm>
          <a:prstGeom prst="rect">
            <a:avLst/>
          </a:prstGeom>
        </p:spPr>
      </p:pic>
      <p:pic>
        <p:nvPicPr>
          <p:cNvPr id="35" name="Picture 157" descr="Persona_Chris_DataScientist_PNG.png">
            <a:extLst>
              <a:ext uri="{FF2B5EF4-FFF2-40B4-BE49-F238E27FC236}">
                <a16:creationId xmlns:a16="http://schemas.microsoft.com/office/drawing/2014/main" id="{E68E6EBE-42E6-4FAD-C0B1-0F15D1B5BA6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619026" y="2120381"/>
            <a:ext cx="300595" cy="293771"/>
          </a:xfrm>
          <a:prstGeom prst="rect">
            <a:avLst/>
          </a:prstGeom>
        </p:spPr>
      </p:pic>
      <p:pic>
        <p:nvPicPr>
          <p:cNvPr id="36" name="Picture 158" descr="Persona_Harley_DataEngineer_PNG.png">
            <a:extLst>
              <a:ext uri="{FF2B5EF4-FFF2-40B4-BE49-F238E27FC236}">
                <a16:creationId xmlns:a16="http://schemas.microsoft.com/office/drawing/2014/main" id="{BFD4C0BA-2E8F-4DBC-3D55-8133A07FCA29}"/>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604157" y="1582635"/>
            <a:ext cx="300595" cy="293770"/>
          </a:xfrm>
          <a:prstGeom prst="rect">
            <a:avLst/>
          </a:prstGeom>
        </p:spPr>
      </p:pic>
      <p:pic>
        <p:nvPicPr>
          <p:cNvPr id="37" name="Picture 159" descr="Persona_Kai_ApplicationDeveloper_PNG.png">
            <a:extLst>
              <a:ext uri="{FF2B5EF4-FFF2-40B4-BE49-F238E27FC236}">
                <a16:creationId xmlns:a16="http://schemas.microsoft.com/office/drawing/2014/main" id="{C15C1AA8-34FA-E3CE-BAA8-D3B3A6538088}"/>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547521" y="1598829"/>
            <a:ext cx="300595" cy="293771"/>
          </a:xfrm>
          <a:prstGeom prst="rect">
            <a:avLst/>
          </a:prstGeom>
        </p:spPr>
      </p:pic>
      <p:cxnSp>
        <p:nvCxnSpPr>
          <p:cNvPr id="38" name="直線單箭頭接點 37">
            <a:extLst>
              <a:ext uri="{FF2B5EF4-FFF2-40B4-BE49-F238E27FC236}">
                <a16:creationId xmlns:a16="http://schemas.microsoft.com/office/drawing/2014/main" id="{F83C6C07-F810-1D25-834B-4397774F5A6A}"/>
              </a:ext>
            </a:extLst>
          </p:cNvPr>
          <p:cNvCxnSpPr>
            <a:cxnSpLocks/>
          </p:cNvCxnSpPr>
          <p:nvPr/>
        </p:nvCxnSpPr>
        <p:spPr>
          <a:xfrm flipH="1" flipV="1">
            <a:off x="3025155" y="3551771"/>
            <a:ext cx="2086" cy="441694"/>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A5AA7FA6-A128-9E73-19CA-7C08B2D33B18}"/>
              </a:ext>
            </a:extLst>
          </p:cNvPr>
          <p:cNvCxnSpPr>
            <a:cxnSpLocks/>
          </p:cNvCxnSpPr>
          <p:nvPr/>
        </p:nvCxnSpPr>
        <p:spPr>
          <a:xfrm flipH="1" flipV="1">
            <a:off x="4308913" y="3530532"/>
            <a:ext cx="2086" cy="441694"/>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F274C7DC-1E45-9827-73CB-5A1A6437D052}"/>
              </a:ext>
            </a:extLst>
          </p:cNvPr>
          <p:cNvCxnSpPr>
            <a:cxnSpLocks/>
          </p:cNvCxnSpPr>
          <p:nvPr/>
        </p:nvCxnSpPr>
        <p:spPr>
          <a:xfrm flipH="1" flipV="1">
            <a:off x="3017601" y="2681500"/>
            <a:ext cx="2086" cy="441694"/>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1F15FC19-3D24-6481-5F33-1AE1291458EE}"/>
              </a:ext>
            </a:extLst>
          </p:cNvPr>
          <p:cNvCxnSpPr>
            <a:cxnSpLocks/>
          </p:cNvCxnSpPr>
          <p:nvPr/>
        </p:nvCxnSpPr>
        <p:spPr>
          <a:xfrm flipH="1" flipV="1">
            <a:off x="4308913" y="2669822"/>
            <a:ext cx="2086" cy="441694"/>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3" name="矩形: 圓角 42">
            <a:extLst>
              <a:ext uri="{FF2B5EF4-FFF2-40B4-BE49-F238E27FC236}">
                <a16:creationId xmlns:a16="http://schemas.microsoft.com/office/drawing/2014/main" id="{E89A9A68-1409-01B8-A850-3D005715417B}"/>
              </a:ext>
            </a:extLst>
          </p:cNvPr>
          <p:cNvSpPr/>
          <p:nvPr/>
        </p:nvSpPr>
        <p:spPr>
          <a:xfrm>
            <a:off x="880137" y="1273366"/>
            <a:ext cx="651252" cy="301126"/>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a:ln>
                  <a:noFill/>
                </a:ln>
                <a:solidFill>
                  <a:prstClr val="black"/>
                </a:solidFill>
                <a:effectLst/>
                <a:uLnTx/>
                <a:uFillTx/>
                <a:latin typeface="+mj-ea"/>
                <a:ea typeface="+mj-ea"/>
                <a:cs typeface="+mn-cs"/>
              </a:rPr>
              <a:t>MES</a:t>
            </a:r>
            <a:endParaRPr kumimoji="0" lang="zh-TW" altLang="en-US" sz="1400" b="1" i="0" u="none" strike="noStrike" kern="1200" cap="none" spc="0" normalizeH="0" baseline="0" noProof="0">
              <a:ln>
                <a:noFill/>
              </a:ln>
              <a:solidFill>
                <a:prstClr val="black"/>
              </a:solidFill>
              <a:effectLst/>
              <a:uLnTx/>
              <a:uFillTx/>
              <a:latin typeface="+mj-ea"/>
              <a:ea typeface="+mj-ea"/>
              <a:cs typeface="+mn-cs"/>
            </a:endParaRPr>
          </a:p>
        </p:txBody>
      </p:sp>
      <p:cxnSp>
        <p:nvCxnSpPr>
          <p:cNvPr id="55" name="直線單箭頭接點 54">
            <a:extLst>
              <a:ext uri="{FF2B5EF4-FFF2-40B4-BE49-F238E27FC236}">
                <a16:creationId xmlns:a16="http://schemas.microsoft.com/office/drawing/2014/main" id="{A080F928-4894-7154-C3C1-B595877CCFB2}"/>
              </a:ext>
            </a:extLst>
          </p:cNvPr>
          <p:cNvCxnSpPr>
            <a:cxnSpLocks/>
            <a:stCxn id="43" idx="3"/>
          </p:cNvCxnSpPr>
          <p:nvPr/>
        </p:nvCxnSpPr>
        <p:spPr>
          <a:xfrm>
            <a:off x="1531389" y="1423929"/>
            <a:ext cx="832828" cy="347330"/>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6" name="矩形: 圓角 55">
            <a:extLst>
              <a:ext uri="{FF2B5EF4-FFF2-40B4-BE49-F238E27FC236}">
                <a16:creationId xmlns:a16="http://schemas.microsoft.com/office/drawing/2014/main" id="{CD3634D4-C07E-54A9-FEA4-32B4DFF29CE8}"/>
              </a:ext>
            </a:extLst>
          </p:cNvPr>
          <p:cNvSpPr/>
          <p:nvPr/>
        </p:nvSpPr>
        <p:spPr>
          <a:xfrm>
            <a:off x="2378017" y="3145775"/>
            <a:ext cx="1284891" cy="35881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a:ln>
                  <a:noFill/>
                </a:ln>
                <a:solidFill>
                  <a:prstClr val="black"/>
                </a:solidFill>
                <a:effectLst/>
                <a:uLnTx/>
                <a:uFillTx/>
                <a:latin typeface="+mj-ea"/>
                <a:ea typeface="+mj-ea"/>
                <a:cs typeface="+mn-cs"/>
              </a:rPr>
              <a:t>廠級機連數據</a:t>
            </a:r>
            <a:endParaRPr kumimoji="0" lang="en-US" altLang="zh-TW" sz="1400" b="1" i="0" u="none" strike="noStrike" kern="1200" cap="none" spc="0" normalizeH="0" baseline="0" noProof="0">
              <a:ln>
                <a:noFill/>
              </a:ln>
              <a:solidFill>
                <a:prstClr val="black"/>
              </a:solidFill>
              <a:effectLst/>
              <a:uLnTx/>
              <a:uFillTx/>
              <a:latin typeface="+mj-ea"/>
              <a:ea typeface="+mj-ea"/>
              <a:cs typeface="+mn-cs"/>
            </a:endParaRPr>
          </a:p>
        </p:txBody>
      </p:sp>
      <p:sp>
        <p:nvSpPr>
          <p:cNvPr id="61" name="矩形: 圓角 60">
            <a:extLst>
              <a:ext uri="{FF2B5EF4-FFF2-40B4-BE49-F238E27FC236}">
                <a16:creationId xmlns:a16="http://schemas.microsoft.com/office/drawing/2014/main" id="{2344798F-6E28-97E6-FA60-15AF83253EC8}"/>
              </a:ext>
            </a:extLst>
          </p:cNvPr>
          <p:cNvSpPr/>
          <p:nvPr/>
        </p:nvSpPr>
        <p:spPr>
          <a:xfrm>
            <a:off x="3684439" y="3135943"/>
            <a:ext cx="1284891" cy="35881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a:ln>
                  <a:noFill/>
                </a:ln>
                <a:solidFill>
                  <a:prstClr val="black"/>
                </a:solidFill>
                <a:effectLst/>
                <a:uLnTx/>
                <a:uFillTx/>
                <a:latin typeface="+mj-ea"/>
                <a:ea typeface="+mj-ea"/>
                <a:cs typeface="+mn-cs"/>
              </a:rPr>
              <a:t>廠級機連數據</a:t>
            </a:r>
            <a:endParaRPr kumimoji="0" lang="en-US" altLang="zh-TW" sz="1400" b="1" i="0" u="none" strike="noStrike" kern="1200" cap="none" spc="0" normalizeH="0" baseline="0" noProof="0">
              <a:ln>
                <a:noFill/>
              </a:ln>
              <a:solidFill>
                <a:prstClr val="black"/>
              </a:solidFill>
              <a:effectLst/>
              <a:uLnTx/>
              <a:uFillTx/>
              <a:latin typeface="+mj-ea"/>
              <a:ea typeface="+mj-ea"/>
              <a:cs typeface="+mn-cs"/>
            </a:endParaRPr>
          </a:p>
        </p:txBody>
      </p:sp>
      <p:sp>
        <p:nvSpPr>
          <p:cNvPr id="62" name="矩形: 圓角 61">
            <a:extLst>
              <a:ext uri="{FF2B5EF4-FFF2-40B4-BE49-F238E27FC236}">
                <a16:creationId xmlns:a16="http://schemas.microsoft.com/office/drawing/2014/main" id="{F9BD682B-3A72-A4DE-EA50-2313FC52210F}"/>
              </a:ext>
            </a:extLst>
          </p:cNvPr>
          <p:cNvSpPr/>
          <p:nvPr/>
        </p:nvSpPr>
        <p:spPr>
          <a:xfrm>
            <a:off x="2128626" y="4012923"/>
            <a:ext cx="1284891" cy="35881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a:ln>
                  <a:noFill/>
                </a:ln>
                <a:solidFill>
                  <a:prstClr val="black"/>
                </a:solidFill>
                <a:effectLst/>
                <a:uLnTx/>
                <a:uFillTx/>
                <a:latin typeface="+mj-ea"/>
                <a:ea typeface="+mj-ea"/>
                <a:cs typeface="+mn-cs"/>
              </a:rPr>
              <a:t>線級機連數據</a:t>
            </a:r>
            <a:endParaRPr kumimoji="0" lang="en-US" altLang="zh-TW" sz="1400" b="1" i="0" u="none" strike="noStrike" kern="1200" cap="none" spc="0" normalizeH="0" baseline="0" noProof="0">
              <a:ln>
                <a:noFill/>
              </a:ln>
              <a:solidFill>
                <a:prstClr val="black"/>
              </a:solidFill>
              <a:effectLst/>
              <a:uLnTx/>
              <a:uFillTx/>
              <a:latin typeface="+mj-ea"/>
              <a:ea typeface="+mj-ea"/>
              <a:cs typeface="+mn-cs"/>
            </a:endParaRPr>
          </a:p>
        </p:txBody>
      </p:sp>
      <p:sp>
        <p:nvSpPr>
          <p:cNvPr id="63" name="矩形: 圓角 62">
            <a:extLst>
              <a:ext uri="{FF2B5EF4-FFF2-40B4-BE49-F238E27FC236}">
                <a16:creationId xmlns:a16="http://schemas.microsoft.com/office/drawing/2014/main" id="{AFF5F256-DF16-E08E-C1BC-8C91B14EB375}"/>
              </a:ext>
            </a:extLst>
          </p:cNvPr>
          <p:cNvSpPr/>
          <p:nvPr/>
        </p:nvSpPr>
        <p:spPr>
          <a:xfrm>
            <a:off x="3975258" y="4198442"/>
            <a:ext cx="1284891" cy="35881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a:ln>
                  <a:noFill/>
                </a:ln>
                <a:solidFill>
                  <a:prstClr val="black"/>
                </a:solidFill>
                <a:effectLst/>
                <a:uLnTx/>
                <a:uFillTx/>
                <a:latin typeface="+mj-ea"/>
                <a:ea typeface="+mj-ea"/>
                <a:cs typeface="+mn-cs"/>
              </a:rPr>
              <a:t>線級機連數據</a:t>
            </a:r>
            <a:endParaRPr kumimoji="0" lang="en-US" altLang="zh-TW" sz="1400" b="1" i="0" u="none" strike="noStrike" kern="1200" cap="none" spc="0" normalizeH="0" baseline="0" noProof="0">
              <a:ln>
                <a:noFill/>
              </a:ln>
              <a:solidFill>
                <a:prstClr val="black"/>
              </a:solidFill>
              <a:effectLst/>
              <a:uLnTx/>
              <a:uFillTx/>
              <a:latin typeface="+mj-ea"/>
              <a:ea typeface="+mj-ea"/>
              <a:cs typeface="+mn-cs"/>
            </a:endParaRPr>
          </a:p>
        </p:txBody>
      </p:sp>
      <p:sp>
        <p:nvSpPr>
          <p:cNvPr id="128" name="矩形: 圓角 127">
            <a:extLst>
              <a:ext uri="{FF2B5EF4-FFF2-40B4-BE49-F238E27FC236}">
                <a16:creationId xmlns:a16="http://schemas.microsoft.com/office/drawing/2014/main" id="{F3117FE2-707C-41B5-07CB-D64BDD3868B2}"/>
              </a:ext>
            </a:extLst>
          </p:cNvPr>
          <p:cNvSpPr/>
          <p:nvPr/>
        </p:nvSpPr>
        <p:spPr>
          <a:xfrm>
            <a:off x="3870011" y="4094317"/>
            <a:ext cx="1284891" cy="35881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a:ln>
                  <a:noFill/>
                </a:ln>
                <a:solidFill>
                  <a:prstClr val="black"/>
                </a:solidFill>
                <a:effectLst/>
                <a:uLnTx/>
                <a:uFillTx/>
                <a:latin typeface="+mj-ea"/>
                <a:ea typeface="+mj-ea"/>
                <a:cs typeface="+mn-cs"/>
              </a:rPr>
              <a:t>線級機連數據</a:t>
            </a:r>
            <a:endParaRPr kumimoji="0" lang="en-US" altLang="zh-TW" sz="1400" b="1" i="0" u="none" strike="noStrike" kern="1200" cap="none" spc="0" normalizeH="0" baseline="0" noProof="0">
              <a:ln>
                <a:noFill/>
              </a:ln>
              <a:solidFill>
                <a:prstClr val="black"/>
              </a:solidFill>
              <a:effectLst/>
              <a:uLnTx/>
              <a:uFillTx/>
              <a:latin typeface="+mj-ea"/>
              <a:ea typeface="+mj-ea"/>
              <a:cs typeface="+mn-cs"/>
            </a:endParaRPr>
          </a:p>
        </p:txBody>
      </p:sp>
      <p:sp>
        <p:nvSpPr>
          <p:cNvPr id="133" name="矩形: 圓角 132">
            <a:extLst>
              <a:ext uri="{FF2B5EF4-FFF2-40B4-BE49-F238E27FC236}">
                <a16:creationId xmlns:a16="http://schemas.microsoft.com/office/drawing/2014/main" id="{4B74E114-747A-1FDC-1242-40A638913EA1}"/>
              </a:ext>
            </a:extLst>
          </p:cNvPr>
          <p:cNvSpPr/>
          <p:nvPr/>
        </p:nvSpPr>
        <p:spPr>
          <a:xfrm>
            <a:off x="3749654" y="4012923"/>
            <a:ext cx="1284891" cy="358811"/>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a:ln>
                  <a:noFill/>
                </a:ln>
                <a:solidFill>
                  <a:prstClr val="black"/>
                </a:solidFill>
                <a:effectLst/>
                <a:uLnTx/>
                <a:uFillTx/>
                <a:latin typeface="+mj-ea"/>
                <a:ea typeface="+mj-ea"/>
                <a:cs typeface="+mn-cs"/>
              </a:rPr>
              <a:t>線級機連數據</a:t>
            </a:r>
            <a:endParaRPr kumimoji="0" lang="en-US" altLang="zh-TW" sz="1400" b="1" i="0" u="none" strike="noStrike" kern="1200" cap="none" spc="0" normalizeH="0" baseline="0" noProof="0">
              <a:ln>
                <a:noFill/>
              </a:ln>
              <a:solidFill>
                <a:prstClr val="black"/>
              </a:solidFill>
              <a:effectLst/>
              <a:uLnTx/>
              <a:uFillTx/>
              <a:latin typeface="+mj-ea"/>
              <a:ea typeface="+mj-ea"/>
              <a:cs typeface="+mn-cs"/>
            </a:endParaRPr>
          </a:p>
        </p:txBody>
      </p:sp>
      <p:grpSp>
        <p:nvGrpSpPr>
          <p:cNvPr id="136" name="群組 135">
            <a:extLst>
              <a:ext uri="{FF2B5EF4-FFF2-40B4-BE49-F238E27FC236}">
                <a16:creationId xmlns:a16="http://schemas.microsoft.com/office/drawing/2014/main" id="{EFE78CDA-32B8-9D18-B730-D2F789CC0CB3}"/>
              </a:ext>
            </a:extLst>
          </p:cNvPr>
          <p:cNvGrpSpPr/>
          <p:nvPr/>
        </p:nvGrpSpPr>
        <p:grpSpPr>
          <a:xfrm>
            <a:off x="4300061" y="5275332"/>
            <a:ext cx="1722002" cy="964250"/>
            <a:chOff x="9907394" y="5284151"/>
            <a:chExt cx="1722002" cy="964250"/>
          </a:xfrm>
        </p:grpSpPr>
        <p:cxnSp>
          <p:nvCxnSpPr>
            <p:cNvPr id="139" name="直線單箭頭接點 138">
              <a:extLst>
                <a:ext uri="{FF2B5EF4-FFF2-40B4-BE49-F238E27FC236}">
                  <a16:creationId xmlns:a16="http://schemas.microsoft.com/office/drawing/2014/main" id="{66DC82F3-E0C0-7411-6608-8CDCF9E43139}"/>
                </a:ext>
              </a:extLst>
            </p:cNvPr>
            <p:cNvCxnSpPr>
              <a:cxnSpLocks/>
            </p:cNvCxnSpPr>
            <p:nvPr/>
          </p:nvCxnSpPr>
          <p:spPr>
            <a:xfrm>
              <a:off x="10002676" y="5489104"/>
              <a:ext cx="522763" cy="0"/>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0" name="文字方塊 139">
              <a:extLst>
                <a:ext uri="{FF2B5EF4-FFF2-40B4-BE49-F238E27FC236}">
                  <a16:creationId xmlns:a16="http://schemas.microsoft.com/office/drawing/2014/main" id="{4B3C475A-8063-4373-1C5B-514DFA8C8253}"/>
                </a:ext>
              </a:extLst>
            </p:cNvPr>
            <p:cNvSpPr txBox="1"/>
            <p:nvPr/>
          </p:nvSpPr>
          <p:spPr>
            <a:xfrm>
              <a:off x="10457280" y="5350604"/>
              <a:ext cx="1172116" cy="276999"/>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a:ln>
                    <a:noFill/>
                  </a:ln>
                  <a:solidFill>
                    <a:prstClr val="black"/>
                  </a:solidFill>
                  <a:effectLst/>
                  <a:uLnTx/>
                  <a:uFillTx/>
                  <a:latin typeface="+mj-ea"/>
                  <a:ea typeface="+mj-ea"/>
                  <a:cs typeface="+mn-cs"/>
                </a:rPr>
                <a:t>數據推送</a:t>
              </a:r>
              <a:r>
                <a:rPr kumimoji="0" lang="en-US" altLang="zh-TW" sz="1200" b="0" i="0" u="none" strike="noStrike" kern="1200" cap="none" spc="0" normalizeH="0" baseline="0" noProof="0">
                  <a:ln>
                    <a:noFill/>
                  </a:ln>
                  <a:solidFill>
                    <a:prstClr val="black"/>
                  </a:solidFill>
                  <a:effectLst/>
                  <a:uLnTx/>
                  <a:uFillTx/>
                  <a:latin typeface="+mj-ea"/>
                  <a:ea typeface="+mj-ea"/>
                  <a:cs typeface="+mn-cs"/>
                </a:rPr>
                <a:t>/</a:t>
              </a:r>
              <a:r>
                <a:rPr kumimoji="0" lang="zh-TW" altLang="en-US" sz="1200" b="0" i="0" u="none" strike="noStrike" kern="1200" cap="none" spc="0" normalizeH="0" baseline="0" noProof="0">
                  <a:ln>
                    <a:noFill/>
                  </a:ln>
                  <a:solidFill>
                    <a:prstClr val="black"/>
                  </a:solidFill>
                  <a:effectLst/>
                  <a:uLnTx/>
                  <a:uFillTx/>
                  <a:latin typeface="+mj-ea"/>
                  <a:ea typeface="+mj-ea"/>
                  <a:cs typeface="+mn-cs"/>
                </a:rPr>
                <a:t>運算</a:t>
              </a:r>
            </a:p>
          </p:txBody>
        </p:sp>
        <p:sp>
          <p:nvSpPr>
            <p:cNvPr id="141" name="矩形 140">
              <a:extLst>
                <a:ext uri="{FF2B5EF4-FFF2-40B4-BE49-F238E27FC236}">
                  <a16:creationId xmlns:a16="http://schemas.microsoft.com/office/drawing/2014/main" id="{EB2969C7-97EF-B026-8C59-6A2B15C66DF3}"/>
                </a:ext>
              </a:extLst>
            </p:cNvPr>
            <p:cNvSpPr/>
            <p:nvPr/>
          </p:nvSpPr>
          <p:spPr>
            <a:xfrm>
              <a:off x="9907394" y="5284151"/>
              <a:ext cx="1698907" cy="96425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a:ln>
                  <a:noFill/>
                </a:ln>
                <a:solidFill>
                  <a:prstClr val="white"/>
                </a:solidFill>
                <a:effectLst/>
                <a:uLnTx/>
                <a:uFillTx/>
                <a:latin typeface="+mj-ea"/>
                <a:ea typeface="+mj-ea"/>
                <a:cs typeface="+mn-cs"/>
              </a:endParaRPr>
            </a:p>
          </p:txBody>
        </p:sp>
      </p:grpSp>
      <p:sp>
        <p:nvSpPr>
          <p:cNvPr id="142" name="矩形: 圓角 141">
            <a:extLst>
              <a:ext uri="{FF2B5EF4-FFF2-40B4-BE49-F238E27FC236}">
                <a16:creationId xmlns:a16="http://schemas.microsoft.com/office/drawing/2014/main" id="{020BEF27-7C59-E4C2-3D37-5FD15DA6EFF4}"/>
              </a:ext>
            </a:extLst>
          </p:cNvPr>
          <p:cNvSpPr/>
          <p:nvPr/>
        </p:nvSpPr>
        <p:spPr>
          <a:xfrm>
            <a:off x="954476" y="3093461"/>
            <a:ext cx="1015064" cy="47143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a:solidFill>
                  <a:schemeClr val="tx1"/>
                </a:solidFill>
                <a:latin typeface="+mj-ea"/>
                <a:ea typeface="+mj-ea"/>
              </a:rPr>
              <a:t>物流系統</a:t>
            </a:r>
            <a:endParaRPr lang="en-US" altLang="zh-TW" sz="1200" b="1">
              <a:solidFill>
                <a:schemeClr val="tx1"/>
              </a:solidFill>
              <a:latin typeface="+mj-ea"/>
              <a:ea typeface="+mj-ea"/>
            </a:endParaRPr>
          </a:p>
        </p:txBody>
      </p:sp>
      <p:cxnSp>
        <p:nvCxnSpPr>
          <p:cNvPr id="143" name="直線單箭頭接點 142">
            <a:extLst>
              <a:ext uri="{FF2B5EF4-FFF2-40B4-BE49-F238E27FC236}">
                <a16:creationId xmlns:a16="http://schemas.microsoft.com/office/drawing/2014/main" id="{57BD8ED3-2157-4121-FD5B-8C85FDE663D2}"/>
              </a:ext>
            </a:extLst>
          </p:cNvPr>
          <p:cNvCxnSpPr>
            <a:cxnSpLocks/>
            <a:stCxn id="142" idx="3"/>
            <a:endCxn id="56" idx="1"/>
          </p:cNvCxnSpPr>
          <p:nvPr/>
        </p:nvCxnSpPr>
        <p:spPr>
          <a:xfrm flipV="1">
            <a:off x="1969540" y="3325181"/>
            <a:ext cx="408477" cy="3995"/>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44" name="群組 143">
            <a:extLst>
              <a:ext uri="{FF2B5EF4-FFF2-40B4-BE49-F238E27FC236}">
                <a16:creationId xmlns:a16="http://schemas.microsoft.com/office/drawing/2014/main" id="{BC9AED0E-0A7F-A3BC-ADBB-D7487B7274B3}"/>
              </a:ext>
            </a:extLst>
          </p:cNvPr>
          <p:cNvGrpSpPr/>
          <p:nvPr/>
        </p:nvGrpSpPr>
        <p:grpSpPr>
          <a:xfrm>
            <a:off x="2171630" y="5208716"/>
            <a:ext cx="1707050" cy="1194283"/>
            <a:chOff x="10203783" y="3967761"/>
            <a:chExt cx="1707050" cy="1194283"/>
          </a:xfrm>
        </p:grpSpPr>
        <p:sp>
          <p:nvSpPr>
            <p:cNvPr id="145" name="矩形 144">
              <a:extLst>
                <a:ext uri="{FF2B5EF4-FFF2-40B4-BE49-F238E27FC236}">
                  <a16:creationId xmlns:a16="http://schemas.microsoft.com/office/drawing/2014/main" id="{3858E44B-2D66-55FF-24E4-F4F583E0B774}"/>
                </a:ext>
              </a:extLst>
            </p:cNvPr>
            <p:cNvSpPr/>
            <p:nvPr/>
          </p:nvSpPr>
          <p:spPr>
            <a:xfrm>
              <a:off x="10203783" y="3967761"/>
              <a:ext cx="1692000" cy="11942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mj-ea"/>
                <a:ea typeface="+mj-ea"/>
              </a:endParaRPr>
            </a:p>
          </p:txBody>
        </p:sp>
        <p:sp>
          <p:nvSpPr>
            <p:cNvPr id="146" name="矩形: 圓角 145">
              <a:extLst>
                <a:ext uri="{FF2B5EF4-FFF2-40B4-BE49-F238E27FC236}">
                  <a16:creationId xmlns:a16="http://schemas.microsoft.com/office/drawing/2014/main" id="{A4B8AA9B-35FD-1919-9A72-DDC2990B62C9}"/>
                </a:ext>
              </a:extLst>
            </p:cNvPr>
            <p:cNvSpPr/>
            <p:nvPr/>
          </p:nvSpPr>
          <p:spPr>
            <a:xfrm>
              <a:off x="10254999" y="4112787"/>
              <a:ext cx="180000" cy="180000"/>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TW" altLang="en-US" sz="1400" b="1">
                <a:solidFill>
                  <a:schemeClr val="tx1"/>
                </a:solidFill>
                <a:latin typeface="+mj-ea"/>
                <a:ea typeface="+mj-ea"/>
              </a:endParaRPr>
            </a:p>
          </p:txBody>
        </p:sp>
        <p:sp>
          <p:nvSpPr>
            <p:cNvPr id="147" name="矩形: 圓角 146">
              <a:extLst>
                <a:ext uri="{FF2B5EF4-FFF2-40B4-BE49-F238E27FC236}">
                  <a16:creationId xmlns:a16="http://schemas.microsoft.com/office/drawing/2014/main" id="{94E7FE17-7520-0C57-E0B7-DEEF8089670C}"/>
                </a:ext>
              </a:extLst>
            </p:cNvPr>
            <p:cNvSpPr/>
            <p:nvPr/>
          </p:nvSpPr>
          <p:spPr>
            <a:xfrm>
              <a:off x="10254999" y="4631774"/>
              <a:ext cx="180000" cy="1800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TW" altLang="en-US" sz="1600" b="1">
                <a:solidFill>
                  <a:schemeClr val="tx1"/>
                </a:solidFill>
                <a:latin typeface="+mj-ea"/>
                <a:ea typeface="+mj-ea"/>
              </a:endParaRPr>
            </a:p>
          </p:txBody>
        </p:sp>
        <p:sp>
          <p:nvSpPr>
            <p:cNvPr id="148" name="矩形: 圓角 147">
              <a:extLst>
                <a:ext uri="{FF2B5EF4-FFF2-40B4-BE49-F238E27FC236}">
                  <a16:creationId xmlns:a16="http://schemas.microsoft.com/office/drawing/2014/main" id="{F3989C0A-3DDE-7974-0A10-314963FCF6E5}"/>
                </a:ext>
              </a:extLst>
            </p:cNvPr>
            <p:cNvSpPr/>
            <p:nvPr/>
          </p:nvSpPr>
          <p:spPr>
            <a:xfrm>
              <a:off x="10254999" y="4890300"/>
              <a:ext cx="180000" cy="18000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a:latin typeface="+mj-ea"/>
                <a:ea typeface="+mj-ea"/>
              </a:endParaRPr>
            </a:p>
          </p:txBody>
        </p:sp>
        <p:sp>
          <p:nvSpPr>
            <p:cNvPr id="149" name="文字方塊 148">
              <a:extLst>
                <a:ext uri="{FF2B5EF4-FFF2-40B4-BE49-F238E27FC236}">
                  <a16:creationId xmlns:a16="http://schemas.microsoft.com/office/drawing/2014/main" id="{103B4BED-D91D-BFCD-ACEE-81C0D9F1F643}"/>
                </a:ext>
              </a:extLst>
            </p:cNvPr>
            <p:cNvSpPr txBox="1"/>
            <p:nvPr/>
          </p:nvSpPr>
          <p:spPr>
            <a:xfrm>
              <a:off x="10418117" y="4052130"/>
              <a:ext cx="877163" cy="276999"/>
            </a:xfrm>
            <a:prstGeom prst="rect">
              <a:avLst/>
            </a:prstGeom>
            <a:noFill/>
          </p:spPr>
          <p:txBody>
            <a:bodyPr wrap="none" rtlCol="0">
              <a:spAutoFit/>
            </a:bodyPr>
            <a:lstStyle/>
            <a:p>
              <a:r>
                <a:rPr lang="en-US" altLang="zh-TW" sz="1200" b="1">
                  <a:latin typeface="+mj-ea"/>
                  <a:ea typeface="+mj-ea"/>
                </a:rPr>
                <a:t>:</a:t>
              </a:r>
              <a:r>
                <a:rPr lang="zh-TW" altLang="en-US" sz="1200" b="1">
                  <a:latin typeface="+mj-ea"/>
                  <a:ea typeface="+mj-ea"/>
                </a:rPr>
                <a:t> 現有系統</a:t>
              </a:r>
            </a:p>
          </p:txBody>
        </p:sp>
        <p:sp>
          <p:nvSpPr>
            <p:cNvPr id="150" name="文字方塊 149">
              <a:extLst>
                <a:ext uri="{FF2B5EF4-FFF2-40B4-BE49-F238E27FC236}">
                  <a16:creationId xmlns:a16="http://schemas.microsoft.com/office/drawing/2014/main" id="{76C697BB-16F8-3B56-3F83-0409EDCE286E}"/>
                </a:ext>
              </a:extLst>
            </p:cNvPr>
            <p:cNvSpPr txBox="1"/>
            <p:nvPr/>
          </p:nvSpPr>
          <p:spPr>
            <a:xfrm>
              <a:off x="10418117" y="4560321"/>
              <a:ext cx="1367682" cy="276999"/>
            </a:xfrm>
            <a:prstGeom prst="rect">
              <a:avLst/>
            </a:prstGeom>
            <a:noFill/>
          </p:spPr>
          <p:txBody>
            <a:bodyPr wrap="none" rtlCol="0">
              <a:spAutoFit/>
            </a:bodyPr>
            <a:lstStyle/>
            <a:p>
              <a:r>
                <a:rPr lang="en-US" altLang="zh-TW" sz="1200" b="1">
                  <a:latin typeface="+mj-ea"/>
                  <a:ea typeface="+mj-ea"/>
                </a:rPr>
                <a:t>:</a:t>
              </a:r>
              <a:r>
                <a:rPr lang="zh-TW" altLang="en-US" sz="1200" b="1">
                  <a:latin typeface="+mj-ea"/>
                  <a:ea typeface="+mj-ea"/>
                </a:rPr>
                <a:t> </a:t>
              </a:r>
              <a:r>
                <a:rPr lang="en-US" altLang="zh-TW" sz="1200" b="1">
                  <a:latin typeface="+mj-ea"/>
                  <a:ea typeface="+mj-ea"/>
                </a:rPr>
                <a:t>T2</a:t>
              </a:r>
              <a:r>
                <a:rPr lang="zh-TW" altLang="en-US" sz="1200" b="1">
                  <a:latin typeface="+mj-ea"/>
                  <a:ea typeface="+mj-ea"/>
                </a:rPr>
                <a:t>未來建置項目</a:t>
              </a:r>
            </a:p>
          </p:txBody>
        </p:sp>
        <p:sp>
          <p:nvSpPr>
            <p:cNvPr id="151" name="文字方塊 150">
              <a:extLst>
                <a:ext uri="{FF2B5EF4-FFF2-40B4-BE49-F238E27FC236}">
                  <a16:creationId xmlns:a16="http://schemas.microsoft.com/office/drawing/2014/main" id="{B284C7C5-A079-3A29-CD32-5112AA2F8037}"/>
                </a:ext>
              </a:extLst>
            </p:cNvPr>
            <p:cNvSpPr txBox="1"/>
            <p:nvPr/>
          </p:nvSpPr>
          <p:spPr>
            <a:xfrm>
              <a:off x="10418117" y="4835756"/>
              <a:ext cx="1492716" cy="276999"/>
            </a:xfrm>
            <a:prstGeom prst="rect">
              <a:avLst/>
            </a:prstGeom>
            <a:noFill/>
          </p:spPr>
          <p:txBody>
            <a:bodyPr wrap="none" rtlCol="0">
              <a:spAutoFit/>
            </a:bodyPr>
            <a:lstStyle/>
            <a:p>
              <a:r>
                <a:rPr lang="en-US" altLang="zh-TW" sz="1200" b="1">
                  <a:latin typeface="+mj-ea"/>
                  <a:ea typeface="+mj-ea"/>
                </a:rPr>
                <a:t>:</a:t>
              </a:r>
              <a:r>
                <a:rPr lang="zh-TW" altLang="en-US" sz="1200" b="1">
                  <a:latin typeface="+mj-ea"/>
                  <a:ea typeface="+mj-ea"/>
                </a:rPr>
                <a:t> 其他未來建構項目</a:t>
              </a:r>
              <a:endParaRPr lang="en-US" altLang="zh-TW" sz="1200" b="1">
                <a:latin typeface="+mj-ea"/>
                <a:ea typeface="+mj-ea"/>
              </a:endParaRPr>
            </a:p>
          </p:txBody>
        </p:sp>
        <p:sp>
          <p:nvSpPr>
            <p:cNvPr id="152" name="矩形: 圓角 151">
              <a:extLst>
                <a:ext uri="{FF2B5EF4-FFF2-40B4-BE49-F238E27FC236}">
                  <a16:creationId xmlns:a16="http://schemas.microsoft.com/office/drawing/2014/main" id="{E9F485EB-645B-77AD-31A1-42EE36849ED9}"/>
                </a:ext>
              </a:extLst>
            </p:cNvPr>
            <p:cNvSpPr/>
            <p:nvPr/>
          </p:nvSpPr>
          <p:spPr>
            <a:xfrm>
              <a:off x="10254854" y="4366404"/>
              <a:ext cx="180000" cy="180000"/>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zh-TW" altLang="en-US" sz="1400" b="1">
                <a:solidFill>
                  <a:schemeClr val="bg1">
                    <a:lumMod val="95000"/>
                  </a:schemeClr>
                </a:solidFill>
                <a:latin typeface="+mj-ea"/>
                <a:ea typeface="+mj-ea"/>
              </a:endParaRPr>
            </a:p>
          </p:txBody>
        </p:sp>
        <p:sp>
          <p:nvSpPr>
            <p:cNvPr id="153" name="文字方塊 152">
              <a:extLst>
                <a:ext uri="{FF2B5EF4-FFF2-40B4-BE49-F238E27FC236}">
                  <a16:creationId xmlns:a16="http://schemas.microsoft.com/office/drawing/2014/main" id="{4BC88073-50AB-8CB9-AF5F-24F1E427D714}"/>
                </a:ext>
              </a:extLst>
            </p:cNvPr>
            <p:cNvSpPr txBox="1"/>
            <p:nvPr/>
          </p:nvSpPr>
          <p:spPr>
            <a:xfrm>
              <a:off x="10417972" y="4294951"/>
              <a:ext cx="1213794" cy="276999"/>
            </a:xfrm>
            <a:prstGeom prst="rect">
              <a:avLst/>
            </a:prstGeom>
            <a:noFill/>
          </p:spPr>
          <p:txBody>
            <a:bodyPr wrap="none" rtlCol="0">
              <a:spAutoFit/>
            </a:bodyPr>
            <a:lstStyle/>
            <a:p>
              <a:r>
                <a:rPr lang="en-US" altLang="zh-TW" sz="1200" b="1">
                  <a:latin typeface="+mj-ea"/>
                  <a:ea typeface="+mj-ea"/>
                </a:rPr>
                <a:t>:</a:t>
              </a:r>
              <a:r>
                <a:rPr lang="zh-TW" altLang="en-US" sz="1200" b="1">
                  <a:latin typeface="+mj-ea"/>
                  <a:ea typeface="+mj-ea"/>
                </a:rPr>
                <a:t> </a:t>
              </a:r>
              <a:r>
                <a:rPr lang="en-US" altLang="zh-TW" sz="1200" b="1">
                  <a:latin typeface="+mj-ea"/>
                  <a:ea typeface="+mj-ea"/>
                </a:rPr>
                <a:t>T2</a:t>
              </a:r>
              <a:r>
                <a:rPr lang="zh-TW" altLang="en-US" sz="1200" b="1">
                  <a:latin typeface="+mj-ea"/>
                  <a:ea typeface="+mj-ea"/>
                </a:rPr>
                <a:t>機聯網範疇</a:t>
              </a:r>
            </a:p>
          </p:txBody>
        </p:sp>
      </p:grpSp>
      <p:sp>
        <p:nvSpPr>
          <p:cNvPr id="154" name="文字方塊 153">
            <a:extLst>
              <a:ext uri="{FF2B5EF4-FFF2-40B4-BE49-F238E27FC236}">
                <a16:creationId xmlns:a16="http://schemas.microsoft.com/office/drawing/2014/main" id="{5325B9A6-DBAB-39CE-7C32-699668FB65D6}"/>
              </a:ext>
            </a:extLst>
          </p:cNvPr>
          <p:cNvSpPr txBox="1"/>
          <p:nvPr/>
        </p:nvSpPr>
        <p:spPr>
          <a:xfrm>
            <a:off x="494527" y="3564891"/>
            <a:ext cx="1442570" cy="1077218"/>
          </a:xfrm>
          <a:prstGeom prst="rect">
            <a:avLst/>
          </a:prstGeom>
          <a:noFill/>
        </p:spPr>
        <p:txBody>
          <a:bodyPr wrap="square" rtlCol="0">
            <a:spAutoFit/>
          </a:bodyPr>
          <a:lstStyle/>
          <a:p>
            <a:r>
              <a:rPr lang="zh-TW" altLang="en-US" sz="1600"/>
              <a:t>* 物流系統最終數據由</a:t>
            </a:r>
            <a:r>
              <a:rPr lang="en-US" altLang="zh-TW" sz="1600"/>
              <a:t>EAP</a:t>
            </a:r>
            <a:r>
              <a:rPr lang="zh-TW" altLang="en-US" sz="1600"/>
              <a:t>收集後再上傳至數據中台</a:t>
            </a:r>
          </a:p>
        </p:txBody>
      </p:sp>
    </p:spTree>
    <p:extLst>
      <p:ext uri="{BB962C8B-B14F-4D97-AF65-F5344CB8AC3E}">
        <p14:creationId xmlns:p14="http://schemas.microsoft.com/office/powerpoint/2010/main" val="2940964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矩形 293">
            <a:extLst>
              <a:ext uri="{FF2B5EF4-FFF2-40B4-BE49-F238E27FC236}">
                <a16:creationId xmlns:a16="http://schemas.microsoft.com/office/drawing/2014/main" id="{1914B586-4D2A-6B93-B9CF-6170CAC00F0C}"/>
              </a:ext>
            </a:extLst>
          </p:cNvPr>
          <p:cNvSpPr/>
          <p:nvPr/>
        </p:nvSpPr>
        <p:spPr>
          <a:xfrm>
            <a:off x="3150963" y="3433648"/>
            <a:ext cx="3757837" cy="1473632"/>
          </a:xfrm>
          <a:prstGeom prst="rect">
            <a:avLst/>
          </a:prstGeom>
          <a:solidFill>
            <a:schemeClr val="accent3">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5" name="矩形 294">
            <a:extLst>
              <a:ext uri="{FF2B5EF4-FFF2-40B4-BE49-F238E27FC236}">
                <a16:creationId xmlns:a16="http://schemas.microsoft.com/office/drawing/2014/main" id="{0F9C028F-9A24-6B21-42EA-ABE7D4C534AB}"/>
              </a:ext>
            </a:extLst>
          </p:cNvPr>
          <p:cNvSpPr/>
          <p:nvPr/>
        </p:nvSpPr>
        <p:spPr>
          <a:xfrm>
            <a:off x="3150962" y="4936884"/>
            <a:ext cx="3755527" cy="1795755"/>
          </a:xfrm>
          <a:prstGeom prst="rect">
            <a:avLst/>
          </a:prstGeom>
          <a:solidFill>
            <a:schemeClr val="accent3">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0" name="矩形: 圓角 349">
            <a:extLst>
              <a:ext uri="{FF2B5EF4-FFF2-40B4-BE49-F238E27FC236}">
                <a16:creationId xmlns:a16="http://schemas.microsoft.com/office/drawing/2014/main" id="{FDB9A26E-ECA8-EC17-5F9D-258DE37E465D}"/>
              </a:ext>
            </a:extLst>
          </p:cNvPr>
          <p:cNvSpPr/>
          <p:nvPr/>
        </p:nvSpPr>
        <p:spPr>
          <a:xfrm>
            <a:off x="1620656" y="5305537"/>
            <a:ext cx="2975914" cy="7681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zh-TW" sz="1400" b="1">
              <a:solidFill>
                <a:schemeClr val="bg1">
                  <a:lumMod val="95000"/>
                </a:schemeClr>
              </a:solidFill>
              <a:latin typeface="+mj-ea"/>
              <a:ea typeface="+mj-ea"/>
            </a:endParaRPr>
          </a:p>
        </p:txBody>
      </p:sp>
      <p:sp>
        <p:nvSpPr>
          <p:cNvPr id="351" name="矩形: 圓角 350">
            <a:extLst>
              <a:ext uri="{FF2B5EF4-FFF2-40B4-BE49-F238E27FC236}">
                <a16:creationId xmlns:a16="http://schemas.microsoft.com/office/drawing/2014/main" id="{BA305633-D4FD-C5F0-9AFD-39B4ABF1C57E}"/>
              </a:ext>
            </a:extLst>
          </p:cNvPr>
          <p:cNvSpPr/>
          <p:nvPr/>
        </p:nvSpPr>
        <p:spPr>
          <a:xfrm>
            <a:off x="1688386" y="5390201"/>
            <a:ext cx="2975914" cy="7681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zh-TW" sz="1400" b="1">
              <a:solidFill>
                <a:schemeClr val="bg1">
                  <a:lumMod val="95000"/>
                </a:schemeClr>
              </a:solidFill>
              <a:latin typeface="+mj-ea"/>
              <a:ea typeface="+mj-ea"/>
            </a:endParaRPr>
          </a:p>
        </p:txBody>
      </p:sp>
      <p:sp>
        <p:nvSpPr>
          <p:cNvPr id="297" name="矩形 296">
            <a:extLst>
              <a:ext uri="{FF2B5EF4-FFF2-40B4-BE49-F238E27FC236}">
                <a16:creationId xmlns:a16="http://schemas.microsoft.com/office/drawing/2014/main" id="{3E11A907-3C36-0691-8EEC-B479D5E1B141}"/>
              </a:ext>
            </a:extLst>
          </p:cNvPr>
          <p:cNvSpPr/>
          <p:nvPr/>
        </p:nvSpPr>
        <p:spPr>
          <a:xfrm>
            <a:off x="7394089" y="556270"/>
            <a:ext cx="4661394" cy="129358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6" name="矩形 295">
            <a:extLst>
              <a:ext uri="{FF2B5EF4-FFF2-40B4-BE49-F238E27FC236}">
                <a16:creationId xmlns:a16="http://schemas.microsoft.com/office/drawing/2014/main" id="{55369B14-E6EB-10CE-DF22-24CCBC8D79F4}"/>
              </a:ext>
            </a:extLst>
          </p:cNvPr>
          <p:cNvSpPr/>
          <p:nvPr/>
        </p:nvSpPr>
        <p:spPr>
          <a:xfrm>
            <a:off x="7433240" y="4931316"/>
            <a:ext cx="4632201" cy="1801321"/>
          </a:xfrm>
          <a:prstGeom prst="rect">
            <a:avLst/>
          </a:prstGeom>
          <a:solidFill>
            <a:schemeClr val="accent3">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6" name="矩形 325">
            <a:extLst>
              <a:ext uri="{FF2B5EF4-FFF2-40B4-BE49-F238E27FC236}">
                <a16:creationId xmlns:a16="http://schemas.microsoft.com/office/drawing/2014/main" id="{54F738F8-ABA7-C08D-EB82-DD843E5FF57A}"/>
              </a:ext>
            </a:extLst>
          </p:cNvPr>
          <p:cNvSpPr/>
          <p:nvPr/>
        </p:nvSpPr>
        <p:spPr>
          <a:xfrm>
            <a:off x="7433239" y="3435903"/>
            <a:ext cx="4642362" cy="1471377"/>
          </a:xfrm>
          <a:prstGeom prst="rect">
            <a:avLst/>
          </a:prstGeom>
          <a:solidFill>
            <a:schemeClr val="accent3">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7" name="矩形 326">
            <a:extLst>
              <a:ext uri="{FF2B5EF4-FFF2-40B4-BE49-F238E27FC236}">
                <a16:creationId xmlns:a16="http://schemas.microsoft.com/office/drawing/2014/main" id="{0B624093-13D1-D96F-3C2A-6188B9B68A67}"/>
              </a:ext>
            </a:extLst>
          </p:cNvPr>
          <p:cNvSpPr/>
          <p:nvPr/>
        </p:nvSpPr>
        <p:spPr>
          <a:xfrm>
            <a:off x="7433238" y="1861818"/>
            <a:ext cx="4642362" cy="1544959"/>
          </a:xfrm>
          <a:prstGeom prst="rect">
            <a:avLst/>
          </a:prstGeom>
          <a:solidFill>
            <a:schemeClr val="accent3">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8479C853-16E4-44FA-5563-98E7816DB6F8}"/>
              </a:ext>
            </a:extLst>
          </p:cNvPr>
          <p:cNvSpPr>
            <a:spLocks noGrp="1"/>
          </p:cNvSpPr>
          <p:nvPr>
            <p:ph type="title"/>
          </p:nvPr>
        </p:nvSpPr>
        <p:spPr/>
        <p:txBody>
          <a:bodyPr>
            <a:normAutofit/>
          </a:bodyPr>
          <a:lstStyle/>
          <a:p>
            <a:r>
              <a:rPr lang="zh-TW" altLang="en-US">
                <a:cs typeface="Times New Roman" panose="02020603050405020304" pitchFamily="18" charset="0"/>
              </a:rPr>
              <a:t>各級應用數據使用架構</a:t>
            </a:r>
            <a:r>
              <a:rPr lang="zh-TW" altLang="en-US">
                <a:solidFill>
                  <a:srgbClr val="FF0000"/>
                </a:solidFill>
                <a:cs typeface="Times New Roman" panose="02020603050405020304" pitchFamily="18" charset="0"/>
              </a:rPr>
              <a:t>規範</a:t>
            </a:r>
          </a:p>
        </p:txBody>
      </p:sp>
      <p:pic>
        <p:nvPicPr>
          <p:cNvPr id="24" name="圖片 23">
            <a:extLst>
              <a:ext uri="{FF2B5EF4-FFF2-40B4-BE49-F238E27FC236}">
                <a16:creationId xmlns:a16="http://schemas.microsoft.com/office/drawing/2014/main" id="{EC4FCACD-8EAD-4071-820A-390B43C5AD24}"/>
              </a:ext>
            </a:extLst>
          </p:cNvPr>
          <p:cNvPicPr>
            <a:picLocks noChangeAspect="1"/>
          </p:cNvPicPr>
          <p:nvPr/>
        </p:nvPicPr>
        <p:blipFill rotWithShape="1">
          <a:blip r:embed="rId3"/>
          <a:srcRect l="27077" t="-860" r="21714" b="-8764"/>
          <a:stretch/>
        </p:blipFill>
        <p:spPr>
          <a:xfrm>
            <a:off x="1439846" y="6425132"/>
            <a:ext cx="1766220" cy="275996"/>
          </a:xfrm>
          <a:prstGeom prst="rect">
            <a:avLst/>
          </a:prstGeom>
        </p:spPr>
      </p:pic>
      <p:sp>
        <p:nvSpPr>
          <p:cNvPr id="75" name="矩形 74">
            <a:extLst>
              <a:ext uri="{FF2B5EF4-FFF2-40B4-BE49-F238E27FC236}">
                <a16:creationId xmlns:a16="http://schemas.microsoft.com/office/drawing/2014/main" id="{D39A9394-BCCB-4FAA-95BA-4BEF0C2EE393}"/>
              </a:ext>
            </a:extLst>
          </p:cNvPr>
          <p:cNvSpPr/>
          <p:nvPr/>
        </p:nvSpPr>
        <p:spPr>
          <a:xfrm>
            <a:off x="576869" y="2163642"/>
            <a:ext cx="366169" cy="765019"/>
          </a:xfrm>
          <a:prstGeom prst="rect">
            <a:avLst/>
          </a:prstGeom>
          <a:solidFill>
            <a:srgbClr val="AAC73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a:latin typeface="+mj-ea"/>
                <a:ea typeface="+mj-ea"/>
              </a:rPr>
              <a:t>地區</a:t>
            </a:r>
          </a:p>
        </p:txBody>
      </p:sp>
      <p:sp>
        <p:nvSpPr>
          <p:cNvPr id="76" name="矩形 75">
            <a:extLst>
              <a:ext uri="{FF2B5EF4-FFF2-40B4-BE49-F238E27FC236}">
                <a16:creationId xmlns:a16="http://schemas.microsoft.com/office/drawing/2014/main" id="{960A7AED-3FB4-4177-A684-C855C229B1DA}"/>
              </a:ext>
            </a:extLst>
          </p:cNvPr>
          <p:cNvSpPr/>
          <p:nvPr/>
        </p:nvSpPr>
        <p:spPr>
          <a:xfrm>
            <a:off x="599904" y="3339316"/>
            <a:ext cx="352075" cy="628445"/>
          </a:xfrm>
          <a:prstGeom prst="rect">
            <a:avLst/>
          </a:prstGeom>
          <a:solidFill>
            <a:srgbClr val="5352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a:latin typeface="+mj-ea"/>
                <a:ea typeface="+mj-ea"/>
              </a:rPr>
              <a:t>工廠</a:t>
            </a:r>
          </a:p>
        </p:txBody>
      </p:sp>
      <p:sp>
        <p:nvSpPr>
          <p:cNvPr id="82" name="矩形 81">
            <a:extLst>
              <a:ext uri="{FF2B5EF4-FFF2-40B4-BE49-F238E27FC236}">
                <a16:creationId xmlns:a16="http://schemas.microsoft.com/office/drawing/2014/main" id="{835F7761-2C62-4263-994E-D14206EFA0DD}"/>
              </a:ext>
            </a:extLst>
          </p:cNvPr>
          <p:cNvSpPr/>
          <p:nvPr/>
        </p:nvSpPr>
        <p:spPr>
          <a:xfrm>
            <a:off x="589741" y="5050848"/>
            <a:ext cx="346518" cy="552923"/>
          </a:xfrm>
          <a:prstGeom prst="rect">
            <a:avLst/>
          </a:prstGeom>
          <a:solidFill>
            <a:srgbClr val="838D9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a:latin typeface="+mj-ea"/>
                <a:ea typeface="+mj-ea"/>
              </a:rPr>
              <a:t>產線</a:t>
            </a:r>
          </a:p>
        </p:txBody>
      </p:sp>
      <p:sp>
        <p:nvSpPr>
          <p:cNvPr id="87" name="矩形 86">
            <a:extLst>
              <a:ext uri="{FF2B5EF4-FFF2-40B4-BE49-F238E27FC236}">
                <a16:creationId xmlns:a16="http://schemas.microsoft.com/office/drawing/2014/main" id="{304CEA6C-C5FA-4C52-A683-3B6708BE03E5}"/>
              </a:ext>
            </a:extLst>
          </p:cNvPr>
          <p:cNvSpPr/>
          <p:nvPr/>
        </p:nvSpPr>
        <p:spPr>
          <a:xfrm>
            <a:off x="601508" y="5782800"/>
            <a:ext cx="342692" cy="521078"/>
          </a:xfrm>
          <a:prstGeom prst="rect">
            <a:avLst/>
          </a:prstGeom>
          <a:solidFill>
            <a:srgbClr val="56667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a:latin typeface="+mj-ea"/>
                <a:ea typeface="+mj-ea"/>
              </a:rPr>
              <a:t>設備</a:t>
            </a:r>
          </a:p>
        </p:txBody>
      </p:sp>
      <p:sp>
        <p:nvSpPr>
          <p:cNvPr id="89" name="文字方塊 88">
            <a:extLst>
              <a:ext uri="{FF2B5EF4-FFF2-40B4-BE49-F238E27FC236}">
                <a16:creationId xmlns:a16="http://schemas.microsoft.com/office/drawing/2014/main" id="{0D74AFF2-9BD2-4FDC-A64F-FAFB2149049D}"/>
              </a:ext>
            </a:extLst>
          </p:cNvPr>
          <p:cNvSpPr txBox="1"/>
          <p:nvPr/>
        </p:nvSpPr>
        <p:spPr>
          <a:xfrm>
            <a:off x="384272" y="5622662"/>
            <a:ext cx="619167" cy="169277"/>
          </a:xfrm>
          <a:prstGeom prst="rect">
            <a:avLst/>
          </a:prstGeom>
          <a:noFill/>
        </p:spPr>
        <p:txBody>
          <a:bodyPr wrap="square" lIns="0" tIns="0" rIns="0" bIns="0" rtlCol="0">
            <a:spAutoFit/>
          </a:bodyPr>
          <a:lstStyle/>
          <a:p>
            <a:pPr algn="ctr"/>
            <a:r>
              <a:rPr lang="en-US" altLang="zh-TW" sz="1100" b="1">
                <a:latin typeface="+mj-ea"/>
                <a:ea typeface="+mj-ea"/>
              </a:rPr>
              <a:t>~100 </a:t>
            </a:r>
            <a:r>
              <a:rPr lang="en-US" altLang="zh-TW" sz="1100" b="1" err="1">
                <a:latin typeface="+mj-ea"/>
                <a:ea typeface="+mj-ea"/>
              </a:rPr>
              <a:t>ms</a:t>
            </a:r>
            <a:endParaRPr lang="zh-TW" altLang="en-US" sz="1100" b="1">
              <a:latin typeface="+mj-ea"/>
              <a:ea typeface="+mj-ea"/>
            </a:endParaRPr>
          </a:p>
        </p:txBody>
      </p:sp>
      <p:sp>
        <p:nvSpPr>
          <p:cNvPr id="91" name="文字方塊 90">
            <a:extLst>
              <a:ext uri="{FF2B5EF4-FFF2-40B4-BE49-F238E27FC236}">
                <a16:creationId xmlns:a16="http://schemas.microsoft.com/office/drawing/2014/main" id="{C120BBA1-FF37-420D-A140-3676933F9D36}"/>
              </a:ext>
            </a:extLst>
          </p:cNvPr>
          <p:cNvSpPr txBox="1"/>
          <p:nvPr/>
        </p:nvSpPr>
        <p:spPr>
          <a:xfrm>
            <a:off x="140089" y="4743061"/>
            <a:ext cx="1113175" cy="338554"/>
          </a:xfrm>
          <a:prstGeom prst="rect">
            <a:avLst/>
          </a:prstGeom>
          <a:noFill/>
        </p:spPr>
        <p:txBody>
          <a:bodyPr wrap="square" lIns="0" tIns="0" rIns="0" bIns="0" rtlCol="0">
            <a:spAutoFit/>
          </a:bodyPr>
          <a:lstStyle/>
          <a:p>
            <a:pPr algn="ctr"/>
            <a:r>
              <a:rPr lang="en-US" altLang="zh-TW" sz="1100" b="1">
                <a:latin typeface="+mj-ea"/>
                <a:ea typeface="+mj-ea"/>
              </a:rPr>
              <a:t>Data Delay Time</a:t>
            </a:r>
          </a:p>
          <a:p>
            <a:pPr algn="ctr"/>
            <a:r>
              <a:rPr lang="en-US" altLang="zh-TW" sz="1100" b="1">
                <a:latin typeface="+mj-ea"/>
                <a:ea typeface="+mj-ea"/>
              </a:rPr>
              <a:t>100 ms~1 sec</a:t>
            </a:r>
            <a:endParaRPr lang="zh-TW" altLang="en-US" sz="1100" b="1">
              <a:latin typeface="+mj-ea"/>
              <a:ea typeface="+mj-ea"/>
            </a:endParaRPr>
          </a:p>
        </p:txBody>
      </p:sp>
      <p:sp>
        <p:nvSpPr>
          <p:cNvPr id="97" name="矩形 96">
            <a:extLst>
              <a:ext uri="{FF2B5EF4-FFF2-40B4-BE49-F238E27FC236}">
                <a16:creationId xmlns:a16="http://schemas.microsoft.com/office/drawing/2014/main" id="{160CD859-88B6-4E92-A17D-EF20E5E92768}"/>
              </a:ext>
            </a:extLst>
          </p:cNvPr>
          <p:cNvSpPr/>
          <p:nvPr/>
        </p:nvSpPr>
        <p:spPr>
          <a:xfrm>
            <a:off x="576869" y="664771"/>
            <a:ext cx="366169" cy="1137605"/>
          </a:xfrm>
          <a:prstGeom prst="rect">
            <a:avLst/>
          </a:prstGeom>
          <a:solidFill>
            <a:srgbClr val="CCD37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a:latin typeface="+mj-ea"/>
                <a:ea typeface="+mj-ea"/>
              </a:rPr>
              <a:t>總部</a:t>
            </a:r>
          </a:p>
        </p:txBody>
      </p:sp>
      <p:sp>
        <p:nvSpPr>
          <p:cNvPr id="98" name="矩形 97">
            <a:extLst>
              <a:ext uri="{FF2B5EF4-FFF2-40B4-BE49-F238E27FC236}">
                <a16:creationId xmlns:a16="http://schemas.microsoft.com/office/drawing/2014/main" id="{5C81EE5B-D090-46D1-A575-B19FAE5CB3A8}"/>
              </a:ext>
            </a:extLst>
          </p:cNvPr>
          <p:cNvSpPr/>
          <p:nvPr/>
        </p:nvSpPr>
        <p:spPr>
          <a:xfrm>
            <a:off x="600068" y="4046218"/>
            <a:ext cx="352075" cy="704947"/>
          </a:xfrm>
          <a:prstGeom prst="rect">
            <a:avLst/>
          </a:prstGeom>
          <a:solidFill>
            <a:srgbClr val="5352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a:latin typeface="+mj-ea"/>
                <a:ea typeface="+mj-ea"/>
              </a:rPr>
              <a:t>產品廠</a:t>
            </a:r>
          </a:p>
        </p:txBody>
      </p:sp>
      <p:sp>
        <p:nvSpPr>
          <p:cNvPr id="126" name="橢圓 125">
            <a:extLst>
              <a:ext uri="{FF2B5EF4-FFF2-40B4-BE49-F238E27FC236}">
                <a16:creationId xmlns:a16="http://schemas.microsoft.com/office/drawing/2014/main" id="{7C98BED7-2C07-43E4-8559-6EFFDA095E26}"/>
              </a:ext>
            </a:extLst>
          </p:cNvPr>
          <p:cNvSpPr/>
          <p:nvPr/>
        </p:nvSpPr>
        <p:spPr>
          <a:xfrm>
            <a:off x="6327542" y="6305697"/>
            <a:ext cx="108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b="1">
              <a:latin typeface="+mj-ea"/>
              <a:ea typeface="+mj-ea"/>
            </a:endParaRPr>
          </a:p>
        </p:txBody>
      </p:sp>
      <p:sp>
        <p:nvSpPr>
          <p:cNvPr id="16" name="矩形: 圓角 15">
            <a:extLst>
              <a:ext uri="{FF2B5EF4-FFF2-40B4-BE49-F238E27FC236}">
                <a16:creationId xmlns:a16="http://schemas.microsoft.com/office/drawing/2014/main" id="{7798B96C-7A6C-8305-9B57-DD1F084560FE}"/>
              </a:ext>
            </a:extLst>
          </p:cNvPr>
          <p:cNvSpPr/>
          <p:nvPr/>
        </p:nvSpPr>
        <p:spPr>
          <a:xfrm>
            <a:off x="1397114" y="1897159"/>
            <a:ext cx="651252" cy="301126"/>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400" b="1">
                <a:solidFill>
                  <a:schemeClr val="tx1"/>
                </a:solidFill>
                <a:latin typeface="+mj-ea"/>
                <a:ea typeface="+mj-ea"/>
              </a:rPr>
              <a:t>MES</a:t>
            </a:r>
            <a:endParaRPr lang="zh-TW" altLang="en-US" sz="1400" b="1">
              <a:solidFill>
                <a:schemeClr val="tx1"/>
              </a:solidFill>
              <a:latin typeface="+mj-ea"/>
              <a:ea typeface="+mj-ea"/>
            </a:endParaRPr>
          </a:p>
        </p:txBody>
      </p:sp>
      <p:sp>
        <p:nvSpPr>
          <p:cNvPr id="261" name="文字方塊 260">
            <a:extLst>
              <a:ext uri="{FF2B5EF4-FFF2-40B4-BE49-F238E27FC236}">
                <a16:creationId xmlns:a16="http://schemas.microsoft.com/office/drawing/2014/main" id="{F6E64197-C8A1-A65D-5213-31418BE511A9}"/>
              </a:ext>
            </a:extLst>
          </p:cNvPr>
          <p:cNvSpPr txBox="1"/>
          <p:nvPr/>
        </p:nvSpPr>
        <p:spPr>
          <a:xfrm>
            <a:off x="923618" y="3527510"/>
            <a:ext cx="430887" cy="1256759"/>
          </a:xfrm>
          <a:prstGeom prst="rect">
            <a:avLst/>
          </a:prstGeom>
          <a:noFill/>
        </p:spPr>
        <p:txBody>
          <a:bodyPr vert="eaVert" wrap="square" rtlCol="0">
            <a:spAutoFit/>
          </a:bodyPr>
          <a:lstStyle>
            <a:defPPr>
              <a:defRPr lang="en-US"/>
            </a:defPPr>
            <a:lvl1pPr>
              <a:defRPr sz="1600">
                <a:solidFill>
                  <a:schemeClr val="bg1">
                    <a:lumMod val="65000"/>
                  </a:schemeClr>
                </a:solidFill>
                <a:latin typeface="+mj-ea"/>
                <a:ea typeface="+mj-ea"/>
              </a:defRPr>
            </a:lvl1pPr>
          </a:lstStyle>
          <a:p>
            <a:r>
              <a:rPr lang="zh-TW" altLang="en-US"/>
              <a:t>廠級數據層</a:t>
            </a:r>
          </a:p>
        </p:txBody>
      </p:sp>
      <p:sp>
        <p:nvSpPr>
          <p:cNvPr id="262" name="文字方塊 261">
            <a:extLst>
              <a:ext uri="{FF2B5EF4-FFF2-40B4-BE49-F238E27FC236}">
                <a16:creationId xmlns:a16="http://schemas.microsoft.com/office/drawing/2014/main" id="{80A33BF4-C56C-E0BF-4EF3-E03132357EAC}"/>
              </a:ext>
            </a:extLst>
          </p:cNvPr>
          <p:cNvSpPr txBox="1"/>
          <p:nvPr/>
        </p:nvSpPr>
        <p:spPr>
          <a:xfrm>
            <a:off x="912060" y="5072476"/>
            <a:ext cx="430887" cy="1131139"/>
          </a:xfrm>
          <a:prstGeom prst="rect">
            <a:avLst/>
          </a:prstGeom>
          <a:noFill/>
        </p:spPr>
        <p:txBody>
          <a:bodyPr vert="eaVert" wrap="square" rtlCol="0">
            <a:spAutoFit/>
          </a:bodyPr>
          <a:lstStyle>
            <a:defPPr>
              <a:defRPr lang="en-US"/>
            </a:defPPr>
            <a:lvl1pPr>
              <a:defRPr sz="1600">
                <a:solidFill>
                  <a:schemeClr val="bg1">
                    <a:lumMod val="65000"/>
                  </a:schemeClr>
                </a:solidFill>
                <a:latin typeface="+mj-ea"/>
                <a:ea typeface="+mj-ea"/>
              </a:defRPr>
            </a:lvl1pPr>
          </a:lstStyle>
          <a:p>
            <a:r>
              <a:rPr lang="zh-TW" altLang="en-US"/>
              <a:t>線級數據層</a:t>
            </a:r>
          </a:p>
        </p:txBody>
      </p:sp>
      <p:sp>
        <p:nvSpPr>
          <p:cNvPr id="263" name="文字方塊 262">
            <a:extLst>
              <a:ext uri="{FF2B5EF4-FFF2-40B4-BE49-F238E27FC236}">
                <a16:creationId xmlns:a16="http://schemas.microsoft.com/office/drawing/2014/main" id="{057CFF8B-F28B-3307-873A-572787D84364}"/>
              </a:ext>
            </a:extLst>
          </p:cNvPr>
          <p:cNvSpPr txBox="1"/>
          <p:nvPr/>
        </p:nvSpPr>
        <p:spPr>
          <a:xfrm>
            <a:off x="927078" y="2038920"/>
            <a:ext cx="430887" cy="1345113"/>
          </a:xfrm>
          <a:prstGeom prst="rect">
            <a:avLst/>
          </a:prstGeom>
          <a:noFill/>
        </p:spPr>
        <p:txBody>
          <a:bodyPr vert="eaVert" wrap="square" rtlCol="0">
            <a:spAutoFit/>
          </a:bodyPr>
          <a:lstStyle/>
          <a:p>
            <a:r>
              <a:rPr lang="zh-TW" altLang="en-US" sz="1600">
                <a:solidFill>
                  <a:schemeClr val="bg1">
                    <a:lumMod val="65000"/>
                  </a:schemeClr>
                </a:solidFill>
                <a:latin typeface="+mj-ea"/>
                <a:ea typeface="+mj-ea"/>
              </a:rPr>
              <a:t>地區級數據層</a:t>
            </a:r>
          </a:p>
        </p:txBody>
      </p:sp>
      <p:sp>
        <p:nvSpPr>
          <p:cNvPr id="96" name="文字方塊 95">
            <a:extLst>
              <a:ext uri="{FF2B5EF4-FFF2-40B4-BE49-F238E27FC236}">
                <a16:creationId xmlns:a16="http://schemas.microsoft.com/office/drawing/2014/main" id="{2421BB3D-58E8-65D7-BBD8-475B4FD8874B}"/>
              </a:ext>
            </a:extLst>
          </p:cNvPr>
          <p:cNvSpPr txBox="1"/>
          <p:nvPr/>
        </p:nvSpPr>
        <p:spPr>
          <a:xfrm>
            <a:off x="11707491" y="5110348"/>
            <a:ext cx="430887" cy="1463168"/>
          </a:xfrm>
          <a:prstGeom prst="rect">
            <a:avLst/>
          </a:prstGeom>
          <a:noFill/>
        </p:spPr>
        <p:txBody>
          <a:bodyPr vert="eaVert" wrap="square" rtlCol="0">
            <a:spAutoFit/>
          </a:bodyPr>
          <a:lstStyle>
            <a:defPPr>
              <a:defRPr lang="en-US"/>
            </a:defPPr>
            <a:lvl1pPr>
              <a:defRPr sz="1600">
                <a:solidFill>
                  <a:schemeClr val="bg1">
                    <a:lumMod val="65000"/>
                  </a:schemeClr>
                </a:solidFill>
                <a:latin typeface="+mj-ea"/>
                <a:ea typeface="+mj-ea"/>
              </a:defRPr>
            </a:lvl1pPr>
          </a:lstStyle>
          <a:p>
            <a:r>
              <a:rPr lang="zh-TW" altLang="en-US"/>
              <a:t>線級應用</a:t>
            </a:r>
          </a:p>
        </p:txBody>
      </p:sp>
      <p:sp>
        <p:nvSpPr>
          <p:cNvPr id="105" name="文字方塊 104">
            <a:extLst>
              <a:ext uri="{FF2B5EF4-FFF2-40B4-BE49-F238E27FC236}">
                <a16:creationId xmlns:a16="http://schemas.microsoft.com/office/drawing/2014/main" id="{B84FF174-D83C-05A1-AF4D-3197F8F137C7}"/>
              </a:ext>
            </a:extLst>
          </p:cNvPr>
          <p:cNvSpPr txBox="1"/>
          <p:nvPr/>
        </p:nvSpPr>
        <p:spPr>
          <a:xfrm>
            <a:off x="11708688" y="3615339"/>
            <a:ext cx="430887" cy="1287549"/>
          </a:xfrm>
          <a:prstGeom prst="rect">
            <a:avLst/>
          </a:prstGeom>
          <a:noFill/>
        </p:spPr>
        <p:txBody>
          <a:bodyPr vert="eaVert" wrap="square" rtlCol="0">
            <a:spAutoFit/>
          </a:bodyPr>
          <a:lstStyle>
            <a:defPPr>
              <a:defRPr lang="en-US"/>
            </a:defPPr>
            <a:lvl1pPr>
              <a:defRPr sz="1600">
                <a:solidFill>
                  <a:schemeClr val="bg1">
                    <a:lumMod val="65000"/>
                  </a:schemeClr>
                </a:solidFill>
                <a:latin typeface="+mj-ea"/>
                <a:ea typeface="+mj-ea"/>
              </a:defRPr>
            </a:lvl1pPr>
          </a:lstStyle>
          <a:p>
            <a:r>
              <a:rPr lang="zh-TW" altLang="en-US"/>
              <a:t>廠級應用</a:t>
            </a:r>
          </a:p>
        </p:txBody>
      </p:sp>
      <p:sp>
        <p:nvSpPr>
          <p:cNvPr id="106" name="文字方塊 105">
            <a:extLst>
              <a:ext uri="{FF2B5EF4-FFF2-40B4-BE49-F238E27FC236}">
                <a16:creationId xmlns:a16="http://schemas.microsoft.com/office/drawing/2014/main" id="{3F9DC087-A51F-D951-0DEE-F4E466157127}"/>
              </a:ext>
            </a:extLst>
          </p:cNvPr>
          <p:cNvSpPr txBox="1"/>
          <p:nvPr/>
        </p:nvSpPr>
        <p:spPr>
          <a:xfrm>
            <a:off x="11669332" y="2021720"/>
            <a:ext cx="430887" cy="1317596"/>
          </a:xfrm>
          <a:prstGeom prst="rect">
            <a:avLst/>
          </a:prstGeom>
          <a:noFill/>
        </p:spPr>
        <p:txBody>
          <a:bodyPr vert="eaVert" wrap="square" rtlCol="0">
            <a:spAutoFit/>
          </a:bodyPr>
          <a:lstStyle>
            <a:defPPr>
              <a:defRPr lang="en-US"/>
            </a:defPPr>
            <a:lvl1pPr>
              <a:defRPr sz="1600">
                <a:solidFill>
                  <a:schemeClr val="bg1">
                    <a:lumMod val="65000"/>
                  </a:schemeClr>
                </a:solidFill>
                <a:latin typeface="+mj-ea"/>
                <a:ea typeface="+mj-ea"/>
              </a:defRPr>
            </a:lvl1pPr>
          </a:lstStyle>
          <a:p>
            <a:r>
              <a:rPr lang="zh-TW" altLang="en-US"/>
              <a:t>地區級應用</a:t>
            </a:r>
          </a:p>
        </p:txBody>
      </p:sp>
      <p:sp>
        <p:nvSpPr>
          <p:cNvPr id="109" name="文字方塊 108">
            <a:extLst>
              <a:ext uri="{FF2B5EF4-FFF2-40B4-BE49-F238E27FC236}">
                <a16:creationId xmlns:a16="http://schemas.microsoft.com/office/drawing/2014/main" id="{5A2366F8-808F-3418-61CB-1D6F5B02FCDF}"/>
              </a:ext>
            </a:extLst>
          </p:cNvPr>
          <p:cNvSpPr txBox="1"/>
          <p:nvPr/>
        </p:nvSpPr>
        <p:spPr>
          <a:xfrm>
            <a:off x="11701667" y="686170"/>
            <a:ext cx="430887" cy="1348199"/>
          </a:xfrm>
          <a:prstGeom prst="rect">
            <a:avLst/>
          </a:prstGeom>
          <a:noFill/>
        </p:spPr>
        <p:txBody>
          <a:bodyPr vert="eaVert" wrap="square" rtlCol="0">
            <a:spAutoFit/>
          </a:bodyPr>
          <a:lstStyle>
            <a:defPPr>
              <a:defRPr lang="en-US"/>
            </a:defPPr>
            <a:lvl1pPr>
              <a:defRPr sz="1600">
                <a:solidFill>
                  <a:schemeClr val="bg1">
                    <a:lumMod val="65000"/>
                  </a:schemeClr>
                </a:solidFill>
                <a:latin typeface="+mj-ea"/>
                <a:ea typeface="+mj-ea"/>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TW" altLang="en-US"/>
              <a:t>總部級應用</a:t>
            </a:r>
          </a:p>
        </p:txBody>
      </p:sp>
      <p:sp>
        <p:nvSpPr>
          <p:cNvPr id="73" name="文字方塊 72">
            <a:extLst>
              <a:ext uri="{FF2B5EF4-FFF2-40B4-BE49-F238E27FC236}">
                <a16:creationId xmlns:a16="http://schemas.microsoft.com/office/drawing/2014/main" id="{83C9094A-8FD7-361B-1721-2CC0DCC0749F}"/>
              </a:ext>
            </a:extLst>
          </p:cNvPr>
          <p:cNvSpPr txBox="1"/>
          <p:nvPr/>
        </p:nvSpPr>
        <p:spPr>
          <a:xfrm>
            <a:off x="1202048" y="2176528"/>
            <a:ext cx="1259725" cy="246221"/>
          </a:xfrm>
          <a:prstGeom prst="rect">
            <a:avLst/>
          </a:prstGeom>
          <a:noFill/>
        </p:spPr>
        <p:txBody>
          <a:bodyPr wrap="square" rtlCol="0">
            <a:spAutoFit/>
          </a:bodyPr>
          <a:lstStyle/>
          <a:p>
            <a:r>
              <a:rPr lang="zh-TW" altLang="en-US" sz="1000" b="1">
                <a:latin typeface="+mj-ea"/>
                <a:ea typeface="+mj-ea"/>
              </a:rPr>
              <a:t>主檔 </a:t>
            </a:r>
            <a:r>
              <a:rPr lang="en-US" altLang="zh-TW" sz="1000" b="1">
                <a:latin typeface="+mj-ea"/>
                <a:ea typeface="+mj-ea"/>
              </a:rPr>
              <a:t>+</a:t>
            </a:r>
            <a:r>
              <a:rPr lang="zh-TW" altLang="en-US" sz="1000" b="1">
                <a:latin typeface="+mj-ea"/>
                <a:ea typeface="+mj-ea"/>
              </a:rPr>
              <a:t> </a:t>
            </a:r>
            <a:r>
              <a:rPr lang="en-US" altLang="zh-TW" sz="1000" b="1">
                <a:latin typeface="+mj-ea"/>
                <a:ea typeface="+mj-ea"/>
              </a:rPr>
              <a:t>Report+…</a:t>
            </a:r>
          </a:p>
        </p:txBody>
      </p:sp>
      <p:cxnSp>
        <p:nvCxnSpPr>
          <p:cNvPr id="158" name="直線單箭頭接點 157">
            <a:extLst>
              <a:ext uri="{FF2B5EF4-FFF2-40B4-BE49-F238E27FC236}">
                <a16:creationId xmlns:a16="http://schemas.microsoft.com/office/drawing/2014/main" id="{DD9AF707-F62C-700D-4386-4DF79DA61F24}"/>
              </a:ext>
            </a:extLst>
          </p:cNvPr>
          <p:cNvCxnSpPr>
            <a:cxnSpLocks/>
          </p:cNvCxnSpPr>
          <p:nvPr/>
        </p:nvCxnSpPr>
        <p:spPr>
          <a:xfrm>
            <a:off x="2659649" y="6050433"/>
            <a:ext cx="0" cy="406212"/>
          </a:xfrm>
          <a:prstGeom prst="straightConnector1">
            <a:avLst/>
          </a:prstGeom>
          <a:ln w="44450">
            <a:solidFill>
              <a:schemeClr val="tx2">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1" name="文字方塊 70">
            <a:extLst>
              <a:ext uri="{FF2B5EF4-FFF2-40B4-BE49-F238E27FC236}">
                <a16:creationId xmlns:a16="http://schemas.microsoft.com/office/drawing/2014/main" id="{F07A6357-0D5D-3DC4-CFF1-AC52CC3E6003}"/>
              </a:ext>
            </a:extLst>
          </p:cNvPr>
          <p:cNvSpPr txBox="1"/>
          <p:nvPr/>
        </p:nvSpPr>
        <p:spPr>
          <a:xfrm>
            <a:off x="6647872" y="4741925"/>
            <a:ext cx="491861" cy="1432158"/>
          </a:xfrm>
          <a:prstGeom prst="rect">
            <a:avLst/>
          </a:prstGeom>
          <a:noFill/>
        </p:spPr>
        <p:txBody>
          <a:bodyPr vert="eaVert" wrap="square" lIns="0" tIns="0" rIns="0" bIns="0" rtlCol="0">
            <a:noAutofit/>
          </a:bodyPr>
          <a:lstStyle>
            <a:defPPr>
              <a:defRPr lang="en-US"/>
            </a:defPPr>
            <a:lvl1pPr>
              <a:defRPr sz="1600">
                <a:solidFill>
                  <a:schemeClr val="bg1">
                    <a:lumMod val="65000"/>
                  </a:schemeClr>
                </a:solidFill>
                <a:latin typeface="+mj-ea"/>
                <a:ea typeface="+mj-ea"/>
              </a:defRPr>
            </a:lvl1pPr>
          </a:lstStyle>
          <a:p>
            <a:pPr algn="r"/>
            <a:endParaRPr lang="en-US" altLang="zh-TW"/>
          </a:p>
          <a:p>
            <a:pPr algn="r"/>
            <a:r>
              <a:rPr lang="zh-TW" altLang="en-US"/>
              <a:t>線級</a:t>
            </a:r>
            <a:r>
              <a:rPr lang="zh-TW" altLang="en-US" b="1">
                <a:solidFill>
                  <a:srgbClr val="FF0000"/>
                </a:solidFill>
              </a:rPr>
              <a:t>實時</a:t>
            </a:r>
            <a:r>
              <a:rPr lang="zh-TW" altLang="en-US"/>
              <a:t>應用</a:t>
            </a:r>
          </a:p>
        </p:txBody>
      </p:sp>
      <p:sp>
        <p:nvSpPr>
          <p:cNvPr id="6" name="文字方塊 5">
            <a:extLst>
              <a:ext uri="{FF2B5EF4-FFF2-40B4-BE49-F238E27FC236}">
                <a16:creationId xmlns:a16="http://schemas.microsoft.com/office/drawing/2014/main" id="{F6BFA79A-125C-0A83-6784-80CD692A1DD9}"/>
              </a:ext>
            </a:extLst>
          </p:cNvPr>
          <p:cNvSpPr txBox="1"/>
          <p:nvPr/>
        </p:nvSpPr>
        <p:spPr>
          <a:xfrm>
            <a:off x="1492473" y="1021694"/>
            <a:ext cx="1445376" cy="553998"/>
          </a:xfrm>
          <a:prstGeom prst="rect">
            <a:avLst/>
          </a:prstGeom>
          <a:noFill/>
          <a:ln>
            <a:solidFill>
              <a:schemeClr val="tx1"/>
            </a:solidFill>
            <a:prstDash val="dash"/>
          </a:ln>
        </p:spPr>
        <p:txBody>
          <a:bodyPr wrap="square" lIns="0" tIns="0" rIns="0" bIns="0" rtlCol="0">
            <a:spAutoFit/>
          </a:bodyPr>
          <a:lstStyle/>
          <a:p>
            <a:pPr algn="ctr"/>
            <a:r>
              <a:rPr lang="en-US" altLang="zh-TW" sz="1800">
                <a:latin typeface="+mj-ea"/>
                <a:ea typeface="+mj-ea"/>
              </a:rPr>
              <a:t>Corp</a:t>
            </a:r>
          </a:p>
          <a:p>
            <a:pPr algn="ctr"/>
            <a:r>
              <a:rPr lang="zh-TW" altLang="en-US" sz="1800">
                <a:latin typeface="+mj-ea"/>
                <a:ea typeface="+mj-ea"/>
              </a:rPr>
              <a:t>數據中台</a:t>
            </a:r>
            <a:endParaRPr lang="en-US" altLang="zh-TW" sz="1800">
              <a:latin typeface="+mj-ea"/>
              <a:ea typeface="+mj-ea"/>
            </a:endParaRPr>
          </a:p>
        </p:txBody>
      </p:sp>
      <p:sp>
        <p:nvSpPr>
          <p:cNvPr id="49" name="文字方塊 48">
            <a:extLst>
              <a:ext uri="{FF2B5EF4-FFF2-40B4-BE49-F238E27FC236}">
                <a16:creationId xmlns:a16="http://schemas.microsoft.com/office/drawing/2014/main" id="{BAF98B96-A2AE-50B3-8C2B-0448F0F2A54B}"/>
              </a:ext>
            </a:extLst>
          </p:cNvPr>
          <p:cNvSpPr txBox="1"/>
          <p:nvPr/>
        </p:nvSpPr>
        <p:spPr>
          <a:xfrm>
            <a:off x="7777173" y="2092063"/>
            <a:ext cx="2058577" cy="1169551"/>
          </a:xfrm>
          <a:prstGeom prst="rect">
            <a:avLst/>
          </a:prstGeom>
          <a:noFill/>
        </p:spPr>
        <p:txBody>
          <a:bodyPr wrap="none" rtlCol="0">
            <a:spAutoFit/>
          </a:bodyPr>
          <a:lstStyle/>
          <a:p>
            <a:r>
              <a:rPr lang="zh-TW" altLang="en-US" sz="1400" b="1">
                <a:solidFill>
                  <a:srgbClr val="FF0000"/>
                </a:solidFill>
              </a:rPr>
              <a:t>依地區</a:t>
            </a:r>
            <a:r>
              <a:rPr lang="zh-TW" altLang="en-US" sz="1400" b="1"/>
              <a:t>佈署建置</a:t>
            </a:r>
            <a:endParaRPr lang="en-US" altLang="zh-TW" sz="1400" b="1"/>
          </a:p>
          <a:p>
            <a:r>
              <a:rPr lang="en-US" altLang="zh-TW" sz="1400" b="1"/>
              <a:t>App/</a:t>
            </a:r>
            <a:r>
              <a:rPr lang="zh-TW" altLang="en-US" sz="1400" b="1"/>
              <a:t>平台用途</a:t>
            </a:r>
            <a:r>
              <a:rPr lang="en-US" altLang="zh-TW" sz="1400" b="1"/>
              <a:t>:</a:t>
            </a:r>
          </a:p>
          <a:p>
            <a:r>
              <a:rPr lang="en-US" altLang="zh-TW" sz="1400"/>
              <a:t>1) </a:t>
            </a:r>
            <a:r>
              <a:rPr lang="zh-TW" altLang="en-US" sz="1400"/>
              <a:t>非即時數據分析</a:t>
            </a:r>
            <a:r>
              <a:rPr lang="en-US" altLang="zh-TW" sz="1400"/>
              <a:t>/</a:t>
            </a:r>
            <a:r>
              <a:rPr lang="zh-TW" altLang="en-US" sz="1400"/>
              <a:t>應用</a:t>
            </a:r>
            <a:endParaRPr lang="en-US" altLang="zh-TW" sz="1400"/>
          </a:p>
          <a:p>
            <a:r>
              <a:rPr lang="en-US" altLang="zh-TW" sz="1400"/>
              <a:t>2) AI</a:t>
            </a:r>
            <a:r>
              <a:rPr lang="zh-TW" altLang="en-US" sz="1400"/>
              <a:t>模型訓練</a:t>
            </a:r>
            <a:endParaRPr lang="en-US" altLang="zh-TW" sz="1400"/>
          </a:p>
          <a:p>
            <a:r>
              <a:rPr lang="en-US" altLang="zh-TW" sz="1400"/>
              <a:t>3) </a:t>
            </a:r>
            <a:r>
              <a:rPr lang="zh-TW" altLang="en-US" sz="1400"/>
              <a:t>績效報表滾算</a:t>
            </a:r>
            <a:r>
              <a:rPr lang="en-US" altLang="zh-TW" sz="1400"/>
              <a:t>/</a:t>
            </a:r>
            <a:r>
              <a:rPr lang="zh-TW" altLang="en-US" sz="1400"/>
              <a:t>呈現</a:t>
            </a:r>
          </a:p>
        </p:txBody>
      </p:sp>
      <p:sp>
        <p:nvSpPr>
          <p:cNvPr id="50" name="文字方塊 49">
            <a:extLst>
              <a:ext uri="{FF2B5EF4-FFF2-40B4-BE49-F238E27FC236}">
                <a16:creationId xmlns:a16="http://schemas.microsoft.com/office/drawing/2014/main" id="{838EBF7F-DEE6-F4B2-2E33-2BDE82D8CF17}"/>
              </a:ext>
            </a:extLst>
          </p:cNvPr>
          <p:cNvSpPr txBox="1"/>
          <p:nvPr/>
        </p:nvSpPr>
        <p:spPr>
          <a:xfrm>
            <a:off x="7828946" y="3527510"/>
            <a:ext cx="2058577" cy="1169551"/>
          </a:xfrm>
          <a:prstGeom prst="rect">
            <a:avLst/>
          </a:prstGeom>
          <a:noFill/>
        </p:spPr>
        <p:txBody>
          <a:bodyPr wrap="none" rtlCol="0">
            <a:spAutoFit/>
          </a:bodyPr>
          <a:lstStyle/>
          <a:p>
            <a:r>
              <a:rPr lang="zh-TW" altLang="en-US" sz="1400" b="1">
                <a:solidFill>
                  <a:srgbClr val="FF0000"/>
                </a:solidFill>
              </a:rPr>
              <a:t>依廠區</a:t>
            </a:r>
            <a:r>
              <a:rPr lang="zh-TW" altLang="en-US" sz="1400" b="1"/>
              <a:t>佈署建置</a:t>
            </a:r>
            <a:endParaRPr lang="en-US" altLang="zh-TW" sz="1400" b="1"/>
          </a:p>
          <a:p>
            <a:r>
              <a:rPr lang="en-US" altLang="zh-TW" sz="1400" b="1"/>
              <a:t>App/</a:t>
            </a:r>
            <a:r>
              <a:rPr lang="zh-TW" altLang="en-US" sz="1400" b="1"/>
              <a:t>平台用途</a:t>
            </a:r>
            <a:r>
              <a:rPr lang="en-US" altLang="zh-TW" sz="1400" b="1"/>
              <a:t>:</a:t>
            </a:r>
          </a:p>
          <a:p>
            <a:r>
              <a:rPr lang="en-US" altLang="zh-TW" sz="1400"/>
              <a:t>1)</a:t>
            </a:r>
            <a:r>
              <a:rPr lang="zh-TW" altLang="en-US" sz="1400"/>
              <a:t> 非即時數據分析</a:t>
            </a:r>
            <a:r>
              <a:rPr lang="en-US" altLang="zh-TW" sz="1400"/>
              <a:t>/</a:t>
            </a:r>
            <a:r>
              <a:rPr lang="zh-TW" altLang="en-US" sz="1400"/>
              <a:t>應用</a:t>
            </a:r>
            <a:endParaRPr lang="en-US" altLang="zh-TW" sz="1400"/>
          </a:p>
          <a:p>
            <a:r>
              <a:rPr lang="en-US" altLang="zh-TW" sz="1400"/>
              <a:t>2) </a:t>
            </a:r>
            <a:r>
              <a:rPr lang="zh-TW" altLang="en-US" sz="1400"/>
              <a:t>績效報表滾算</a:t>
            </a:r>
            <a:r>
              <a:rPr lang="en-US" altLang="zh-TW" sz="1400"/>
              <a:t>/</a:t>
            </a:r>
            <a:r>
              <a:rPr lang="zh-TW" altLang="en-US" sz="1400"/>
              <a:t>呈現</a:t>
            </a:r>
            <a:endParaRPr lang="en-US" altLang="zh-TW" sz="1400"/>
          </a:p>
          <a:p>
            <a:r>
              <a:rPr lang="en-US" altLang="zh-TW" sz="1400"/>
              <a:t>3) xxx</a:t>
            </a:r>
            <a:endParaRPr lang="zh-TW" altLang="en-US" sz="1400"/>
          </a:p>
        </p:txBody>
      </p:sp>
      <p:sp>
        <p:nvSpPr>
          <p:cNvPr id="101" name="文字方塊 100">
            <a:extLst>
              <a:ext uri="{FF2B5EF4-FFF2-40B4-BE49-F238E27FC236}">
                <a16:creationId xmlns:a16="http://schemas.microsoft.com/office/drawing/2014/main" id="{081CFA23-962A-2816-3951-32B20DB361A8}"/>
              </a:ext>
            </a:extLst>
          </p:cNvPr>
          <p:cNvSpPr txBox="1"/>
          <p:nvPr/>
        </p:nvSpPr>
        <p:spPr>
          <a:xfrm>
            <a:off x="7856333" y="4987158"/>
            <a:ext cx="1539204" cy="1169551"/>
          </a:xfrm>
          <a:prstGeom prst="rect">
            <a:avLst/>
          </a:prstGeom>
          <a:noFill/>
        </p:spPr>
        <p:txBody>
          <a:bodyPr wrap="none" rtlCol="0">
            <a:spAutoFit/>
          </a:bodyPr>
          <a:lstStyle/>
          <a:p>
            <a:r>
              <a:rPr lang="zh-TW" altLang="en-US" sz="1400" b="1">
                <a:solidFill>
                  <a:srgbClr val="FF0000"/>
                </a:solidFill>
              </a:rPr>
              <a:t>依線</a:t>
            </a:r>
            <a:r>
              <a:rPr lang="en-US" altLang="zh-TW" sz="1400" b="1">
                <a:solidFill>
                  <a:srgbClr val="FF0000"/>
                </a:solidFill>
              </a:rPr>
              <a:t>/</a:t>
            </a:r>
            <a:r>
              <a:rPr lang="zh-TW" altLang="en-US" sz="1400" b="1">
                <a:solidFill>
                  <a:srgbClr val="FF0000"/>
                </a:solidFill>
              </a:rPr>
              <a:t>廠</a:t>
            </a:r>
            <a:r>
              <a:rPr lang="zh-TW" altLang="en-US" sz="1400" b="1"/>
              <a:t>佈署建置</a:t>
            </a:r>
            <a:endParaRPr lang="en-US" altLang="zh-TW" sz="1400" b="1"/>
          </a:p>
          <a:p>
            <a:r>
              <a:rPr lang="en-US" altLang="zh-TW" sz="1400" b="1"/>
              <a:t>App/</a:t>
            </a:r>
            <a:r>
              <a:rPr lang="zh-TW" altLang="en-US" sz="1400" b="1"/>
              <a:t>平台用途</a:t>
            </a:r>
            <a:r>
              <a:rPr lang="en-US" altLang="zh-TW" sz="1400" b="1"/>
              <a:t>:</a:t>
            </a:r>
          </a:p>
          <a:p>
            <a:r>
              <a:rPr lang="en-US" altLang="zh-TW" sz="1400"/>
              <a:t>1) xxx</a:t>
            </a:r>
          </a:p>
          <a:p>
            <a:r>
              <a:rPr lang="en-US" altLang="zh-TW" sz="1400"/>
              <a:t>2) xxx</a:t>
            </a:r>
          </a:p>
          <a:p>
            <a:r>
              <a:rPr lang="en-US" altLang="zh-TW" sz="1400"/>
              <a:t>3) xxx</a:t>
            </a:r>
            <a:endParaRPr lang="zh-TW" altLang="en-US" sz="1400"/>
          </a:p>
        </p:txBody>
      </p:sp>
      <p:grpSp>
        <p:nvGrpSpPr>
          <p:cNvPr id="190" name="群組 189">
            <a:extLst>
              <a:ext uri="{FF2B5EF4-FFF2-40B4-BE49-F238E27FC236}">
                <a16:creationId xmlns:a16="http://schemas.microsoft.com/office/drawing/2014/main" id="{FDC7B0E1-2611-FF25-0019-94F498FABF93}"/>
              </a:ext>
            </a:extLst>
          </p:cNvPr>
          <p:cNvGrpSpPr/>
          <p:nvPr/>
        </p:nvGrpSpPr>
        <p:grpSpPr>
          <a:xfrm>
            <a:off x="1562053" y="5237806"/>
            <a:ext cx="2946544" cy="768117"/>
            <a:chOff x="1571480" y="5237806"/>
            <a:chExt cx="2946544" cy="768117"/>
          </a:xfrm>
        </p:grpSpPr>
        <p:sp>
          <p:nvSpPr>
            <p:cNvPr id="26" name="矩形: 圓角 25">
              <a:extLst>
                <a:ext uri="{FF2B5EF4-FFF2-40B4-BE49-F238E27FC236}">
                  <a16:creationId xmlns:a16="http://schemas.microsoft.com/office/drawing/2014/main" id="{7A83126E-8704-4982-2FB3-F7470ACA5924}"/>
                </a:ext>
              </a:extLst>
            </p:cNvPr>
            <p:cNvSpPr/>
            <p:nvPr/>
          </p:nvSpPr>
          <p:spPr>
            <a:xfrm>
              <a:off x="2835268" y="5237807"/>
              <a:ext cx="1682756" cy="76811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zh-TW" sz="1400" b="1">
                <a:solidFill>
                  <a:schemeClr val="bg1">
                    <a:lumMod val="95000"/>
                  </a:schemeClr>
                </a:solidFill>
                <a:latin typeface="+mj-ea"/>
                <a:ea typeface="+mj-ea"/>
              </a:endParaRPr>
            </a:p>
          </p:txBody>
        </p:sp>
        <p:sp>
          <p:nvSpPr>
            <p:cNvPr id="27" name="文字方塊 26">
              <a:extLst>
                <a:ext uri="{FF2B5EF4-FFF2-40B4-BE49-F238E27FC236}">
                  <a16:creationId xmlns:a16="http://schemas.microsoft.com/office/drawing/2014/main" id="{82F041FA-D303-1D07-66AE-309A74CEB755}"/>
                </a:ext>
              </a:extLst>
            </p:cNvPr>
            <p:cNvSpPr txBox="1"/>
            <p:nvPr/>
          </p:nvSpPr>
          <p:spPr>
            <a:xfrm>
              <a:off x="2726788" y="5237807"/>
              <a:ext cx="417103" cy="768116"/>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a:defRPr sz="1400" b="1">
                  <a:solidFill>
                    <a:schemeClr val="bg1">
                      <a:lumMod val="95000"/>
                    </a:schemeClr>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TW"/>
            </a:p>
          </p:txBody>
        </p:sp>
        <p:sp>
          <p:nvSpPr>
            <p:cNvPr id="28" name="矩形: 圓角 27">
              <a:extLst>
                <a:ext uri="{FF2B5EF4-FFF2-40B4-BE49-F238E27FC236}">
                  <a16:creationId xmlns:a16="http://schemas.microsoft.com/office/drawing/2014/main" id="{BBBF459F-3F26-181E-A4B7-DEBCA233FF5D}"/>
                </a:ext>
              </a:extLst>
            </p:cNvPr>
            <p:cNvSpPr/>
            <p:nvPr/>
          </p:nvSpPr>
          <p:spPr>
            <a:xfrm>
              <a:off x="1571480" y="5237806"/>
              <a:ext cx="1319071" cy="768116"/>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zh-TW" sz="1400" b="1">
                  <a:solidFill>
                    <a:schemeClr val="bg1">
                      <a:lumMod val="95000"/>
                    </a:schemeClr>
                  </a:solidFill>
                  <a:latin typeface="+mj-ea"/>
                  <a:ea typeface="+mj-ea"/>
                </a:rPr>
                <a:t>Factory EAP</a:t>
              </a:r>
            </a:p>
          </p:txBody>
        </p:sp>
        <p:sp>
          <p:nvSpPr>
            <p:cNvPr id="30" name="文字方塊 29">
              <a:extLst>
                <a:ext uri="{FF2B5EF4-FFF2-40B4-BE49-F238E27FC236}">
                  <a16:creationId xmlns:a16="http://schemas.microsoft.com/office/drawing/2014/main" id="{7C0FFE2F-AECC-CE3C-536B-41D4ABAA43D4}"/>
                </a:ext>
              </a:extLst>
            </p:cNvPr>
            <p:cNvSpPr txBox="1"/>
            <p:nvPr/>
          </p:nvSpPr>
          <p:spPr>
            <a:xfrm>
              <a:off x="1701483" y="5244548"/>
              <a:ext cx="1395997" cy="75678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a:defRPr sz="1400" b="1">
                  <a:solidFill>
                    <a:schemeClr val="bg1">
                      <a:lumMod val="95000"/>
                    </a:schemeClr>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TW"/>
                <a:t>Line manager</a:t>
              </a:r>
            </a:p>
          </p:txBody>
        </p:sp>
        <p:pic>
          <p:nvPicPr>
            <p:cNvPr id="110" name="圖片 109">
              <a:extLst>
                <a:ext uri="{FF2B5EF4-FFF2-40B4-BE49-F238E27FC236}">
                  <a16:creationId xmlns:a16="http://schemas.microsoft.com/office/drawing/2014/main" id="{62BE0B0E-0A5D-9783-E7BC-3014EDE47284}"/>
                </a:ext>
              </a:extLst>
            </p:cNvPr>
            <p:cNvPicPr>
              <a:picLocks noChangeAspect="1"/>
            </p:cNvPicPr>
            <p:nvPr/>
          </p:nvPicPr>
          <p:blipFill>
            <a:blip r:embed="rId4">
              <a:clrChange>
                <a:clrFrom>
                  <a:srgbClr val="F4F4F6"/>
                </a:clrFrom>
                <a:clrTo>
                  <a:srgbClr val="F4F4F6">
                    <a:alpha val="0"/>
                  </a:srgbClr>
                </a:clrTo>
              </a:clrChange>
              <a:biLevel thresh="75000"/>
            </a:blip>
            <a:stretch>
              <a:fillRect/>
            </a:stretch>
          </p:blipFill>
          <p:spPr>
            <a:xfrm>
              <a:off x="2324833" y="5677862"/>
              <a:ext cx="288663" cy="288663"/>
            </a:xfrm>
            <a:prstGeom prst="rect">
              <a:avLst/>
            </a:prstGeom>
            <a:ln>
              <a:noFill/>
            </a:ln>
          </p:spPr>
        </p:pic>
        <p:sp>
          <p:nvSpPr>
            <p:cNvPr id="111" name="矩形: 圓角 110">
              <a:extLst>
                <a:ext uri="{FF2B5EF4-FFF2-40B4-BE49-F238E27FC236}">
                  <a16:creationId xmlns:a16="http://schemas.microsoft.com/office/drawing/2014/main" id="{0A87B537-345E-42BA-BD15-7DCAC1701AD4}"/>
                </a:ext>
              </a:extLst>
            </p:cNvPr>
            <p:cNvSpPr/>
            <p:nvPr/>
          </p:nvSpPr>
          <p:spPr>
            <a:xfrm>
              <a:off x="1773778" y="5553344"/>
              <a:ext cx="1314446" cy="430886"/>
            </a:xfrm>
            <a:prstGeom prst="roundRect">
              <a:avLst>
                <a:gd name="adj" fmla="val 917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00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0" normalizeH="0" baseline="0" noProof="0">
                  <a:ln>
                    <a:noFill/>
                  </a:ln>
                  <a:solidFill>
                    <a:prstClr val="black"/>
                  </a:solidFill>
                  <a:effectLst/>
                  <a:uLnTx/>
                  <a:uFillTx/>
                  <a:latin typeface="Arial"/>
                  <a:ea typeface="微軟正黑體"/>
                  <a:cs typeface="+mn-cs"/>
                </a:rPr>
                <a:t>邊緣存儲</a:t>
              </a:r>
              <a:endParaRPr kumimoji="0" lang="en-US" altLang="zh-TW" sz="1000" b="0" i="0" u="none" strike="noStrike" kern="1200" cap="none" spc="0" normalizeH="0" baseline="0" noProof="0">
                <a:ln>
                  <a:noFill/>
                </a:ln>
                <a:solidFill>
                  <a:prstClr val="black"/>
                </a:solidFill>
                <a:effectLst/>
                <a:uLnTx/>
                <a:uFillTx/>
                <a:latin typeface="Arial"/>
                <a:ea typeface="微軟正黑體"/>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0" normalizeH="0" baseline="0" noProof="0">
                  <a:ln>
                    <a:noFill/>
                  </a:ln>
                  <a:solidFill>
                    <a:prstClr val="black"/>
                  </a:solidFill>
                  <a:effectLst/>
                  <a:uLnTx/>
                  <a:uFillTx/>
                  <a:latin typeface="Arial"/>
                  <a:ea typeface="微軟正黑體"/>
                  <a:cs typeface="+mn-cs"/>
                </a:rPr>
                <a:t>模組</a:t>
              </a:r>
            </a:p>
          </p:txBody>
        </p:sp>
        <p:pic>
          <p:nvPicPr>
            <p:cNvPr id="113" name="Picture 8" descr="document in folder icon illustration 素材庫向量圖| Adobe Stock">
              <a:extLst>
                <a:ext uri="{FF2B5EF4-FFF2-40B4-BE49-F238E27FC236}">
                  <a16:creationId xmlns:a16="http://schemas.microsoft.com/office/drawing/2014/main" id="{70A4BF02-9CE9-352A-01FF-E11E07ED29C5}"/>
                </a:ext>
              </a:extLst>
            </p:cNvPr>
            <p:cNvPicPr>
              <a:picLocks noChangeAspect="1" noChangeArrowheads="1"/>
            </p:cNvPicPr>
            <p:nvPr/>
          </p:nvPicPr>
          <p:blipFill rotWithShape="1">
            <a:blip r:embed="rId5">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6420" t="20128" r="15333" b="20182"/>
            <a:stretch/>
          </p:blipFill>
          <p:spPr bwMode="auto">
            <a:xfrm>
              <a:off x="2603008" y="5660157"/>
              <a:ext cx="307030" cy="268535"/>
            </a:xfrm>
            <a:prstGeom prst="rect">
              <a:avLst/>
            </a:prstGeom>
            <a:noFill/>
            <a:extLst>
              <a:ext uri="{909E8E84-426E-40DD-AFC4-6F175D3DCCD1}">
                <a14:hiddenFill xmlns:a14="http://schemas.microsoft.com/office/drawing/2010/main">
                  <a:solidFill>
                    <a:srgbClr val="FFFFFF"/>
                  </a:solidFill>
                </a14:hiddenFill>
              </a:ext>
            </a:extLst>
          </p:spPr>
        </p:pic>
      </p:grpSp>
      <p:sp>
        <p:nvSpPr>
          <p:cNvPr id="119" name="文字方塊 118">
            <a:extLst>
              <a:ext uri="{FF2B5EF4-FFF2-40B4-BE49-F238E27FC236}">
                <a16:creationId xmlns:a16="http://schemas.microsoft.com/office/drawing/2014/main" id="{6AB5AB34-6BB3-57B1-83CB-EF0FA6E4332F}"/>
              </a:ext>
            </a:extLst>
          </p:cNvPr>
          <p:cNvSpPr txBox="1"/>
          <p:nvPr/>
        </p:nvSpPr>
        <p:spPr>
          <a:xfrm>
            <a:off x="7764205" y="647142"/>
            <a:ext cx="2058577" cy="1169551"/>
          </a:xfrm>
          <a:prstGeom prst="rect">
            <a:avLst/>
          </a:prstGeom>
          <a:noFill/>
        </p:spPr>
        <p:txBody>
          <a:bodyPr wrap="none" rtlCol="0">
            <a:spAutoFit/>
          </a:bodyPr>
          <a:lstStyle/>
          <a:p>
            <a:r>
              <a:rPr lang="zh-TW" altLang="en-US" sz="1400" b="1"/>
              <a:t>由總部決議佈署建置</a:t>
            </a:r>
            <a:endParaRPr lang="en-US" altLang="zh-TW" sz="1400" b="1"/>
          </a:p>
          <a:p>
            <a:r>
              <a:rPr lang="en-US" altLang="zh-TW" sz="1400" b="1"/>
              <a:t>App/</a:t>
            </a:r>
            <a:r>
              <a:rPr lang="zh-TW" altLang="en-US" sz="1400" b="1"/>
              <a:t>平台用途</a:t>
            </a:r>
            <a:r>
              <a:rPr lang="en-US" altLang="zh-TW" sz="1400" b="1"/>
              <a:t>:</a:t>
            </a:r>
          </a:p>
          <a:p>
            <a:r>
              <a:rPr lang="en-US" altLang="zh-TW" sz="1400"/>
              <a:t>1) </a:t>
            </a:r>
            <a:r>
              <a:rPr lang="zh-TW" altLang="en-US" sz="1400"/>
              <a:t>非即時數據分析</a:t>
            </a:r>
            <a:r>
              <a:rPr lang="en-US" altLang="zh-TW" sz="1400"/>
              <a:t>/</a:t>
            </a:r>
            <a:r>
              <a:rPr lang="zh-TW" altLang="en-US" sz="1400"/>
              <a:t>應用</a:t>
            </a:r>
            <a:endParaRPr lang="en-US" altLang="zh-TW" sz="1400"/>
          </a:p>
          <a:p>
            <a:r>
              <a:rPr lang="en-US" altLang="zh-TW" sz="1400"/>
              <a:t>2) AI</a:t>
            </a:r>
            <a:r>
              <a:rPr lang="zh-TW" altLang="en-US" sz="1400"/>
              <a:t>模型訓練</a:t>
            </a:r>
            <a:endParaRPr lang="en-US" altLang="zh-TW" sz="1400"/>
          </a:p>
          <a:p>
            <a:r>
              <a:rPr lang="en-US" altLang="zh-TW" sz="1400"/>
              <a:t>3) </a:t>
            </a:r>
            <a:r>
              <a:rPr lang="zh-TW" altLang="en-US" sz="1400"/>
              <a:t>績效報表滾算</a:t>
            </a:r>
            <a:r>
              <a:rPr lang="en-US" altLang="zh-TW" sz="1400"/>
              <a:t>/</a:t>
            </a:r>
            <a:r>
              <a:rPr lang="zh-TW" altLang="en-US" sz="1400"/>
              <a:t>呈現</a:t>
            </a:r>
          </a:p>
        </p:txBody>
      </p:sp>
      <p:grpSp>
        <p:nvGrpSpPr>
          <p:cNvPr id="123" name="群組 122">
            <a:extLst>
              <a:ext uri="{FF2B5EF4-FFF2-40B4-BE49-F238E27FC236}">
                <a16:creationId xmlns:a16="http://schemas.microsoft.com/office/drawing/2014/main" id="{4074C59D-36B4-53F3-2D0B-6778D9424F8E}"/>
              </a:ext>
            </a:extLst>
          </p:cNvPr>
          <p:cNvGrpSpPr/>
          <p:nvPr/>
        </p:nvGrpSpPr>
        <p:grpSpPr>
          <a:xfrm>
            <a:off x="9719480" y="710679"/>
            <a:ext cx="2059260" cy="1008341"/>
            <a:chOff x="6682949" y="910751"/>
            <a:chExt cx="2059260" cy="1008341"/>
          </a:xfrm>
          <a:solidFill>
            <a:schemeClr val="accent5">
              <a:lumMod val="40000"/>
              <a:lumOff val="60000"/>
            </a:schemeClr>
          </a:solidFill>
        </p:grpSpPr>
        <p:sp>
          <p:nvSpPr>
            <p:cNvPr id="124" name="矩形: 圓角 123">
              <a:extLst>
                <a:ext uri="{FF2B5EF4-FFF2-40B4-BE49-F238E27FC236}">
                  <a16:creationId xmlns:a16="http://schemas.microsoft.com/office/drawing/2014/main" id="{14A6C981-4006-5161-5BF1-6EB724411C77}"/>
                </a:ext>
              </a:extLst>
            </p:cNvPr>
            <p:cNvSpPr/>
            <p:nvPr/>
          </p:nvSpPr>
          <p:spPr>
            <a:xfrm>
              <a:off x="6682949" y="915911"/>
              <a:ext cx="826520" cy="489754"/>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18000" tIns="0" rIns="0" bIns="0" rtlCol="0" anchor="ctr"/>
            <a:lstStyle/>
            <a:p>
              <a:r>
                <a:rPr lang="en-US" altLang="zh-TW" sz="1200" b="1">
                  <a:solidFill>
                    <a:schemeClr val="tx1"/>
                  </a:solidFill>
                  <a:latin typeface="+mj-ea"/>
                  <a:ea typeface="+mj-ea"/>
                </a:rPr>
                <a:t>ML&amp;AI Platform</a:t>
              </a:r>
              <a:endParaRPr lang="zh-TW" altLang="en-US" sz="1200" b="1">
                <a:solidFill>
                  <a:schemeClr val="tx1"/>
                </a:solidFill>
                <a:latin typeface="+mj-ea"/>
                <a:ea typeface="+mj-ea"/>
              </a:endParaRPr>
            </a:p>
          </p:txBody>
        </p:sp>
        <p:sp>
          <p:nvSpPr>
            <p:cNvPr id="125" name="矩形: 圓角 124">
              <a:extLst>
                <a:ext uri="{FF2B5EF4-FFF2-40B4-BE49-F238E27FC236}">
                  <a16:creationId xmlns:a16="http://schemas.microsoft.com/office/drawing/2014/main" id="{E7E608D8-F6F1-9A12-ECBA-CF28A05895CA}"/>
                </a:ext>
              </a:extLst>
            </p:cNvPr>
            <p:cNvSpPr/>
            <p:nvPr/>
          </p:nvSpPr>
          <p:spPr>
            <a:xfrm>
              <a:off x="6682949" y="1399480"/>
              <a:ext cx="2059260" cy="51961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18000" tIns="0" rIns="0" bIns="0" rtlCol="0" anchor="ctr"/>
            <a:lstStyle/>
            <a:p>
              <a:r>
                <a:rPr lang="en-US" altLang="zh-TW" sz="1200" b="1">
                  <a:solidFill>
                    <a:schemeClr val="tx1"/>
                  </a:solidFill>
                  <a:latin typeface="+mj-ea"/>
                  <a:ea typeface="+mj-ea"/>
                </a:rPr>
                <a:t>AOT-AIP</a:t>
              </a:r>
            </a:p>
            <a:p>
              <a:r>
                <a:rPr lang="en-US" altLang="zh-TW" sz="1200" b="1">
                  <a:solidFill>
                    <a:schemeClr val="tx1"/>
                  </a:solidFill>
                  <a:latin typeface="+mj-ea"/>
                  <a:ea typeface="+mj-ea"/>
                </a:rPr>
                <a:t>Data Insight Platform</a:t>
              </a:r>
              <a:endParaRPr lang="zh-TW" altLang="en-US" sz="1200" b="1">
                <a:solidFill>
                  <a:schemeClr val="tx1"/>
                </a:solidFill>
                <a:latin typeface="+mj-ea"/>
                <a:ea typeface="+mj-ea"/>
              </a:endParaRPr>
            </a:p>
          </p:txBody>
        </p:sp>
        <p:sp>
          <p:nvSpPr>
            <p:cNvPr id="127" name="矩形: 圓角 126">
              <a:extLst>
                <a:ext uri="{FF2B5EF4-FFF2-40B4-BE49-F238E27FC236}">
                  <a16:creationId xmlns:a16="http://schemas.microsoft.com/office/drawing/2014/main" id="{1878EECB-117A-81C7-B076-4280DD2195DA}"/>
                </a:ext>
              </a:extLst>
            </p:cNvPr>
            <p:cNvSpPr/>
            <p:nvPr/>
          </p:nvSpPr>
          <p:spPr>
            <a:xfrm>
              <a:off x="7514877" y="910751"/>
              <a:ext cx="1227331" cy="488729"/>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lIns="18000" tIns="0" rIns="0" bIns="0" rtlCol="0" anchor="ctr"/>
            <a:lstStyle/>
            <a:p>
              <a:r>
                <a:rPr lang="en-US" altLang="zh-TW" sz="1200" b="1">
                  <a:solidFill>
                    <a:schemeClr val="tx1"/>
                  </a:solidFill>
                  <a:latin typeface="+mj-ea"/>
                  <a:ea typeface="+mj-ea"/>
                </a:rPr>
                <a:t>Train Platform MLOPs service</a:t>
              </a:r>
              <a:endParaRPr lang="zh-TW" altLang="en-US" sz="1200" b="1">
                <a:solidFill>
                  <a:schemeClr val="tx1"/>
                </a:solidFill>
                <a:latin typeface="+mj-ea"/>
                <a:ea typeface="+mj-ea"/>
              </a:endParaRPr>
            </a:p>
          </p:txBody>
        </p:sp>
      </p:grpSp>
      <p:sp>
        <p:nvSpPr>
          <p:cNvPr id="134" name="左大括弧 133">
            <a:extLst>
              <a:ext uri="{FF2B5EF4-FFF2-40B4-BE49-F238E27FC236}">
                <a16:creationId xmlns:a16="http://schemas.microsoft.com/office/drawing/2014/main" id="{CEA317D6-255F-A825-1961-374D7EF99AF4}"/>
              </a:ext>
            </a:extLst>
          </p:cNvPr>
          <p:cNvSpPr/>
          <p:nvPr/>
        </p:nvSpPr>
        <p:spPr>
          <a:xfrm>
            <a:off x="7654951" y="762910"/>
            <a:ext cx="173995" cy="937075"/>
          </a:xfrm>
          <a:prstGeom prst="leftBrace">
            <a:avLst>
              <a:gd name="adj1" fmla="val 15115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39" name="左大括弧 138">
            <a:extLst>
              <a:ext uri="{FF2B5EF4-FFF2-40B4-BE49-F238E27FC236}">
                <a16:creationId xmlns:a16="http://schemas.microsoft.com/office/drawing/2014/main" id="{3892110B-CAA8-211C-4345-2485E6A84D23}"/>
              </a:ext>
            </a:extLst>
          </p:cNvPr>
          <p:cNvSpPr/>
          <p:nvPr/>
        </p:nvSpPr>
        <p:spPr>
          <a:xfrm>
            <a:off x="7638778" y="2223118"/>
            <a:ext cx="197329" cy="931602"/>
          </a:xfrm>
          <a:prstGeom prst="leftBrace">
            <a:avLst>
              <a:gd name="adj1" fmla="val 15115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41" name="左大括弧 140">
            <a:extLst>
              <a:ext uri="{FF2B5EF4-FFF2-40B4-BE49-F238E27FC236}">
                <a16:creationId xmlns:a16="http://schemas.microsoft.com/office/drawing/2014/main" id="{67E7747A-12C5-4C90-764C-83B1678BC17A}"/>
              </a:ext>
            </a:extLst>
          </p:cNvPr>
          <p:cNvSpPr/>
          <p:nvPr/>
        </p:nvSpPr>
        <p:spPr>
          <a:xfrm>
            <a:off x="7669126" y="3615339"/>
            <a:ext cx="222410" cy="993844"/>
          </a:xfrm>
          <a:prstGeom prst="leftBrace">
            <a:avLst>
              <a:gd name="adj1" fmla="val 15115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43" name="左大括弧 142">
            <a:extLst>
              <a:ext uri="{FF2B5EF4-FFF2-40B4-BE49-F238E27FC236}">
                <a16:creationId xmlns:a16="http://schemas.microsoft.com/office/drawing/2014/main" id="{1C56B324-306C-82A0-43BF-451832FC3069}"/>
              </a:ext>
            </a:extLst>
          </p:cNvPr>
          <p:cNvSpPr/>
          <p:nvPr/>
        </p:nvSpPr>
        <p:spPr>
          <a:xfrm>
            <a:off x="7746644" y="5137706"/>
            <a:ext cx="171577" cy="922094"/>
          </a:xfrm>
          <a:prstGeom prst="leftBrace">
            <a:avLst>
              <a:gd name="adj1" fmla="val 15115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65" name="矩形: 圓角 164">
            <a:extLst>
              <a:ext uri="{FF2B5EF4-FFF2-40B4-BE49-F238E27FC236}">
                <a16:creationId xmlns:a16="http://schemas.microsoft.com/office/drawing/2014/main" id="{41DC3CAC-9960-2AC1-335D-DEDE93BB6316}"/>
              </a:ext>
            </a:extLst>
          </p:cNvPr>
          <p:cNvSpPr/>
          <p:nvPr/>
        </p:nvSpPr>
        <p:spPr>
          <a:xfrm>
            <a:off x="9694043" y="2081750"/>
            <a:ext cx="902811" cy="517303"/>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400" b="1">
                <a:solidFill>
                  <a:schemeClr val="tx1"/>
                </a:solidFill>
                <a:latin typeface="+mj-ea"/>
                <a:ea typeface="+mj-ea"/>
              </a:rPr>
              <a:t>Holmes</a:t>
            </a:r>
            <a:endParaRPr lang="zh-TW" altLang="en-US" sz="800">
              <a:solidFill>
                <a:schemeClr val="tx1"/>
              </a:solidFill>
              <a:latin typeface="+mj-ea"/>
              <a:ea typeface="+mj-ea"/>
            </a:endParaRPr>
          </a:p>
        </p:txBody>
      </p:sp>
      <p:sp>
        <p:nvSpPr>
          <p:cNvPr id="166" name="矩形: 圓角 165">
            <a:extLst>
              <a:ext uri="{FF2B5EF4-FFF2-40B4-BE49-F238E27FC236}">
                <a16:creationId xmlns:a16="http://schemas.microsoft.com/office/drawing/2014/main" id="{B356468E-4CFA-5C8C-E2A7-7A42B6C7E735}"/>
              </a:ext>
            </a:extLst>
          </p:cNvPr>
          <p:cNvSpPr/>
          <p:nvPr/>
        </p:nvSpPr>
        <p:spPr>
          <a:xfrm>
            <a:off x="10667239" y="2082875"/>
            <a:ext cx="902810" cy="510007"/>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400" b="1">
                <a:solidFill>
                  <a:schemeClr val="tx1"/>
                </a:solidFill>
                <a:latin typeface="+mj-ea"/>
                <a:ea typeface="+mj-ea"/>
              </a:rPr>
              <a:t>數據分析平台</a:t>
            </a:r>
            <a:endParaRPr lang="zh-TW" altLang="en-US" sz="800">
              <a:solidFill>
                <a:schemeClr val="tx1"/>
              </a:solidFill>
              <a:latin typeface="+mj-ea"/>
              <a:ea typeface="+mj-ea"/>
            </a:endParaRPr>
          </a:p>
        </p:txBody>
      </p:sp>
      <p:sp>
        <p:nvSpPr>
          <p:cNvPr id="167" name="矩形: 圓角 166">
            <a:extLst>
              <a:ext uri="{FF2B5EF4-FFF2-40B4-BE49-F238E27FC236}">
                <a16:creationId xmlns:a16="http://schemas.microsoft.com/office/drawing/2014/main" id="{5AF0A73A-7364-D4A0-4D49-AA2497D9BC93}"/>
              </a:ext>
            </a:extLst>
          </p:cNvPr>
          <p:cNvSpPr/>
          <p:nvPr/>
        </p:nvSpPr>
        <p:spPr>
          <a:xfrm>
            <a:off x="9706553" y="2763439"/>
            <a:ext cx="810602" cy="334438"/>
          </a:xfrm>
          <a:prstGeom prst="roundRect">
            <a:avLst>
              <a:gd name="adj" fmla="val 25761"/>
            </a:avLst>
          </a:prstGeom>
          <a:solidFill>
            <a:srgbClr val="51B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200" b="1">
                <a:solidFill>
                  <a:schemeClr val="tx1"/>
                </a:solidFill>
                <a:latin typeface="+mj-ea"/>
                <a:ea typeface="+mj-ea"/>
              </a:rPr>
              <a:t>DFOC</a:t>
            </a:r>
            <a:endParaRPr lang="zh-TW" altLang="en-US" sz="1200" b="1">
              <a:solidFill>
                <a:schemeClr val="tx1"/>
              </a:solidFill>
              <a:latin typeface="+mj-ea"/>
              <a:ea typeface="+mj-ea"/>
            </a:endParaRPr>
          </a:p>
        </p:txBody>
      </p:sp>
      <p:sp>
        <p:nvSpPr>
          <p:cNvPr id="168" name="矩形: 圓角 167">
            <a:extLst>
              <a:ext uri="{FF2B5EF4-FFF2-40B4-BE49-F238E27FC236}">
                <a16:creationId xmlns:a16="http://schemas.microsoft.com/office/drawing/2014/main" id="{E48BB2A5-1E51-70B8-E06E-DEEE82757668}"/>
              </a:ext>
            </a:extLst>
          </p:cNvPr>
          <p:cNvSpPr/>
          <p:nvPr/>
        </p:nvSpPr>
        <p:spPr>
          <a:xfrm>
            <a:off x="9706553" y="3503694"/>
            <a:ext cx="1076097" cy="540000"/>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400" b="1">
                <a:solidFill>
                  <a:schemeClr val="tx1"/>
                </a:solidFill>
                <a:latin typeface="+mj-ea"/>
                <a:ea typeface="+mj-ea"/>
              </a:rPr>
              <a:t>廠區其他</a:t>
            </a:r>
            <a:endParaRPr lang="en-US" altLang="zh-TW" sz="1400" b="1">
              <a:solidFill>
                <a:schemeClr val="tx1"/>
              </a:solidFill>
              <a:latin typeface="+mj-ea"/>
              <a:ea typeface="+mj-ea"/>
            </a:endParaRPr>
          </a:p>
          <a:p>
            <a:r>
              <a:rPr lang="zh-TW" altLang="en-US" sz="1400" b="1">
                <a:solidFill>
                  <a:schemeClr val="tx1"/>
                </a:solidFill>
                <a:latin typeface="+mj-ea"/>
                <a:ea typeface="+mj-ea"/>
              </a:rPr>
              <a:t>應用</a:t>
            </a:r>
          </a:p>
        </p:txBody>
      </p:sp>
      <p:cxnSp>
        <p:nvCxnSpPr>
          <p:cNvPr id="178" name="直線單箭頭接點 177">
            <a:extLst>
              <a:ext uri="{FF2B5EF4-FFF2-40B4-BE49-F238E27FC236}">
                <a16:creationId xmlns:a16="http://schemas.microsoft.com/office/drawing/2014/main" id="{753DC884-179B-00FB-3CBE-5A966F126543}"/>
              </a:ext>
            </a:extLst>
          </p:cNvPr>
          <p:cNvCxnSpPr>
            <a:cxnSpLocks/>
          </p:cNvCxnSpPr>
          <p:nvPr/>
        </p:nvCxnSpPr>
        <p:spPr>
          <a:xfrm flipV="1">
            <a:off x="1950687" y="6043339"/>
            <a:ext cx="0" cy="416141"/>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86" name="文字方塊 185">
            <a:extLst>
              <a:ext uri="{FF2B5EF4-FFF2-40B4-BE49-F238E27FC236}">
                <a16:creationId xmlns:a16="http://schemas.microsoft.com/office/drawing/2014/main" id="{CC6E2981-3638-1B2B-9725-D7AE96378E79}"/>
              </a:ext>
            </a:extLst>
          </p:cNvPr>
          <p:cNvSpPr txBox="1"/>
          <p:nvPr/>
        </p:nvSpPr>
        <p:spPr>
          <a:xfrm>
            <a:off x="3113823" y="6154124"/>
            <a:ext cx="1340432" cy="276999"/>
          </a:xfrm>
          <a:prstGeom prst="rect">
            <a:avLst/>
          </a:prstGeom>
          <a:noFill/>
        </p:spPr>
        <p:txBody>
          <a:bodyPr wrap="none" rtlCol="0">
            <a:spAutoFit/>
          </a:bodyPr>
          <a:lstStyle/>
          <a:p>
            <a:r>
              <a:rPr lang="en-US" altLang="zh-TW" sz="1200" b="1">
                <a:solidFill>
                  <a:srgbClr val="FF0000"/>
                </a:solidFill>
                <a:latin typeface="+mj-ea"/>
                <a:ea typeface="+mj-ea"/>
              </a:rPr>
              <a:t>LM</a:t>
            </a:r>
            <a:r>
              <a:rPr lang="zh-TW" altLang="en-US" sz="1200" b="1">
                <a:solidFill>
                  <a:srgbClr val="FF0000"/>
                </a:solidFill>
                <a:latin typeface="+mj-ea"/>
                <a:ea typeface="+mj-ea"/>
              </a:rPr>
              <a:t>邊際運算模組</a:t>
            </a:r>
            <a:endParaRPr lang="en-US" altLang="zh-TW" sz="1200" b="1">
              <a:solidFill>
                <a:srgbClr val="FF0000"/>
              </a:solidFill>
              <a:latin typeface="+mj-ea"/>
              <a:ea typeface="+mj-ea"/>
            </a:endParaRPr>
          </a:p>
        </p:txBody>
      </p:sp>
      <p:sp>
        <p:nvSpPr>
          <p:cNvPr id="22" name="矩形: 圓角 21">
            <a:extLst>
              <a:ext uri="{FF2B5EF4-FFF2-40B4-BE49-F238E27FC236}">
                <a16:creationId xmlns:a16="http://schemas.microsoft.com/office/drawing/2014/main" id="{5C1E065F-DD23-7939-E1EE-FD3F6DC8BD73}"/>
              </a:ext>
            </a:extLst>
          </p:cNvPr>
          <p:cNvSpPr/>
          <p:nvPr/>
        </p:nvSpPr>
        <p:spPr>
          <a:xfrm>
            <a:off x="2916670" y="3785124"/>
            <a:ext cx="1606075" cy="76811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zh-TW" sz="1400" b="1">
              <a:solidFill>
                <a:schemeClr val="bg1">
                  <a:lumMod val="95000"/>
                </a:schemeClr>
              </a:solidFill>
              <a:latin typeface="+mj-ea"/>
              <a:ea typeface="+mj-ea"/>
            </a:endParaRPr>
          </a:p>
        </p:txBody>
      </p:sp>
      <p:sp>
        <p:nvSpPr>
          <p:cNvPr id="19" name="文字方塊 18">
            <a:extLst>
              <a:ext uri="{FF2B5EF4-FFF2-40B4-BE49-F238E27FC236}">
                <a16:creationId xmlns:a16="http://schemas.microsoft.com/office/drawing/2014/main" id="{1D0E46BE-819C-D9E6-940E-69C1A75CD2B4}"/>
              </a:ext>
            </a:extLst>
          </p:cNvPr>
          <p:cNvSpPr txBox="1"/>
          <p:nvPr/>
        </p:nvSpPr>
        <p:spPr>
          <a:xfrm>
            <a:off x="2801060" y="3785124"/>
            <a:ext cx="339145" cy="768116"/>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a:defRPr sz="1400" b="1">
                <a:solidFill>
                  <a:schemeClr val="bg1">
                    <a:lumMod val="95000"/>
                  </a:schemeClr>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TW"/>
          </a:p>
        </p:txBody>
      </p:sp>
      <p:sp>
        <p:nvSpPr>
          <p:cNvPr id="40" name="矩形: 圓角 39">
            <a:extLst>
              <a:ext uri="{FF2B5EF4-FFF2-40B4-BE49-F238E27FC236}">
                <a16:creationId xmlns:a16="http://schemas.microsoft.com/office/drawing/2014/main" id="{B690FAFB-EB30-9B0F-22E3-D19F1235B097}"/>
              </a:ext>
            </a:extLst>
          </p:cNvPr>
          <p:cNvSpPr/>
          <p:nvPr/>
        </p:nvSpPr>
        <p:spPr>
          <a:xfrm>
            <a:off x="1569812" y="3785123"/>
            <a:ext cx="1405775" cy="768116"/>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zh-TW" sz="1400" b="1">
                <a:solidFill>
                  <a:schemeClr val="bg1">
                    <a:lumMod val="95000"/>
                  </a:schemeClr>
                </a:solidFill>
                <a:latin typeface="+mj-ea"/>
                <a:ea typeface="+mj-ea"/>
              </a:rPr>
              <a:t>Factory EAP</a:t>
            </a:r>
          </a:p>
        </p:txBody>
      </p:sp>
      <p:sp>
        <p:nvSpPr>
          <p:cNvPr id="15" name="文字方塊 14">
            <a:extLst>
              <a:ext uri="{FF2B5EF4-FFF2-40B4-BE49-F238E27FC236}">
                <a16:creationId xmlns:a16="http://schemas.microsoft.com/office/drawing/2014/main" id="{1A9ED48C-5638-1FC9-D371-009B4A7649FD}"/>
              </a:ext>
            </a:extLst>
          </p:cNvPr>
          <p:cNvSpPr txBox="1"/>
          <p:nvPr/>
        </p:nvSpPr>
        <p:spPr>
          <a:xfrm>
            <a:off x="2828614" y="3793203"/>
            <a:ext cx="293556" cy="754667"/>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a:defRPr sz="1400" b="1">
                <a:solidFill>
                  <a:schemeClr val="bg1">
                    <a:lumMod val="95000"/>
                  </a:schemeClr>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TW"/>
          </a:p>
        </p:txBody>
      </p:sp>
      <p:pic>
        <p:nvPicPr>
          <p:cNvPr id="103" name="圖片 102">
            <a:extLst>
              <a:ext uri="{FF2B5EF4-FFF2-40B4-BE49-F238E27FC236}">
                <a16:creationId xmlns:a16="http://schemas.microsoft.com/office/drawing/2014/main" id="{4741FB1D-BB69-91C5-4AAD-D8B7EEAE7157}"/>
              </a:ext>
            </a:extLst>
          </p:cNvPr>
          <p:cNvPicPr>
            <a:picLocks noChangeAspect="1"/>
          </p:cNvPicPr>
          <p:nvPr/>
        </p:nvPicPr>
        <p:blipFill>
          <a:blip r:embed="rId4">
            <a:clrChange>
              <a:clrFrom>
                <a:srgbClr val="F4F4F6"/>
              </a:clrFrom>
              <a:clrTo>
                <a:srgbClr val="F4F4F6">
                  <a:alpha val="0"/>
                </a:srgbClr>
              </a:clrTo>
            </a:clrChange>
            <a:biLevel thresh="75000"/>
          </a:blip>
          <a:stretch>
            <a:fillRect/>
          </a:stretch>
        </p:blipFill>
        <p:spPr>
          <a:xfrm>
            <a:off x="2353287" y="4227072"/>
            <a:ext cx="307637" cy="288663"/>
          </a:xfrm>
          <a:prstGeom prst="rect">
            <a:avLst/>
          </a:prstGeom>
          <a:ln>
            <a:noFill/>
          </a:ln>
        </p:spPr>
      </p:pic>
      <p:sp>
        <p:nvSpPr>
          <p:cNvPr id="104" name="矩形: 圓角 103">
            <a:extLst>
              <a:ext uri="{FF2B5EF4-FFF2-40B4-BE49-F238E27FC236}">
                <a16:creationId xmlns:a16="http://schemas.microsoft.com/office/drawing/2014/main" id="{1A532E72-2491-1E52-8D20-C86E5073715C}"/>
              </a:ext>
            </a:extLst>
          </p:cNvPr>
          <p:cNvSpPr/>
          <p:nvPr/>
        </p:nvSpPr>
        <p:spPr>
          <a:xfrm>
            <a:off x="1766011" y="4102554"/>
            <a:ext cx="1325187" cy="430886"/>
          </a:xfrm>
          <a:prstGeom prst="roundRect">
            <a:avLst>
              <a:gd name="adj" fmla="val 917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00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0" normalizeH="0" baseline="0" noProof="0">
                <a:ln>
                  <a:noFill/>
                </a:ln>
                <a:solidFill>
                  <a:prstClr val="black"/>
                </a:solidFill>
                <a:effectLst/>
                <a:uLnTx/>
                <a:uFillTx/>
                <a:latin typeface="Arial"/>
                <a:ea typeface="微軟正黑體"/>
                <a:cs typeface="+mn-cs"/>
              </a:rPr>
              <a:t>邊緣存儲</a:t>
            </a:r>
            <a:endParaRPr kumimoji="0" lang="en-US" altLang="zh-TW" sz="1000" b="0" i="0" u="none" strike="noStrike" kern="1200" cap="none" spc="0" normalizeH="0" baseline="0" noProof="0">
              <a:ln>
                <a:noFill/>
              </a:ln>
              <a:solidFill>
                <a:prstClr val="black"/>
              </a:solidFill>
              <a:effectLst/>
              <a:uLnTx/>
              <a:uFillTx/>
              <a:latin typeface="Arial"/>
              <a:ea typeface="微軟正黑體"/>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0" normalizeH="0" baseline="0" noProof="0">
                <a:ln>
                  <a:noFill/>
                </a:ln>
                <a:solidFill>
                  <a:prstClr val="black"/>
                </a:solidFill>
                <a:effectLst/>
                <a:uLnTx/>
                <a:uFillTx/>
                <a:latin typeface="Arial"/>
                <a:ea typeface="微軟正黑體"/>
                <a:cs typeface="+mn-cs"/>
              </a:rPr>
              <a:t>模組</a:t>
            </a:r>
          </a:p>
        </p:txBody>
      </p:sp>
      <p:pic>
        <p:nvPicPr>
          <p:cNvPr id="107" name="Picture 8" descr="document in folder icon illustration 素材庫向量圖| Adobe Stock">
            <a:extLst>
              <a:ext uri="{FF2B5EF4-FFF2-40B4-BE49-F238E27FC236}">
                <a16:creationId xmlns:a16="http://schemas.microsoft.com/office/drawing/2014/main" id="{2161CC56-9DF6-98C3-10C5-1D8886B5328C}"/>
              </a:ext>
            </a:extLst>
          </p:cNvPr>
          <p:cNvPicPr>
            <a:picLocks noChangeAspect="1" noChangeArrowheads="1"/>
          </p:cNvPicPr>
          <p:nvPr/>
        </p:nvPicPr>
        <p:blipFill rotWithShape="1">
          <a:blip r:embed="rId5">
            <a:clrChange>
              <a:clrFrom>
                <a:srgbClr val="FFFFFF"/>
              </a:clrFrom>
              <a:clrTo>
                <a:srgbClr val="FFFFFF">
                  <a:alpha val="0"/>
                </a:srgbClr>
              </a:clrTo>
            </a:clrChange>
            <a:biLevel thresh="75000"/>
            <a:extLst>
              <a:ext uri="{28A0092B-C50C-407E-A947-70E740481C1C}">
                <a14:useLocalDpi xmlns:a14="http://schemas.microsoft.com/office/drawing/2010/main" val="0"/>
              </a:ext>
            </a:extLst>
          </a:blip>
          <a:srcRect l="16420" t="20128" r="15333" b="20182"/>
          <a:stretch/>
        </p:blipFill>
        <p:spPr bwMode="auto">
          <a:xfrm>
            <a:off x="2649747" y="4209367"/>
            <a:ext cx="327211" cy="268535"/>
          </a:xfrm>
          <a:prstGeom prst="rect">
            <a:avLst/>
          </a:prstGeom>
          <a:noFill/>
          <a:extLst>
            <a:ext uri="{909E8E84-426E-40DD-AFC4-6F175D3DCCD1}">
              <a14:hiddenFill xmlns:a14="http://schemas.microsoft.com/office/drawing/2010/main">
                <a:solidFill>
                  <a:srgbClr val="FFFFFF"/>
                </a:solidFill>
              </a14:hiddenFill>
            </a:ext>
          </a:extLst>
        </p:spPr>
      </p:pic>
      <p:sp>
        <p:nvSpPr>
          <p:cNvPr id="185" name="文字方塊 184">
            <a:extLst>
              <a:ext uri="{FF2B5EF4-FFF2-40B4-BE49-F238E27FC236}">
                <a16:creationId xmlns:a16="http://schemas.microsoft.com/office/drawing/2014/main" id="{8F9B56BF-9E91-26FD-A705-2198CE6C61F6}"/>
              </a:ext>
            </a:extLst>
          </p:cNvPr>
          <p:cNvSpPr txBox="1"/>
          <p:nvPr/>
        </p:nvSpPr>
        <p:spPr>
          <a:xfrm>
            <a:off x="3112804" y="4535390"/>
            <a:ext cx="1400576" cy="276999"/>
          </a:xfrm>
          <a:prstGeom prst="rect">
            <a:avLst/>
          </a:prstGeom>
          <a:noFill/>
        </p:spPr>
        <p:txBody>
          <a:bodyPr wrap="none" rtlCol="0">
            <a:spAutoFit/>
          </a:bodyPr>
          <a:lstStyle/>
          <a:p>
            <a:r>
              <a:rPr lang="en-US" altLang="zh-TW" sz="1200" b="1">
                <a:solidFill>
                  <a:srgbClr val="FF0000"/>
                </a:solidFill>
                <a:latin typeface="+mj-ea"/>
                <a:ea typeface="+mj-ea"/>
              </a:rPr>
              <a:t>EAP</a:t>
            </a:r>
            <a:r>
              <a:rPr lang="zh-TW" altLang="en-US" sz="1200" b="1">
                <a:solidFill>
                  <a:srgbClr val="FF0000"/>
                </a:solidFill>
                <a:latin typeface="+mj-ea"/>
                <a:ea typeface="+mj-ea"/>
              </a:rPr>
              <a:t>邊際運算模組</a:t>
            </a:r>
            <a:endParaRPr lang="en-US" altLang="zh-TW" sz="1200" b="1">
              <a:solidFill>
                <a:srgbClr val="FF0000"/>
              </a:solidFill>
              <a:latin typeface="+mj-ea"/>
              <a:ea typeface="+mj-ea"/>
            </a:endParaRPr>
          </a:p>
        </p:txBody>
      </p:sp>
      <p:grpSp>
        <p:nvGrpSpPr>
          <p:cNvPr id="257" name="群組 256">
            <a:extLst>
              <a:ext uri="{FF2B5EF4-FFF2-40B4-BE49-F238E27FC236}">
                <a16:creationId xmlns:a16="http://schemas.microsoft.com/office/drawing/2014/main" id="{E1137E52-D4B9-E668-11EC-A74A76648EE3}"/>
              </a:ext>
            </a:extLst>
          </p:cNvPr>
          <p:cNvGrpSpPr/>
          <p:nvPr/>
        </p:nvGrpSpPr>
        <p:grpSpPr>
          <a:xfrm>
            <a:off x="5060961" y="605926"/>
            <a:ext cx="1786464" cy="1181055"/>
            <a:chOff x="9907394" y="5284150"/>
            <a:chExt cx="1786464" cy="1181055"/>
          </a:xfrm>
        </p:grpSpPr>
        <p:cxnSp>
          <p:nvCxnSpPr>
            <p:cNvPr id="258" name="直線單箭頭接點 257">
              <a:extLst>
                <a:ext uri="{FF2B5EF4-FFF2-40B4-BE49-F238E27FC236}">
                  <a16:creationId xmlns:a16="http://schemas.microsoft.com/office/drawing/2014/main" id="{14130C90-5DE8-DA05-7110-57EB3081D79E}"/>
                </a:ext>
              </a:extLst>
            </p:cNvPr>
            <p:cNvCxnSpPr>
              <a:cxnSpLocks/>
            </p:cNvCxnSpPr>
            <p:nvPr/>
          </p:nvCxnSpPr>
          <p:spPr>
            <a:xfrm>
              <a:off x="10068580" y="5489104"/>
              <a:ext cx="522763" cy="0"/>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59" name="文字方塊 258">
              <a:extLst>
                <a:ext uri="{FF2B5EF4-FFF2-40B4-BE49-F238E27FC236}">
                  <a16:creationId xmlns:a16="http://schemas.microsoft.com/office/drawing/2014/main" id="{F5E01E58-A469-24F1-4C27-4D2856F5CA4E}"/>
                </a:ext>
              </a:extLst>
            </p:cNvPr>
            <p:cNvSpPr txBox="1"/>
            <p:nvPr/>
          </p:nvSpPr>
          <p:spPr>
            <a:xfrm>
              <a:off x="10521742" y="5335216"/>
              <a:ext cx="1172116" cy="276999"/>
            </a:xfrm>
            <a:prstGeom prst="rect">
              <a:avLst/>
            </a:prstGeom>
            <a:noFill/>
          </p:spPr>
          <p:txBody>
            <a:bodyPr wrap="none" rtlCol="0">
              <a:spAutoFit/>
            </a:bodyPr>
            <a:lstStyle/>
            <a:p>
              <a:r>
                <a:rPr lang="zh-TW" altLang="en-US" sz="1200">
                  <a:latin typeface="+mj-ea"/>
                  <a:ea typeface="+mj-ea"/>
                </a:rPr>
                <a:t>數據推送</a:t>
              </a:r>
              <a:r>
                <a:rPr lang="en-US" altLang="zh-TW" sz="1200">
                  <a:latin typeface="+mj-ea"/>
                  <a:ea typeface="+mj-ea"/>
                </a:rPr>
                <a:t>/</a:t>
              </a:r>
              <a:r>
                <a:rPr lang="zh-TW" altLang="en-US" sz="1200">
                  <a:latin typeface="+mj-ea"/>
                  <a:ea typeface="+mj-ea"/>
                </a:rPr>
                <a:t>運算</a:t>
              </a:r>
            </a:p>
          </p:txBody>
        </p:sp>
        <p:cxnSp>
          <p:nvCxnSpPr>
            <p:cNvPr id="260" name="直線單箭頭接點 259">
              <a:extLst>
                <a:ext uri="{FF2B5EF4-FFF2-40B4-BE49-F238E27FC236}">
                  <a16:creationId xmlns:a16="http://schemas.microsoft.com/office/drawing/2014/main" id="{C456C3FE-B3B8-BB4B-2F69-B978C8B2E3F8}"/>
                </a:ext>
              </a:extLst>
            </p:cNvPr>
            <p:cNvCxnSpPr>
              <a:cxnSpLocks/>
            </p:cNvCxnSpPr>
            <p:nvPr/>
          </p:nvCxnSpPr>
          <p:spPr>
            <a:xfrm>
              <a:off x="10059927" y="5737644"/>
              <a:ext cx="529149" cy="0"/>
            </a:xfrm>
            <a:prstGeom prst="straightConnector1">
              <a:avLst/>
            </a:prstGeom>
            <a:ln w="44450">
              <a:solidFill>
                <a:schemeClr val="tx2">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64" name="文字方塊 263">
              <a:extLst>
                <a:ext uri="{FF2B5EF4-FFF2-40B4-BE49-F238E27FC236}">
                  <a16:creationId xmlns:a16="http://schemas.microsoft.com/office/drawing/2014/main" id="{0D33C2EC-F685-AB2A-9B03-6006BCCCB524}"/>
                </a:ext>
              </a:extLst>
            </p:cNvPr>
            <p:cNvSpPr txBox="1"/>
            <p:nvPr/>
          </p:nvSpPr>
          <p:spPr>
            <a:xfrm>
              <a:off x="10535158" y="5585829"/>
              <a:ext cx="800219" cy="276999"/>
            </a:xfrm>
            <a:prstGeom prst="rect">
              <a:avLst/>
            </a:prstGeom>
            <a:noFill/>
          </p:spPr>
          <p:txBody>
            <a:bodyPr wrap="none" rtlCol="0">
              <a:spAutoFit/>
            </a:bodyPr>
            <a:lstStyle>
              <a:defPPr>
                <a:defRPr lang="en-US"/>
              </a:defPPr>
              <a:lvl1pPr>
                <a:defRPr sz="1400"/>
              </a:lvl1pPr>
            </a:lstStyle>
            <a:p>
              <a:r>
                <a:rPr lang="zh-TW" altLang="en-US" sz="1200">
                  <a:latin typeface="+mj-ea"/>
                  <a:ea typeface="+mj-ea"/>
                </a:rPr>
                <a:t>指揮控制</a:t>
              </a:r>
            </a:p>
          </p:txBody>
        </p:sp>
        <p:sp>
          <p:nvSpPr>
            <p:cNvPr id="265" name="矩形 264">
              <a:extLst>
                <a:ext uri="{FF2B5EF4-FFF2-40B4-BE49-F238E27FC236}">
                  <a16:creationId xmlns:a16="http://schemas.microsoft.com/office/drawing/2014/main" id="{04D21CA4-01FC-F42B-DED3-28A8FDD5A570}"/>
                </a:ext>
              </a:extLst>
            </p:cNvPr>
            <p:cNvSpPr/>
            <p:nvPr/>
          </p:nvSpPr>
          <p:spPr>
            <a:xfrm>
              <a:off x="9907394" y="5284150"/>
              <a:ext cx="1698907" cy="118105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mj-ea"/>
                <a:ea typeface="+mj-ea"/>
              </a:endParaRPr>
            </a:p>
          </p:txBody>
        </p:sp>
        <p:cxnSp>
          <p:nvCxnSpPr>
            <p:cNvPr id="266" name="直線單箭頭接點 265">
              <a:extLst>
                <a:ext uri="{FF2B5EF4-FFF2-40B4-BE49-F238E27FC236}">
                  <a16:creationId xmlns:a16="http://schemas.microsoft.com/office/drawing/2014/main" id="{F5775529-E851-F1C6-BA58-06796D3C3702}"/>
                </a:ext>
              </a:extLst>
            </p:cNvPr>
            <p:cNvCxnSpPr>
              <a:cxnSpLocks/>
            </p:cNvCxnSpPr>
            <p:nvPr/>
          </p:nvCxnSpPr>
          <p:spPr>
            <a:xfrm>
              <a:off x="10059927" y="5994018"/>
              <a:ext cx="529149" cy="0"/>
            </a:xfrm>
            <a:prstGeom prst="straightConnector1">
              <a:avLst/>
            </a:prstGeom>
            <a:ln w="44450">
              <a:solidFill>
                <a:schemeClr val="accent3">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67" name="文字方塊 266">
              <a:extLst>
                <a:ext uri="{FF2B5EF4-FFF2-40B4-BE49-F238E27FC236}">
                  <a16:creationId xmlns:a16="http://schemas.microsoft.com/office/drawing/2014/main" id="{B8417592-CFE5-E1F8-94FC-3A8F6A6B1D89}"/>
                </a:ext>
              </a:extLst>
            </p:cNvPr>
            <p:cNvSpPr txBox="1"/>
            <p:nvPr/>
          </p:nvSpPr>
          <p:spPr>
            <a:xfrm>
              <a:off x="10535158" y="5842203"/>
              <a:ext cx="800219" cy="276999"/>
            </a:xfrm>
            <a:prstGeom prst="rect">
              <a:avLst/>
            </a:prstGeom>
            <a:noFill/>
          </p:spPr>
          <p:txBody>
            <a:bodyPr wrap="none" rtlCol="0">
              <a:spAutoFit/>
            </a:bodyPr>
            <a:lstStyle>
              <a:defPPr>
                <a:defRPr lang="en-US"/>
              </a:defPPr>
              <a:lvl1pPr>
                <a:defRPr sz="1400"/>
              </a:lvl1pPr>
            </a:lstStyle>
            <a:p>
              <a:r>
                <a:rPr lang="zh-TW" altLang="en-US" sz="1200">
                  <a:latin typeface="+mj-ea"/>
                  <a:ea typeface="+mj-ea"/>
                </a:rPr>
                <a:t>數據使用</a:t>
              </a:r>
            </a:p>
          </p:txBody>
        </p:sp>
      </p:grpSp>
      <p:grpSp>
        <p:nvGrpSpPr>
          <p:cNvPr id="268" name="群組 267">
            <a:extLst>
              <a:ext uri="{FF2B5EF4-FFF2-40B4-BE49-F238E27FC236}">
                <a16:creationId xmlns:a16="http://schemas.microsoft.com/office/drawing/2014/main" id="{4BD440E2-A503-155B-8058-91306B68444D}"/>
              </a:ext>
            </a:extLst>
          </p:cNvPr>
          <p:cNvGrpSpPr/>
          <p:nvPr/>
        </p:nvGrpSpPr>
        <p:grpSpPr>
          <a:xfrm>
            <a:off x="3247219" y="592699"/>
            <a:ext cx="1707050" cy="1194283"/>
            <a:chOff x="10203783" y="3967761"/>
            <a:chExt cx="1707050" cy="1194283"/>
          </a:xfrm>
        </p:grpSpPr>
        <p:sp>
          <p:nvSpPr>
            <p:cNvPr id="269" name="矩形 268">
              <a:extLst>
                <a:ext uri="{FF2B5EF4-FFF2-40B4-BE49-F238E27FC236}">
                  <a16:creationId xmlns:a16="http://schemas.microsoft.com/office/drawing/2014/main" id="{37FB0C94-167E-B82A-E2F1-E46ABDCB6542}"/>
                </a:ext>
              </a:extLst>
            </p:cNvPr>
            <p:cNvSpPr/>
            <p:nvPr/>
          </p:nvSpPr>
          <p:spPr>
            <a:xfrm>
              <a:off x="10203783" y="3967761"/>
              <a:ext cx="1692000" cy="11942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mj-ea"/>
                <a:ea typeface="+mj-ea"/>
              </a:endParaRPr>
            </a:p>
          </p:txBody>
        </p:sp>
        <p:sp>
          <p:nvSpPr>
            <p:cNvPr id="270" name="矩形: 圓角 269">
              <a:extLst>
                <a:ext uri="{FF2B5EF4-FFF2-40B4-BE49-F238E27FC236}">
                  <a16:creationId xmlns:a16="http://schemas.microsoft.com/office/drawing/2014/main" id="{BD05AE4E-9F78-F8D9-7240-3325FB1A3624}"/>
                </a:ext>
              </a:extLst>
            </p:cNvPr>
            <p:cNvSpPr/>
            <p:nvPr/>
          </p:nvSpPr>
          <p:spPr>
            <a:xfrm>
              <a:off x="10254999" y="4112787"/>
              <a:ext cx="180000" cy="180000"/>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TW" altLang="en-US" sz="1400" b="1">
                <a:solidFill>
                  <a:schemeClr val="tx1"/>
                </a:solidFill>
                <a:latin typeface="+mj-ea"/>
                <a:ea typeface="+mj-ea"/>
              </a:endParaRPr>
            </a:p>
          </p:txBody>
        </p:sp>
        <p:sp>
          <p:nvSpPr>
            <p:cNvPr id="271" name="矩形: 圓角 270">
              <a:extLst>
                <a:ext uri="{FF2B5EF4-FFF2-40B4-BE49-F238E27FC236}">
                  <a16:creationId xmlns:a16="http://schemas.microsoft.com/office/drawing/2014/main" id="{9C8DD75A-EFB9-9C90-7EA0-55DEE92EEA6E}"/>
                </a:ext>
              </a:extLst>
            </p:cNvPr>
            <p:cNvSpPr/>
            <p:nvPr/>
          </p:nvSpPr>
          <p:spPr>
            <a:xfrm>
              <a:off x="10254999" y="4631774"/>
              <a:ext cx="180000" cy="1800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TW" altLang="en-US" sz="1600" b="1">
                <a:solidFill>
                  <a:schemeClr val="tx1"/>
                </a:solidFill>
                <a:latin typeface="+mj-ea"/>
                <a:ea typeface="+mj-ea"/>
              </a:endParaRPr>
            </a:p>
          </p:txBody>
        </p:sp>
        <p:sp>
          <p:nvSpPr>
            <p:cNvPr id="272" name="矩形: 圓角 271">
              <a:extLst>
                <a:ext uri="{FF2B5EF4-FFF2-40B4-BE49-F238E27FC236}">
                  <a16:creationId xmlns:a16="http://schemas.microsoft.com/office/drawing/2014/main" id="{B6900911-4DE5-BFD5-2DF3-C48CD44A6DAD}"/>
                </a:ext>
              </a:extLst>
            </p:cNvPr>
            <p:cNvSpPr/>
            <p:nvPr/>
          </p:nvSpPr>
          <p:spPr>
            <a:xfrm>
              <a:off x="10254999" y="4890300"/>
              <a:ext cx="180000" cy="18000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a:latin typeface="+mj-ea"/>
                <a:ea typeface="+mj-ea"/>
              </a:endParaRPr>
            </a:p>
          </p:txBody>
        </p:sp>
        <p:sp>
          <p:nvSpPr>
            <p:cNvPr id="273" name="文字方塊 272">
              <a:extLst>
                <a:ext uri="{FF2B5EF4-FFF2-40B4-BE49-F238E27FC236}">
                  <a16:creationId xmlns:a16="http://schemas.microsoft.com/office/drawing/2014/main" id="{4FF4F1D2-1C9D-FE54-6A07-2F494841DE93}"/>
                </a:ext>
              </a:extLst>
            </p:cNvPr>
            <p:cNvSpPr txBox="1"/>
            <p:nvPr/>
          </p:nvSpPr>
          <p:spPr>
            <a:xfrm>
              <a:off x="10418117" y="4052130"/>
              <a:ext cx="877163" cy="276999"/>
            </a:xfrm>
            <a:prstGeom prst="rect">
              <a:avLst/>
            </a:prstGeom>
            <a:noFill/>
          </p:spPr>
          <p:txBody>
            <a:bodyPr wrap="none" rtlCol="0">
              <a:spAutoFit/>
            </a:bodyPr>
            <a:lstStyle/>
            <a:p>
              <a:r>
                <a:rPr lang="en-US" altLang="zh-TW" sz="1200" b="1">
                  <a:latin typeface="+mj-ea"/>
                  <a:ea typeface="+mj-ea"/>
                </a:rPr>
                <a:t>:</a:t>
              </a:r>
              <a:r>
                <a:rPr lang="zh-TW" altLang="en-US" sz="1200" b="1">
                  <a:latin typeface="+mj-ea"/>
                  <a:ea typeface="+mj-ea"/>
                </a:rPr>
                <a:t> 現有系統</a:t>
              </a:r>
            </a:p>
          </p:txBody>
        </p:sp>
        <p:sp>
          <p:nvSpPr>
            <p:cNvPr id="274" name="文字方塊 273">
              <a:extLst>
                <a:ext uri="{FF2B5EF4-FFF2-40B4-BE49-F238E27FC236}">
                  <a16:creationId xmlns:a16="http://schemas.microsoft.com/office/drawing/2014/main" id="{C7147A03-2418-E9F9-13CE-7E5913E69A8F}"/>
                </a:ext>
              </a:extLst>
            </p:cNvPr>
            <p:cNvSpPr txBox="1"/>
            <p:nvPr/>
          </p:nvSpPr>
          <p:spPr>
            <a:xfrm>
              <a:off x="10418117" y="4560321"/>
              <a:ext cx="1367682" cy="276999"/>
            </a:xfrm>
            <a:prstGeom prst="rect">
              <a:avLst/>
            </a:prstGeom>
            <a:noFill/>
          </p:spPr>
          <p:txBody>
            <a:bodyPr wrap="none" rtlCol="0">
              <a:spAutoFit/>
            </a:bodyPr>
            <a:lstStyle/>
            <a:p>
              <a:r>
                <a:rPr lang="en-US" altLang="zh-TW" sz="1200" b="1">
                  <a:latin typeface="+mj-ea"/>
                  <a:ea typeface="+mj-ea"/>
                </a:rPr>
                <a:t>:</a:t>
              </a:r>
              <a:r>
                <a:rPr lang="zh-TW" altLang="en-US" sz="1200" b="1">
                  <a:latin typeface="+mj-ea"/>
                  <a:ea typeface="+mj-ea"/>
                </a:rPr>
                <a:t> </a:t>
              </a:r>
              <a:r>
                <a:rPr lang="en-US" altLang="zh-TW" sz="1200" b="1">
                  <a:latin typeface="+mj-ea"/>
                  <a:ea typeface="+mj-ea"/>
                </a:rPr>
                <a:t>T2</a:t>
              </a:r>
              <a:r>
                <a:rPr lang="zh-TW" altLang="en-US" sz="1200" b="1">
                  <a:latin typeface="+mj-ea"/>
                  <a:ea typeface="+mj-ea"/>
                </a:rPr>
                <a:t>未來建置項目</a:t>
              </a:r>
            </a:p>
          </p:txBody>
        </p:sp>
        <p:sp>
          <p:nvSpPr>
            <p:cNvPr id="275" name="文字方塊 274">
              <a:extLst>
                <a:ext uri="{FF2B5EF4-FFF2-40B4-BE49-F238E27FC236}">
                  <a16:creationId xmlns:a16="http://schemas.microsoft.com/office/drawing/2014/main" id="{A536095A-A98A-6363-9347-C75F6E84E9EC}"/>
                </a:ext>
              </a:extLst>
            </p:cNvPr>
            <p:cNvSpPr txBox="1"/>
            <p:nvPr/>
          </p:nvSpPr>
          <p:spPr>
            <a:xfrm>
              <a:off x="10418117" y="4835756"/>
              <a:ext cx="1492716" cy="276999"/>
            </a:xfrm>
            <a:prstGeom prst="rect">
              <a:avLst/>
            </a:prstGeom>
            <a:noFill/>
          </p:spPr>
          <p:txBody>
            <a:bodyPr wrap="none" rtlCol="0">
              <a:spAutoFit/>
            </a:bodyPr>
            <a:lstStyle/>
            <a:p>
              <a:r>
                <a:rPr lang="en-US" altLang="zh-TW" sz="1200" b="1">
                  <a:latin typeface="+mj-ea"/>
                  <a:ea typeface="+mj-ea"/>
                </a:rPr>
                <a:t>:</a:t>
              </a:r>
              <a:r>
                <a:rPr lang="zh-TW" altLang="en-US" sz="1200" b="1">
                  <a:latin typeface="+mj-ea"/>
                  <a:ea typeface="+mj-ea"/>
                </a:rPr>
                <a:t> 其他未來建構項目</a:t>
              </a:r>
              <a:endParaRPr lang="en-US" altLang="zh-TW" sz="1200" b="1">
                <a:latin typeface="+mj-ea"/>
                <a:ea typeface="+mj-ea"/>
              </a:endParaRPr>
            </a:p>
          </p:txBody>
        </p:sp>
        <p:sp>
          <p:nvSpPr>
            <p:cNvPr id="276" name="矩形: 圓角 275">
              <a:extLst>
                <a:ext uri="{FF2B5EF4-FFF2-40B4-BE49-F238E27FC236}">
                  <a16:creationId xmlns:a16="http://schemas.microsoft.com/office/drawing/2014/main" id="{74359B9B-881E-77ED-2755-ABCC13D33E9E}"/>
                </a:ext>
              </a:extLst>
            </p:cNvPr>
            <p:cNvSpPr/>
            <p:nvPr/>
          </p:nvSpPr>
          <p:spPr>
            <a:xfrm>
              <a:off x="10254854" y="4366404"/>
              <a:ext cx="180000" cy="180000"/>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zh-TW" altLang="en-US" sz="1400" b="1">
                <a:solidFill>
                  <a:schemeClr val="bg1">
                    <a:lumMod val="95000"/>
                  </a:schemeClr>
                </a:solidFill>
                <a:latin typeface="+mj-ea"/>
                <a:ea typeface="+mj-ea"/>
              </a:endParaRPr>
            </a:p>
          </p:txBody>
        </p:sp>
        <p:sp>
          <p:nvSpPr>
            <p:cNvPr id="277" name="文字方塊 276">
              <a:extLst>
                <a:ext uri="{FF2B5EF4-FFF2-40B4-BE49-F238E27FC236}">
                  <a16:creationId xmlns:a16="http://schemas.microsoft.com/office/drawing/2014/main" id="{945F085C-94BF-B4A9-86D9-17E649FFBE63}"/>
                </a:ext>
              </a:extLst>
            </p:cNvPr>
            <p:cNvSpPr txBox="1"/>
            <p:nvPr/>
          </p:nvSpPr>
          <p:spPr>
            <a:xfrm>
              <a:off x="10417972" y="4294951"/>
              <a:ext cx="1213794" cy="276999"/>
            </a:xfrm>
            <a:prstGeom prst="rect">
              <a:avLst/>
            </a:prstGeom>
            <a:noFill/>
          </p:spPr>
          <p:txBody>
            <a:bodyPr wrap="none" rtlCol="0">
              <a:spAutoFit/>
            </a:bodyPr>
            <a:lstStyle/>
            <a:p>
              <a:r>
                <a:rPr lang="en-US" altLang="zh-TW" sz="1200" b="1">
                  <a:latin typeface="+mj-ea"/>
                  <a:ea typeface="+mj-ea"/>
                </a:rPr>
                <a:t>:</a:t>
              </a:r>
              <a:r>
                <a:rPr lang="zh-TW" altLang="en-US" sz="1200" b="1">
                  <a:latin typeface="+mj-ea"/>
                  <a:ea typeface="+mj-ea"/>
                </a:rPr>
                <a:t> </a:t>
              </a:r>
              <a:r>
                <a:rPr lang="en-US" altLang="zh-TW" sz="1200" b="1">
                  <a:latin typeface="+mj-ea"/>
                  <a:ea typeface="+mj-ea"/>
                </a:rPr>
                <a:t>T2</a:t>
              </a:r>
              <a:r>
                <a:rPr lang="zh-TW" altLang="en-US" sz="1200" b="1">
                  <a:latin typeface="+mj-ea"/>
                  <a:ea typeface="+mj-ea"/>
                </a:rPr>
                <a:t>機聯網範疇</a:t>
              </a:r>
            </a:p>
          </p:txBody>
        </p:sp>
      </p:grpSp>
      <p:cxnSp>
        <p:nvCxnSpPr>
          <p:cNvPr id="282" name="接點: 弧形 281">
            <a:extLst>
              <a:ext uri="{FF2B5EF4-FFF2-40B4-BE49-F238E27FC236}">
                <a16:creationId xmlns:a16="http://schemas.microsoft.com/office/drawing/2014/main" id="{A3DFF135-FE16-8CB4-B891-2E6977BB55C6}"/>
              </a:ext>
            </a:extLst>
          </p:cNvPr>
          <p:cNvCxnSpPr>
            <a:cxnSpLocks/>
            <a:stCxn id="16" idx="3"/>
            <a:endCxn id="115" idx="1"/>
          </p:cNvCxnSpPr>
          <p:nvPr/>
        </p:nvCxnSpPr>
        <p:spPr>
          <a:xfrm>
            <a:off x="2048366" y="2047722"/>
            <a:ext cx="447982" cy="595478"/>
          </a:xfrm>
          <a:prstGeom prst="curvedConnector3">
            <a:avLst>
              <a:gd name="adj1" fmla="val 50000"/>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5" name="文字方塊 44">
            <a:extLst>
              <a:ext uri="{FF2B5EF4-FFF2-40B4-BE49-F238E27FC236}">
                <a16:creationId xmlns:a16="http://schemas.microsoft.com/office/drawing/2014/main" id="{F94DEE63-A14A-FE10-EBC8-205C7FB1AEE5}"/>
              </a:ext>
            </a:extLst>
          </p:cNvPr>
          <p:cNvSpPr txBox="1"/>
          <p:nvPr/>
        </p:nvSpPr>
        <p:spPr>
          <a:xfrm>
            <a:off x="4920316" y="6019175"/>
            <a:ext cx="1500732" cy="707886"/>
          </a:xfrm>
          <a:prstGeom prst="rect">
            <a:avLst/>
          </a:prstGeom>
          <a:noFill/>
        </p:spPr>
        <p:txBody>
          <a:bodyPr wrap="none" rtlCol="0">
            <a:spAutoFit/>
          </a:bodyPr>
          <a:lstStyle/>
          <a:p>
            <a:r>
              <a:rPr lang="zh-TW" altLang="en-US" sz="1000" b="1"/>
              <a:t>配合線級佈署</a:t>
            </a:r>
            <a:endParaRPr lang="en-US" altLang="zh-TW" sz="1000" b="1"/>
          </a:p>
          <a:p>
            <a:r>
              <a:rPr lang="en-US" altLang="zh-TW" sz="1000" b="1"/>
              <a:t>App</a:t>
            </a:r>
            <a:r>
              <a:rPr lang="zh-TW" altLang="en-US" sz="1000" b="1"/>
              <a:t>規範種類</a:t>
            </a:r>
            <a:r>
              <a:rPr lang="en-US" altLang="zh-TW" sz="1000" b="1"/>
              <a:t>/</a:t>
            </a:r>
            <a:r>
              <a:rPr lang="zh-TW" altLang="en-US" sz="1000" b="1"/>
              <a:t>需求</a:t>
            </a:r>
            <a:r>
              <a:rPr lang="en-US" altLang="zh-TW" sz="1000" b="1"/>
              <a:t>:</a:t>
            </a:r>
          </a:p>
          <a:p>
            <a:r>
              <a:rPr lang="en-US" altLang="zh-TW" sz="1000"/>
              <a:t>1) </a:t>
            </a:r>
            <a:r>
              <a:rPr lang="en-US" altLang="zh-TW" sz="1000" b="1">
                <a:solidFill>
                  <a:srgbClr val="FF0000"/>
                </a:solidFill>
              </a:rPr>
              <a:t>1</a:t>
            </a:r>
            <a:r>
              <a:rPr lang="zh-TW" altLang="en-US" sz="1000" b="1">
                <a:solidFill>
                  <a:srgbClr val="FF0000"/>
                </a:solidFill>
              </a:rPr>
              <a:t>秒內</a:t>
            </a:r>
            <a:r>
              <a:rPr lang="zh-TW" altLang="en-US" sz="1000"/>
              <a:t>及時警示</a:t>
            </a:r>
            <a:r>
              <a:rPr lang="en-US" altLang="zh-TW" sz="1000"/>
              <a:t>, </a:t>
            </a:r>
            <a:r>
              <a:rPr lang="zh-TW" altLang="en-US" sz="1000"/>
              <a:t>通知</a:t>
            </a:r>
            <a:endParaRPr lang="en-US" altLang="zh-TW" sz="1000"/>
          </a:p>
          <a:p>
            <a:r>
              <a:rPr lang="en-US" altLang="zh-TW" sz="1000"/>
              <a:t>2) Inference/</a:t>
            </a:r>
            <a:r>
              <a:rPr lang="zh-TW" altLang="en-US" sz="1000"/>
              <a:t>控制</a:t>
            </a:r>
          </a:p>
        </p:txBody>
      </p:sp>
      <p:sp>
        <p:nvSpPr>
          <p:cNvPr id="304" name="左大括弧 303">
            <a:extLst>
              <a:ext uri="{FF2B5EF4-FFF2-40B4-BE49-F238E27FC236}">
                <a16:creationId xmlns:a16="http://schemas.microsoft.com/office/drawing/2014/main" id="{B152E73F-B8F0-8FF5-960B-EA787FE4C427}"/>
              </a:ext>
            </a:extLst>
          </p:cNvPr>
          <p:cNvSpPr/>
          <p:nvPr/>
        </p:nvSpPr>
        <p:spPr>
          <a:xfrm>
            <a:off x="4780805" y="5033514"/>
            <a:ext cx="196897" cy="1643838"/>
          </a:xfrm>
          <a:prstGeom prst="leftBrace">
            <a:avLst>
              <a:gd name="adj1" fmla="val 151153"/>
              <a:gd name="adj2" fmla="val 797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313" name="直線接點 312">
            <a:extLst>
              <a:ext uri="{FF2B5EF4-FFF2-40B4-BE49-F238E27FC236}">
                <a16:creationId xmlns:a16="http://schemas.microsoft.com/office/drawing/2014/main" id="{F1828161-A71D-1058-6436-8554C3832E54}"/>
              </a:ext>
            </a:extLst>
          </p:cNvPr>
          <p:cNvCxnSpPr>
            <a:cxnSpLocks/>
          </p:cNvCxnSpPr>
          <p:nvPr/>
        </p:nvCxnSpPr>
        <p:spPr>
          <a:xfrm flipV="1">
            <a:off x="3140206" y="552163"/>
            <a:ext cx="0" cy="1304821"/>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15" name="文字方塊 314">
            <a:extLst>
              <a:ext uri="{FF2B5EF4-FFF2-40B4-BE49-F238E27FC236}">
                <a16:creationId xmlns:a16="http://schemas.microsoft.com/office/drawing/2014/main" id="{8D0DC946-2710-5501-3A5B-51931F4F7098}"/>
              </a:ext>
            </a:extLst>
          </p:cNvPr>
          <p:cNvSpPr txBox="1"/>
          <p:nvPr/>
        </p:nvSpPr>
        <p:spPr>
          <a:xfrm>
            <a:off x="952672" y="552163"/>
            <a:ext cx="430887" cy="1345113"/>
          </a:xfrm>
          <a:prstGeom prst="rect">
            <a:avLst/>
          </a:prstGeom>
          <a:noFill/>
        </p:spPr>
        <p:txBody>
          <a:bodyPr vert="eaVert" wrap="square" rtlCol="0">
            <a:spAutoFit/>
          </a:bodyPr>
          <a:lstStyle/>
          <a:p>
            <a:r>
              <a:rPr lang="zh-TW" altLang="en-US" sz="1600">
                <a:solidFill>
                  <a:schemeClr val="bg1">
                    <a:lumMod val="65000"/>
                  </a:schemeClr>
                </a:solidFill>
                <a:latin typeface="+mj-ea"/>
                <a:ea typeface="+mj-ea"/>
              </a:rPr>
              <a:t>總部級數據層</a:t>
            </a:r>
          </a:p>
        </p:txBody>
      </p:sp>
      <p:sp>
        <p:nvSpPr>
          <p:cNvPr id="90" name="文字方塊 89">
            <a:extLst>
              <a:ext uri="{FF2B5EF4-FFF2-40B4-BE49-F238E27FC236}">
                <a16:creationId xmlns:a16="http://schemas.microsoft.com/office/drawing/2014/main" id="{5C19CB88-AFAC-407A-9E50-DDB37AA1529E}"/>
              </a:ext>
            </a:extLst>
          </p:cNvPr>
          <p:cNvSpPr txBox="1"/>
          <p:nvPr/>
        </p:nvSpPr>
        <p:spPr>
          <a:xfrm>
            <a:off x="149791" y="3020198"/>
            <a:ext cx="1113175" cy="338554"/>
          </a:xfrm>
          <a:prstGeom prst="rect">
            <a:avLst/>
          </a:prstGeom>
          <a:noFill/>
        </p:spPr>
        <p:txBody>
          <a:bodyPr wrap="square" lIns="0" tIns="0" rIns="0" bIns="0" rtlCol="0">
            <a:spAutoFit/>
          </a:bodyPr>
          <a:lstStyle/>
          <a:p>
            <a:pPr algn="ctr"/>
            <a:r>
              <a:rPr lang="en-US" altLang="zh-TW" sz="1100" b="1">
                <a:latin typeface="+mj-ea"/>
                <a:ea typeface="+mj-ea"/>
              </a:rPr>
              <a:t>Data delay Time</a:t>
            </a:r>
          </a:p>
          <a:p>
            <a:pPr algn="ctr"/>
            <a:r>
              <a:rPr lang="en-US" altLang="zh-TW" sz="1100" b="1">
                <a:latin typeface="+mj-ea"/>
                <a:ea typeface="+mj-ea"/>
              </a:rPr>
              <a:t>1~4 sec</a:t>
            </a:r>
            <a:endParaRPr lang="zh-TW" altLang="en-US" sz="1100" b="1">
              <a:latin typeface="+mj-ea"/>
              <a:ea typeface="+mj-ea"/>
            </a:endParaRPr>
          </a:p>
        </p:txBody>
      </p:sp>
      <p:grpSp>
        <p:nvGrpSpPr>
          <p:cNvPr id="293" name="群組 292">
            <a:extLst>
              <a:ext uri="{FF2B5EF4-FFF2-40B4-BE49-F238E27FC236}">
                <a16:creationId xmlns:a16="http://schemas.microsoft.com/office/drawing/2014/main" id="{AB3A9C21-0217-1F8C-ED36-724812BCFB31}"/>
              </a:ext>
            </a:extLst>
          </p:cNvPr>
          <p:cNvGrpSpPr/>
          <p:nvPr/>
        </p:nvGrpSpPr>
        <p:grpSpPr>
          <a:xfrm>
            <a:off x="2496348" y="1890041"/>
            <a:ext cx="3734274" cy="1506317"/>
            <a:chOff x="2496348" y="1890041"/>
            <a:chExt cx="3734274" cy="1506317"/>
          </a:xfrm>
          <a:solidFill>
            <a:srgbClr val="51BCFF"/>
          </a:solidFill>
        </p:grpSpPr>
        <p:sp>
          <p:nvSpPr>
            <p:cNvPr id="115" name="矩形: 圓角 114">
              <a:extLst>
                <a:ext uri="{FF2B5EF4-FFF2-40B4-BE49-F238E27FC236}">
                  <a16:creationId xmlns:a16="http://schemas.microsoft.com/office/drawing/2014/main" id="{A122CD69-8710-4D2E-97B0-A2A2A6057EEF}"/>
                </a:ext>
              </a:extLst>
            </p:cNvPr>
            <p:cNvSpPr/>
            <p:nvPr/>
          </p:nvSpPr>
          <p:spPr>
            <a:xfrm>
              <a:off x="2496348" y="1890041"/>
              <a:ext cx="3734274" cy="1506317"/>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zh-TW" altLang="en-US" sz="1600" b="1">
                  <a:solidFill>
                    <a:schemeClr val="tx1"/>
                  </a:solidFill>
                  <a:latin typeface="+mj-ea"/>
                  <a:ea typeface="+mj-ea"/>
                </a:rPr>
                <a:t>數據中台</a:t>
              </a:r>
              <a:endParaRPr lang="zh-TW" altLang="en-US" sz="1100">
                <a:solidFill>
                  <a:schemeClr val="tx1"/>
                </a:solidFill>
                <a:latin typeface="+mj-ea"/>
                <a:ea typeface="+mj-ea"/>
              </a:endParaRPr>
            </a:p>
          </p:txBody>
        </p:sp>
        <p:sp>
          <p:nvSpPr>
            <p:cNvPr id="69" name="矩形 68">
              <a:extLst>
                <a:ext uri="{FF2B5EF4-FFF2-40B4-BE49-F238E27FC236}">
                  <a16:creationId xmlns:a16="http://schemas.microsoft.com/office/drawing/2014/main" id="{C11AE556-BF00-7C3E-042F-EAB51CC80466}"/>
                </a:ext>
              </a:extLst>
            </p:cNvPr>
            <p:cNvSpPr/>
            <p:nvPr/>
          </p:nvSpPr>
          <p:spPr>
            <a:xfrm>
              <a:off x="3631443" y="1947332"/>
              <a:ext cx="2377627" cy="137719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tIns="90000" rtlCol="0" anchor="t" anchorCtr="0"/>
            <a:lstStyle/>
            <a:p>
              <a:pPr algn="r"/>
              <a:r>
                <a:rPr lang="zh-TW" altLang="en-US" sz="1400">
                  <a:solidFill>
                    <a:schemeClr val="tx1"/>
                  </a:solidFill>
                </a:rPr>
                <a:t>地區級數據</a:t>
              </a:r>
            </a:p>
          </p:txBody>
        </p:sp>
        <p:sp>
          <p:nvSpPr>
            <p:cNvPr id="72" name="矩形 71">
              <a:extLst>
                <a:ext uri="{FF2B5EF4-FFF2-40B4-BE49-F238E27FC236}">
                  <a16:creationId xmlns:a16="http://schemas.microsoft.com/office/drawing/2014/main" id="{73F048E5-EF84-13FA-2271-8C3125C26DF3}"/>
                </a:ext>
              </a:extLst>
            </p:cNvPr>
            <p:cNvSpPr/>
            <p:nvPr/>
          </p:nvSpPr>
          <p:spPr>
            <a:xfrm>
              <a:off x="3770656" y="2314951"/>
              <a:ext cx="2052334" cy="90416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tIns="90000" rtlCol="0" anchor="t" anchorCtr="0"/>
            <a:lstStyle/>
            <a:p>
              <a:pPr algn="r"/>
              <a:r>
                <a:rPr lang="zh-TW" altLang="en-US" sz="1400">
                  <a:solidFill>
                    <a:schemeClr val="tx1"/>
                  </a:solidFill>
                </a:rPr>
                <a:t>廠級數據</a:t>
              </a:r>
            </a:p>
          </p:txBody>
        </p:sp>
        <p:sp>
          <p:nvSpPr>
            <p:cNvPr id="79" name="矩形 78">
              <a:extLst>
                <a:ext uri="{FF2B5EF4-FFF2-40B4-BE49-F238E27FC236}">
                  <a16:creationId xmlns:a16="http://schemas.microsoft.com/office/drawing/2014/main" id="{4BF091DF-CB28-BD59-8234-E70766722B4C}"/>
                </a:ext>
              </a:extLst>
            </p:cNvPr>
            <p:cNvSpPr/>
            <p:nvPr/>
          </p:nvSpPr>
          <p:spPr>
            <a:xfrm>
              <a:off x="4659522" y="2658120"/>
              <a:ext cx="950546" cy="484701"/>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tIns="90000" rtlCol="0" anchor="t" anchorCtr="0"/>
            <a:lstStyle/>
            <a:p>
              <a:pPr algn="r"/>
              <a:r>
                <a:rPr lang="zh-TW" altLang="en-US" sz="1400">
                  <a:solidFill>
                    <a:schemeClr val="tx1"/>
                  </a:solidFill>
                </a:rPr>
                <a:t>線級數據</a:t>
              </a:r>
            </a:p>
          </p:txBody>
        </p:sp>
      </p:grpSp>
      <p:sp>
        <p:nvSpPr>
          <p:cNvPr id="34" name="文字方塊 33">
            <a:extLst>
              <a:ext uri="{FF2B5EF4-FFF2-40B4-BE49-F238E27FC236}">
                <a16:creationId xmlns:a16="http://schemas.microsoft.com/office/drawing/2014/main" id="{BEC169E9-A711-DA60-06FA-899E2A80C6F2}"/>
              </a:ext>
            </a:extLst>
          </p:cNvPr>
          <p:cNvSpPr txBox="1"/>
          <p:nvPr/>
        </p:nvSpPr>
        <p:spPr>
          <a:xfrm>
            <a:off x="6547660" y="3499159"/>
            <a:ext cx="677108" cy="1432158"/>
          </a:xfrm>
          <a:prstGeom prst="rect">
            <a:avLst/>
          </a:prstGeom>
          <a:noFill/>
        </p:spPr>
        <p:txBody>
          <a:bodyPr vert="eaVert" wrap="square" rtlCol="0">
            <a:spAutoFit/>
          </a:bodyPr>
          <a:lstStyle>
            <a:defPPr>
              <a:defRPr lang="en-US"/>
            </a:defPPr>
            <a:lvl1pPr>
              <a:defRPr sz="1600">
                <a:solidFill>
                  <a:schemeClr val="bg1">
                    <a:lumMod val="65000"/>
                  </a:schemeClr>
                </a:solidFill>
                <a:latin typeface="+mj-ea"/>
                <a:ea typeface="+mj-ea"/>
              </a:defRPr>
            </a:lvl1pPr>
          </a:lstStyle>
          <a:p>
            <a:endParaRPr lang="en-US" altLang="zh-TW">
              <a:effectLst>
                <a:glow rad="127000">
                  <a:schemeClr val="bg1">
                    <a:alpha val="70000"/>
                  </a:schemeClr>
                </a:glow>
              </a:effectLst>
            </a:endParaRPr>
          </a:p>
          <a:p>
            <a:r>
              <a:rPr lang="zh-TW" altLang="en-US">
                <a:effectLst>
                  <a:glow rad="127000">
                    <a:schemeClr val="bg1">
                      <a:alpha val="70000"/>
                    </a:schemeClr>
                  </a:glow>
                </a:effectLst>
              </a:rPr>
              <a:t>廠級</a:t>
            </a:r>
            <a:r>
              <a:rPr lang="zh-TW" altLang="en-US" b="1">
                <a:solidFill>
                  <a:srgbClr val="FF0000"/>
                </a:solidFill>
                <a:effectLst>
                  <a:glow rad="127000">
                    <a:schemeClr val="bg1">
                      <a:alpha val="70000"/>
                    </a:schemeClr>
                  </a:glow>
                </a:effectLst>
              </a:rPr>
              <a:t>實時</a:t>
            </a:r>
            <a:r>
              <a:rPr lang="zh-TW" altLang="en-US">
                <a:effectLst>
                  <a:glow rad="127000">
                    <a:schemeClr val="bg1">
                      <a:alpha val="70000"/>
                    </a:schemeClr>
                  </a:glow>
                </a:effectLst>
              </a:rPr>
              <a:t>應用</a:t>
            </a:r>
          </a:p>
        </p:txBody>
      </p:sp>
      <p:cxnSp>
        <p:nvCxnSpPr>
          <p:cNvPr id="179" name="直線單箭頭接點 178">
            <a:extLst>
              <a:ext uri="{FF2B5EF4-FFF2-40B4-BE49-F238E27FC236}">
                <a16:creationId xmlns:a16="http://schemas.microsoft.com/office/drawing/2014/main" id="{E543D11F-4705-C1D1-2FD7-A352D84CFB05}"/>
              </a:ext>
            </a:extLst>
          </p:cNvPr>
          <p:cNvCxnSpPr>
            <a:cxnSpLocks/>
            <a:stCxn id="69" idx="3"/>
            <a:endCxn id="327" idx="1"/>
          </p:cNvCxnSpPr>
          <p:nvPr/>
        </p:nvCxnSpPr>
        <p:spPr>
          <a:xfrm flipV="1">
            <a:off x="6009070" y="2634298"/>
            <a:ext cx="1424168" cy="1629"/>
          </a:xfrm>
          <a:prstGeom prst="straightConnector1">
            <a:avLst/>
          </a:prstGeom>
          <a:ln w="44450">
            <a:solidFill>
              <a:schemeClr val="accent3">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45512C0B-DA50-A65D-EB48-94D13AD7CE48}"/>
              </a:ext>
            </a:extLst>
          </p:cNvPr>
          <p:cNvSpPr txBox="1"/>
          <p:nvPr/>
        </p:nvSpPr>
        <p:spPr>
          <a:xfrm>
            <a:off x="4847716" y="3516403"/>
            <a:ext cx="1766830" cy="830997"/>
          </a:xfrm>
          <a:prstGeom prst="rect">
            <a:avLst/>
          </a:prstGeom>
          <a:noFill/>
        </p:spPr>
        <p:txBody>
          <a:bodyPr wrap="none" rtlCol="0">
            <a:spAutoFit/>
          </a:bodyPr>
          <a:lstStyle/>
          <a:p>
            <a:r>
              <a:rPr lang="zh-TW" altLang="en-US" sz="1200" b="1"/>
              <a:t>配合</a:t>
            </a:r>
            <a:r>
              <a:rPr lang="zh-TW" altLang="en-US" sz="1200" b="1">
                <a:solidFill>
                  <a:srgbClr val="FF0000"/>
                </a:solidFill>
              </a:rPr>
              <a:t>廠級佈署</a:t>
            </a:r>
            <a:endParaRPr lang="en-US" altLang="zh-TW" sz="1200" b="1">
              <a:solidFill>
                <a:srgbClr val="FF0000"/>
              </a:solidFill>
            </a:endParaRPr>
          </a:p>
          <a:p>
            <a:r>
              <a:rPr lang="en-US" altLang="zh-TW" sz="1200" b="1"/>
              <a:t>App</a:t>
            </a:r>
            <a:r>
              <a:rPr lang="zh-TW" altLang="en-US" sz="1200" b="1">
                <a:solidFill>
                  <a:srgbClr val="FF0000"/>
                </a:solidFill>
              </a:rPr>
              <a:t>規範</a:t>
            </a:r>
            <a:r>
              <a:rPr lang="zh-TW" altLang="en-US" sz="1200" b="1"/>
              <a:t>種類</a:t>
            </a:r>
            <a:r>
              <a:rPr lang="en-US" altLang="zh-TW" sz="1200" b="1"/>
              <a:t>/</a:t>
            </a:r>
            <a:r>
              <a:rPr lang="zh-TW" altLang="en-US" sz="1200" b="1"/>
              <a:t>需求</a:t>
            </a:r>
            <a:r>
              <a:rPr lang="en-US" altLang="zh-TW" sz="1200" b="1"/>
              <a:t>:</a:t>
            </a:r>
          </a:p>
          <a:p>
            <a:r>
              <a:rPr lang="en-US" altLang="zh-TW" sz="1200"/>
              <a:t>1) </a:t>
            </a:r>
            <a:r>
              <a:rPr lang="en-US" altLang="zh-TW" sz="1200" b="1">
                <a:solidFill>
                  <a:srgbClr val="FF0000"/>
                </a:solidFill>
              </a:rPr>
              <a:t>4</a:t>
            </a:r>
            <a:r>
              <a:rPr lang="zh-TW" altLang="en-US" sz="1200" b="1">
                <a:solidFill>
                  <a:srgbClr val="FF0000"/>
                </a:solidFill>
              </a:rPr>
              <a:t>秒內</a:t>
            </a:r>
            <a:r>
              <a:rPr lang="zh-TW" altLang="en-US" sz="1200"/>
              <a:t>及時警示</a:t>
            </a:r>
            <a:r>
              <a:rPr lang="en-US" altLang="zh-TW" sz="1200"/>
              <a:t>, </a:t>
            </a:r>
            <a:r>
              <a:rPr lang="zh-TW" altLang="en-US" sz="1200"/>
              <a:t>通知</a:t>
            </a:r>
          </a:p>
          <a:p>
            <a:r>
              <a:rPr lang="en-US" altLang="zh-TW" sz="1200"/>
              <a:t>2) Inference/</a:t>
            </a:r>
            <a:r>
              <a:rPr lang="zh-TW" altLang="en-US" sz="1200"/>
              <a:t>控制</a:t>
            </a:r>
            <a:r>
              <a:rPr lang="en-US" altLang="zh-TW" sz="1200"/>
              <a:t> </a:t>
            </a:r>
            <a:endParaRPr lang="zh-TW" altLang="en-US" sz="1200"/>
          </a:p>
        </p:txBody>
      </p:sp>
      <p:sp>
        <p:nvSpPr>
          <p:cNvPr id="299" name="左大括弧 298">
            <a:extLst>
              <a:ext uri="{FF2B5EF4-FFF2-40B4-BE49-F238E27FC236}">
                <a16:creationId xmlns:a16="http://schemas.microsoft.com/office/drawing/2014/main" id="{EF1A0334-7209-472C-FCA5-063724AEC31E}"/>
              </a:ext>
            </a:extLst>
          </p:cNvPr>
          <p:cNvSpPr/>
          <p:nvPr/>
        </p:nvSpPr>
        <p:spPr>
          <a:xfrm>
            <a:off x="4701559" y="3605072"/>
            <a:ext cx="204656" cy="676184"/>
          </a:xfrm>
          <a:prstGeom prst="leftBrace">
            <a:avLst>
              <a:gd name="adj1" fmla="val 151153"/>
              <a:gd name="adj2" fmla="val 1022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3" name="左大括弧 22">
            <a:extLst>
              <a:ext uri="{FF2B5EF4-FFF2-40B4-BE49-F238E27FC236}">
                <a16:creationId xmlns:a16="http://schemas.microsoft.com/office/drawing/2014/main" id="{1B55DBD7-773D-03E3-2F2E-07739EEE6D11}"/>
              </a:ext>
            </a:extLst>
          </p:cNvPr>
          <p:cNvSpPr/>
          <p:nvPr/>
        </p:nvSpPr>
        <p:spPr>
          <a:xfrm>
            <a:off x="3275907" y="4043959"/>
            <a:ext cx="120003" cy="276999"/>
          </a:xfrm>
          <a:prstGeom prst="leftBrace">
            <a:avLst>
              <a:gd name="adj1" fmla="val 151153"/>
              <a:gd name="adj2" fmla="val 2325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22" name="矩形 321">
            <a:extLst>
              <a:ext uri="{FF2B5EF4-FFF2-40B4-BE49-F238E27FC236}">
                <a16:creationId xmlns:a16="http://schemas.microsoft.com/office/drawing/2014/main" id="{F43061C8-3D3E-DE7B-7515-1749A7B67C51}"/>
              </a:ext>
            </a:extLst>
          </p:cNvPr>
          <p:cNvSpPr/>
          <p:nvPr/>
        </p:nvSpPr>
        <p:spPr>
          <a:xfrm>
            <a:off x="5263714" y="1446488"/>
            <a:ext cx="1213567" cy="262295"/>
          </a:xfrm>
          <a:prstGeom prst="rect">
            <a:avLst/>
          </a:prstGeom>
          <a:solidFill>
            <a:schemeClr val="accent3">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a:solidFill>
                  <a:schemeClr val="tx1"/>
                </a:solidFill>
              </a:rPr>
              <a:t>應用建置區</a:t>
            </a:r>
          </a:p>
        </p:txBody>
      </p:sp>
      <p:cxnSp>
        <p:nvCxnSpPr>
          <p:cNvPr id="70" name="直線接點 69">
            <a:extLst>
              <a:ext uri="{FF2B5EF4-FFF2-40B4-BE49-F238E27FC236}">
                <a16:creationId xmlns:a16="http://schemas.microsoft.com/office/drawing/2014/main" id="{090882C2-9C2F-AF3D-70D1-99E2ED6D751A}"/>
              </a:ext>
            </a:extLst>
          </p:cNvPr>
          <p:cNvCxnSpPr>
            <a:cxnSpLocks/>
          </p:cNvCxnSpPr>
          <p:nvPr/>
        </p:nvCxnSpPr>
        <p:spPr>
          <a:xfrm flipV="1">
            <a:off x="3140206" y="3433648"/>
            <a:ext cx="0" cy="3346124"/>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直線接點 107">
            <a:extLst>
              <a:ext uri="{FF2B5EF4-FFF2-40B4-BE49-F238E27FC236}">
                <a16:creationId xmlns:a16="http://schemas.microsoft.com/office/drawing/2014/main" id="{CF73303B-EA32-A093-94B9-1C797F4ECAD3}"/>
              </a:ext>
            </a:extLst>
          </p:cNvPr>
          <p:cNvCxnSpPr>
            <a:cxnSpLocks/>
          </p:cNvCxnSpPr>
          <p:nvPr/>
        </p:nvCxnSpPr>
        <p:spPr>
          <a:xfrm>
            <a:off x="1075446" y="1856984"/>
            <a:ext cx="10989996" cy="0"/>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907D516D-A893-3751-2497-8D75C5B0A3A1}"/>
              </a:ext>
            </a:extLst>
          </p:cNvPr>
          <p:cNvCxnSpPr>
            <a:cxnSpLocks/>
          </p:cNvCxnSpPr>
          <p:nvPr/>
        </p:nvCxnSpPr>
        <p:spPr>
          <a:xfrm>
            <a:off x="7433238" y="3425240"/>
            <a:ext cx="4666981" cy="0"/>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C78D2464-734C-C120-7E2D-184894FBF214}"/>
              </a:ext>
            </a:extLst>
          </p:cNvPr>
          <p:cNvCxnSpPr>
            <a:cxnSpLocks/>
          </p:cNvCxnSpPr>
          <p:nvPr/>
        </p:nvCxnSpPr>
        <p:spPr>
          <a:xfrm>
            <a:off x="7449310" y="4919841"/>
            <a:ext cx="4650909" cy="0"/>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6" name="直線接點 115">
            <a:extLst>
              <a:ext uri="{FF2B5EF4-FFF2-40B4-BE49-F238E27FC236}">
                <a16:creationId xmlns:a16="http://schemas.microsoft.com/office/drawing/2014/main" id="{E50BDDF3-F96E-049E-E51C-0FD4C81BA3BD}"/>
              </a:ext>
            </a:extLst>
          </p:cNvPr>
          <p:cNvCxnSpPr>
            <a:cxnSpLocks/>
          </p:cNvCxnSpPr>
          <p:nvPr/>
        </p:nvCxnSpPr>
        <p:spPr>
          <a:xfrm>
            <a:off x="1075446" y="4921809"/>
            <a:ext cx="5850135" cy="0"/>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2" name="直線接點 111">
            <a:extLst>
              <a:ext uri="{FF2B5EF4-FFF2-40B4-BE49-F238E27FC236}">
                <a16:creationId xmlns:a16="http://schemas.microsoft.com/office/drawing/2014/main" id="{95B2A6E4-3D9D-AAAB-F655-9C11AC078757}"/>
              </a:ext>
            </a:extLst>
          </p:cNvPr>
          <p:cNvCxnSpPr>
            <a:cxnSpLocks/>
          </p:cNvCxnSpPr>
          <p:nvPr/>
        </p:nvCxnSpPr>
        <p:spPr>
          <a:xfrm>
            <a:off x="1109701" y="3425240"/>
            <a:ext cx="5815880" cy="0"/>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74FA64A3-C487-C1EE-F371-80642A5236D6}"/>
              </a:ext>
            </a:extLst>
          </p:cNvPr>
          <p:cNvCxnSpPr>
            <a:cxnSpLocks/>
          </p:cNvCxnSpPr>
          <p:nvPr/>
        </p:nvCxnSpPr>
        <p:spPr>
          <a:xfrm flipV="1">
            <a:off x="6925581" y="3407997"/>
            <a:ext cx="0" cy="3353766"/>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接點: 弧形 50">
            <a:extLst>
              <a:ext uri="{FF2B5EF4-FFF2-40B4-BE49-F238E27FC236}">
                <a16:creationId xmlns:a16="http://schemas.microsoft.com/office/drawing/2014/main" id="{E69AA0F8-8105-DAF7-E72C-9C6EF834746A}"/>
              </a:ext>
            </a:extLst>
          </p:cNvPr>
          <p:cNvCxnSpPr>
            <a:cxnSpLocks/>
            <a:stCxn id="28" idx="1"/>
            <a:endCxn id="40" idx="1"/>
          </p:cNvCxnSpPr>
          <p:nvPr/>
        </p:nvCxnSpPr>
        <p:spPr>
          <a:xfrm rot="10800000" flipH="1">
            <a:off x="1562052" y="4169182"/>
            <a:ext cx="7759" cy="1452683"/>
          </a:xfrm>
          <a:prstGeom prst="curvedConnector3">
            <a:avLst>
              <a:gd name="adj1" fmla="val -2946256"/>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4" name="接點: 弧形 63">
            <a:extLst>
              <a:ext uri="{FF2B5EF4-FFF2-40B4-BE49-F238E27FC236}">
                <a16:creationId xmlns:a16="http://schemas.microsoft.com/office/drawing/2014/main" id="{AF5D4FF7-CB6A-A749-22CD-4981A02620D9}"/>
              </a:ext>
            </a:extLst>
          </p:cNvPr>
          <p:cNvCxnSpPr>
            <a:cxnSpLocks/>
            <a:stCxn id="40" idx="1"/>
            <a:endCxn id="115" idx="1"/>
          </p:cNvCxnSpPr>
          <p:nvPr/>
        </p:nvCxnSpPr>
        <p:spPr>
          <a:xfrm rot="10800000" flipH="1">
            <a:off x="1569812" y="2643201"/>
            <a:ext cx="926536" cy="1525981"/>
          </a:xfrm>
          <a:prstGeom prst="curvedConnector3">
            <a:avLst>
              <a:gd name="adj1" fmla="val -16309"/>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4C6121DA-9C00-1069-08E9-87072094A8F2}"/>
              </a:ext>
            </a:extLst>
          </p:cNvPr>
          <p:cNvCxnSpPr>
            <a:cxnSpLocks/>
          </p:cNvCxnSpPr>
          <p:nvPr/>
        </p:nvCxnSpPr>
        <p:spPr>
          <a:xfrm flipV="1">
            <a:off x="1950687" y="4609183"/>
            <a:ext cx="0" cy="579718"/>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7" name="直線單箭頭接點 156">
            <a:extLst>
              <a:ext uri="{FF2B5EF4-FFF2-40B4-BE49-F238E27FC236}">
                <a16:creationId xmlns:a16="http://schemas.microsoft.com/office/drawing/2014/main" id="{2D46B65A-9CB7-A5C6-D22B-188207E408CF}"/>
              </a:ext>
            </a:extLst>
          </p:cNvPr>
          <p:cNvCxnSpPr>
            <a:cxnSpLocks/>
          </p:cNvCxnSpPr>
          <p:nvPr/>
        </p:nvCxnSpPr>
        <p:spPr>
          <a:xfrm flipH="1">
            <a:off x="2642396" y="4609183"/>
            <a:ext cx="7351" cy="611849"/>
          </a:xfrm>
          <a:prstGeom prst="straightConnector1">
            <a:avLst/>
          </a:prstGeom>
          <a:ln w="44450">
            <a:solidFill>
              <a:schemeClr val="tx2">
                <a:lumMod val="75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CB07419F-101B-2573-8813-67599C805E92}"/>
              </a:ext>
            </a:extLst>
          </p:cNvPr>
          <p:cNvCxnSpPr>
            <a:cxnSpLocks/>
          </p:cNvCxnSpPr>
          <p:nvPr/>
        </p:nvCxnSpPr>
        <p:spPr>
          <a:xfrm flipV="1">
            <a:off x="3001214" y="3407997"/>
            <a:ext cx="0" cy="359678"/>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9A97F71-987A-8DA6-33B3-4BB026A15CE0}"/>
              </a:ext>
            </a:extLst>
          </p:cNvPr>
          <p:cNvCxnSpPr>
            <a:cxnSpLocks/>
          </p:cNvCxnSpPr>
          <p:nvPr/>
        </p:nvCxnSpPr>
        <p:spPr>
          <a:xfrm flipV="1">
            <a:off x="7433240" y="552163"/>
            <a:ext cx="0" cy="6209600"/>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9" name="接點: 肘形 338">
            <a:extLst>
              <a:ext uri="{FF2B5EF4-FFF2-40B4-BE49-F238E27FC236}">
                <a16:creationId xmlns:a16="http://schemas.microsoft.com/office/drawing/2014/main" id="{0E39D8E3-574D-3F0B-FBB0-F6B8AD9067D2}"/>
              </a:ext>
            </a:extLst>
          </p:cNvPr>
          <p:cNvCxnSpPr>
            <a:endCxn id="326" idx="1"/>
          </p:cNvCxnSpPr>
          <p:nvPr/>
        </p:nvCxnSpPr>
        <p:spPr>
          <a:xfrm>
            <a:off x="5822989" y="2763439"/>
            <a:ext cx="1610250" cy="1408153"/>
          </a:xfrm>
          <a:prstGeom prst="bentConnector3">
            <a:avLst>
              <a:gd name="adj1" fmla="val 85941"/>
            </a:avLst>
          </a:prstGeom>
          <a:ln w="44450">
            <a:solidFill>
              <a:schemeClr val="accent3">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1" name="接點: 肘形 340">
            <a:extLst>
              <a:ext uri="{FF2B5EF4-FFF2-40B4-BE49-F238E27FC236}">
                <a16:creationId xmlns:a16="http://schemas.microsoft.com/office/drawing/2014/main" id="{9B569AC1-494F-C0FB-07C8-2807E5806A02}"/>
              </a:ext>
            </a:extLst>
          </p:cNvPr>
          <p:cNvCxnSpPr>
            <a:cxnSpLocks/>
            <a:stCxn id="79" idx="3"/>
            <a:endCxn id="296" idx="1"/>
          </p:cNvCxnSpPr>
          <p:nvPr/>
        </p:nvCxnSpPr>
        <p:spPr>
          <a:xfrm>
            <a:off x="5610068" y="2900471"/>
            <a:ext cx="1823172" cy="2931506"/>
          </a:xfrm>
          <a:prstGeom prst="bentConnector3">
            <a:avLst>
              <a:gd name="adj1" fmla="val 79417"/>
            </a:avLst>
          </a:prstGeom>
          <a:ln w="44450">
            <a:solidFill>
              <a:schemeClr val="accent3">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5" name="接點: 肘形 344">
            <a:extLst>
              <a:ext uri="{FF2B5EF4-FFF2-40B4-BE49-F238E27FC236}">
                <a16:creationId xmlns:a16="http://schemas.microsoft.com/office/drawing/2014/main" id="{A5F73A39-CFB2-73AD-AEB4-6CEFBA09301C}"/>
              </a:ext>
            </a:extLst>
          </p:cNvPr>
          <p:cNvCxnSpPr>
            <a:cxnSpLocks/>
            <a:stCxn id="69" idx="3"/>
            <a:endCxn id="297" idx="1"/>
          </p:cNvCxnSpPr>
          <p:nvPr/>
        </p:nvCxnSpPr>
        <p:spPr>
          <a:xfrm flipV="1">
            <a:off x="6009070" y="1203063"/>
            <a:ext cx="1385019" cy="1432864"/>
          </a:xfrm>
          <a:prstGeom prst="bentConnector3">
            <a:avLst>
              <a:gd name="adj1" fmla="val 74236"/>
            </a:avLst>
          </a:prstGeom>
          <a:ln w="44450">
            <a:solidFill>
              <a:schemeClr val="accent3">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 name="文字方塊 3">
            <a:extLst>
              <a:ext uri="{FF2B5EF4-FFF2-40B4-BE49-F238E27FC236}">
                <a16:creationId xmlns:a16="http://schemas.microsoft.com/office/drawing/2014/main" id="{31935C1C-C669-4722-C01B-F20F408EBB0E}"/>
              </a:ext>
            </a:extLst>
          </p:cNvPr>
          <p:cNvSpPr txBox="1"/>
          <p:nvPr/>
        </p:nvSpPr>
        <p:spPr>
          <a:xfrm>
            <a:off x="1366603" y="2809376"/>
            <a:ext cx="369332" cy="1023678"/>
          </a:xfrm>
          <a:prstGeom prst="rect">
            <a:avLst/>
          </a:prstGeom>
          <a:noFill/>
        </p:spPr>
        <p:txBody>
          <a:bodyPr vert="eaVert" wrap="square" rtlCol="0">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prstClr val="black"/>
                </a:solidFill>
                <a:effectLst/>
                <a:uLnTx/>
                <a:uFillTx/>
                <a:latin typeface="Arial"/>
                <a:ea typeface="微軟正黑體"/>
                <a:cs typeface="+mn-cs"/>
              </a:rPr>
              <a:t>批次更新</a:t>
            </a:r>
            <a:endParaRPr kumimoji="0" lang="en-US" altLang="zh-TW" sz="1200" b="1" i="0" u="none" strike="noStrike" kern="1200" cap="none" spc="0" normalizeH="0" baseline="0" noProof="0">
              <a:ln>
                <a:noFill/>
              </a:ln>
              <a:solidFill>
                <a:prstClr val="black"/>
              </a:solidFill>
              <a:effectLst/>
              <a:uLnTx/>
              <a:uFillTx/>
              <a:latin typeface="Arial"/>
              <a:ea typeface="微軟正黑體"/>
              <a:cs typeface="+mn-cs"/>
            </a:endParaRPr>
          </a:p>
        </p:txBody>
      </p:sp>
      <p:sp>
        <p:nvSpPr>
          <p:cNvPr id="5" name="文字方塊 4">
            <a:extLst>
              <a:ext uri="{FF2B5EF4-FFF2-40B4-BE49-F238E27FC236}">
                <a16:creationId xmlns:a16="http://schemas.microsoft.com/office/drawing/2014/main" id="{C0BC5773-09DB-613D-DEA0-92CC723F9D4E}"/>
              </a:ext>
            </a:extLst>
          </p:cNvPr>
          <p:cNvSpPr txBox="1"/>
          <p:nvPr/>
        </p:nvSpPr>
        <p:spPr>
          <a:xfrm>
            <a:off x="2655967" y="3164224"/>
            <a:ext cx="369332" cy="755826"/>
          </a:xfrm>
          <a:prstGeom prst="rect">
            <a:avLst/>
          </a:prstGeom>
          <a:noFill/>
        </p:spPr>
        <p:txBody>
          <a:bodyPr vert="eaVert" wrap="square" rtlCol="0">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prstClr val="black"/>
                </a:solidFill>
                <a:effectLst/>
                <a:uLnTx/>
                <a:uFillTx/>
                <a:latin typeface="Arial"/>
                <a:ea typeface="微軟正黑體"/>
                <a:cs typeface="+mn-cs"/>
              </a:rPr>
              <a:t>即時推送</a:t>
            </a:r>
            <a:endParaRPr kumimoji="0" lang="en-US" altLang="zh-TW" sz="1200" b="1" i="0" u="none" strike="noStrike" kern="1200" cap="none" spc="0" normalizeH="0" baseline="0" noProof="0">
              <a:ln>
                <a:noFill/>
              </a:ln>
              <a:solidFill>
                <a:prstClr val="black"/>
              </a:solidFill>
              <a:effectLst/>
              <a:uLnTx/>
              <a:uFillTx/>
              <a:latin typeface="Arial"/>
              <a:ea typeface="微軟正黑體"/>
              <a:cs typeface="+mn-cs"/>
            </a:endParaRPr>
          </a:p>
        </p:txBody>
      </p:sp>
      <p:sp>
        <p:nvSpPr>
          <p:cNvPr id="8" name="文字方塊 7">
            <a:extLst>
              <a:ext uri="{FF2B5EF4-FFF2-40B4-BE49-F238E27FC236}">
                <a16:creationId xmlns:a16="http://schemas.microsoft.com/office/drawing/2014/main" id="{7DE248C4-A6DD-461B-6B28-60306C1DB914}"/>
              </a:ext>
            </a:extLst>
          </p:cNvPr>
          <p:cNvSpPr txBox="1"/>
          <p:nvPr/>
        </p:nvSpPr>
        <p:spPr>
          <a:xfrm>
            <a:off x="1898920" y="4491305"/>
            <a:ext cx="369332" cy="755826"/>
          </a:xfrm>
          <a:prstGeom prst="rect">
            <a:avLst/>
          </a:prstGeom>
          <a:noFill/>
        </p:spPr>
        <p:txBody>
          <a:bodyPr vert="eaVert" wrap="square" rtlCol="0">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prstClr val="black"/>
                </a:solidFill>
                <a:effectLst/>
                <a:uLnTx/>
                <a:uFillTx/>
                <a:latin typeface="Arial"/>
                <a:ea typeface="微軟正黑體"/>
                <a:cs typeface="+mn-cs"/>
              </a:rPr>
              <a:t>即時推送</a:t>
            </a:r>
            <a:endParaRPr kumimoji="0" lang="en-US" altLang="zh-TW" sz="1200" b="1" i="0" u="none" strike="noStrike" kern="1200" cap="none" spc="0" normalizeH="0" baseline="0" noProof="0">
              <a:ln>
                <a:noFill/>
              </a:ln>
              <a:solidFill>
                <a:prstClr val="black"/>
              </a:solidFill>
              <a:effectLst/>
              <a:uLnTx/>
              <a:uFillTx/>
              <a:latin typeface="Arial"/>
              <a:ea typeface="微軟正黑體"/>
              <a:cs typeface="+mn-cs"/>
            </a:endParaRPr>
          </a:p>
        </p:txBody>
      </p:sp>
      <p:sp>
        <p:nvSpPr>
          <p:cNvPr id="9" name="文字方塊 8">
            <a:extLst>
              <a:ext uri="{FF2B5EF4-FFF2-40B4-BE49-F238E27FC236}">
                <a16:creationId xmlns:a16="http://schemas.microsoft.com/office/drawing/2014/main" id="{6A90171C-B5D3-6CF8-EA21-99AE91ECB397}"/>
              </a:ext>
            </a:extLst>
          </p:cNvPr>
          <p:cNvSpPr txBox="1"/>
          <p:nvPr/>
        </p:nvSpPr>
        <p:spPr>
          <a:xfrm>
            <a:off x="1302979" y="4156694"/>
            <a:ext cx="369332" cy="1023678"/>
          </a:xfrm>
          <a:prstGeom prst="rect">
            <a:avLst/>
          </a:prstGeom>
          <a:noFill/>
        </p:spPr>
        <p:txBody>
          <a:bodyPr vert="eaVert" wrap="square" rtlCol="0">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prstClr val="black"/>
                </a:solidFill>
                <a:effectLst/>
                <a:uLnTx/>
                <a:uFillTx/>
                <a:latin typeface="Arial"/>
                <a:ea typeface="微軟正黑體"/>
                <a:cs typeface="+mn-cs"/>
              </a:rPr>
              <a:t>批次更新</a:t>
            </a:r>
            <a:endParaRPr kumimoji="0" lang="en-US" altLang="zh-TW" sz="1200" b="1" i="0" u="none" strike="noStrike" kern="1200" cap="none" spc="0" normalizeH="0" baseline="0" noProof="0">
              <a:ln>
                <a:noFill/>
              </a:ln>
              <a:solidFill>
                <a:prstClr val="black"/>
              </a:solidFill>
              <a:effectLst/>
              <a:uLnTx/>
              <a:uFillTx/>
              <a:latin typeface="Arial"/>
              <a:ea typeface="微軟正黑體"/>
              <a:cs typeface="+mn-cs"/>
            </a:endParaRPr>
          </a:p>
        </p:txBody>
      </p:sp>
      <p:cxnSp>
        <p:nvCxnSpPr>
          <p:cNvPr id="300" name="直線單箭頭接點 299">
            <a:extLst>
              <a:ext uri="{FF2B5EF4-FFF2-40B4-BE49-F238E27FC236}">
                <a16:creationId xmlns:a16="http://schemas.microsoft.com/office/drawing/2014/main" id="{AFDE8981-D687-A8B5-6505-F7ED6CB16312}"/>
              </a:ext>
            </a:extLst>
          </p:cNvPr>
          <p:cNvCxnSpPr>
            <a:cxnSpLocks/>
            <a:stCxn id="104" idx="0"/>
            <a:endCxn id="299" idx="1"/>
          </p:cNvCxnSpPr>
          <p:nvPr/>
        </p:nvCxnSpPr>
        <p:spPr>
          <a:xfrm flipV="1">
            <a:off x="2428605" y="3674205"/>
            <a:ext cx="2272954" cy="428349"/>
          </a:xfrm>
          <a:prstGeom prst="straightConnector1">
            <a:avLst/>
          </a:prstGeom>
          <a:ln w="44450">
            <a:solidFill>
              <a:schemeClr val="accent3">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7" name="直線單箭頭接點 186">
            <a:extLst>
              <a:ext uri="{FF2B5EF4-FFF2-40B4-BE49-F238E27FC236}">
                <a16:creationId xmlns:a16="http://schemas.microsoft.com/office/drawing/2014/main" id="{6BC1AA6C-4286-1A30-1D9D-3DFBF0D570A6}"/>
              </a:ext>
            </a:extLst>
          </p:cNvPr>
          <p:cNvCxnSpPr>
            <a:cxnSpLocks/>
            <a:stCxn id="104" idx="0"/>
            <a:endCxn id="23" idx="1"/>
          </p:cNvCxnSpPr>
          <p:nvPr/>
        </p:nvCxnSpPr>
        <p:spPr>
          <a:xfrm>
            <a:off x="2428605" y="4102554"/>
            <a:ext cx="847302" cy="5810"/>
          </a:xfrm>
          <a:prstGeom prst="straightConnector1">
            <a:avLst/>
          </a:prstGeom>
          <a:ln w="44450">
            <a:solidFill>
              <a:schemeClr val="accent3">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1" name="直線單箭頭接點 280">
            <a:extLst>
              <a:ext uri="{FF2B5EF4-FFF2-40B4-BE49-F238E27FC236}">
                <a16:creationId xmlns:a16="http://schemas.microsoft.com/office/drawing/2014/main" id="{2717749A-8660-EED7-B580-F3A287806C0F}"/>
              </a:ext>
            </a:extLst>
          </p:cNvPr>
          <p:cNvCxnSpPr>
            <a:cxnSpLocks/>
            <a:stCxn id="111" idx="0"/>
          </p:cNvCxnSpPr>
          <p:nvPr/>
        </p:nvCxnSpPr>
        <p:spPr>
          <a:xfrm>
            <a:off x="2421574" y="5553344"/>
            <a:ext cx="880471" cy="5567"/>
          </a:xfrm>
          <a:prstGeom prst="straightConnector1">
            <a:avLst/>
          </a:prstGeom>
          <a:ln w="44450">
            <a:solidFill>
              <a:schemeClr val="accent3">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417773AE-2F44-15A7-8324-3DC8A528FDB5}"/>
              </a:ext>
            </a:extLst>
          </p:cNvPr>
          <p:cNvSpPr txBox="1"/>
          <p:nvPr/>
        </p:nvSpPr>
        <p:spPr>
          <a:xfrm>
            <a:off x="4923120" y="4917957"/>
            <a:ext cx="1836310" cy="1200329"/>
          </a:xfrm>
          <a:prstGeom prst="rect">
            <a:avLst/>
          </a:prstGeom>
          <a:noFill/>
        </p:spPr>
        <p:txBody>
          <a:bodyPr wrap="square" rtlCol="0">
            <a:spAutoFit/>
          </a:bodyPr>
          <a:lstStyle/>
          <a:p>
            <a:r>
              <a:rPr lang="zh-TW" altLang="en-US" sz="1000"/>
              <a:t>*非有</a:t>
            </a:r>
            <a:r>
              <a:rPr lang="en-US" altLang="zh-TW" sz="1000"/>
              <a:t>”</a:t>
            </a:r>
            <a:r>
              <a:rPr lang="zh-TW" altLang="en-US" sz="1000" b="1">
                <a:solidFill>
                  <a:srgbClr val="FF0000"/>
                </a:solidFill>
              </a:rPr>
              <a:t>真實業務</a:t>
            </a:r>
            <a:r>
              <a:rPr lang="en-US" altLang="zh-TW" sz="1000"/>
              <a:t>”</a:t>
            </a:r>
            <a:r>
              <a:rPr lang="zh-TW" altLang="en-US" sz="1000"/>
              <a:t>需求</a:t>
            </a:r>
            <a:endParaRPr lang="en-US" altLang="zh-TW" sz="1000"/>
          </a:p>
          <a:p>
            <a:r>
              <a:rPr lang="zh-TW" altLang="en-US" sz="1000" b="1">
                <a:solidFill>
                  <a:srgbClr val="FF0000"/>
                </a:solidFill>
              </a:rPr>
              <a:t>禁止</a:t>
            </a:r>
            <a:r>
              <a:rPr lang="zh-TW" altLang="en-US" sz="1000"/>
              <a:t>直連</a:t>
            </a:r>
            <a:r>
              <a:rPr lang="en-US" altLang="zh-TW" sz="1000"/>
              <a:t>Line</a:t>
            </a:r>
            <a:r>
              <a:rPr lang="zh-TW" altLang="en-US" sz="1000"/>
              <a:t> </a:t>
            </a:r>
            <a:r>
              <a:rPr lang="en-US" altLang="zh-TW" sz="1000"/>
              <a:t>Manager, </a:t>
            </a:r>
            <a:r>
              <a:rPr lang="zh-TW" altLang="en-US" sz="1000"/>
              <a:t>原因</a:t>
            </a:r>
            <a:r>
              <a:rPr lang="en-US" altLang="zh-TW" sz="1000"/>
              <a:t>:</a:t>
            </a:r>
          </a:p>
          <a:p>
            <a:pPr marL="228600" indent="-228600">
              <a:buAutoNum type="arabicParenR"/>
            </a:pPr>
            <a:r>
              <a:rPr lang="zh-TW" altLang="en-US" sz="1000"/>
              <a:t>須獨立申請開通防火牆</a:t>
            </a:r>
            <a:endParaRPr lang="en-US" altLang="zh-TW" sz="1000"/>
          </a:p>
          <a:p>
            <a:pPr marL="228600" indent="-228600">
              <a:buAutoNum type="arabicParenR"/>
            </a:pPr>
            <a:r>
              <a:rPr lang="zh-TW" altLang="en-US" sz="1000"/>
              <a:t>新增</a:t>
            </a:r>
            <a:r>
              <a:rPr lang="en-US" altLang="zh-TW" sz="1000"/>
              <a:t>/</a:t>
            </a:r>
            <a:r>
              <a:rPr lang="zh-TW" altLang="en-US" sz="1000"/>
              <a:t>異動</a:t>
            </a:r>
            <a:r>
              <a:rPr lang="en-US" altLang="zh-TW" sz="1000"/>
              <a:t>Line Manager</a:t>
            </a:r>
            <a:r>
              <a:rPr lang="zh-TW" altLang="en-US" sz="1000"/>
              <a:t>時</a:t>
            </a:r>
            <a:r>
              <a:rPr lang="en-US" altLang="zh-TW" sz="1000"/>
              <a:t>, </a:t>
            </a:r>
            <a:r>
              <a:rPr lang="zh-TW" altLang="en-US" sz="1000"/>
              <a:t>流程複雜</a:t>
            </a:r>
            <a:endParaRPr lang="en-US" altLang="zh-TW" sz="1000"/>
          </a:p>
          <a:p>
            <a:r>
              <a:rPr lang="zh-TW" altLang="en-US" sz="1000"/>
              <a:t>未來直取</a:t>
            </a:r>
            <a:r>
              <a:rPr lang="en-US" altLang="zh-TW" sz="1000"/>
              <a:t>Line Manager</a:t>
            </a:r>
            <a:r>
              <a:rPr lang="zh-TW" altLang="en-US" sz="1000"/>
              <a:t>數據會</a:t>
            </a:r>
            <a:r>
              <a:rPr lang="zh-TW" altLang="en-US" sz="1000" b="1">
                <a:solidFill>
                  <a:srgbClr val="FF0000"/>
                </a:solidFill>
              </a:rPr>
              <a:t>有</a:t>
            </a:r>
            <a:r>
              <a:rPr lang="zh-TW" altLang="en-US" sz="1200" b="1">
                <a:solidFill>
                  <a:srgbClr val="FF0000"/>
                </a:solidFill>
              </a:rPr>
              <a:t>審核流程</a:t>
            </a:r>
            <a:r>
              <a:rPr lang="en-US" altLang="zh-TW" sz="1000" b="1">
                <a:solidFill>
                  <a:srgbClr val="FF0000"/>
                </a:solidFill>
              </a:rPr>
              <a:t>!</a:t>
            </a:r>
          </a:p>
        </p:txBody>
      </p:sp>
      <p:pic>
        <p:nvPicPr>
          <p:cNvPr id="14" name="圖片 13">
            <a:extLst>
              <a:ext uri="{FF2B5EF4-FFF2-40B4-BE49-F238E27FC236}">
                <a16:creationId xmlns:a16="http://schemas.microsoft.com/office/drawing/2014/main" id="{6E39B94C-092D-D2EC-990C-C6D6C30C5F74}"/>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492756" y="4930334"/>
            <a:ext cx="1000365" cy="316739"/>
          </a:xfrm>
          <a:prstGeom prst="rect">
            <a:avLst/>
          </a:prstGeom>
        </p:spPr>
      </p:pic>
      <p:cxnSp>
        <p:nvCxnSpPr>
          <p:cNvPr id="17" name="直線單箭頭接點 16">
            <a:extLst>
              <a:ext uri="{FF2B5EF4-FFF2-40B4-BE49-F238E27FC236}">
                <a16:creationId xmlns:a16="http://schemas.microsoft.com/office/drawing/2014/main" id="{2A61B9E3-3649-4068-9D30-32517B5D6085}"/>
              </a:ext>
            </a:extLst>
          </p:cNvPr>
          <p:cNvCxnSpPr>
            <a:cxnSpLocks/>
            <a:stCxn id="111" idx="0"/>
            <a:endCxn id="304" idx="1"/>
          </p:cNvCxnSpPr>
          <p:nvPr/>
        </p:nvCxnSpPr>
        <p:spPr>
          <a:xfrm flipV="1">
            <a:off x="2421574" y="5164528"/>
            <a:ext cx="2359231" cy="388816"/>
          </a:xfrm>
          <a:prstGeom prst="straightConnector1">
            <a:avLst/>
          </a:prstGeom>
          <a:ln w="44450">
            <a:solidFill>
              <a:schemeClr val="accent3">
                <a:lumMod val="50000"/>
              </a:schemeClr>
            </a:solidFill>
            <a:headEnd type="none"/>
            <a:tailEnd type="triangle"/>
          </a:ln>
          <a:effectLst>
            <a:glow rad="38100">
              <a:srgbClr val="FF0000"/>
            </a:glow>
          </a:effectLst>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6550DBA3-F4EA-0398-CA40-BD4AAF9A9FA1}"/>
              </a:ext>
            </a:extLst>
          </p:cNvPr>
          <p:cNvSpPr txBox="1"/>
          <p:nvPr/>
        </p:nvSpPr>
        <p:spPr>
          <a:xfrm>
            <a:off x="3410617" y="4017559"/>
            <a:ext cx="1146358" cy="307777"/>
          </a:xfrm>
          <a:prstGeom prst="rect">
            <a:avLst/>
          </a:prstGeom>
          <a:noFill/>
        </p:spPr>
        <p:txBody>
          <a:bodyPr wrap="square" lIns="0" tIns="0" rIns="0" bIns="0">
            <a:spAutoFit/>
          </a:bodyPr>
          <a:lstStyle/>
          <a:p>
            <a:r>
              <a:rPr lang="en-US" altLang="zh-TW" sz="1000"/>
              <a:t>1)</a:t>
            </a:r>
            <a:r>
              <a:rPr lang="zh-TW" altLang="en-US" sz="1000"/>
              <a:t> </a:t>
            </a:r>
            <a:r>
              <a:rPr lang="en-US" altLang="zh-TW" sz="1000"/>
              <a:t>AI Engine</a:t>
            </a:r>
            <a:r>
              <a:rPr lang="zh-TW" altLang="en-US" sz="1000"/>
              <a:t>模組</a:t>
            </a:r>
            <a:endParaRPr lang="en-US" altLang="zh-TW" sz="1000"/>
          </a:p>
          <a:p>
            <a:r>
              <a:rPr lang="en-US" altLang="zh-TW" sz="1000"/>
              <a:t>2) Inference/</a:t>
            </a:r>
            <a:r>
              <a:rPr lang="zh-TW" altLang="en-US" sz="1000"/>
              <a:t>控制</a:t>
            </a:r>
            <a:r>
              <a:rPr lang="en-US" altLang="zh-TW" sz="1000"/>
              <a:t> </a:t>
            </a:r>
            <a:endParaRPr lang="zh-TW" altLang="en-US" sz="1000"/>
          </a:p>
        </p:txBody>
      </p:sp>
      <p:sp>
        <p:nvSpPr>
          <p:cNvPr id="44" name="左大括弧 43">
            <a:extLst>
              <a:ext uri="{FF2B5EF4-FFF2-40B4-BE49-F238E27FC236}">
                <a16:creationId xmlns:a16="http://schemas.microsoft.com/office/drawing/2014/main" id="{3D4EA50B-1483-A648-182D-5DA17A1272D6}"/>
              </a:ext>
            </a:extLst>
          </p:cNvPr>
          <p:cNvSpPr/>
          <p:nvPr/>
        </p:nvSpPr>
        <p:spPr>
          <a:xfrm>
            <a:off x="3312788" y="5499401"/>
            <a:ext cx="120003" cy="276999"/>
          </a:xfrm>
          <a:prstGeom prst="leftBrace">
            <a:avLst>
              <a:gd name="adj1" fmla="val 151153"/>
              <a:gd name="adj2" fmla="val 2325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7" name="文字方塊 46">
            <a:extLst>
              <a:ext uri="{FF2B5EF4-FFF2-40B4-BE49-F238E27FC236}">
                <a16:creationId xmlns:a16="http://schemas.microsoft.com/office/drawing/2014/main" id="{48500A70-DAED-27BC-B192-D2F944FDBD4A}"/>
              </a:ext>
            </a:extLst>
          </p:cNvPr>
          <p:cNvSpPr txBox="1"/>
          <p:nvPr/>
        </p:nvSpPr>
        <p:spPr>
          <a:xfrm>
            <a:off x="3447498" y="5473001"/>
            <a:ext cx="1146358" cy="307777"/>
          </a:xfrm>
          <a:prstGeom prst="rect">
            <a:avLst/>
          </a:prstGeom>
          <a:noFill/>
        </p:spPr>
        <p:txBody>
          <a:bodyPr wrap="square" lIns="0" tIns="0" rIns="0" bIns="0">
            <a:spAutoFit/>
          </a:bodyPr>
          <a:lstStyle/>
          <a:p>
            <a:r>
              <a:rPr lang="en-US" altLang="zh-TW" sz="1000"/>
              <a:t>1)</a:t>
            </a:r>
            <a:r>
              <a:rPr lang="zh-TW" altLang="en-US" sz="1000"/>
              <a:t> </a:t>
            </a:r>
            <a:r>
              <a:rPr lang="en-US" altLang="zh-TW" sz="1000"/>
              <a:t>AI Engine</a:t>
            </a:r>
            <a:r>
              <a:rPr lang="zh-TW" altLang="en-US" sz="1000"/>
              <a:t>模組</a:t>
            </a:r>
            <a:endParaRPr lang="en-US" altLang="zh-TW" sz="1000"/>
          </a:p>
          <a:p>
            <a:r>
              <a:rPr lang="en-US" altLang="zh-TW" sz="1000"/>
              <a:t>2) Inference/</a:t>
            </a:r>
            <a:r>
              <a:rPr lang="zh-TW" altLang="en-US" sz="1000"/>
              <a:t>控制</a:t>
            </a:r>
            <a:r>
              <a:rPr lang="en-US" altLang="zh-TW" sz="1000"/>
              <a:t> </a:t>
            </a:r>
            <a:endParaRPr lang="zh-TW" altLang="en-US" sz="1000"/>
          </a:p>
        </p:txBody>
      </p:sp>
      <p:sp>
        <p:nvSpPr>
          <p:cNvPr id="35" name="矩形 34">
            <a:extLst>
              <a:ext uri="{FF2B5EF4-FFF2-40B4-BE49-F238E27FC236}">
                <a16:creationId xmlns:a16="http://schemas.microsoft.com/office/drawing/2014/main" id="{3D739436-9868-C7BD-5956-25B9DCF1A3A6}"/>
              </a:ext>
            </a:extLst>
          </p:cNvPr>
          <p:cNvSpPr/>
          <p:nvPr/>
        </p:nvSpPr>
        <p:spPr>
          <a:xfrm>
            <a:off x="3917508" y="2655445"/>
            <a:ext cx="656617" cy="4847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zh-TW" altLang="en-US" sz="1400">
                <a:solidFill>
                  <a:schemeClr val="tx1"/>
                </a:solidFill>
              </a:rPr>
              <a:t>物流</a:t>
            </a:r>
            <a:endParaRPr lang="en-US" altLang="zh-TW" sz="1400">
              <a:solidFill>
                <a:schemeClr val="tx1"/>
              </a:solidFill>
            </a:endParaRPr>
          </a:p>
          <a:p>
            <a:pPr algn="ctr"/>
            <a:r>
              <a:rPr lang="zh-TW" altLang="en-US" sz="1400">
                <a:solidFill>
                  <a:schemeClr val="tx1"/>
                </a:solidFill>
              </a:rPr>
              <a:t>數據</a:t>
            </a:r>
          </a:p>
        </p:txBody>
      </p:sp>
      <p:sp>
        <p:nvSpPr>
          <p:cNvPr id="7" name="矩形: 圓角 6">
            <a:extLst>
              <a:ext uri="{FF2B5EF4-FFF2-40B4-BE49-F238E27FC236}">
                <a16:creationId xmlns:a16="http://schemas.microsoft.com/office/drawing/2014/main" id="{B862B1B5-E247-B811-A9A9-482040007EBD}"/>
              </a:ext>
            </a:extLst>
          </p:cNvPr>
          <p:cNvSpPr/>
          <p:nvPr/>
        </p:nvSpPr>
        <p:spPr>
          <a:xfrm>
            <a:off x="3383204" y="5775911"/>
            <a:ext cx="496478" cy="290339"/>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a:latin typeface="+mj-ea"/>
                <a:ea typeface="+mj-ea"/>
              </a:rPr>
              <a:t>Edge MES</a:t>
            </a:r>
          </a:p>
        </p:txBody>
      </p:sp>
      <p:sp>
        <p:nvSpPr>
          <p:cNvPr id="3" name="矩形: 圓角 2">
            <a:extLst>
              <a:ext uri="{FF2B5EF4-FFF2-40B4-BE49-F238E27FC236}">
                <a16:creationId xmlns:a16="http://schemas.microsoft.com/office/drawing/2014/main" id="{20424B6D-48B1-CDF1-3FD1-A0D7303A4CD9}"/>
              </a:ext>
            </a:extLst>
          </p:cNvPr>
          <p:cNvSpPr/>
          <p:nvPr/>
        </p:nvSpPr>
        <p:spPr>
          <a:xfrm>
            <a:off x="3886783" y="5776400"/>
            <a:ext cx="518345" cy="290839"/>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a:latin typeface="+mj-ea"/>
                <a:ea typeface="+mj-ea"/>
              </a:rPr>
              <a:t>Edge PQM</a:t>
            </a:r>
          </a:p>
        </p:txBody>
      </p:sp>
      <p:sp>
        <p:nvSpPr>
          <p:cNvPr id="11" name="矩形: 圓角 10">
            <a:extLst>
              <a:ext uri="{FF2B5EF4-FFF2-40B4-BE49-F238E27FC236}">
                <a16:creationId xmlns:a16="http://schemas.microsoft.com/office/drawing/2014/main" id="{8AB71225-D38C-4F7F-B69D-3F89834A8348}"/>
              </a:ext>
            </a:extLst>
          </p:cNvPr>
          <p:cNvSpPr/>
          <p:nvPr/>
        </p:nvSpPr>
        <p:spPr>
          <a:xfrm>
            <a:off x="200013" y="3895552"/>
            <a:ext cx="860809" cy="265718"/>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a:solidFill>
                  <a:schemeClr val="tx1"/>
                </a:solidFill>
                <a:latin typeface="+mj-ea"/>
                <a:ea typeface="+mj-ea"/>
              </a:rPr>
              <a:t>物流系統</a:t>
            </a:r>
            <a:endParaRPr lang="en-US" altLang="zh-TW" sz="1200" b="1">
              <a:solidFill>
                <a:schemeClr val="tx1"/>
              </a:solidFill>
              <a:latin typeface="+mj-ea"/>
              <a:ea typeface="+mj-ea"/>
            </a:endParaRPr>
          </a:p>
        </p:txBody>
      </p:sp>
      <p:cxnSp>
        <p:nvCxnSpPr>
          <p:cNvPr id="12" name="直線單箭頭接點 11">
            <a:extLst>
              <a:ext uri="{FF2B5EF4-FFF2-40B4-BE49-F238E27FC236}">
                <a16:creationId xmlns:a16="http://schemas.microsoft.com/office/drawing/2014/main" id="{CE3CD1D3-1478-7D2D-9D95-B295E0A298CA}"/>
              </a:ext>
            </a:extLst>
          </p:cNvPr>
          <p:cNvCxnSpPr>
            <a:cxnSpLocks/>
            <a:stCxn id="11" idx="3"/>
            <a:endCxn id="40" idx="1"/>
          </p:cNvCxnSpPr>
          <p:nvPr/>
        </p:nvCxnSpPr>
        <p:spPr>
          <a:xfrm>
            <a:off x="1060822" y="4028411"/>
            <a:ext cx="508990" cy="140770"/>
          </a:xfrm>
          <a:prstGeom prst="straightConnector1">
            <a:avLst/>
          </a:prstGeom>
          <a:ln w="4445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116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F8E5F9-3E27-4FB9-9E7F-AA69CBB722EF}"/>
              </a:ext>
            </a:extLst>
          </p:cNvPr>
          <p:cNvSpPr>
            <a:spLocks noGrp="1"/>
          </p:cNvSpPr>
          <p:nvPr>
            <p:ph type="ctrTitle"/>
          </p:nvPr>
        </p:nvSpPr>
        <p:spPr>
          <a:xfrm>
            <a:off x="924356" y="1164559"/>
            <a:ext cx="9144000" cy="1864899"/>
          </a:xfrm>
        </p:spPr>
        <p:txBody>
          <a:bodyPr>
            <a:normAutofit/>
          </a:bodyPr>
          <a:lstStyle/>
          <a:p>
            <a:r>
              <a:rPr lang="en-US" altLang="zh-TW"/>
              <a:t>Smarter. Greener. Together. </a:t>
            </a:r>
            <a:br>
              <a:rPr lang="en-US" altLang="zh-TW"/>
            </a:br>
            <a:endParaRPr lang="en-US"/>
          </a:p>
        </p:txBody>
      </p:sp>
    </p:spTree>
    <p:extLst>
      <p:ext uri="{BB962C8B-B14F-4D97-AF65-F5344CB8AC3E}">
        <p14:creationId xmlns:p14="http://schemas.microsoft.com/office/powerpoint/2010/main" val="2535469637"/>
      </p:ext>
    </p:extLst>
  </p:cSld>
  <p:clrMapOvr>
    <a:masterClrMapping/>
  </p:clrMapOvr>
</p:sld>
</file>

<file path=ppt/theme/theme1.xml><?xml version="1.0" encoding="utf-8"?>
<a:theme xmlns:a="http://schemas.openxmlformats.org/drawingml/2006/main" name="Delta_PPTtemplate_16x9">
  <a:themeElements>
    <a:clrScheme name="自訂 2">
      <a:dk1>
        <a:sysClr val="windowText" lastClr="000000"/>
      </a:dk1>
      <a:lt1>
        <a:sysClr val="window" lastClr="FFFFFF"/>
      </a:lt1>
      <a:dk2>
        <a:srgbClr val="0087DC"/>
      </a:dk2>
      <a:lt2>
        <a:srgbClr val="FFFFFF"/>
      </a:lt2>
      <a:accent1>
        <a:srgbClr val="0087DC"/>
      </a:accent1>
      <a:accent2>
        <a:srgbClr val="64D7D7"/>
      </a:accent2>
      <a:accent3>
        <a:srgbClr val="B9EB5F"/>
      </a:accent3>
      <a:accent4>
        <a:srgbClr val="1E50C8"/>
      </a:accent4>
      <a:accent5>
        <a:srgbClr val="96E6BE"/>
      </a:accent5>
      <a:accent6>
        <a:srgbClr val="00BE50"/>
      </a:accent6>
      <a:hlink>
        <a:srgbClr val="0563C1"/>
      </a:hlink>
      <a:folHlink>
        <a:srgbClr val="BFBFBF"/>
      </a:folHlink>
    </a:clrScheme>
    <a:fontScheme name="自訂 3">
      <a:majorFont>
        <a:latin typeface="Arial"/>
        <a:ea typeface="Microsoft JhengHei"/>
        <a:cs typeface=""/>
      </a:majorFont>
      <a:minorFont>
        <a:latin typeface="Arial"/>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lta_PPTtemplate_16x9_EN" id="{AB7E8207-7EFD-42D6-915B-94A9E5ABAC21}" vid="{115B2ECF-35DF-4A82-A0C0-9889D580E896}"/>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EF46B986D75BD42B845D2ED6EDEA839" ma:contentTypeVersion="4" ma:contentTypeDescription="Create a new document." ma:contentTypeScope="" ma:versionID="2d405064337e7c4f6515a99afef7cd3d">
  <xsd:schema xmlns:xsd="http://www.w3.org/2001/XMLSchema" xmlns:xs="http://www.w3.org/2001/XMLSchema" xmlns:p="http://schemas.microsoft.com/office/2006/metadata/properties" xmlns:ns1="http://schemas.microsoft.com/sharepoint/v3" xmlns:ns2="9e14bc9f-d43a-4562-9a47-6bccc43a8b23" xmlns:ns3="http://schemas.microsoft.com/sharepoint/v4" targetNamespace="http://schemas.microsoft.com/office/2006/metadata/properties" ma:root="true" ma:fieldsID="1e6bbda17f82fa64eacd710a25679081" ns1:_="" ns2:_="" ns3:_="">
    <xsd:import namespace="http://schemas.microsoft.com/sharepoint/v3"/>
    <xsd:import namespace="9e14bc9f-d43a-4562-9a47-6bccc43a8b23"/>
    <xsd:import namespace="http://schemas.microsoft.com/sharepoint/v4"/>
    <xsd:element name="properties">
      <xsd:complexType>
        <xsd:sequence>
          <xsd:element name="documentManagement">
            <xsd:complexType>
              <xsd:all>
                <xsd:element ref="ns1:LargeFileSize" minOccurs="0"/>
                <xsd:element ref="ns2:D38D7918E8D62_DiskName" minOccurs="0"/>
                <xsd:element ref="ns1:FileShareFlag" minOccurs="0"/>
                <xsd:element ref="ns3: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LargeFileSize" ma:index="8" nillable="true" ma:displayName="Linked File Size" ma:hidden="true" ma:internalName="LargeFileSize">
      <xsd:simpleType>
        <xsd:restriction base="dms:Note">
          <xsd:maxLength value="255"/>
        </xsd:restriction>
      </xsd:simpleType>
    </xsd:element>
    <xsd:element name="FileShareFlag" ma:index="10" nillable="true" ma:displayName="File Share Flag" ma:default="0.0" ma:hidden="true" ma:internalName="_x0024_Resources_x003a_FSDLResources_x002c_VDL_FileShareFlag_x003b_" ma:readOnly="tru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9e14bc9f-d43a-4562-9a47-6bccc43a8b23" elementFormDefault="qualified">
    <xsd:import namespace="http://schemas.microsoft.com/office/2006/documentManagement/types"/>
    <xsd:import namespace="http://schemas.microsoft.com/office/infopath/2007/PartnerControls"/>
    <xsd:element name="D38D7918E8D62_DiskName" ma:index="9" nillable="true" ma:displayName="DiskName" ma:description="" ma:hidden="true" ma:internalName="DiskName"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1"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LargeFileSize xmlns="http://schemas.microsoft.com/sharepoint/v3" xsi:nil="true"/>
  </documentManagement>
</p:properties>
</file>

<file path=customXml/itemProps1.xml><?xml version="1.0" encoding="utf-8"?>
<ds:datastoreItem xmlns:ds="http://schemas.openxmlformats.org/officeDocument/2006/customXml" ds:itemID="{75C1DF23-068F-45F9-B872-0DF374878AE6}">
  <ds:schemaRefs>
    <ds:schemaRef ds:uri="9e14bc9f-d43a-4562-9a47-6bccc43a8b2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13B2C7D-AC71-4515-AD7E-02F2B2F70B91}">
  <ds:schemaRefs>
    <ds:schemaRef ds:uri="http://schemas.microsoft.com/sharepoint/v3/contenttype/forms"/>
  </ds:schemaRefs>
</ds:datastoreItem>
</file>

<file path=customXml/itemProps3.xml><?xml version="1.0" encoding="utf-8"?>
<ds:datastoreItem xmlns:ds="http://schemas.openxmlformats.org/officeDocument/2006/customXml" ds:itemID="{194C4FD4-6F29-4AEE-A8A4-691B2C273B52}">
  <ds:schemaRefs>
    <ds:schemaRef ds:uri="http://schemas.microsoft.com/sharepoint/v3"/>
    <ds:schemaRef ds:uri="http://schemas.microsoft.com/sharepoint/v4"/>
    <ds:schemaRef ds:uri="http://schemas.openxmlformats.org/package/2006/metadata/core-properties"/>
    <ds:schemaRef ds:uri="http://schemas.microsoft.com/office/2006/documentManagement/types"/>
    <ds:schemaRef ds:uri="http://purl.org/dc/elements/1.1/"/>
    <ds:schemaRef ds:uri="9e14bc9f-d43a-4562-9a47-6bccc43a8b23"/>
    <ds:schemaRef ds:uri="http://purl.org/dc/terms/"/>
    <ds:schemaRef ds:uri="http://www.w3.org/XML/1998/namespace"/>
    <ds:schemaRef ds:uri="http://schemas.microsoft.com/office/infopath/2007/PartnerControl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Delta_PPTtemplate_16x9_EN</Template>
  <TotalTime>0</TotalTime>
  <Words>2921</Words>
  <Application>Microsoft Office PowerPoint</Application>
  <PresentationFormat>寬螢幕</PresentationFormat>
  <Paragraphs>846</Paragraphs>
  <Slides>19</Slides>
  <Notes>6</Notes>
  <HiddenSlides>0</HiddenSlides>
  <MMClips>0</MMClips>
  <ScaleCrop>false</ScaleCrop>
  <HeadingPairs>
    <vt:vector size="4" baseType="variant">
      <vt:variant>
        <vt:lpstr>佈景主題</vt:lpstr>
      </vt:variant>
      <vt:variant>
        <vt:i4>1</vt:i4>
      </vt:variant>
      <vt:variant>
        <vt:lpstr>投影片標題</vt:lpstr>
      </vt:variant>
      <vt:variant>
        <vt:i4>19</vt:i4>
      </vt:variant>
    </vt:vector>
  </HeadingPairs>
  <TitlesOfParts>
    <vt:vector size="20" baseType="lpstr">
      <vt:lpstr>Delta_PPTtemplate_16x9</vt:lpstr>
      <vt:lpstr>數據中台運作架構圖</vt:lpstr>
      <vt:lpstr>PowerPoint 簡報</vt:lpstr>
      <vt:lpstr>MFG數據中台目標</vt:lpstr>
      <vt:lpstr>MFG數據中台與數據治理全景圖</vt:lpstr>
      <vt:lpstr>MFG數據架構規劃</vt:lpstr>
      <vt:lpstr>MFG 數據中台 解決方案架構圖</vt:lpstr>
      <vt:lpstr>Data Provider and Permission ( TBD )</vt:lpstr>
      <vt:lpstr>MFG數據中台運作架構圖</vt:lpstr>
      <vt:lpstr>附錄</vt:lpstr>
      <vt:lpstr>Apache Doris 算存一體 VS 算存分離</vt:lpstr>
      <vt:lpstr>短期Apache Doris滿足製造域相關需求作法</vt:lpstr>
      <vt:lpstr>長期規劃Apache Doris的湖倉一體架構</vt:lpstr>
      <vt:lpstr>Modern Data Stack 架構 ( MDS )</vt:lpstr>
      <vt:lpstr>PowerPoint 簡報</vt:lpstr>
      <vt:lpstr>MFG數據中台</vt:lpstr>
      <vt:lpstr>落實數據治理的數據上架/提供流程簡介</vt:lpstr>
      <vt:lpstr>MFG數據中台數據收集原則(規劃完善中)</vt:lpstr>
      <vt:lpstr>各級應用數據使用架構規範</vt:lpstr>
      <vt:lpstr>Smarter. Greener. Together.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AOI 軟體框架想法及建議</dc:title>
  <dc:creator>TKOSHENYA.KO 柯馨雅</dc:creator>
  <cp:lastModifiedBy>CHUCK.SUN 孫得皓</cp:lastModifiedBy>
  <cp:revision>2</cp:revision>
  <dcterms:created xsi:type="dcterms:W3CDTF">2022-01-20T01:43:08Z</dcterms:created>
  <dcterms:modified xsi:type="dcterms:W3CDTF">2026-09-01T08:44:24Z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0x0101003EF46B986D75BD42B845D2ED6EDEA839</vt:lpwstr>
  </property>
</Properties>
</file>